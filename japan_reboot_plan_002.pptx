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1.png"/><Relationship Id="rId3" Type="http://schemas.openxmlformats.org/officeDocument/2006/relationships/image" Target="../media/image-18-1.png"/><Relationship Id="rId4" Type="http://schemas.openxmlformats.org/officeDocument/2006/relationships/image" Target="../media/image-18-1.png"/><Relationship Id="rId5" Type="http://schemas.openxmlformats.org/officeDocument/2006/relationships/image" Target="../media/image-18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REBOOT </a:t>
            </a:r>
            <a:pPr indent="0" marL="0">
              <a:buNone/>
            </a:pPr>
            <a:r>
              <a:rPr lang="en-US" sz="1400" b="1" spc="4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JAPAN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政策提言プラットフォーム ── 提言002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公務員制度改革プラン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自治体を「稼げる組織」に変える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高校生にもわかる解説スライド（全19枚）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411480"/>
            <a:ext cx="1188720" cy="11887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8" name="Image 0" descr="icons/handshake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493" y="696773"/>
            <a:ext cx="618134" cy="6181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はじめに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このスライドでわかる4つのこと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6" name="Image 0" descr="icons/mon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09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給料の決め方が変わる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県や市町村の職員の給料を、地域の民間の給料に合わせる仕組みにする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1" name="Image 1" descr="icons/balanc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8909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709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「職種の特別扱い」がなくなる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37760" y="2377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公安職や教員だけの優遇ルールを見直し、仕事の中身で給料を決める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6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6283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472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働き方が変わる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「任期10年制」を導入し、組織の世代交代をうながす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4747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21" name="Image 3" descr="icons/troph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659" y="36283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44728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退職金が「成功報酬」に変わる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937760" y="4114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勤続年数ではなく、成果に応じて最大1,200万円を支払う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/ 19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今の公務員制度、ちょっと不思議じゃない？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6" name="Image 0" descr="icons/gif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7647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52704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ボーナスはほぼ毎年同じ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19202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役所の「成果」に関わらず、毎年ほぼ同じ額（年間約4.45ヶ月分）が支払われる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88920"/>
            <a:ext cx="685800" cy="6858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1" name="Image 1" descr="icons/user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9535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71576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年齢が上がるほど給料が上がる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1089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仕事の成果よりも「何年働いたか」で給料が決まりやすく、若手にチャンスが少ない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804672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977640"/>
            <a:ext cx="685800" cy="6858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6" name="Image 2" descr="icons/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14223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904488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地域とのギャップ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42976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人口が少ない地域でも、公務員だけが住民より高い給料をもらうという逆転が起きやすい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 / 19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解決策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解決のための4つの柱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6" name="Image 0" descr="icons/ba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8909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733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柱① 給料を「民間の実力」に合わせる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404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都道府県・市町村の職員の給料を、地域の民間の平均給与から決める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5087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1" name="Image 1" descr="icons/exchan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89097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67335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柱② 職種による特別扱いをなくす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937760" y="240487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公安職・教員だけの優遇ルールを廃止し、仕事内容で給料を決める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34747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6" name="Image 2" descr="icons/sync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6283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410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柱③「任期10年制」を導入する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" y="4142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一般行政職は最長10年の任期制で、年齢に関係なく人を入れ替える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4747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21" name="Image 3" descr="icons/troph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5659" y="36283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69280" y="341071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柱④ 退職金を「成功報酬」に変える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937760" y="41422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勤続年数で決まる退職金をやめ、成果に応じて最大1,200万円を支払う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 / 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柱① 給料改革（都道府県）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県の職員の給料 ＝ 民間の「平均」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都道府県の職員の基本給は、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その都道府県で働く民間の人たちの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「全職種の平均給与」に完全に合わせる。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優秀な人材を呼び込むため、あえて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「平均」という高めの基準を採用する。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977640"/>
            <a:ext cx="4206240" cy="822960"/>
          </a:xfrm>
          <a:prstGeom prst="roundRect">
            <a:avLst>
              <a:gd name="adj" fmla="val 8889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0690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ボーナス（年間約4.45ヶ月分の一律支給）は廃止し、税収の伸びに連動したインセンティブに変える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20640" y="1600200"/>
            <a:ext cx="3474720" cy="3200400"/>
          </a:xfrm>
          <a:prstGeom prst="roundRect">
            <a:avLst>
              <a:gd name="adj" fmla="val 2286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920240"/>
            <a:ext cx="822960" cy="8229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9" name="Image 0" descr="icons/lan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190" y="2117750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2064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基準値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120640" y="3154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</a:t>
            </a:r>
            <a:endParaRPr lang="en-US" sz="6400" dirty="0"/>
          </a:p>
        </p:txBody>
      </p:sp>
      <p:sp>
        <p:nvSpPr>
          <p:cNvPr id="12" name="Text 9"/>
          <p:cNvSpPr/>
          <p:nvPr/>
        </p:nvSpPr>
        <p:spPr>
          <a:xfrm>
            <a:off x="5120640" y="4206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 その県の民間全職種平均給与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/ 19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柱① 給料改革（市町村）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市町村の職員は「85点」からスタート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町村の職員の給料は、県職員の給料を100としたときの「85（8.5割）」からスタート。やる気のある市町村は、企業を誘致して税収を増やすことで、県職員と同じ「100」まで給料の基準を上げられる──これを「下剋上ルール」と呼ぶ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7498080" cy="457200"/>
          </a:xfrm>
          <a:prstGeom prst="roundRect">
            <a:avLst>
              <a:gd name="adj" fmla="val 16000"/>
            </a:avLst>
          </a:prstGeom>
          <a:solidFill>
            <a:srgbClr val="242424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017520"/>
            <a:ext cx="6373368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33288" y="2514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85：市町村職員のスタート地点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96328" y="2971800"/>
            <a:ext cx="0" cy="548640"/>
          </a:xfrm>
          <a:prstGeom prst="line">
            <a:avLst/>
          </a:prstGeom>
          <a:noFill/>
          <a:ln w="25400">
            <a:solidFill>
              <a:srgbClr val="D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100：県職員と同じ水準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（下剋上で到達可能）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21040" y="2971800"/>
            <a:ext cx="0" cy="548640"/>
          </a:xfrm>
          <a:prstGeom prst="line">
            <a:avLst/>
          </a:prstGeom>
          <a:noFill/>
          <a:ln w="25400">
            <a:solidFill>
              <a:srgbClr val="F5F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 / 19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安全装置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最低賃金より低くならない？ ── 出雲市で確認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もし「85%」の給料が、その地域の最低賃金より低くなってしまったら、市町村職員が最低賃金違反になる可能性がある。実際の島根県・出雲市のデータで確認してみる。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2461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7" name="Image 0" descr="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3997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セーフティネット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市町村職員の給料 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max（県職員×0.85、地域の最低賃金）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 高い方を採用する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937760" y="1554480"/>
            <a:ext cx="3657600" cy="2926080"/>
          </a:xfrm>
          <a:prstGeom prst="roundRect">
            <a:avLst>
              <a:gd name="adj" fmla="val 25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257800" y="3977640"/>
            <a:ext cx="301752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19902" y="2472263"/>
            <a:ext cx="965606" cy="1505377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3" name="Text 10"/>
          <p:cNvSpPr/>
          <p:nvPr/>
        </p:nvSpPr>
        <p:spPr>
          <a:xfrm>
            <a:off x="5437022" y="1719072"/>
            <a:ext cx="13313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326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391302" y="4023360"/>
            <a:ext cx="1422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改革後の最低賃金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（島根県・想定）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947611" y="2366056"/>
            <a:ext cx="965606" cy="1611584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6" name="Text 13"/>
          <p:cNvSpPr/>
          <p:nvPr/>
        </p:nvSpPr>
        <p:spPr>
          <a:xfrm>
            <a:off x="6764731" y="1719072"/>
            <a:ext cx="133136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349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19011" y="4023360"/>
            <a:ext cx="1422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市町村職員の基本給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（県職員×0.85）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4572000"/>
            <a:ext cx="365760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349万円 ＞ 326万円 → 矛盾なし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 / 19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柱② 職種改革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「職種」だけで得する仕組みをなくす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項目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0175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これまで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15087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これから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警察・消防の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事務職員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017520" y="20116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「公安職」専用の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給料表で優遇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32120" y="2313432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11" name="Image 0" descr="icons/arrow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7957" y="2379269"/>
            <a:ext cx="142646" cy="14264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201168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本部のデスクワークは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一般の事務職と同じ給料に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297180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教員の給与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017520" y="2971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残業代の代わりに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一律「+4%」を支給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32120" y="3273552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17" name="Image 1" descr="icons/arrow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7957" y="3339389"/>
            <a:ext cx="142646" cy="14264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943600" y="2971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勤務実態に応じて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働いた分だけ残業代を支給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48640" y="3931920"/>
            <a:ext cx="8046720" cy="868680"/>
          </a:xfrm>
          <a:prstGeom prst="roundRect">
            <a:avLst>
              <a:gd name="adj" fmla="val 842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1520" y="393192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各種手当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3017520" y="3931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扶養手当・住居手当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など生活補助系が充実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5532120" y="4233672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3" name="Image 2" descr="icons/arrow_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7957" y="4299509"/>
            <a:ext cx="142646" cy="14264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43600" y="39319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「危険手当」「役職手当」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のみに限定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 / 19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柱③ 働き方改革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「ずっと同じ職場」から「10年で見直し」へ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一般の行政職員は「最長10年の任期制」に変わる。年齢に関係なく、民間で経験を積んだ40〜50代のプロ人材も採用しやすくなり、組織に新しい人が入りやすくなる。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7" name="Image 0" descr="icons/usert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819" y="31711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採用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年齢制限なし。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民間出身者も歓迎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274320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2" name="Image 1" descr="icons/user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317113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10年間勤務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52044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任期中は仕事に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専念する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17920" y="2743200"/>
            <a:ext cx="219456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99516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7" name="Image 2" descr="icons/chartpi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779" y="31711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任期満了・評価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1792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成果を評価し、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次のステップへ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063240" y="3520440"/>
            <a:ext cx="365760" cy="36576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1" name="Image 3" descr="icons/arrow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022" y="3608222"/>
            <a:ext cx="190195" cy="190195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806440" y="3520440"/>
            <a:ext cx="365760" cy="36576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3" name="Image 4" descr="icons/arrow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222" y="3608222"/>
            <a:ext cx="190195" cy="19019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 / 19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柱③ 働き方改革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結果を出した人だけが「上司」になれる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10年間で大型の企業誘致や、税収アップなど大きな成果を出した上位5〜10%の職員だけが、5〜10年の任期延長と「管理職」への登用が認められる。「稼ぐプロ」だけが上司になる組織を作る。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278892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2788920"/>
            <a:ext cx="2468880" cy="1783080"/>
          </a:xfrm>
          <a:prstGeom prst="roundRect">
            <a:avLst>
              <a:gd name="adj" fmla="val 410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5448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9" name="Image 0" descr="icons/chartp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099" y="31711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10年間の実績評価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独立した評価委員会が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成果を審査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3" name="Image 1" descr="icons/troph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299" y="31711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上位 5〜10%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383280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大きな成果を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出したエースのみ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04088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7" name="Image 2" descr="icons/userti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499" y="31711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5〜10年延長＋管理職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26480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組織を統括する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リーダーへ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063240" y="352044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1" name="Image 3" descr="icons/arrow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050" y="3597250"/>
            <a:ext cx="166421" cy="166421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806440" y="352044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3" name="Image 4" descr="icons/arrow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50" y="3597250"/>
            <a:ext cx="166421" cy="1664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/ 19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柱③ 補足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専門的な仕事はどうなる？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土木・建築・福祉・保健師など、専門知識の積み重ねが大事な仕事では、10年で人が入れ替わると困ることがある。そこで3つの仕組みを用意する。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94360" cy="5943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6" name="Image 0" descr="icons/toolbox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25200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プロフェッショナル・トラック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77640" y="233172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専門職は10年後も「管理職」ではなく「専門職」として働き続けられる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594360" cy="5943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0" name="Image 1" descr="icons/usergra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34802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291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技術継承期間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977640" y="329184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退任前の1〜2年は、新しく入る人とペアを組み、知識やノウハウを引き継ぐ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4297680"/>
            <a:ext cx="594360" cy="5943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4" name="Image 2" descr="icons/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44032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251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広域連携・共同任用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3977640" y="4251960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一つの自治体で専門家を雇えない場合、複数の自治体で共同して専門家を雇う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11 /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柱④ 退職金改革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退職金がなくなる。代わりは「成功報酬」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「長く勤めた人が得をする」退職金や、公務員だけの年金（共済の3階部分）を廃止。代わりに、10年間の成果に応じて支払う、完全な成果主義の「成功報酬」を新設する。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337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公務員独自の年金（3階部分）は廃止し、民間と同じ厚生年金のみに一元化する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120640" y="160020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874520"/>
            <a:ext cx="822960" cy="8229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9" name="Image 0" descr="icons/coin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6910" y="2072030"/>
            <a:ext cx="427939" cy="42793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2064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10年勤務後の成功報酬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120640" y="3200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最大</a:t>
            </a:r>
            <a:endParaRPr lang="en-US" sz="3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1,200万円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12 /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柱④ 退職金改革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1,200万円の中身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1074420" cy="731520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10744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43100" y="2103120"/>
            <a:ext cx="3223260" cy="73152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" name="Text 6"/>
          <p:cNvSpPr/>
          <p:nvPr/>
        </p:nvSpPr>
        <p:spPr>
          <a:xfrm>
            <a:off x="1943100" y="2103120"/>
            <a:ext cx="32232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900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246120"/>
            <a:ext cx="201168" cy="201168"/>
          </a:xfrm>
          <a:prstGeom prst="rect">
            <a:avLst/>
          </a:prstGeom>
          <a:solidFill>
            <a:srgbClr val="9A9A9A"/>
          </a:solidFill>
          <a:ln/>
        </p:spPr>
      </p:sp>
      <p:sp>
        <p:nvSpPr>
          <p:cNvPr id="10" name="Text 8"/>
          <p:cNvSpPr/>
          <p:nvPr/>
        </p:nvSpPr>
        <p:spPr>
          <a:xfrm>
            <a:off x="1161288" y="3172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ベース（標準的な仕事）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3246120"/>
            <a:ext cx="201168" cy="201168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3557016" y="317296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成果による上乗せ（最大）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ベース：10年勤務で一律300万円（標準的な仕事）に、企業誘致や税収貢献度、AI化によるコストカット実績などに応じた成果上乗せ（最大900万円）を加算し、合計最大1,200万円とする。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0" y="1600200"/>
            <a:ext cx="2834640" cy="3200400"/>
          </a:xfrm>
          <a:prstGeom prst="roundRect">
            <a:avLst>
              <a:gd name="adj" fmla="val 258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874520"/>
            <a:ext cx="822960" cy="82296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6" name="Image 0" descr="icons/chartpi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9790" y="2072030"/>
            <a:ext cx="427939" cy="42793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76072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新NISAと連動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89320" y="33832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1,200万円は、新NISAの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成長投資枠の上限と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同じ金額。報酬をそのまま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投資に回し、次のキャリアへ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つなげられる。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 /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財政効果①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毎年 約10兆円の節約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地方公務員の人件費（約24兆円）のうち、次の4つを見直すことで、毎年約10兆円のコストを削減できる。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8046720" cy="2286000"/>
          </a:xfrm>
          <a:prstGeom prst="roundRect">
            <a:avLst>
              <a:gd name="adj" fmla="val 32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697480"/>
            <a:ext cx="7406640" cy="0"/>
          </a:xfrm>
          <a:prstGeom prst="line">
            <a:avLst/>
          </a:prstGeom>
          <a:noFill/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57477" y="2697480"/>
            <a:ext cx="740664" cy="104775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8" name="Text 6"/>
          <p:cNvSpPr/>
          <p:nvPr/>
        </p:nvSpPr>
        <p:spPr>
          <a:xfrm>
            <a:off x="1574597" y="22402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-5.5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8877" y="388620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一律ボーナス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6938" y="2697480"/>
            <a:ext cx="740664" cy="28575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1" name="Text 9"/>
          <p:cNvSpPr/>
          <p:nvPr/>
        </p:nvSpPr>
        <p:spPr>
          <a:xfrm>
            <a:off x="3204058" y="22402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-1.5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58338" y="388620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生活手当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全廃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16398" y="2697480"/>
            <a:ext cx="740664" cy="47625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4833518" y="22402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-2.5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87798" y="388620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年功序列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45859" y="2697480"/>
            <a:ext cx="740664" cy="95250"/>
          </a:xfrm>
          <a:prstGeom prst="rect">
            <a:avLst/>
          </a:prstGeom>
          <a:solidFill>
            <a:srgbClr val="D62828"/>
          </a:solidFill>
          <a:ln/>
        </p:spPr>
      </p:sp>
      <p:sp>
        <p:nvSpPr>
          <p:cNvPr id="17" name="Text 15"/>
          <p:cNvSpPr/>
          <p:nvPr/>
        </p:nvSpPr>
        <p:spPr>
          <a:xfrm>
            <a:off x="6462979" y="2240280"/>
            <a:ext cx="1106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-0.5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17259" y="3886200"/>
            <a:ext cx="119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内勤公安職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適正化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452628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4526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削減合計：年間 約10兆円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14 /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財政効果②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成功報酬を払っても、8.7兆円が残る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毎年、地方公務員のうち約28万人が「10年目」を迎える。一人あたり平均450万円の成功報酬を支払うと、年間コストは約1.3兆円。それでも、削減効果10兆円のほとんどが新しい財源として残る。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人件費の削減効果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10兆円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926080" y="32918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－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383280" y="28346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成功報酬のコスト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8328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1.3兆円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760720" y="32918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＝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217920" y="2834640"/>
            <a:ext cx="2377440" cy="1737360"/>
          </a:xfrm>
          <a:prstGeom prst="roundRect">
            <a:avLst>
              <a:gd name="adj" fmla="val 4211"/>
            </a:avLst>
          </a:prstGeom>
          <a:solidFill>
            <a:srgbClr val="D62828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差し引き：純削減効果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17920" y="3474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8.7兆円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15 /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財政効果③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都市の税収を、地方の投資に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京・大阪・神奈川・福岡・愛知の5大都市圏は、立地やブランド力だけで自然に税収が多くなる。その「超過税収」の一部を吸い上げ、地方が自力で稼げるようになるための投資資金「地方所得倍増ファンド」を作る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0" y="27432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2743200"/>
            <a:ext cx="2377440" cy="18288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9" name="Image 0" descr="icons/cit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0939" y="317113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5大都市圏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東京・大阪・神奈川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福岡・愛知の超過税収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25196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3" name="Image 1" descr="icons/pigg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5579" y="317113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地方所得倍増ファンド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8328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人件費削減効果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（約8.7兆円）と合わせて運用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7086600" y="3017520"/>
            <a:ext cx="640080" cy="64008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7" name="Image 2" descr="icons/ma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219" y="317113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地方の自治体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17920" y="4160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企業誘致・インフラ整備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（DX・物流など）へ投資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063240" y="352044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1" name="Image 3" descr="icons/arrow_r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050" y="3597250"/>
            <a:ext cx="166421" cy="166421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806440" y="352044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23" name="Image 4" descr="icons/arrow_r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3250" y="3597250"/>
            <a:ext cx="166421" cy="16642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 / 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この改革で、何が変わる？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329184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2918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項目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これまで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5F5F0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これから</a:t>
                      </a:r>
                      <a:endParaRPr lang="en-US" sz="13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828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ボーナス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毎年ほぼ同額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（約4.45ヶ月分）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自治体の税収の伸びに連動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給料の決め方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年功序列・年齢で決まる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地域の民間の平均給与に連動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働き方（任期）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実質的に終身雇用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最長10年（実績者は延長可）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退職金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BFBFBF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勤続年数で決まる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D6282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成果による成功報酬（最大1,200万円）</a:t>
                      </a:r>
                      <a:endParaRPr lang="en-US" sz="12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E2E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51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17 /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まとめ②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これから議論すべきこと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5" name="Image 0" descr="icons/questio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09928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88720" y="1600200"/>
            <a:ext cx="7406640" cy="54864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17320" y="16002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都道府県別「民間の平均給与」データを、どう取得・更新するか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9" name="Image 1" descr="icons/questio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68296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188720" y="2258568"/>
            <a:ext cx="7406640" cy="54864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417320" y="22585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「任期10年制」を法律上どのように実現するか（現職職員への適用方法）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2916936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3" name="Image 2" descr="icons/questio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026664"/>
            <a:ext cx="237744" cy="23774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188720" y="2916936"/>
            <a:ext cx="7406640" cy="54864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417320" y="291693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「専門職トラック」の対象となる職種をどう決めるか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17" name="Image 3" descr="icons/questio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685032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188720" y="3575304"/>
            <a:ext cx="7406640" cy="54864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417320" y="357530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「地方所得倍増ファンド」の吸い上げ率・配分ルールをどう設計するか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4233672"/>
            <a:ext cx="457200" cy="457200"/>
          </a:xfrm>
          <a:prstGeom prst="ellipse">
            <a:avLst/>
          </a:prstGeom>
          <a:solidFill>
            <a:srgbClr val="D62828"/>
          </a:solidFill>
          <a:ln/>
        </p:spPr>
      </p:sp>
      <p:pic>
        <p:nvPicPr>
          <p:cNvPr id="21" name="Image 4" descr="icons/questio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43400"/>
            <a:ext cx="237744" cy="2377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1188720" y="4233672"/>
            <a:ext cx="7406640" cy="548640"/>
          </a:xfrm>
          <a:prstGeom prst="roundRect">
            <a:avLst>
              <a:gd name="adj" fmla="val 13333"/>
            </a:avLst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1417320" y="42336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BFB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移行期間（20〜30年）の間、今働いている職員をどう処遇するか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8229600" y="47731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18 / 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REBOOT </a:t>
            </a:r>
            <a:pPr indent="0" marL="0">
              <a:buNone/>
            </a:pPr>
            <a:r>
              <a:rPr lang="en-US" sz="1400" b="1" spc="400" kern="0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JAPAN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840480" y="1005840"/>
            <a:ext cx="1463040" cy="1463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2E2E2E"/>
            </a:solidFill>
            <a:prstDash val="solid"/>
          </a:ln>
        </p:spPr>
      </p:sp>
      <p:pic>
        <p:nvPicPr>
          <p:cNvPr id="4" name="Image 0" descr="icons/handshake_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610" y="1356970"/>
            <a:ext cx="760781" cy="7607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6060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公務員も、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5F5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がんばった人が報われる組織へ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282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提言002 ── 地域経営型・公務員制度改革プラン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REBOOT JAPAN ── 市民による・市民のための政策提言プラットフォーム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提言002 公務員制度改革プラン</dc:title>
  <dc:subject>PptxGenJS Presentation</dc:subject>
  <dc:creator>REBOOT JAPAN</dc:creator>
  <cp:lastModifiedBy>REBOOT JAPAN</cp:lastModifiedBy>
  <cp:revision>1</cp:revision>
  <dcterms:created xsi:type="dcterms:W3CDTF">2026-06-15T11:37:26Z</dcterms:created>
  <dcterms:modified xsi:type="dcterms:W3CDTF">2026-06-15T11:37:26Z</dcterms:modified>
</cp:coreProperties>
</file>