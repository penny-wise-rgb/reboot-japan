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政策提言プラットフォーム　REBOOT JAPAN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提言003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77240" y="228600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54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零細を減らし、</a:t>
            </a:r>
            <a:endParaRPr lang="en-US" sz="5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4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強い中堅を育てる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43434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BtoB下請け産業の構造再編と成長ドライブ施策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4983480"/>
            <a:ext cx="3657600" cy="0"/>
          </a:xfrm>
          <a:prstGeom prst="line">
            <a:avLst/>
          </a:prstGeom>
          <a:noFill/>
          <a:ln w="12700">
            <a:solidFill>
              <a:srgbClr val="2E2E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51663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わかりやすい解説版　── 中学生でも理解できるスライド</a:t>
            </a:r>
            <a:endParaRPr lang="en-US" sz="12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10058400" y="5212080"/>
            <a:ext cx="118872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このスライドで分かること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5212080" cy="1371600"/>
          </a:xfrm>
          <a:prstGeom prst="roundRect">
            <a:avLst>
              <a:gd name="adj" fmla="val 400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745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828800" y="185623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今、何が問題なのか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828800" y="22402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働く人の7割を占める中小企業の給料が上がらない理由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1691640"/>
            <a:ext cx="5212080" cy="1371600"/>
          </a:xfrm>
          <a:prstGeom prst="roundRect">
            <a:avLst>
              <a:gd name="adj" fmla="val 400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8745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498080" y="185623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なぜそうなったのか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498080" y="22402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「作られた赤字」と無条件の優遇税制のワナ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337560"/>
            <a:ext cx="5212080" cy="1371600"/>
          </a:xfrm>
          <a:prstGeom prst="roundRect">
            <a:avLst>
              <a:gd name="adj" fmla="val 400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5204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828800" y="3502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誰が対象になるのか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828800" y="38862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BtoB3業種に絞った理由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09360" y="3337560"/>
            <a:ext cx="5212080" cy="1371600"/>
          </a:xfrm>
          <a:prstGeom prst="roundRect">
            <a:avLst>
              <a:gd name="adj" fmla="val 400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0" y="35204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7498080" y="3502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何を変えるのか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0" y="38862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税率・補助金・M&amp;A・経費ルールの4つの柱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4983480"/>
            <a:ext cx="5212080" cy="1371600"/>
          </a:xfrm>
          <a:prstGeom prst="roundRect">
            <a:avLst>
              <a:gd name="adj" fmla="val 400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5166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1828800" y="514807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どう実現するのか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828800" y="553212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2年間の移行スケジュールと10年後の数値目標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309360" y="4983480"/>
            <a:ext cx="5212080" cy="1371600"/>
          </a:xfrm>
          <a:prstGeom prst="roundRect">
            <a:avLst>
              <a:gd name="adj" fmla="val 400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0" y="5166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7498080" y="514807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結果どうなるのか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498080" y="553212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税収試算と10年後の日本経済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 提言001とのつながり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この提言は、提言001と「セット」で動く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提言003は単独では機能しません。退場する会社が出てくる以上、そこで働いていた人を守る仕組みとペアでなければ、ただ厳しいだけの政策になってしまいます。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788920"/>
            <a:ext cx="4206240" cy="2468880"/>
          </a:xfrm>
          <a:prstGeom prst="roundRect">
            <a:avLst>
              <a:gd name="adj" fmla="val 2963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" y="3108960"/>
            <a:ext cx="502920" cy="502920"/>
          </a:xfrm>
          <a:prstGeom prst="ellipse">
            <a:avLst/>
          </a:prstGeom>
          <a:solidFill>
            <a:srgbClr val="0A0A0A"/>
          </a:solidFill>
          <a:ln w="12700">
            <a:solidFill>
              <a:srgbClr val="2E2E2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992" y="3227832"/>
            <a:ext cx="265176" cy="26517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37947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提言003（会社側のルール）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960120" y="42519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ダメになった会社には、市場から退場してもらいます。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成長しない会社・ズルをする会社を、税制と補助金のルールで見直します。</a:t>
            </a:r>
            <a:endParaRPr lang="en-US" sz="125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3657600"/>
            <a:ext cx="731520" cy="73152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400800" y="2788920"/>
            <a:ext cx="4206240" cy="2468880"/>
          </a:xfrm>
          <a:prstGeom prst="roundRect">
            <a:avLst>
              <a:gd name="adj" fmla="val 2963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720840" y="3108960"/>
            <a:ext cx="502920" cy="502920"/>
          </a:xfrm>
          <a:prstGeom prst="ellipse">
            <a:avLst/>
          </a:prstGeom>
          <a:solidFill>
            <a:srgbClr val="0A0A0A"/>
          </a:solidFill>
          <a:ln w="12700">
            <a:solidFill>
              <a:srgbClr val="2E2E2E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712" y="3227832"/>
            <a:ext cx="265176" cy="26517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720840" y="37947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提言001（働く人側のルール）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6720840" y="42519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退場した会社で働いていた人を守ります。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3年間の失業給付と再教育（学び直し）で、次の仕事につなげます。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40080" y="55321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自転車の前輪と後輪のような関係 ── 片方だけでは前に進めません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今、何が起きているか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働く人の7割は、中小・零細企業にいる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約7割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40080" y="2697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日本の労働者が、中小企業・零細企業（従業員の少ない小さな会社）で働いている割合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60720" y="1920240"/>
            <a:ext cx="0" cy="3840480"/>
          </a:xfrm>
          <a:prstGeom prst="line">
            <a:avLst/>
          </a:prstGeom>
          <a:noFill/>
          <a:ln w="12700">
            <a:solidFill>
              <a:srgbClr val="2E2E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210312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でも、過去30年間、ほとんど給料は上がっていない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217920" y="288036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これは個人の努力不足ではなく、「会社の新陳代謝（古いものが退場し、新しいものに入れ替わる仕組み）」が止まってしまったことが大きな原因です。</a:t>
            </a:r>
            <a:endParaRPr lang="en-US" sz="13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4480560"/>
            <a:ext cx="457200" cy="4572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858000" y="45262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この提言は「その止まった仕組み」を動かすための提案です。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原因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なぜ、給料が上がらない会社が生き残れるのか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原因は2つの「優しすぎるルール」にあります。本来なら市場から退場するはずの会社が、これらに支えられて生き延びてしまっているのです。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606040"/>
            <a:ext cx="5212080" cy="3017520"/>
          </a:xfrm>
          <a:prstGeom prst="roundRect">
            <a:avLst>
              <a:gd name="adj" fmla="val 2424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" y="2926080"/>
            <a:ext cx="502920" cy="502920"/>
          </a:xfrm>
          <a:prstGeom prst="ellipse">
            <a:avLst/>
          </a:prstGeom>
          <a:solidFill>
            <a:srgbClr val="0A0A0A"/>
          </a:solidFill>
          <a:ln w="12700">
            <a:solidFill>
              <a:srgbClr val="2E2E2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992" y="3044952"/>
            <a:ext cx="265176" cy="26517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36118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条件なしの税金優遇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960120" y="4069080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成長していてもしていなくても、「中小企業だから」というだけで自動的に税金が安くなる制度（軽減税率）。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頑張らなくても得をする仕組みになっていました。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309360" y="2606040"/>
            <a:ext cx="5212080" cy="3017520"/>
          </a:xfrm>
          <a:prstGeom prst="roundRect">
            <a:avLst>
              <a:gd name="adj" fmla="val 2424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629400" y="2926080"/>
            <a:ext cx="502920" cy="502920"/>
          </a:xfrm>
          <a:prstGeom prst="ellipse">
            <a:avLst/>
          </a:prstGeom>
          <a:solidFill>
            <a:srgbClr val="0A0A0A"/>
          </a:solidFill>
          <a:ln w="12700">
            <a:solidFill>
              <a:srgbClr val="2E2E2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8272" y="3044952"/>
            <a:ext cx="265176" cy="265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629400" y="36118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目的を問わない補助金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629400" y="4069080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本来なら退場するはずの「自力で稼げない会社」（ゾンビ企業）や、間に何社も入って手数料だけ抜く「多重下請け」を、延命させてしまう補助金。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データで見る実態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今の日本の会社、規模の内訳は？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2021年・経済センサス（国の調査）より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大企業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840480" y="2340864"/>
            <a:ext cx="5120640" cy="32918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Shape 7"/>
          <p:cNvSpPr/>
          <p:nvPr/>
        </p:nvSpPr>
        <p:spPr>
          <a:xfrm>
            <a:off x="3840480" y="2340864"/>
            <a:ext cx="137160" cy="329184"/>
          </a:xfrm>
          <a:prstGeom prst="rect">
            <a:avLst/>
          </a:prstGeom>
          <a:solidFill>
            <a:srgbClr val="555555"/>
          </a:solidFill>
          <a:ln/>
        </p:spPr>
      </p:sp>
      <p:sp>
        <p:nvSpPr>
          <p:cNvPr id="10" name="Text 8"/>
          <p:cNvSpPr/>
          <p:nvPr/>
        </p:nvSpPr>
        <p:spPr>
          <a:xfrm>
            <a:off x="9098280" y="214884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0.3%　約1万社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3044952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中堅企業（従業員2,000人以下）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40480" y="3236976"/>
            <a:ext cx="5120640" cy="32918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Shape 11"/>
          <p:cNvSpPr/>
          <p:nvPr/>
        </p:nvSpPr>
        <p:spPr>
          <a:xfrm>
            <a:off x="3840480" y="3236976"/>
            <a:ext cx="137160" cy="329184"/>
          </a:xfrm>
          <a:prstGeom prst="rect">
            <a:avLst/>
          </a:prstGeom>
          <a:solidFill>
            <a:srgbClr val="888888"/>
          </a:solidFill>
          <a:ln/>
        </p:spPr>
      </p:sp>
      <p:sp>
        <p:nvSpPr>
          <p:cNvPr id="14" name="Text 12"/>
          <p:cNvSpPr/>
          <p:nvPr/>
        </p:nvSpPr>
        <p:spPr>
          <a:xfrm>
            <a:off x="9098280" y="3044952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0.7%　約9,229社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3941064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中小企業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40480" y="4133088"/>
            <a:ext cx="5120640" cy="32918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7" name="Shape 15"/>
          <p:cNvSpPr/>
          <p:nvPr/>
        </p:nvSpPr>
        <p:spPr>
          <a:xfrm>
            <a:off x="3840480" y="4133088"/>
            <a:ext cx="5120640" cy="329184"/>
          </a:xfrm>
          <a:prstGeom prst="rect">
            <a:avLst/>
          </a:prstGeom>
          <a:solidFill>
            <a:srgbClr val="A01F1F"/>
          </a:solidFill>
          <a:ln/>
        </p:spPr>
      </p:sp>
      <p:sp>
        <p:nvSpPr>
          <p:cNvPr id="18" name="Text 16"/>
          <p:cNvSpPr/>
          <p:nvPr/>
        </p:nvSpPr>
        <p:spPr>
          <a:xfrm>
            <a:off x="9098280" y="3941064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58%　約213万社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4837176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零細・小規模事業者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5029200"/>
            <a:ext cx="5120640" cy="32918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1" name="Shape 19"/>
          <p:cNvSpPr/>
          <p:nvPr/>
        </p:nvSpPr>
        <p:spPr>
          <a:xfrm>
            <a:off x="3840480" y="5029200"/>
            <a:ext cx="3619763" cy="329184"/>
          </a:xfrm>
          <a:prstGeom prst="rect">
            <a:avLst/>
          </a:prstGeom>
          <a:solidFill>
            <a:srgbClr val="D62828"/>
          </a:solidFill>
          <a:ln/>
        </p:spPr>
      </p:sp>
      <p:sp>
        <p:nvSpPr>
          <p:cNvPr id="22" name="Text 20"/>
          <p:cNvSpPr/>
          <p:nvPr/>
        </p:nvSpPr>
        <p:spPr>
          <a:xfrm>
            <a:off x="9098280" y="4837176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41%　約123万社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0080" y="58704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中堅企業はわずか0.7%。大半が中小・零細企業に偏っています。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このまま放っておくと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会社は「成長」より「縮小」の方が多い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5年間で会社の規模がどう変化したかを見ると──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377440"/>
            <a:ext cx="5120640" cy="2834640"/>
          </a:xfrm>
          <a:prstGeom prst="roundRect">
            <a:avLst>
              <a:gd name="adj" fmla="val 2581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697480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60120" y="32918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成長した会社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60120" y="365760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3.8万社</a:t>
            </a:r>
            <a:endParaRPr lang="en-US" sz="4600" dirty="0"/>
          </a:p>
        </p:txBody>
      </p:sp>
      <p:sp>
        <p:nvSpPr>
          <p:cNvPr id="11" name="Text 8"/>
          <p:cNvSpPr/>
          <p:nvPr/>
        </p:nvSpPr>
        <p:spPr>
          <a:xfrm>
            <a:off x="960120" y="4572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小規模 → 中規模に成長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217920" y="2377440"/>
            <a:ext cx="5120640" cy="2834640"/>
          </a:xfrm>
          <a:prstGeom prst="roundRect">
            <a:avLst>
              <a:gd name="adj" fmla="val 2581"/>
            </a:avLst>
          </a:prstGeom>
          <a:solidFill>
            <a:srgbClr val="1A1A1A"/>
          </a:solidFill>
          <a:ln w="19050">
            <a:solidFill>
              <a:srgbClr val="D6282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697480"/>
            <a:ext cx="502920" cy="5029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537960" y="32918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縮小した会社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6537960" y="365760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6.5万社</a:t>
            </a:r>
            <a:endParaRPr lang="en-US" sz="4600" dirty="0"/>
          </a:p>
        </p:txBody>
      </p:sp>
      <p:sp>
        <p:nvSpPr>
          <p:cNvPr id="16" name="Text 12"/>
          <p:cNvSpPr/>
          <p:nvPr/>
        </p:nvSpPr>
        <p:spPr>
          <a:xfrm>
            <a:off x="6537960" y="4572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中規模 → 小規模に縮小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640080" y="5440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放置すれば、零細化は加速する一方です。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用語解説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「赤字法人」って何？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5212080" cy="3566160"/>
          </a:xfrm>
          <a:prstGeom prst="roundRect">
            <a:avLst>
              <a:gd name="adj" fmla="val 2051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2148840"/>
            <a:ext cx="502920" cy="502920"/>
          </a:xfrm>
          <a:prstGeom prst="ellipse">
            <a:avLst/>
          </a:prstGeom>
          <a:solidFill>
            <a:srgbClr val="0A0A0A"/>
          </a:solidFill>
          <a:ln w="12700">
            <a:solidFill>
              <a:srgbClr val="2E2E2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992" y="2267712"/>
            <a:ext cx="265176" cy="26517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60120" y="2834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赤字法人とは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60120" y="3291840"/>
            <a:ext cx="45720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会社の決算で「利益よりも費用の方が多かった（＝儲からなかった）」と申告している会社のことです。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赤字の会社は、法人税（会社の利益にかかる税金）を払わなくて済みます。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126480" y="1828800"/>
            <a:ext cx="5394960" cy="3566160"/>
          </a:xfrm>
          <a:prstGeom prst="roundRect">
            <a:avLst>
              <a:gd name="adj" fmla="val 2051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46520" y="2148840"/>
            <a:ext cx="502920" cy="502920"/>
          </a:xfrm>
          <a:prstGeom prst="ellipse">
            <a:avLst/>
          </a:prstGeom>
          <a:solidFill>
            <a:srgbClr val="0A0A0A"/>
          </a:solidFill>
          <a:ln w="12700">
            <a:solidFill>
              <a:srgbClr val="2E2E2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226771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46520" y="2834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ここに潜む問題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46520" y="3291840"/>
            <a:ext cx="47548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本当は儲かっているのに、わざと経費を多く計上するなどして「帳簿の上だけ赤字」に見せかけ、税金を逃れている会社があると考えられます。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これを「作られた赤字」と呼びます。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衝撃の数字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全国の会社の61%が「赤字」と申告している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令和5年度・国税庁　会社標本調査より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280160" y="2377440"/>
            <a:ext cx="3108960" cy="310896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1280160" y="2377440"/>
            <a:ext cx="3108960" cy="3108960"/>
          </a:xfrm>
          <a:prstGeom prst="pie">
            <a:avLst>
              <a:gd name="adj1" fmla="val 16200000"/>
              <a:gd name="adj2" fmla="val 7776000"/>
            </a:avLst>
          </a:prstGeom>
          <a:solidFill>
            <a:srgbClr val="D62828"/>
          </a:solidFill>
          <a:ln/>
        </p:spPr>
      </p:sp>
      <p:sp>
        <p:nvSpPr>
          <p:cNvPr id="9" name="Shape 7"/>
          <p:cNvSpPr/>
          <p:nvPr/>
        </p:nvSpPr>
        <p:spPr>
          <a:xfrm>
            <a:off x="1979676" y="3076956"/>
            <a:ext cx="1709928" cy="1709928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0" name="Text 8"/>
          <p:cNvSpPr/>
          <p:nvPr/>
        </p:nvSpPr>
        <p:spPr>
          <a:xfrm>
            <a:off x="1979676" y="3611880"/>
            <a:ext cx="17099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979676" y="4114800"/>
            <a:ext cx="170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赤字法人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212080" y="237744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過去10年間の平均で見ても、63〜64%が赤字。</a:t>
            </a:r>
            <a:endParaRPr lang="en-US" sz="14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コロナ禍（2020〜2021年）は給付金で利益が押し上げられ、一時的に61〜62%まで下がって見えただけです。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212080" y="4297680"/>
            <a:ext cx="6400800" cy="1188720"/>
          </a:xfrm>
          <a:prstGeom prst="roundRect">
            <a:avLst>
              <a:gd name="adj" fmla="val 4615"/>
            </a:avLst>
          </a:prstGeom>
          <a:solidFill>
            <a:srgbClr val="1A1A1A"/>
          </a:solidFill>
          <a:ln w="12700">
            <a:solidFill>
              <a:srgbClr val="D628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0" y="443484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補助金がなければ、63〜64%に戻るのが実態。「作られた赤字」が、当たり前のようになっていると考えるのが自然です。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誰が対象になるのか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対象は「大企業を除く、中小・零細企業」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5212080" cy="3566160"/>
          </a:xfrm>
          <a:prstGeom prst="roundRect">
            <a:avLst>
              <a:gd name="adj" fmla="val 2051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2148840"/>
            <a:ext cx="502920" cy="502920"/>
          </a:xfrm>
          <a:prstGeom prst="ellipse">
            <a:avLst/>
          </a:prstGeom>
          <a:solidFill>
            <a:srgbClr val="0A0A0A"/>
          </a:solidFill>
          <a:ln w="12700">
            <a:solidFill>
              <a:srgbClr val="2E2E2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992" y="2267712"/>
            <a:ext cx="265176" cy="26517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60120" y="2834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新しく作った会社は守られる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60120" y="3291840"/>
            <a:ext cx="45720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創業から3年間だけは、無条件で今と同じ優遇を受けられます。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起業したばかりの会社を、いきなり厳しいルールに巻き込むことはしません。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126480" y="1828800"/>
            <a:ext cx="5394960" cy="3566160"/>
          </a:xfrm>
          <a:prstGeom prst="roundRect">
            <a:avLst>
              <a:gd name="adj" fmla="val 2051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46520" y="2148840"/>
            <a:ext cx="502920" cy="502920"/>
          </a:xfrm>
          <a:prstGeom prst="ellipse">
            <a:avLst/>
          </a:prstGeom>
          <a:solidFill>
            <a:srgbClr val="0A0A0A"/>
          </a:solidFill>
          <a:ln w="12700">
            <a:solidFill>
              <a:srgbClr val="2E2E2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226771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46520" y="2834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4年目からはルールが変わる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46520" y="3291840"/>
            <a:ext cx="47548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4年目以降は、後で説明する「成長条件」をクリアすることが必要になります。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成長を続ける限り優遇は受けられますが、それが前提条件になります。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対象業種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対象は「BtoB」の3つの業種だけ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BtoB＝企業同士で取引すること（Business to Business）。下請け構造が特に問題になりやすい3業種に絞ります。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19456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" y="2514600"/>
            <a:ext cx="502920" cy="502920"/>
          </a:xfrm>
          <a:prstGeom prst="ellipse">
            <a:avLst/>
          </a:prstGeom>
          <a:solidFill>
            <a:srgbClr val="0A0A0A"/>
          </a:solidFill>
          <a:ln w="12700">
            <a:solidFill>
              <a:srgbClr val="2E2E2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992" y="2633472"/>
            <a:ext cx="265176" cy="26517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32004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建設・土木・建築業界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960120" y="3657600"/>
            <a:ext cx="2834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名前だけのペーパーカンパニーを整理し、職人を自社できちんと雇う、筋肉質な中堅建設会社を増やします。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343400" y="219456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663440" y="2514600"/>
            <a:ext cx="502920" cy="502920"/>
          </a:xfrm>
          <a:prstGeom prst="ellipse">
            <a:avLst/>
          </a:prstGeom>
          <a:solidFill>
            <a:srgbClr val="0A0A0A"/>
          </a:solidFill>
          <a:ln w="12700">
            <a:solidFill>
              <a:srgbClr val="2E2E2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2633472"/>
            <a:ext cx="265176" cy="265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63440" y="32004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IT・システム開発業界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4663440" y="3657600"/>
            <a:ext cx="2834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何社も間に入って手数料だけ取る「中抜き」をなくし、ちゃんと開発する力を持った会社に仕事を集めます。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8046720" y="219456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366760" y="2514600"/>
            <a:ext cx="502920" cy="502920"/>
          </a:xfrm>
          <a:prstGeom prst="ellipse">
            <a:avLst/>
          </a:prstGeom>
          <a:solidFill>
            <a:srgbClr val="0A0A0A"/>
          </a:solidFill>
          <a:ln w="12700">
            <a:solidFill>
              <a:srgbClr val="2E2E2E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2633472"/>
            <a:ext cx="265176" cy="26517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366760" y="32004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製造業（部品加工など）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8366760" y="3657600"/>
            <a:ext cx="2834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1社だけで生き延びようとするのをやめ、同業同士の合併で、強い部品供給元へと進化させます。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対象外になるもの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飲食・美容など「BtoC」のお店は対象外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10881360" cy="1645920"/>
          </a:xfrm>
          <a:prstGeom prst="roundRect">
            <a:avLst>
              <a:gd name="adj" fmla="val 4444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28600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224028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BtoC（個人のお客さんを相手にする業種）は完全除外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828800" y="269748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飲食店・美容室・アパレル・エンタメなどは、この提言の対象から完全に除外し、現行の優遇枠組みのまま維持・保護します。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0080" y="3886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BtoBとBtoCを両方やっている会社はどう判定する？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22960" y="43434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「BtoB売上が50%を超えている」</a:t>
            </a:r>
            <a:endParaRPr lang="en-US" sz="14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または「国の産業分類で対象業種に当てはまる」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5074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このどちらかで判定します。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何を変えるのか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「条件なしの税金優遇」をやめます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用語解説：軽減税率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本来の税率より低く設定された、優遇された税率のこと。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今の制度：中小企業なら「自動的に」法人税が安くなる（軽減税率15%）</a:t>
            </a:r>
            <a:endParaRPr lang="en-US" sz="15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063240"/>
            <a:ext cx="365760" cy="3657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43000" y="3063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成長していてもしていなくても、同じように優遇されてしまう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40080" y="3657600"/>
            <a:ext cx="10881360" cy="0"/>
          </a:xfrm>
          <a:prstGeom prst="line">
            <a:avLst/>
          </a:prstGeom>
          <a:noFill/>
          <a:ln w="12700">
            <a:solidFill>
              <a:srgbClr val="2E2E2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3840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新しい制度：会社の規模に関係なく、法人税は一律25%が基本</a:t>
            </a:r>
            <a:endParaRPr lang="en-US" sz="15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34340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143000" y="4343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成長の条件をクリアした会社だけが、税率を下げてもらえる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新しい税率ルール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法人税は、成長した分だけ安くなる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5029200" cy="658368"/>
          </a:xfrm>
          <a:prstGeom prst="rect">
            <a:avLst/>
          </a:prstGeom>
          <a:solidFill>
            <a:srgbClr val="2E2E2E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920240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区分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0" y="1920240"/>
            <a:ext cx="2926080" cy="658368"/>
          </a:xfrm>
          <a:prstGeom prst="rect">
            <a:avLst/>
          </a:prstGeom>
          <a:solidFill>
            <a:srgbClr val="2E2E2E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52160" y="192024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今の実際の税率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95360" y="1920240"/>
            <a:ext cx="2926080" cy="658368"/>
          </a:xfrm>
          <a:prstGeom prst="rect">
            <a:avLst/>
          </a:prstGeom>
          <a:solidFill>
            <a:srgbClr val="2E2E2E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0" y="192024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新しい制度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578608"/>
            <a:ext cx="5029200" cy="658368"/>
          </a:xfrm>
          <a:prstGeom prst="rect">
            <a:avLst/>
          </a:prstGeom>
          <a:solidFill>
            <a:srgbClr val="0A0A0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578608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中小企業（利益800万円以下）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0" y="2578608"/>
            <a:ext cx="2926080" cy="658368"/>
          </a:xfrm>
          <a:prstGeom prst="rect">
            <a:avLst/>
          </a:prstGeom>
          <a:solidFill>
            <a:srgbClr val="0A0A0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52160" y="257860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約21%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595360" y="2578608"/>
            <a:ext cx="2926080" cy="658368"/>
          </a:xfrm>
          <a:prstGeom prst="rect">
            <a:avLst/>
          </a:prstGeom>
          <a:solidFill>
            <a:srgbClr val="0A0A0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78240" y="257860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25%（一律）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0080" y="3236976"/>
            <a:ext cx="5029200" cy="658368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236976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大企業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0" y="3236976"/>
            <a:ext cx="2926080" cy="658368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52160" y="3236976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約30%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595360" y="3236976"/>
            <a:ext cx="2926080" cy="658368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778240" y="3236976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変更なし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40080" y="3895344"/>
            <a:ext cx="5029200" cy="658368"/>
          </a:xfrm>
          <a:prstGeom prst="rect">
            <a:avLst/>
          </a:prstGeom>
          <a:solidFill>
            <a:srgbClr val="0A0A0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3895344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条件達成企業（維持）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5669280" y="3895344"/>
            <a:ext cx="2926080" cy="658368"/>
          </a:xfrm>
          <a:prstGeom prst="rect">
            <a:avLst/>
          </a:prstGeom>
          <a:solidFill>
            <a:srgbClr val="0A0A0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52160" y="3895344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―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8595360" y="3895344"/>
            <a:ext cx="2926080" cy="658368"/>
          </a:xfrm>
          <a:prstGeom prst="rect">
            <a:avLst/>
          </a:prstGeom>
          <a:solidFill>
            <a:srgbClr val="0A0A0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78240" y="3895344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20%（5pt優遇）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640080" y="4553712"/>
            <a:ext cx="5029200" cy="658368"/>
          </a:xfrm>
          <a:prstGeom prst="rect">
            <a:avLst/>
          </a:prstGeom>
          <a:solidFill>
            <a:srgbClr val="2A1414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4553712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条件達成企業（拡大）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669280" y="4553712"/>
            <a:ext cx="2926080" cy="658368"/>
          </a:xfrm>
          <a:prstGeom prst="rect">
            <a:avLst/>
          </a:prstGeom>
          <a:solidFill>
            <a:srgbClr val="2A1414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52160" y="4553712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―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8595360" y="4553712"/>
            <a:ext cx="2926080" cy="658368"/>
          </a:xfrm>
          <a:prstGeom prst="rect">
            <a:avLst/>
          </a:prstGeom>
          <a:solidFill>
            <a:srgbClr val="2A1414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778240" y="4553712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15%（10pt優遇）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640080" y="5212080"/>
            <a:ext cx="5029200" cy="658368"/>
          </a:xfrm>
          <a:prstGeom prst="rect">
            <a:avLst/>
          </a:prstGeom>
          <a:solidFill>
            <a:srgbClr val="0A0A0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2960" y="5212080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条件未達成企業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5669280" y="5212080"/>
            <a:ext cx="2926080" cy="658368"/>
          </a:xfrm>
          <a:prstGeom prst="rect">
            <a:avLst/>
          </a:prstGeom>
          <a:solidFill>
            <a:srgbClr val="0A0A0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52160" y="521208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―</a:t>
            </a:r>
            <a:endParaRPr lang="en-US" sz="1350" dirty="0"/>
          </a:p>
        </p:txBody>
      </p:sp>
      <p:sp>
        <p:nvSpPr>
          <p:cNvPr id="40" name="Shape 38"/>
          <p:cNvSpPr/>
          <p:nvPr/>
        </p:nvSpPr>
        <p:spPr>
          <a:xfrm>
            <a:off x="8595360" y="5212080"/>
            <a:ext cx="2926080" cy="658368"/>
          </a:xfrm>
          <a:prstGeom prst="rect">
            <a:avLst/>
          </a:prstGeom>
          <a:solidFill>
            <a:srgbClr val="0A0A0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778240" y="521208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25%（優遇なし）</a:t>
            </a:r>
            <a:endParaRPr lang="en-US" sz="1350" dirty="0"/>
          </a:p>
        </p:txBody>
      </p:sp>
      <p:sp>
        <p:nvSpPr>
          <p:cNvPr id="42" name="Text 40"/>
          <p:cNvSpPr/>
          <p:nvPr/>
        </p:nvSpPr>
        <p:spPr>
          <a:xfrm>
            <a:off x="640080" y="60990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「拡大条件」を達成した会社は、税率がほぼ半分（30%→15%）まで下がります。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補助金の見直し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補助金は「赤字の穴埋め」ではなく「次の一手」へ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年間1〜2兆円規模の中小企業向け補助金を、根本から見直します。赤字の会社への補助金は、原則やめます。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423160"/>
            <a:ext cx="5212080" cy="3108960"/>
          </a:xfrm>
          <a:prstGeom prst="roundRect">
            <a:avLst>
              <a:gd name="adj" fmla="val 2353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743200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60120" y="3337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やめるもの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60120" y="374904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小規模事業者持続化補助金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事業再構築補助金（今のやり方）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成長と結びついていない補助金全般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309360" y="2423160"/>
            <a:ext cx="5212080" cy="3108960"/>
          </a:xfrm>
          <a:prstGeom prst="roundRect">
            <a:avLst>
              <a:gd name="adj" fmla="val 2353"/>
            </a:avLst>
          </a:prstGeom>
          <a:solidFill>
            <a:srgbClr val="1A1A1A"/>
          </a:solidFill>
          <a:ln w="19050">
            <a:solidFill>
              <a:srgbClr val="D62828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74320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629400" y="3337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続ける・拡充するもの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6629400" y="374904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会社同士の合併（M&amp;A）の支援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雇用を増やすための設備投資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学び直し（リスキリング）支援（提言001と連動）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施策パッケージ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変化を起こす「3つの柱」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3474720" cy="3383280"/>
          </a:xfrm>
          <a:prstGeom prst="roundRect">
            <a:avLst>
              <a:gd name="adj" fmla="val 2162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4688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柱①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60120" y="30632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二段階の成長判定システム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397764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賃金と雇用を増やした会社だけ税金が安くなる、ずっと続く制度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2194560"/>
            <a:ext cx="3474720" cy="3383280"/>
          </a:xfrm>
          <a:prstGeom prst="roundRect">
            <a:avLst>
              <a:gd name="adj" fmla="val 2162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24688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柱②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63440" y="30632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M&amp;A（合併）の完全無税化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63440" y="397764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会社同士が合併して強くなることを、税金面で全力支援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2194560"/>
            <a:ext cx="3474720" cy="3383280"/>
          </a:xfrm>
          <a:prstGeom prst="roundRect">
            <a:avLst>
              <a:gd name="adj" fmla="val 2162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66760" y="24688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柱③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366760" y="30632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BtoB経費のクリーン化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66760" y="397764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利益を隠す経費の悪用を取り締まり、発注元にも責任を持たせる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柱① 成長判定システム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何を基準に「成長した」と判定するのか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10881360" cy="1920240"/>
          </a:xfrm>
          <a:prstGeom prst="roundRect">
            <a:avLst>
              <a:gd name="adj" fmla="val 381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2240280"/>
            <a:ext cx="502920" cy="502920"/>
          </a:xfrm>
          <a:prstGeom prst="ellipse">
            <a:avLst/>
          </a:prstGeom>
          <a:solidFill>
            <a:srgbClr val="0A0A0A"/>
          </a:solidFill>
          <a:ln w="12700">
            <a:solidFill>
              <a:srgbClr val="2E2E2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992" y="2359152"/>
            <a:ext cx="265176" cy="26517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45920" y="21945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判定の基準：厚生年金被保険者ベースの年間平均在籍数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60120" y="28803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つまり「社会保険にきちんと加入している社員が、1年間平均で何人いるか」を基準にします。アルバイトや名前だけの雇用ではなく、実態のある雇用を数えるためです。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この基準をもとに、次のスライドで「維持条件」と「拡大条件」の2段階を見ていきます。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柱① 二段階の条件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「維持条件」と「拡大条件」の2段階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212080" cy="3657600"/>
          </a:xfrm>
          <a:prstGeom prst="roundRect">
            <a:avLst>
              <a:gd name="adj" fmla="val 200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057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維持条件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514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法人税20%（5pt優遇）の最低ライン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297180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条件A：1人あたり賃金が、インフレ率（物価上昇率）×120%以上増加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例：インフレ3%の年なら、手取りで3.6%以上の賃上げ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条件B：正社員の数が、前年より減っていないこと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09360" y="1783080"/>
            <a:ext cx="5212080" cy="3657600"/>
          </a:xfrm>
          <a:prstGeom prst="roundRect">
            <a:avLst>
              <a:gd name="adj" fmla="val 2000"/>
            </a:avLst>
          </a:prstGeom>
          <a:solidFill>
            <a:srgbClr val="1A1A1A"/>
          </a:solidFill>
          <a:ln w="19050">
            <a:solidFill>
              <a:srgbClr val="D628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29400" y="2057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拡大条件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629400" y="2514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法人税15%（10pt優遇）の上位ライン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29400" y="297180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条件C：正社員の数が、前年比3%以上増加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条件D：給料の総額が、前年比5%以上増加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柱① 達成できなかったら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条件を1年でも下回ったら、優遇は即なくなる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706"/>
            </a:avLst>
          </a:prstGeom>
          <a:solidFill>
            <a:srgbClr val="1A1A1A"/>
          </a:solidFill>
          <a:ln w="19050">
            <a:solidFill>
              <a:srgbClr val="D6282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19456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83080" y="210312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条件を1年でも下回った場合 → 優遇を即時全廃（25%に戻る）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783080" y="260604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翌年以降に条件を再達成すれば、優遇は再び適用されます。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74904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3444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この制度は「ずっと続く恒久制度」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40080" y="425196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10年間の数値目標の達成状況を見て、優遇の幅を調整します。目標を達成できたら優遇の幅を小さくする（または新しい目標を作る）、達成できなかったら優遇の幅を広げて、もっと成長を後押しします。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柱② M&amp;A（合併）の支援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会社同士の合併（M&amp;A）は、完全に無税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用語解説：M&amp;A（エムアンドエー）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9202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会社同士が合併したり、買収したりすること。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468880"/>
            <a:ext cx="10881360" cy="868680"/>
          </a:xfrm>
          <a:prstGeom prst="roundRect">
            <a:avLst>
              <a:gd name="adj" fmla="val 6316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46888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合併した年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383280" y="246888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両方の会社とも自動的に「拡大条件を達成した」とみなす（15%優遇）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474720"/>
            <a:ext cx="10881360" cy="868680"/>
          </a:xfrm>
          <a:prstGeom prst="roundRect">
            <a:avLst>
              <a:gd name="adj" fmla="val 6316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47472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合併にかかる税金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83280" y="347472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登録免許税・不動産取得税・仲介手数料には、税金をかけない（ゼロ）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480560"/>
            <a:ext cx="10881360" cy="868680"/>
          </a:xfrm>
          <a:prstGeom prst="roundRect">
            <a:avLst>
              <a:gd name="adj" fmla="val 6316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48056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合併翌年から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383280" y="448056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合体した後の会社として、普通の維持・拡大条件を適用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55321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「合併して強くなる」ことは、一時的な応援ではなく、これからの日本の産業がずっと目指すべき方向性 ── だからこの優遇は恒久制度です。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柱③ 経費のクリーン化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利益を隠す経費は「脱税」として厳しく取り締まる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に関係のない経費（高級な外車、個人的な飲み会の付け回しなど）で利益を圧縮することを、「脱税」とみなして厳罰化します。出た利益は、設備投資か、雇用・賃金を増やすための原資に回すことを法律で義務付けます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697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用語解説：連座制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下請けの違反を見て見ぬふりをしていた発注元（元請け）にも、責任を問う仕組みのことです。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566160"/>
            <a:ext cx="10881360" cy="685800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566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通常違反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383280" y="3566160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法人税の加重課税（抑止力として）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389120"/>
            <a:ext cx="10881360" cy="685800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3891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重大・反復違反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383280" y="4389120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官公庁の入札（公共工事などの受注）資格を停止（最終手段）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5212080"/>
            <a:ext cx="10881360" cy="685800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5212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災害・緊急時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383280" y="5212080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入札停止を自動的に解除する例外ルールを適用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どう実現するのか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いきなり変えない。2年間の「告知期間」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急な制度変更は、企業活動を混乱させます。各企業が準備できる時間をしっかり確保します。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377440" y="2697480"/>
            <a:ext cx="7406640" cy="0"/>
          </a:xfrm>
          <a:prstGeom prst="line">
            <a:avLst/>
          </a:prstGeom>
          <a:noFill/>
          <a:ln w="25400">
            <a:solidFill>
              <a:srgbClr val="2E2E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48840" y="2468880"/>
            <a:ext cx="457200" cy="457200"/>
          </a:xfrm>
          <a:prstGeom prst="ellipse">
            <a:avLst/>
          </a:prstGeom>
          <a:solidFill>
            <a:srgbClr val="D62828"/>
          </a:solidFill>
          <a:ln/>
        </p:spPr>
      </p:sp>
      <p:sp>
        <p:nvSpPr>
          <p:cNvPr id="9" name="Text 7"/>
          <p:cNvSpPr/>
          <p:nvPr/>
        </p:nvSpPr>
        <p:spPr>
          <a:xfrm>
            <a:off x="214884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3154680"/>
            <a:ext cx="3474720" cy="2423160"/>
          </a:xfrm>
          <a:prstGeom prst="roundRect">
            <a:avLst>
              <a:gd name="adj" fmla="val 3019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告知開始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14400" y="3794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（制度開始の2年前）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41605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新しい制度の内容をすべて公表。各企業は合併・採用・賃金の計画を前もって考えられる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852160" y="2468880"/>
            <a:ext cx="457200" cy="457200"/>
          </a:xfrm>
          <a:prstGeom prst="ellipse">
            <a:avLst/>
          </a:prstGeom>
          <a:solidFill>
            <a:srgbClr val="D62828"/>
          </a:solidFill>
          <a:ln/>
        </p:spPr>
      </p:sp>
      <p:sp>
        <p:nvSpPr>
          <p:cNvPr id="15" name="Text 13"/>
          <p:cNvSpPr/>
          <p:nvPr/>
        </p:nvSpPr>
        <p:spPr>
          <a:xfrm>
            <a:off x="585216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43400" y="3154680"/>
            <a:ext cx="3474720" cy="2423160"/>
          </a:xfrm>
          <a:prstGeom prst="roundRect">
            <a:avLst>
              <a:gd name="adj" fmla="val 3019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準備期間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617720" y="3794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（2年間）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17720" y="41605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今の制度をそのまま継続。今の優遇と新しい優遇の間に「崖」を作らない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555480" y="2468880"/>
            <a:ext cx="457200" cy="457200"/>
          </a:xfrm>
          <a:prstGeom prst="ellipse">
            <a:avLst/>
          </a:prstGeom>
          <a:solidFill>
            <a:srgbClr val="D62828"/>
          </a:solidFill>
          <a:ln/>
        </p:spPr>
      </p:sp>
      <p:sp>
        <p:nvSpPr>
          <p:cNvPr id="21" name="Text 19"/>
          <p:cNvSpPr/>
          <p:nvPr/>
        </p:nvSpPr>
        <p:spPr>
          <a:xfrm>
            <a:off x="955548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046720" y="3154680"/>
            <a:ext cx="3474720" cy="2423160"/>
          </a:xfrm>
          <a:prstGeom prst="roundRect">
            <a:avLst>
              <a:gd name="adj" fmla="val 3019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2104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制度スタート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21040" y="3794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（Y年）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321040" y="41605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新しい制度が本格的に始まる。合併が集中して起きることは、むしろ歓迎。補助金の廃止も同時実施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10年後の数値目標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10年後、何をどこまで実現するか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5212080" cy="3383280"/>
          </a:xfrm>
          <a:prstGeom prst="roundRect">
            <a:avLst>
              <a:gd name="adj" fmla="val 2162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103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中堅企業数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26060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9,229社 → 約27,000社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60120" y="3337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0.7% → 2.1%（3倍増）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39319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年間およそ1,800社ペースでの増加が目標です。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309360" y="1828800"/>
            <a:ext cx="5212080" cy="3383280"/>
          </a:xfrm>
          <a:prstGeom prst="roundRect">
            <a:avLst>
              <a:gd name="adj" fmla="val 2162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9400" y="2103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赤字法人の割合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29400" y="26060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61% → 10〜20%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629400" y="3337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（10年平均63〜64% → 10年平均10〜20%）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29400" y="39319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「作られた赤字」を取り締まり、本来の利益にきちんと税金がかかる状態を目指します。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53949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「中堅企業27,000社」の達成が、この制度を縮小していい合図になります。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結果どうなるのか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国の税収はどう変わるか（試算）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前提：対象3業種の中小・零細企業 約100万社／黒字会社 約39万社／条件達成率40%／インフレ率3%。所得税は今の税率のままで計算（控えめな試算）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2011680"/>
            <a:ext cx="7589520" cy="457200"/>
          </a:xfrm>
          <a:prstGeom prst="rect">
            <a:avLst/>
          </a:prstGeom>
          <a:solidFill>
            <a:srgbClr val="1A1A1A"/>
          </a:solidFill>
          <a:ln w="6350">
            <a:solidFill>
              <a:srgbClr val="2E2E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0" y="2011680"/>
            <a:ext cx="3291840" cy="457200"/>
          </a:xfrm>
          <a:prstGeom prst="rect">
            <a:avLst/>
          </a:prstGeom>
          <a:solidFill>
            <a:srgbClr val="1A1A1A"/>
          </a:solidFill>
          <a:ln w="6350">
            <a:solidFill>
              <a:srgbClr val="2E2E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011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法人税フラット化＋条件優遇による増収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412480" y="2011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+約2,500億円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2468880"/>
            <a:ext cx="7589520" cy="457200"/>
          </a:xfrm>
          <a:prstGeom prst="rect">
            <a:avLst/>
          </a:prstGeom>
          <a:solidFill>
            <a:srgbClr val="0A0A0A"/>
          </a:solidFill>
          <a:ln w="6350">
            <a:solidFill>
              <a:srgbClr val="2E2E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0" y="2468880"/>
            <a:ext cx="3291840" cy="457200"/>
          </a:xfrm>
          <a:prstGeom prst="rect">
            <a:avLst/>
          </a:prstGeom>
          <a:solidFill>
            <a:srgbClr val="0A0A0A"/>
          </a:solidFill>
          <a:ln w="6350">
            <a:solidFill>
              <a:srgbClr val="2E2E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468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所得税増収（賃金3.6%増・280万人）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1248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+約3,800億円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926080"/>
            <a:ext cx="7589520" cy="457200"/>
          </a:xfrm>
          <a:prstGeom prst="rect">
            <a:avLst/>
          </a:prstGeom>
          <a:solidFill>
            <a:srgbClr val="1A1A1A"/>
          </a:solidFill>
          <a:ln w="6350">
            <a:solidFill>
              <a:srgbClr val="2E2E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0" y="2926080"/>
            <a:ext cx="3291840" cy="457200"/>
          </a:xfrm>
          <a:prstGeom prst="rect">
            <a:avLst/>
          </a:prstGeom>
          <a:solidFill>
            <a:srgbClr val="1A1A1A"/>
          </a:solidFill>
          <a:ln w="6350">
            <a:solidFill>
              <a:srgbClr val="2E2E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2926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社会保険料増収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41248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+約1.1兆円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383280"/>
            <a:ext cx="7589520" cy="457200"/>
          </a:xfrm>
          <a:prstGeom prst="rect">
            <a:avLst/>
          </a:prstGeom>
          <a:solidFill>
            <a:srgbClr val="0A0A0A"/>
          </a:solidFill>
          <a:ln w="6350">
            <a:solidFill>
              <a:srgbClr val="2E2E2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3383280"/>
            <a:ext cx="3291840" cy="457200"/>
          </a:xfrm>
          <a:prstGeom prst="rect">
            <a:avLst/>
          </a:prstGeom>
          <a:solidFill>
            <a:srgbClr val="0A0A0A"/>
          </a:solidFill>
          <a:ln w="6350">
            <a:solidFill>
              <a:srgbClr val="2E2E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383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消費税増収（消費の拡大分）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412480" y="33832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+約3,400億円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3840480"/>
            <a:ext cx="7589520" cy="457200"/>
          </a:xfrm>
          <a:prstGeom prst="rect">
            <a:avLst/>
          </a:prstGeom>
          <a:solidFill>
            <a:srgbClr val="1A1A1A"/>
          </a:solidFill>
          <a:ln w="6350">
            <a:solidFill>
              <a:srgbClr val="2E2E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0" y="3840480"/>
            <a:ext cx="3291840" cy="457200"/>
          </a:xfrm>
          <a:prstGeom prst="rect">
            <a:avLst/>
          </a:prstGeom>
          <a:solidFill>
            <a:srgbClr val="1A1A1A"/>
          </a:solidFill>
          <a:ln w="6350">
            <a:solidFill>
              <a:srgbClr val="2E2E2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3840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補助金廃止による歳出削減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412480" y="3840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+約1〜2兆円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297680"/>
            <a:ext cx="7589520" cy="457200"/>
          </a:xfrm>
          <a:prstGeom prst="rect">
            <a:avLst/>
          </a:prstGeom>
          <a:solidFill>
            <a:srgbClr val="0A0A0A"/>
          </a:solidFill>
          <a:ln w="6350">
            <a:solidFill>
              <a:srgbClr val="2E2E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29600" y="4297680"/>
            <a:ext cx="3291840" cy="457200"/>
          </a:xfrm>
          <a:prstGeom prst="rect">
            <a:avLst/>
          </a:prstGeom>
          <a:solidFill>
            <a:srgbClr val="0A0A0A"/>
          </a:solidFill>
          <a:ln w="6350">
            <a:solidFill>
              <a:srgbClr val="2E2E2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" y="4297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赤字法人の黒字化による法人税増収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41248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+約1.5兆円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4754880"/>
            <a:ext cx="7589520" cy="548640"/>
          </a:xfrm>
          <a:prstGeom prst="rect">
            <a:avLst/>
          </a:prstGeom>
          <a:solidFill>
            <a:srgbClr val="A01F1F"/>
          </a:solidFill>
          <a:ln/>
        </p:spPr>
      </p:sp>
      <p:sp>
        <p:nvSpPr>
          <p:cNvPr id="32" name="Shape 30"/>
          <p:cNvSpPr/>
          <p:nvPr/>
        </p:nvSpPr>
        <p:spPr>
          <a:xfrm>
            <a:off x="8229600" y="4754880"/>
            <a:ext cx="3291840" cy="548640"/>
          </a:xfrm>
          <a:prstGeom prst="rect">
            <a:avLst/>
          </a:prstGeom>
          <a:solidFill>
            <a:srgbClr val="A01F1F"/>
          </a:solidFill>
          <a:ln/>
        </p:spPr>
      </p:sp>
      <p:sp>
        <p:nvSpPr>
          <p:cNvPr id="33" name="Text 31"/>
          <p:cNvSpPr/>
          <p:nvPr/>
        </p:nvSpPr>
        <p:spPr>
          <a:xfrm>
            <a:off x="822960" y="47548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412480" y="47548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+約4.6〜5.6兆円/年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40080" y="5440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最初の年は今の制度のまま。3年後あたりからプラス効果が見え始める設計です。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10年後の日本経済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10年後、日本経済はこうなっている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5212080" cy="2194560"/>
          </a:xfrm>
          <a:prstGeom prst="roundRect">
            <a:avLst>
              <a:gd name="adj" fmla="val 3333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2148840"/>
            <a:ext cx="502920" cy="502920"/>
          </a:xfrm>
          <a:prstGeom prst="ellipse">
            <a:avLst/>
          </a:prstGeom>
          <a:solidFill>
            <a:srgbClr val="0A0A0A"/>
          </a:solidFill>
          <a:ln w="12700">
            <a:solidFill>
              <a:srgbClr val="2E2E2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992" y="2267712"/>
            <a:ext cx="265176" cy="26517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60120" y="2834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成長を拒む経営者の自然な退場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60120" y="32918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成長する気のない経営者は会社を続けられず、引退するか、成長したい会社に売却する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309360" y="1828800"/>
            <a:ext cx="5212080" cy="2194560"/>
          </a:xfrm>
          <a:prstGeom prst="roundRect">
            <a:avLst>
              <a:gd name="adj" fmla="val 3333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629400" y="2148840"/>
            <a:ext cx="502920" cy="502920"/>
          </a:xfrm>
          <a:prstGeom prst="ellipse">
            <a:avLst/>
          </a:prstGeom>
          <a:solidFill>
            <a:srgbClr val="0A0A0A"/>
          </a:solidFill>
          <a:ln w="12700">
            <a:solidFill>
              <a:srgbClr val="2E2E2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8272" y="226771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629400" y="2834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強い中堅企業が、世界で戦える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629400" y="32918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条件をクリアした会社だけが生き残り、発注元と対等に交渉できるようになる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40080" y="4297680"/>
            <a:ext cx="5212080" cy="2194560"/>
          </a:xfrm>
          <a:prstGeom prst="roundRect">
            <a:avLst>
              <a:gd name="adj" fmla="val 3333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960120" y="4617720"/>
            <a:ext cx="502920" cy="502920"/>
          </a:xfrm>
          <a:prstGeom prst="ellipse">
            <a:avLst/>
          </a:prstGeom>
          <a:solidFill>
            <a:srgbClr val="0A0A0A"/>
          </a:solidFill>
          <a:ln w="12700">
            <a:solidFill>
              <a:srgbClr val="2E2E2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" y="4736592"/>
            <a:ext cx="265176" cy="2651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60120" y="5303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働く人の給料が劇的に上がる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960120" y="57607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中抜き構造がなくなり、提言001の最低賃金2,000円と組み合わさって、本当の意味で救われる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309360" y="4297680"/>
            <a:ext cx="5212080" cy="2194560"/>
          </a:xfrm>
          <a:prstGeom prst="roundRect">
            <a:avLst>
              <a:gd name="adj" fmla="val 3333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629400" y="4617720"/>
            <a:ext cx="502920" cy="502920"/>
          </a:xfrm>
          <a:prstGeom prst="ellipse">
            <a:avLst/>
          </a:prstGeom>
          <a:solidFill>
            <a:srgbClr val="0A0A0A"/>
          </a:solidFill>
          <a:ln w="12700">
            <a:solidFill>
              <a:srgbClr val="2E2E2E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4736592"/>
            <a:ext cx="265176" cy="26517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629400" y="5303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国の財政が健全になる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6629400" y="57607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補助金削減＋赤字法人の正常化＋賃金上昇で、年間4.6〜5.6兆円の財政改善効果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まとめ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「雇用を増やし、賃金を上げた会社を、とことん優遇する」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77240" y="24231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誰も表立って反対しにくい、前向きな大義名分を掲げながら、その中身は「成長しない会社・ズルをする会社に、市場から退場してもらう」という、日本経済を立て直すための、最も冷静で効果的なロジックです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36118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そして、市場から退場することになった会社で働いていた人たちは、提言001のセーフティネットが確実に受け止めます。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4572000"/>
            <a:ext cx="3200400" cy="0"/>
          </a:xfrm>
          <a:prstGeom prst="line">
            <a:avLst/>
          </a:prstGeom>
          <a:noFill/>
          <a:ln w="12700">
            <a:solidFill>
              <a:srgbClr val="2E2E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4800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強さと優しさは、矛盾しない。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提言003：BtoB下請け産業の構造再編と成長ドライブ施策</dc:title>
  <dc:subject>PptxGenJS Presentation</dc:subject>
  <dc:creator>REBOOT JAPAN</dc:creator>
  <cp:lastModifiedBy>REBOOT JAPAN</cp:lastModifiedBy>
  <cp:revision>1</cp:revision>
  <dcterms:created xsi:type="dcterms:W3CDTF">2026-06-20T02:54:30Z</dcterms:created>
  <dcterms:modified xsi:type="dcterms:W3CDTF">2026-06-20T02:54:30Z</dcterms:modified>
</cp:coreProperties>
</file>