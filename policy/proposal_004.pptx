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22960" y="1371600"/>
            <a:ext cx="10058400" cy="457200"/>
          </a:xfrm>
          <a:prstGeom prst="rect">
            <a:avLst/>
          </a:prstGeom>
          <a:noFill/>
          <a:ln/>
        </p:spPr>
        <p:txBody>
          <a:bodyPr wrap="square" lIns="0" tIns="0" rIns="0" bIns="0" rtlCol="0" anchor="ctr"/>
          <a:lstStyle/>
          <a:p>
            <a:pPr indent="0" marL="0">
              <a:buNone/>
            </a:pPr>
            <a:r>
              <a:rPr lang="en-US" sz="1300" b="1" spc="300" kern="0" dirty="0">
                <a:solidFill>
                  <a:srgbClr val="C8161D"/>
                </a:solidFill>
                <a:latin typeface="Arial" pitchFamily="34" charset="0"/>
                <a:ea typeface="BIZ UDPGothic" pitchFamily="34" charset="-122"/>
                <a:cs typeface="BIZ UDPGothic" pitchFamily="34" charset="-120"/>
              </a:rPr>
              <a:t>政策提言プラットフォーム　REBOOT JAPAN</a:t>
            </a:r>
            <a:endParaRPr lang="en-US" sz="1300" dirty="0"/>
          </a:p>
        </p:txBody>
      </p:sp>
      <p:sp>
        <p:nvSpPr>
          <p:cNvPr id="3" name="Text 1"/>
          <p:cNvSpPr/>
          <p:nvPr/>
        </p:nvSpPr>
        <p:spPr>
          <a:xfrm>
            <a:off x="822960" y="1828800"/>
            <a:ext cx="10058400" cy="640080"/>
          </a:xfrm>
          <a:prstGeom prst="rect">
            <a:avLst/>
          </a:prstGeom>
          <a:noFill/>
          <a:ln/>
        </p:spPr>
        <p:txBody>
          <a:bodyPr wrap="square" lIns="0" tIns="0" rIns="0" bIns="0" rtlCol="0" anchor="ctr"/>
          <a:lstStyle/>
          <a:p>
            <a:pPr indent="0" marL="0">
              <a:buNone/>
            </a:pPr>
            <a:r>
              <a:rPr lang="en-US" sz="2200" dirty="0">
                <a:solidFill>
                  <a:srgbClr val="2B2F36"/>
                </a:solidFill>
                <a:latin typeface="Arial" pitchFamily="34" charset="0"/>
                <a:ea typeface="BIZ UDPGothic" pitchFamily="34" charset="-122"/>
                <a:cs typeface="BIZ UDPGothic" pitchFamily="34" charset="-120"/>
              </a:rPr>
              <a:t>提言004</a:t>
            </a:r>
            <a:endParaRPr lang="en-US" sz="2200" dirty="0"/>
          </a:p>
        </p:txBody>
      </p:sp>
      <p:sp>
        <p:nvSpPr>
          <p:cNvPr id="4" name="Text 2"/>
          <p:cNvSpPr/>
          <p:nvPr/>
        </p:nvSpPr>
        <p:spPr>
          <a:xfrm>
            <a:off x="777240" y="2286000"/>
            <a:ext cx="10515600" cy="2011680"/>
          </a:xfrm>
          <a:prstGeom prst="rect">
            <a:avLst/>
          </a:prstGeom>
          <a:noFill/>
          <a:ln/>
        </p:spPr>
        <p:txBody>
          <a:bodyPr wrap="square" lIns="0" tIns="0" rIns="0" bIns="0" rtlCol="0" anchor="ctr"/>
          <a:lstStyle/>
          <a:p>
            <a:pPr indent="0" marL="0">
              <a:lnSpc>
                <a:spcPct val="105000"/>
              </a:lnSpc>
              <a:buNone/>
            </a:pPr>
            <a:r>
              <a:rPr lang="en-US" sz="5400" b="1" dirty="0">
                <a:solidFill>
                  <a:srgbClr val="16181D"/>
                </a:solidFill>
                <a:latin typeface="Arial" pitchFamily="34" charset="0"/>
                <a:ea typeface="BIZ UDPGothic" pitchFamily="34" charset="-122"/>
                <a:cs typeface="BIZ UDPGothic" pitchFamily="34" charset="-120"/>
              </a:rPr>
              <a:t>相続税の</a:t>
            </a:r>
            <a:endParaRPr lang="en-US" sz="5400" dirty="0"/>
          </a:p>
          <a:p>
            <a:pPr indent="0" marL="0">
              <a:lnSpc>
                <a:spcPct val="105000"/>
              </a:lnSpc>
              <a:buNone/>
            </a:pPr>
            <a:r>
              <a:rPr lang="en-US" sz="5400" b="1" dirty="0">
                <a:solidFill>
                  <a:srgbClr val="C8161D"/>
                </a:solidFill>
                <a:latin typeface="Arial" pitchFamily="34" charset="0"/>
                <a:ea typeface="BIZ UDPGothic" pitchFamily="34" charset="-122"/>
                <a:cs typeface="BIZ UDPGothic" pitchFamily="34" charset="-120"/>
              </a:rPr>
              <a:t>不条理を正す</a:t>
            </a:r>
            <a:endParaRPr lang="en-US" sz="5400" dirty="0"/>
          </a:p>
        </p:txBody>
      </p:sp>
      <p:sp>
        <p:nvSpPr>
          <p:cNvPr id="5" name="Text 3"/>
          <p:cNvSpPr/>
          <p:nvPr/>
        </p:nvSpPr>
        <p:spPr>
          <a:xfrm>
            <a:off x="822960" y="4343400"/>
            <a:ext cx="9144000" cy="457200"/>
          </a:xfrm>
          <a:prstGeom prst="rect">
            <a:avLst/>
          </a:prstGeom>
          <a:noFill/>
          <a:ln/>
        </p:spPr>
        <p:txBody>
          <a:bodyPr wrap="square" lIns="0" tIns="0" rIns="0" bIns="0" rtlCol="0" anchor="ctr"/>
          <a:lstStyle/>
          <a:p>
            <a:pPr indent="0" marL="0">
              <a:buNone/>
            </a:pPr>
            <a:r>
              <a:rPr lang="en-US" sz="1600" dirty="0">
                <a:solidFill>
                  <a:srgbClr val="2B2F36"/>
                </a:solidFill>
                <a:latin typeface="Arial" pitchFamily="34" charset="0"/>
                <a:ea typeface="BIZ UDPGothic" pitchFamily="34" charset="-122"/>
                <a:cs typeface="BIZ UDPGothic" pitchFamily="34" charset="-120"/>
              </a:rPr>
              <a:t>中産階級を解放し、超富裕層には敬意ある税率を</a:t>
            </a:r>
            <a:endParaRPr lang="en-US" sz="1600" dirty="0"/>
          </a:p>
        </p:txBody>
      </p:sp>
      <p:sp>
        <p:nvSpPr>
          <p:cNvPr id="6" name="Shape 4"/>
          <p:cNvSpPr/>
          <p:nvPr/>
        </p:nvSpPr>
        <p:spPr>
          <a:xfrm>
            <a:off x="822960" y="4983480"/>
            <a:ext cx="3657600" cy="0"/>
          </a:xfrm>
          <a:prstGeom prst="line">
            <a:avLst/>
          </a:prstGeom>
          <a:noFill/>
          <a:ln w="12700">
            <a:solidFill>
              <a:srgbClr val="DDE0E6"/>
            </a:solidFill>
            <a:prstDash val="solid"/>
          </a:ln>
        </p:spPr>
      </p:sp>
      <p:sp>
        <p:nvSpPr>
          <p:cNvPr id="7" name="Text 5"/>
          <p:cNvSpPr/>
          <p:nvPr/>
        </p:nvSpPr>
        <p:spPr>
          <a:xfrm>
            <a:off x="822960" y="5166360"/>
            <a:ext cx="9144000" cy="365760"/>
          </a:xfrm>
          <a:prstGeom prst="rect">
            <a:avLst/>
          </a:prstGeom>
          <a:noFill/>
          <a:ln/>
        </p:spPr>
        <p:txBody>
          <a:bodyPr wrap="square" lIns="0" tIns="0" rIns="0" bIns="0" rtlCol="0" anchor="ctr"/>
          <a:lstStyle/>
          <a:p>
            <a:pPr indent="0" marL="0">
              <a:buNone/>
            </a:pPr>
            <a:r>
              <a:rPr lang="en-US" sz="1200" dirty="0">
                <a:solidFill>
                  <a:srgbClr val="626875"/>
                </a:solidFill>
                <a:latin typeface="Arial" pitchFamily="34" charset="0"/>
                <a:ea typeface="BIZ UDPGothic" pitchFamily="34" charset="-122"/>
                <a:cs typeface="BIZ UDPGothic" pitchFamily="34" charset="-120"/>
              </a:rPr>
              <a:t>わかりやすい解説版　── 中学生でも理解できるスライド</a:t>
            </a:r>
            <a:endParaRPr lang="en-US" sz="1200" dirty="0"/>
          </a:p>
        </p:txBody>
      </p:sp>
      <p:pic>
        <p:nvPicPr>
          <p:cNvPr id="8" name="Image 0" descr="preencoded.png">    </p:cNvPr>
          <p:cNvPicPr>
            <a:picLocks noChangeAspect="1"/>
          </p:cNvPicPr>
          <p:nvPr/>
        </p:nvPicPr>
        <p:blipFill>
          <a:blip r:embed="rId1">
            <a:alphaModFix amt="30000"/>
          </a:blip>
          <a:stretch>
            <a:fillRect/>
          </a:stretch>
        </p:blipFill>
        <p:spPr>
          <a:xfrm>
            <a:off x="10058400" y="5212080"/>
            <a:ext cx="1188720" cy="11887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640080" y="411480"/>
            <a:ext cx="10881360" cy="365760"/>
          </a:xfrm>
          <a:prstGeom prst="rect">
            <a:avLst/>
          </a:prstGeom>
          <a:noFill/>
          <a:ln/>
        </p:spPr>
        <p:txBody>
          <a:bodyPr wrap="square" lIns="0" tIns="0" rIns="0" bIns="0" rtlCol="0" anchor="ctr"/>
          <a:lstStyle/>
          <a:p>
            <a:pPr indent="0" marL="0">
              <a:buNone/>
            </a:pPr>
            <a:r>
              <a:rPr lang="en-US" sz="1200" b="1" spc="300" kern="0" dirty="0">
                <a:solidFill>
                  <a:srgbClr val="C8161D"/>
                </a:solidFill>
                <a:latin typeface="Arial" pitchFamily="34" charset="0"/>
                <a:ea typeface="BIZ UDPGothic" pitchFamily="34" charset="-122"/>
                <a:cs typeface="BIZ UDPGothic" pitchFamily="34" charset="-120"/>
              </a:rPr>
              <a:t>CONTENTS</a:t>
            </a:r>
            <a:endParaRPr lang="en-US" sz="1200" dirty="0"/>
          </a:p>
        </p:txBody>
      </p:sp>
      <p:sp>
        <p:nvSpPr>
          <p:cNvPr id="3" name="Text 1"/>
          <p:cNvSpPr/>
          <p:nvPr/>
        </p:nvSpPr>
        <p:spPr>
          <a:xfrm>
            <a:off x="640080" y="777240"/>
            <a:ext cx="10881360" cy="1005840"/>
          </a:xfrm>
          <a:prstGeom prst="rect">
            <a:avLst/>
          </a:prstGeom>
          <a:noFill/>
          <a:ln/>
        </p:spPr>
        <p:txBody>
          <a:bodyPr wrap="square" lIns="0" tIns="0" rIns="0" bIns="0" rtlCol="0" anchor="ctr"/>
          <a:lstStyle/>
          <a:p>
            <a:pPr indent="0" marL="0">
              <a:buNone/>
            </a:pPr>
            <a:r>
              <a:rPr lang="en-US" sz="3000" b="1" dirty="0">
                <a:solidFill>
                  <a:srgbClr val="16181D"/>
                </a:solidFill>
                <a:latin typeface="Arial" pitchFamily="34" charset="0"/>
                <a:ea typeface="BIZ UDPGothic" pitchFamily="34" charset="-122"/>
                <a:cs typeface="BIZ UDPGothic" pitchFamily="34" charset="-120"/>
              </a:rPr>
              <a:t>このスライドで分かること</a:t>
            </a:r>
            <a:endParaRPr lang="en-US" sz="3000" dirty="0"/>
          </a:p>
        </p:txBody>
      </p:sp>
      <p:sp>
        <p:nvSpPr>
          <p:cNvPr id="4" name="Text 2"/>
          <p:cNvSpPr/>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2B2F36"/>
                </a:solidFill>
                <a:latin typeface="Arial" pitchFamily="34" charset="0"/>
                <a:ea typeface="BIZ UDPGothic" pitchFamily="34" charset="-122"/>
                <a:cs typeface="BIZ UDPGothic" pitchFamily="34" charset="-120"/>
              </a:rPr>
              <a:t>02</a:t>
            </a:r>
            <a:endParaRPr lang="en-US" sz="1000" dirty="0"/>
          </a:p>
        </p:txBody>
      </p:sp>
      <p:sp>
        <p:nvSpPr>
          <p:cNvPr id="5" name="Text 3"/>
          <p:cNvSpPr/>
          <p:nvPr/>
        </p:nvSpPr>
        <p:spPr>
          <a:xfrm>
            <a:off x="640080" y="6446520"/>
            <a:ext cx="5486400" cy="320040"/>
          </a:xfrm>
          <a:prstGeom prst="rect">
            <a:avLst/>
          </a:prstGeom>
          <a:noFill/>
          <a:ln/>
        </p:spPr>
        <p:txBody>
          <a:bodyPr wrap="square" lIns="0" tIns="0" rIns="0" bIns="0" rtlCol="0" anchor="ctr"/>
          <a:lstStyle/>
          <a:p>
            <a:pPr indent="0" marL="0">
              <a:buNone/>
            </a:pPr>
            <a:r>
              <a:rPr lang="en-US" sz="900" dirty="0">
                <a:solidFill>
                  <a:srgbClr val="9AA0AA"/>
                </a:solidFill>
                <a:latin typeface="Arial" pitchFamily="34" charset="0"/>
                <a:ea typeface="BIZ UDPGothic" pitchFamily="34" charset="-122"/>
                <a:cs typeface="BIZ UDPGothic" pitchFamily="34" charset="-120"/>
              </a:rPr>
              <a:t>REBOOT JAPAN ── 提言004</a:t>
            </a:r>
            <a:endParaRPr lang="en-US" sz="900" dirty="0"/>
          </a:p>
        </p:txBody>
      </p:sp>
      <p:sp>
        <p:nvSpPr>
          <p:cNvPr id="6" name="Shape 4"/>
          <p:cNvSpPr/>
          <p:nvPr/>
        </p:nvSpPr>
        <p:spPr>
          <a:xfrm>
            <a:off x="640080" y="1691640"/>
            <a:ext cx="5212080" cy="1371600"/>
          </a:xfrm>
          <a:prstGeom prst="roundRect">
            <a:avLst>
              <a:gd name="adj" fmla="val 4000"/>
            </a:avLst>
          </a:prstGeom>
          <a:solidFill>
            <a:srgbClr val="FFFFFF"/>
          </a:solidFill>
          <a:ln w="12700">
            <a:solidFill>
              <a:srgbClr val="DDE0E6"/>
            </a:solidFill>
            <a:prstDash val="solid"/>
          </a:ln>
        </p:spPr>
      </p:sp>
      <p:sp>
        <p:nvSpPr>
          <p:cNvPr id="7" name="Text 5"/>
          <p:cNvSpPr/>
          <p:nvPr/>
        </p:nvSpPr>
        <p:spPr>
          <a:xfrm>
            <a:off x="914400" y="1874520"/>
            <a:ext cx="914400" cy="731520"/>
          </a:xfrm>
          <a:prstGeom prst="rect">
            <a:avLst/>
          </a:prstGeom>
          <a:noFill/>
          <a:ln/>
        </p:spPr>
        <p:txBody>
          <a:bodyPr wrap="square" lIns="0" tIns="0" rIns="0" bIns="0" rtlCol="0" anchor="ctr"/>
          <a:lstStyle/>
          <a:p>
            <a:pPr indent="0" marL="0">
              <a:buNone/>
            </a:pPr>
            <a:r>
              <a:rPr lang="en-US" sz="3000" b="1" dirty="0">
                <a:solidFill>
                  <a:srgbClr val="C8161D"/>
                </a:solidFill>
                <a:latin typeface="Arial" pitchFamily="34" charset="0"/>
                <a:ea typeface="BIZ UDPGothic" pitchFamily="34" charset="-122"/>
                <a:cs typeface="BIZ UDPGothic" pitchFamily="34" charset="-120"/>
              </a:rPr>
              <a:t>01</a:t>
            </a:r>
            <a:endParaRPr lang="en-US" sz="3000" dirty="0"/>
          </a:p>
        </p:txBody>
      </p:sp>
      <p:sp>
        <p:nvSpPr>
          <p:cNvPr id="8" name="Text 6"/>
          <p:cNvSpPr/>
          <p:nvPr/>
        </p:nvSpPr>
        <p:spPr>
          <a:xfrm>
            <a:off x="1828800" y="1856232"/>
            <a:ext cx="3749040" cy="365760"/>
          </a:xfrm>
          <a:prstGeom prst="rect">
            <a:avLst/>
          </a:prstGeom>
          <a:noFill/>
          <a:ln/>
        </p:spPr>
        <p:txBody>
          <a:bodyPr wrap="square" lIns="0" tIns="0" rIns="0" bIns="0" rtlCol="0" anchor="ctr"/>
          <a:lstStyle/>
          <a:p>
            <a:pPr indent="0" marL="0">
              <a:buNone/>
            </a:pPr>
            <a:r>
              <a:rPr lang="en-US" sz="1500" b="1" dirty="0">
                <a:solidFill>
                  <a:srgbClr val="16181D"/>
                </a:solidFill>
                <a:latin typeface="Arial" pitchFamily="34" charset="0"/>
                <a:ea typeface="BIZ UDPGothic" pitchFamily="34" charset="-122"/>
                <a:cs typeface="BIZ UDPGothic" pitchFamily="34" charset="-120"/>
              </a:rPr>
              <a:t>今、何が問題なのか</a:t>
            </a:r>
            <a:endParaRPr lang="en-US" sz="1500" dirty="0"/>
          </a:p>
        </p:txBody>
      </p:sp>
      <p:sp>
        <p:nvSpPr>
          <p:cNvPr id="9" name="Text 7"/>
          <p:cNvSpPr/>
          <p:nvPr/>
        </p:nvSpPr>
        <p:spPr>
          <a:xfrm>
            <a:off x="1828800" y="2240280"/>
            <a:ext cx="3749040" cy="640080"/>
          </a:xfrm>
          <a:prstGeom prst="rect">
            <a:avLst/>
          </a:prstGeom>
          <a:noFill/>
          <a:ln/>
        </p:spPr>
        <p:txBody>
          <a:bodyPr wrap="square" lIns="0" tIns="0" rIns="0" bIns="0" rtlCol="0" anchor="ctr"/>
          <a:lstStyle/>
          <a:p>
            <a:pPr indent="0" marL="0">
              <a:lnSpc>
                <a:spcPct val="120000"/>
              </a:lnSpc>
              <a:buNone/>
            </a:pPr>
            <a:r>
              <a:rPr lang="en-US" sz="1100" dirty="0">
                <a:solidFill>
                  <a:srgbClr val="2B2F36"/>
                </a:solidFill>
                <a:latin typeface="Arial" pitchFamily="34" charset="0"/>
                <a:ea typeface="BIZ UDPGothic" pitchFamily="34" charset="-122"/>
                <a:cs typeface="BIZ UDPGothic" pitchFamily="34" charset="-120"/>
              </a:rPr>
              <a:t>実家を売って税金を払う、という本末転倒な悲劇</a:t>
            </a:r>
            <a:endParaRPr lang="en-US" sz="1100" dirty="0"/>
          </a:p>
        </p:txBody>
      </p:sp>
      <p:sp>
        <p:nvSpPr>
          <p:cNvPr id="10" name="Shape 8"/>
          <p:cNvSpPr/>
          <p:nvPr/>
        </p:nvSpPr>
        <p:spPr>
          <a:xfrm>
            <a:off x="6309360" y="1691640"/>
            <a:ext cx="5212080" cy="1371600"/>
          </a:xfrm>
          <a:prstGeom prst="roundRect">
            <a:avLst>
              <a:gd name="adj" fmla="val 4000"/>
            </a:avLst>
          </a:prstGeom>
          <a:solidFill>
            <a:srgbClr val="FFFFFF"/>
          </a:solidFill>
          <a:ln w="12700">
            <a:solidFill>
              <a:srgbClr val="DDE0E6"/>
            </a:solidFill>
            <a:prstDash val="solid"/>
          </a:ln>
        </p:spPr>
      </p:sp>
      <p:sp>
        <p:nvSpPr>
          <p:cNvPr id="11" name="Text 9"/>
          <p:cNvSpPr/>
          <p:nvPr/>
        </p:nvSpPr>
        <p:spPr>
          <a:xfrm>
            <a:off x="6583680" y="1874520"/>
            <a:ext cx="914400" cy="731520"/>
          </a:xfrm>
          <a:prstGeom prst="rect">
            <a:avLst/>
          </a:prstGeom>
          <a:noFill/>
          <a:ln/>
        </p:spPr>
        <p:txBody>
          <a:bodyPr wrap="square" lIns="0" tIns="0" rIns="0" bIns="0" rtlCol="0" anchor="ctr"/>
          <a:lstStyle/>
          <a:p>
            <a:pPr indent="0" marL="0">
              <a:buNone/>
            </a:pPr>
            <a:r>
              <a:rPr lang="en-US" sz="3000" b="1" dirty="0">
                <a:solidFill>
                  <a:srgbClr val="C8161D"/>
                </a:solidFill>
                <a:latin typeface="Arial" pitchFamily="34" charset="0"/>
                <a:ea typeface="BIZ UDPGothic" pitchFamily="34" charset="-122"/>
                <a:cs typeface="BIZ UDPGothic" pitchFamily="34" charset="-120"/>
              </a:rPr>
              <a:t>02</a:t>
            </a:r>
            <a:endParaRPr lang="en-US" sz="3000" dirty="0"/>
          </a:p>
        </p:txBody>
      </p:sp>
      <p:sp>
        <p:nvSpPr>
          <p:cNvPr id="12" name="Text 10"/>
          <p:cNvSpPr/>
          <p:nvPr/>
        </p:nvSpPr>
        <p:spPr>
          <a:xfrm>
            <a:off x="7498080" y="1856232"/>
            <a:ext cx="3749040" cy="365760"/>
          </a:xfrm>
          <a:prstGeom prst="rect">
            <a:avLst/>
          </a:prstGeom>
          <a:noFill/>
          <a:ln/>
        </p:spPr>
        <p:txBody>
          <a:bodyPr wrap="square" lIns="0" tIns="0" rIns="0" bIns="0" rtlCol="0" anchor="ctr"/>
          <a:lstStyle/>
          <a:p>
            <a:pPr indent="0" marL="0">
              <a:buNone/>
            </a:pPr>
            <a:r>
              <a:rPr lang="en-US" sz="1500" b="1" dirty="0">
                <a:solidFill>
                  <a:srgbClr val="16181D"/>
                </a:solidFill>
                <a:latin typeface="Arial" pitchFamily="34" charset="0"/>
                <a:ea typeface="BIZ UDPGothic" pitchFamily="34" charset="-122"/>
                <a:cs typeface="BIZ UDPGothic" pitchFamily="34" charset="-120"/>
              </a:rPr>
              <a:t>なぜそうなったのか</a:t>
            </a:r>
            <a:endParaRPr lang="en-US" sz="1500" dirty="0"/>
          </a:p>
        </p:txBody>
      </p:sp>
      <p:sp>
        <p:nvSpPr>
          <p:cNvPr id="13" name="Text 11"/>
          <p:cNvSpPr/>
          <p:nvPr/>
        </p:nvSpPr>
        <p:spPr>
          <a:xfrm>
            <a:off x="7498080" y="2240280"/>
            <a:ext cx="3749040" cy="640080"/>
          </a:xfrm>
          <a:prstGeom prst="rect">
            <a:avLst/>
          </a:prstGeom>
          <a:noFill/>
          <a:ln/>
        </p:spPr>
        <p:txBody>
          <a:bodyPr wrap="square" lIns="0" tIns="0" rIns="0" bIns="0" rtlCol="0" anchor="ctr"/>
          <a:lstStyle/>
          <a:p>
            <a:pPr indent="0" marL="0">
              <a:lnSpc>
                <a:spcPct val="120000"/>
              </a:lnSpc>
              <a:buNone/>
            </a:pPr>
            <a:r>
              <a:rPr lang="en-US" sz="1100" dirty="0">
                <a:solidFill>
                  <a:srgbClr val="2B2F36"/>
                </a:solidFill>
                <a:latin typeface="Arial" pitchFamily="34" charset="0"/>
                <a:ea typeface="BIZ UDPGothic" pitchFamily="34" charset="-122"/>
                <a:cs typeface="BIZ UDPGothic" pitchFamily="34" charset="-120"/>
              </a:rPr>
              <a:t>古いボーダーラインと、重すぎる最高税率55%</a:t>
            </a:r>
            <a:endParaRPr lang="en-US" sz="1100" dirty="0"/>
          </a:p>
        </p:txBody>
      </p:sp>
      <p:sp>
        <p:nvSpPr>
          <p:cNvPr id="14" name="Shape 12"/>
          <p:cNvSpPr/>
          <p:nvPr/>
        </p:nvSpPr>
        <p:spPr>
          <a:xfrm>
            <a:off x="640080" y="3337560"/>
            <a:ext cx="5212080" cy="1371600"/>
          </a:xfrm>
          <a:prstGeom prst="roundRect">
            <a:avLst>
              <a:gd name="adj" fmla="val 4000"/>
            </a:avLst>
          </a:prstGeom>
          <a:solidFill>
            <a:srgbClr val="FFFFFF"/>
          </a:solidFill>
          <a:ln w="12700">
            <a:solidFill>
              <a:srgbClr val="DDE0E6"/>
            </a:solidFill>
            <a:prstDash val="solid"/>
          </a:ln>
        </p:spPr>
      </p:sp>
      <p:sp>
        <p:nvSpPr>
          <p:cNvPr id="15" name="Text 13"/>
          <p:cNvSpPr/>
          <p:nvPr/>
        </p:nvSpPr>
        <p:spPr>
          <a:xfrm>
            <a:off x="914400" y="3520440"/>
            <a:ext cx="914400" cy="731520"/>
          </a:xfrm>
          <a:prstGeom prst="rect">
            <a:avLst/>
          </a:prstGeom>
          <a:noFill/>
          <a:ln/>
        </p:spPr>
        <p:txBody>
          <a:bodyPr wrap="square" lIns="0" tIns="0" rIns="0" bIns="0" rtlCol="0" anchor="ctr"/>
          <a:lstStyle/>
          <a:p>
            <a:pPr indent="0" marL="0">
              <a:buNone/>
            </a:pPr>
            <a:r>
              <a:rPr lang="en-US" sz="3000" b="1" dirty="0">
                <a:solidFill>
                  <a:srgbClr val="C8161D"/>
                </a:solidFill>
                <a:latin typeface="Arial" pitchFamily="34" charset="0"/>
                <a:ea typeface="BIZ UDPGothic" pitchFamily="34" charset="-122"/>
                <a:cs typeface="BIZ UDPGothic" pitchFamily="34" charset="-120"/>
              </a:rPr>
              <a:t>03</a:t>
            </a:r>
            <a:endParaRPr lang="en-US" sz="3000" dirty="0"/>
          </a:p>
        </p:txBody>
      </p:sp>
      <p:sp>
        <p:nvSpPr>
          <p:cNvPr id="16" name="Text 14"/>
          <p:cNvSpPr/>
          <p:nvPr/>
        </p:nvSpPr>
        <p:spPr>
          <a:xfrm>
            <a:off x="1828800" y="3502152"/>
            <a:ext cx="3749040" cy="365760"/>
          </a:xfrm>
          <a:prstGeom prst="rect">
            <a:avLst/>
          </a:prstGeom>
          <a:noFill/>
          <a:ln/>
        </p:spPr>
        <p:txBody>
          <a:bodyPr wrap="square" lIns="0" tIns="0" rIns="0" bIns="0" rtlCol="0" anchor="ctr"/>
          <a:lstStyle/>
          <a:p>
            <a:pPr indent="0" marL="0">
              <a:buNone/>
            </a:pPr>
            <a:r>
              <a:rPr lang="en-US" sz="1500" b="1" dirty="0">
                <a:solidFill>
                  <a:srgbClr val="16181D"/>
                </a:solidFill>
                <a:latin typeface="Arial" pitchFamily="34" charset="0"/>
                <a:ea typeface="BIZ UDPGothic" pitchFamily="34" charset="-122"/>
                <a:cs typeface="BIZ UDPGothic" pitchFamily="34" charset="-120"/>
              </a:rPr>
              <a:t>事業承継という見落とし</a:t>
            </a:r>
            <a:endParaRPr lang="en-US" sz="1500" dirty="0"/>
          </a:p>
        </p:txBody>
      </p:sp>
      <p:sp>
        <p:nvSpPr>
          <p:cNvPr id="17" name="Text 15"/>
          <p:cNvSpPr/>
          <p:nvPr/>
        </p:nvSpPr>
        <p:spPr>
          <a:xfrm>
            <a:off x="1828800" y="3886200"/>
            <a:ext cx="3749040" cy="640080"/>
          </a:xfrm>
          <a:prstGeom prst="rect">
            <a:avLst/>
          </a:prstGeom>
          <a:noFill/>
          <a:ln/>
        </p:spPr>
        <p:txBody>
          <a:bodyPr wrap="square" lIns="0" tIns="0" rIns="0" bIns="0" rtlCol="0" anchor="ctr"/>
          <a:lstStyle/>
          <a:p>
            <a:pPr indent="0" marL="0">
              <a:lnSpc>
                <a:spcPct val="120000"/>
              </a:lnSpc>
              <a:buNone/>
            </a:pPr>
            <a:r>
              <a:rPr lang="en-US" sz="1100" dirty="0">
                <a:solidFill>
                  <a:srgbClr val="2B2F36"/>
                </a:solidFill>
                <a:latin typeface="Arial" pitchFamily="34" charset="0"/>
                <a:ea typeface="BIZ UDPGothic" pitchFamily="34" charset="-122"/>
                <a:cs typeface="BIZ UDPGothic" pitchFamily="34" charset="-120"/>
              </a:rPr>
              <a:t>会社を継ぐだけで、お金が無いのに税金がかかる矛盾</a:t>
            </a:r>
            <a:endParaRPr lang="en-US" sz="1100" dirty="0"/>
          </a:p>
        </p:txBody>
      </p:sp>
      <p:sp>
        <p:nvSpPr>
          <p:cNvPr id="18" name="Shape 16"/>
          <p:cNvSpPr/>
          <p:nvPr/>
        </p:nvSpPr>
        <p:spPr>
          <a:xfrm>
            <a:off x="6309360" y="3337560"/>
            <a:ext cx="5212080" cy="1371600"/>
          </a:xfrm>
          <a:prstGeom prst="roundRect">
            <a:avLst>
              <a:gd name="adj" fmla="val 4000"/>
            </a:avLst>
          </a:prstGeom>
          <a:solidFill>
            <a:srgbClr val="FFFFFF"/>
          </a:solidFill>
          <a:ln w="12700">
            <a:solidFill>
              <a:srgbClr val="DDE0E6"/>
            </a:solidFill>
            <a:prstDash val="solid"/>
          </a:ln>
        </p:spPr>
      </p:sp>
      <p:sp>
        <p:nvSpPr>
          <p:cNvPr id="19" name="Text 17"/>
          <p:cNvSpPr/>
          <p:nvPr/>
        </p:nvSpPr>
        <p:spPr>
          <a:xfrm>
            <a:off x="6583680" y="3520440"/>
            <a:ext cx="914400" cy="731520"/>
          </a:xfrm>
          <a:prstGeom prst="rect">
            <a:avLst/>
          </a:prstGeom>
          <a:noFill/>
          <a:ln/>
        </p:spPr>
        <p:txBody>
          <a:bodyPr wrap="square" lIns="0" tIns="0" rIns="0" bIns="0" rtlCol="0" anchor="ctr"/>
          <a:lstStyle/>
          <a:p>
            <a:pPr indent="0" marL="0">
              <a:buNone/>
            </a:pPr>
            <a:r>
              <a:rPr lang="en-US" sz="3000" b="1" dirty="0">
                <a:solidFill>
                  <a:srgbClr val="C8161D"/>
                </a:solidFill>
                <a:latin typeface="Arial" pitchFamily="34" charset="0"/>
                <a:ea typeface="BIZ UDPGothic" pitchFamily="34" charset="-122"/>
                <a:cs typeface="BIZ UDPGothic" pitchFamily="34" charset="-120"/>
              </a:rPr>
              <a:t>04</a:t>
            </a:r>
            <a:endParaRPr lang="en-US" sz="3000" dirty="0"/>
          </a:p>
        </p:txBody>
      </p:sp>
      <p:sp>
        <p:nvSpPr>
          <p:cNvPr id="20" name="Text 18"/>
          <p:cNvSpPr/>
          <p:nvPr/>
        </p:nvSpPr>
        <p:spPr>
          <a:xfrm>
            <a:off x="7498080" y="3502152"/>
            <a:ext cx="3749040" cy="365760"/>
          </a:xfrm>
          <a:prstGeom prst="rect">
            <a:avLst/>
          </a:prstGeom>
          <a:noFill/>
          <a:ln/>
        </p:spPr>
        <p:txBody>
          <a:bodyPr wrap="square" lIns="0" tIns="0" rIns="0" bIns="0" rtlCol="0" anchor="ctr"/>
          <a:lstStyle/>
          <a:p>
            <a:pPr indent="0" marL="0">
              <a:buNone/>
            </a:pPr>
            <a:r>
              <a:rPr lang="en-US" sz="1500" b="1" dirty="0">
                <a:solidFill>
                  <a:srgbClr val="16181D"/>
                </a:solidFill>
                <a:latin typeface="Arial" pitchFamily="34" charset="0"/>
                <a:ea typeface="BIZ UDPGothic" pitchFamily="34" charset="-122"/>
                <a:cs typeface="BIZ UDPGothic" pitchFamily="34" charset="-120"/>
              </a:rPr>
              <a:t>本当のデータはどうか</a:t>
            </a:r>
            <a:endParaRPr lang="en-US" sz="1500" dirty="0"/>
          </a:p>
        </p:txBody>
      </p:sp>
      <p:sp>
        <p:nvSpPr>
          <p:cNvPr id="21" name="Text 19"/>
          <p:cNvSpPr/>
          <p:nvPr/>
        </p:nvSpPr>
        <p:spPr>
          <a:xfrm>
            <a:off x="7498080" y="3886200"/>
            <a:ext cx="3749040" cy="640080"/>
          </a:xfrm>
          <a:prstGeom prst="rect">
            <a:avLst/>
          </a:prstGeom>
          <a:noFill/>
          <a:ln/>
        </p:spPr>
        <p:txBody>
          <a:bodyPr wrap="square" lIns="0" tIns="0" rIns="0" bIns="0" rtlCol="0" anchor="ctr"/>
          <a:lstStyle/>
          <a:p>
            <a:pPr indent="0" marL="0">
              <a:lnSpc>
                <a:spcPct val="120000"/>
              </a:lnSpc>
              <a:buNone/>
            </a:pPr>
            <a:r>
              <a:rPr lang="en-US" sz="1100" dirty="0">
                <a:solidFill>
                  <a:srgbClr val="2B2F36"/>
                </a:solidFill>
                <a:latin typeface="Arial" pitchFamily="34" charset="0"/>
                <a:ea typeface="BIZ UDPGothic" pitchFamily="34" charset="-122"/>
                <a:cs typeface="BIZ UDPGothic" pitchFamily="34" charset="-120"/>
              </a:rPr>
              <a:t>課税されるのは10人に1人。5億円超は2.2%だけ</a:t>
            </a:r>
            <a:endParaRPr lang="en-US" sz="1100" dirty="0"/>
          </a:p>
        </p:txBody>
      </p:sp>
      <p:sp>
        <p:nvSpPr>
          <p:cNvPr id="22" name="Shape 20"/>
          <p:cNvSpPr/>
          <p:nvPr/>
        </p:nvSpPr>
        <p:spPr>
          <a:xfrm>
            <a:off x="640080" y="4983480"/>
            <a:ext cx="5212080" cy="1371600"/>
          </a:xfrm>
          <a:prstGeom prst="roundRect">
            <a:avLst>
              <a:gd name="adj" fmla="val 4000"/>
            </a:avLst>
          </a:prstGeom>
          <a:solidFill>
            <a:srgbClr val="FFFFFF"/>
          </a:solidFill>
          <a:ln w="12700">
            <a:solidFill>
              <a:srgbClr val="DDE0E6"/>
            </a:solidFill>
            <a:prstDash val="solid"/>
          </a:ln>
        </p:spPr>
      </p:sp>
      <p:sp>
        <p:nvSpPr>
          <p:cNvPr id="23" name="Text 21"/>
          <p:cNvSpPr/>
          <p:nvPr/>
        </p:nvSpPr>
        <p:spPr>
          <a:xfrm>
            <a:off x="914400" y="5166360"/>
            <a:ext cx="914400" cy="731520"/>
          </a:xfrm>
          <a:prstGeom prst="rect">
            <a:avLst/>
          </a:prstGeom>
          <a:noFill/>
          <a:ln/>
        </p:spPr>
        <p:txBody>
          <a:bodyPr wrap="square" lIns="0" tIns="0" rIns="0" bIns="0" rtlCol="0" anchor="ctr"/>
          <a:lstStyle/>
          <a:p>
            <a:pPr indent="0" marL="0">
              <a:buNone/>
            </a:pPr>
            <a:r>
              <a:rPr lang="en-US" sz="3000" b="1" dirty="0">
                <a:solidFill>
                  <a:srgbClr val="C8161D"/>
                </a:solidFill>
                <a:latin typeface="Arial" pitchFamily="34" charset="0"/>
                <a:ea typeface="BIZ UDPGothic" pitchFamily="34" charset="-122"/>
                <a:cs typeface="BIZ UDPGothic" pitchFamily="34" charset="-120"/>
              </a:rPr>
              <a:t>05</a:t>
            </a:r>
            <a:endParaRPr lang="en-US" sz="3000" dirty="0"/>
          </a:p>
        </p:txBody>
      </p:sp>
      <p:sp>
        <p:nvSpPr>
          <p:cNvPr id="24" name="Text 22"/>
          <p:cNvSpPr/>
          <p:nvPr/>
        </p:nvSpPr>
        <p:spPr>
          <a:xfrm>
            <a:off x="1828800" y="5148072"/>
            <a:ext cx="3749040" cy="365760"/>
          </a:xfrm>
          <a:prstGeom prst="rect">
            <a:avLst/>
          </a:prstGeom>
          <a:noFill/>
          <a:ln/>
        </p:spPr>
        <p:txBody>
          <a:bodyPr wrap="square" lIns="0" tIns="0" rIns="0" bIns="0" rtlCol="0" anchor="ctr"/>
          <a:lstStyle/>
          <a:p>
            <a:pPr indent="0" marL="0">
              <a:buNone/>
            </a:pPr>
            <a:r>
              <a:rPr lang="en-US" sz="1500" b="1" dirty="0">
                <a:solidFill>
                  <a:srgbClr val="16181D"/>
                </a:solidFill>
                <a:latin typeface="Arial" pitchFamily="34" charset="0"/>
                <a:ea typeface="BIZ UDPGothic" pitchFamily="34" charset="-122"/>
                <a:cs typeface="BIZ UDPGothic" pitchFamily="34" charset="-120"/>
              </a:rPr>
              <a:t>新しい相続税の形</a:t>
            </a:r>
            <a:endParaRPr lang="en-US" sz="1500" dirty="0"/>
          </a:p>
        </p:txBody>
      </p:sp>
      <p:sp>
        <p:nvSpPr>
          <p:cNvPr id="25" name="Text 23"/>
          <p:cNvSpPr/>
          <p:nvPr/>
        </p:nvSpPr>
        <p:spPr>
          <a:xfrm>
            <a:off x="1828800" y="5532120"/>
            <a:ext cx="3749040" cy="640080"/>
          </a:xfrm>
          <a:prstGeom prst="rect">
            <a:avLst/>
          </a:prstGeom>
          <a:noFill/>
          <a:ln/>
        </p:spPr>
        <p:txBody>
          <a:bodyPr wrap="square" lIns="0" tIns="0" rIns="0" bIns="0" rtlCol="0" anchor="ctr"/>
          <a:lstStyle/>
          <a:p>
            <a:pPr indent="0" marL="0">
              <a:lnSpc>
                <a:spcPct val="120000"/>
              </a:lnSpc>
              <a:buNone/>
            </a:pPr>
            <a:r>
              <a:rPr lang="en-US" sz="1100" dirty="0">
                <a:solidFill>
                  <a:srgbClr val="2B2F36"/>
                </a:solidFill>
                <a:latin typeface="Arial" pitchFamily="34" charset="0"/>
                <a:ea typeface="BIZ UDPGothic" pitchFamily="34" charset="-122"/>
                <a:cs typeface="BIZ UDPGothic" pitchFamily="34" charset="-120"/>
              </a:rPr>
              <a:t>10億円まではゼロ、超えた分だけ30%</a:t>
            </a:r>
            <a:endParaRPr lang="en-US" sz="1100" dirty="0"/>
          </a:p>
        </p:txBody>
      </p:sp>
      <p:sp>
        <p:nvSpPr>
          <p:cNvPr id="26" name="Shape 24"/>
          <p:cNvSpPr/>
          <p:nvPr/>
        </p:nvSpPr>
        <p:spPr>
          <a:xfrm>
            <a:off x="6309360" y="4983480"/>
            <a:ext cx="5212080" cy="1371600"/>
          </a:xfrm>
          <a:prstGeom prst="roundRect">
            <a:avLst>
              <a:gd name="adj" fmla="val 4000"/>
            </a:avLst>
          </a:prstGeom>
          <a:solidFill>
            <a:srgbClr val="FFFFFF"/>
          </a:solidFill>
          <a:ln w="12700">
            <a:solidFill>
              <a:srgbClr val="DDE0E6"/>
            </a:solidFill>
            <a:prstDash val="solid"/>
          </a:ln>
        </p:spPr>
      </p:sp>
      <p:sp>
        <p:nvSpPr>
          <p:cNvPr id="27" name="Text 25"/>
          <p:cNvSpPr/>
          <p:nvPr/>
        </p:nvSpPr>
        <p:spPr>
          <a:xfrm>
            <a:off x="6583680" y="5166360"/>
            <a:ext cx="914400" cy="731520"/>
          </a:xfrm>
          <a:prstGeom prst="rect">
            <a:avLst/>
          </a:prstGeom>
          <a:noFill/>
          <a:ln/>
        </p:spPr>
        <p:txBody>
          <a:bodyPr wrap="square" lIns="0" tIns="0" rIns="0" bIns="0" rtlCol="0" anchor="ctr"/>
          <a:lstStyle/>
          <a:p>
            <a:pPr indent="0" marL="0">
              <a:buNone/>
            </a:pPr>
            <a:r>
              <a:rPr lang="en-US" sz="3000" b="1" dirty="0">
                <a:solidFill>
                  <a:srgbClr val="C8161D"/>
                </a:solidFill>
                <a:latin typeface="Arial" pitchFamily="34" charset="0"/>
                <a:ea typeface="BIZ UDPGothic" pitchFamily="34" charset="-122"/>
                <a:cs typeface="BIZ UDPGothic" pitchFamily="34" charset="-120"/>
              </a:rPr>
              <a:t>06</a:t>
            </a:r>
            <a:endParaRPr lang="en-US" sz="3000" dirty="0"/>
          </a:p>
        </p:txBody>
      </p:sp>
      <p:sp>
        <p:nvSpPr>
          <p:cNvPr id="28" name="Text 26"/>
          <p:cNvSpPr/>
          <p:nvPr/>
        </p:nvSpPr>
        <p:spPr>
          <a:xfrm>
            <a:off x="7498080" y="5148072"/>
            <a:ext cx="3749040" cy="365760"/>
          </a:xfrm>
          <a:prstGeom prst="rect">
            <a:avLst/>
          </a:prstGeom>
          <a:noFill/>
          <a:ln/>
        </p:spPr>
        <p:txBody>
          <a:bodyPr wrap="square" lIns="0" tIns="0" rIns="0" bIns="0" rtlCol="0" anchor="ctr"/>
          <a:lstStyle/>
          <a:p>
            <a:pPr indent="0" marL="0">
              <a:buNone/>
            </a:pPr>
            <a:r>
              <a:rPr lang="en-US" sz="1500" b="1" dirty="0">
                <a:solidFill>
                  <a:srgbClr val="16181D"/>
                </a:solidFill>
                <a:latin typeface="Arial" pitchFamily="34" charset="0"/>
                <a:ea typeface="BIZ UDPGothic" pitchFamily="34" charset="-122"/>
                <a:cs typeface="BIZ UDPGothic" pitchFamily="34" charset="-120"/>
              </a:rPr>
              <a:t>結局どうなるのか</a:t>
            </a:r>
            <a:endParaRPr lang="en-US" sz="1500" dirty="0"/>
          </a:p>
        </p:txBody>
      </p:sp>
      <p:sp>
        <p:nvSpPr>
          <p:cNvPr id="29" name="Text 27"/>
          <p:cNvSpPr/>
          <p:nvPr/>
        </p:nvSpPr>
        <p:spPr>
          <a:xfrm>
            <a:off x="7498080" y="5532120"/>
            <a:ext cx="3749040" cy="640080"/>
          </a:xfrm>
          <a:prstGeom prst="rect">
            <a:avLst/>
          </a:prstGeom>
          <a:noFill/>
          <a:ln/>
        </p:spPr>
        <p:txBody>
          <a:bodyPr wrap="square" lIns="0" tIns="0" rIns="0" bIns="0" rtlCol="0" anchor="ctr"/>
          <a:lstStyle/>
          <a:p>
            <a:pPr indent="0" marL="0">
              <a:lnSpc>
                <a:spcPct val="120000"/>
              </a:lnSpc>
              <a:buNone/>
            </a:pPr>
            <a:r>
              <a:rPr lang="en-US" sz="1100" dirty="0">
                <a:solidFill>
                  <a:srgbClr val="2B2F36"/>
                </a:solidFill>
                <a:latin typeface="Arial" pitchFamily="34" charset="0"/>
                <a:ea typeface="BIZ UDPGothic" pitchFamily="34" charset="-122"/>
                <a:cs typeface="BIZ UDPGothic" pitchFamily="34" charset="-120"/>
              </a:rPr>
              <a:t>財源の考え方と、他の提言とのつながり</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640080" y="411480"/>
            <a:ext cx="10881360" cy="365760"/>
          </a:xfrm>
          <a:prstGeom prst="rect">
            <a:avLst/>
          </a:prstGeom>
          <a:noFill/>
          <a:ln/>
        </p:spPr>
        <p:txBody>
          <a:bodyPr wrap="square" lIns="0" tIns="0" rIns="0" bIns="0" rtlCol="0" anchor="ctr"/>
          <a:lstStyle/>
          <a:p>
            <a:pPr indent="0" marL="0">
              <a:buNone/>
            </a:pPr>
            <a:r>
              <a:rPr lang="en-US" sz="1200" b="1" spc="300" kern="0" dirty="0">
                <a:solidFill>
                  <a:srgbClr val="C8161D"/>
                </a:solidFill>
                <a:latin typeface="Arial" pitchFamily="34" charset="0"/>
                <a:ea typeface="BIZ UDPGothic" pitchFamily="34" charset="-122"/>
                <a:cs typeface="BIZ UDPGothic" pitchFamily="34" charset="-120"/>
              </a:rPr>
              <a:t>0. この提言の立ち位置</a:t>
            </a:r>
            <a:endParaRPr lang="en-US" sz="1200" dirty="0"/>
          </a:p>
        </p:txBody>
      </p:sp>
      <p:sp>
        <p:nvSpPr>
          <p:cNvPr id="3" name="Text 1"/>
          <p:cNvSpPr/>
          <p:nvPr/>
        </p:nvSpPr>
        <p:spPr>
          <a:xfrm>
            <a:off x="640080" y="777240"/>
            <a:ext cx="10881360" cy="1005840"/>
          </a:xfrm>
          <a:prstGeom prst="rect">
            <a:avLst/>
          </a:prstGeom>
          <a:noFill/>
          <a:ln/>
        </p:spPr>
        <p:txBody>
          <a:bodyPr wrap="square" lIns="0" tIns="0" rIns="0" bIns="0" rtlCol="0" anchor="ctr"/>
          <a:lstStyle/>
          <a:p>
            <a:pPr indent="0" marL="0">
              <a:buNone/>
            </a:pPr>
            <a:r>
              <a:rPr lang="en-US" sz="3000" b="1" dirty="0">
                <a:solidFill>
                  <a:srgbClr val="16181D"/>
                </a:solidFill>
                <a:latin typeface="Arial" pitchFamily="34" charset="0"/>
                <a:ea typeface="BIZ UDPGothic" pitchFamily="34" charset="-122"/>
                <a:cs typeface="BIZ UDPGothic" pitchFamily="34" charset="-120"/>
              </a:rPr>
              <a:t>相続税は、そもそも「なくてもいい税」</a:t>
            </a:r>
            <a:endParaRPr lang="en-US" sz="3000" dirty="0"/>
          </a:p>
        </p:txBody>
      </p:sp>
      <p:sp>
        <p:nvSpPr>
          <p:cNvPr id="4" name="Text 2"/>
          <p:cNvSpPr/>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2B2F36"/>
                </a:solidFill>
                <a:latin typeface="Arial" pitchFamily="34" charset="0"/>
                <a:ea typeface="BIZ UDPGothic" pitchFamily="34" charset="-122"/>
                <a:cs typeface="BIZ UDPGothic" pitchFamily="34" charset="-120"/>
              </a:rPr>
              <a:t>03</a:t>
            </a:r>
            <a:endParaRPr lang="en-US" sz="1000" dirty="0"/>
          </a:p>
        </p:txBody>
      </p:sp>
      <p:sp>
        <p:nvSpPr>
          <p:cNvPr id="5" name="Text 3"/>
          <p:cNvSpPr/>
          <p:nvPr/>
        </p:nvSpPr>
        <p:spPr>
          <a:xfrm>
            <a:off x="640080" y="6446520"/>
            <a:ext cx="5486400" cy="320040"/>
          </a:xfrm>
          <a:prstGeom prst="rect">
            <a:avLst/>
          </a:prstGeom>
          <a:noFill/>
          <a:ln/>
        </p:spPr>
        <p:txBody>
          <a:bodyPr wrap="square" lIns="0" tIns="0" rIns="0" bIns="0" rtlCol="0" anchor="ctr"/>
          <a:lstStyle/>
          <a:p>
            <a:pPr indent="0" marL="0">
              <a:buNone/>
            </a:pPr>
            <a:r>
              <a:rPr lang="en-US" sz="900" dirty="0">
                <a:solidFill>
                  <a:srgbClr val="9AA0AA"/>
                </a:solidFill>
                <a:latin typeface="Arial" pitchFamily="34" charset="0"/>
                <a:ea typeface="BIZ UDPGothic" pitchFamily="34" charset="-122"/>
                <a:cs typeface="BIZ UDPGothic" pitchFamily="34" charset="-120"/>
              </a:rPr>
              <a:t>REBOOT JAPAN ── 提言004</a:t>
            </a:r>
            <a:endParaRPr lang="en-US" sz="900" dirty="0"/>
          </a:p>
        </p:txBody>
      </p:sp>
      <p:sp>
        <p:nvSpPr>
          <p:cNvPr id="6" name="Shape 4"/>
          <p:cNvSpPr/>
          <p:nvPr/>
        </p:nvSpPr>
        <p:spPr>
          <a:xfrm>
            <a:off x="640080" y="1920240"/>
            <a:ext cx="10881360" cy="1554480"/>
          </a:xfrm>
          <a:prstGeom prst="roundRect">
            <a:avLst>
              <a:gd name="adj" fmla="val 4706"/>
            </a:avLst>
          </a:prstGeom>
          <a:solidFill>
            <a:srgbClr val="FFFFFF"/>
          </a:solidFill>
          <a:ln w="19050">
            <a:solidFill>
              <a:srgbClr val="C8161D"/>
            </a:solidFill>
            <a:prstDash val="solid"/>
          </a:ln>
        </p:spPr>
      </p:sp>
      <p:sp>
        <p:nvSpPr>
          <p:cNvPr id="7" name="Text 5"/>
          <p:cNvSpPr/>
          <p:nvPr/>
        </p:nvSpPr>
        <p:spPr>
          <a:xfrm>
            <a:off x="1005840" y="2194560"/>
            <a:ext cx="10149840" cy="1097280"/>
          </a:xfrm>
          <a:prstGeom prst="rect">
            <a:avLst/>
          </a:prstGeom>
          <a:noFill/>
          <a:ln/>
        </p:spPr>
        <p:txBody>
          <a:bodyPr wrap="square" lIns="0" tIns="0" rIns="0" bIns="0" rtlCol="0" anchor="ctr"/>
          <a:lstStyle/>
          <a:p>
            <a:pPr indent="0" marL="0">
              <a:lnSpc>
                <a:spcPct val="125000"/>
              </a:lnSpc>
              <a:buNone/>
            </a:pPr>
            <a:r>
              <a:rPr lang="en-US" sz="1900" b="1" dirty="0">
                <a:solidFill>
                  <a:srgbClr val="16181D"/>
                </a:solidFill>
                <a:latin typeface="Arial" pitchFamily="34" charset="0"/>
                <a:ea typeface="BIZ UDPGothic" pitchFamily="34" charset="-122"/>
                <a:cs typeface="BIZ UDPGothic" pitchFamily="34" charset="-120"/>
              </a:rPr>
              <a:t>それでも残すなら、対象はごく一部の超富裕層に限定し、税率も「敬意ある水準」にとどめるべき</a:t>
            </a:r>
            <a:endParaRPr lang="en-US" sz="1900" dirty="0"/>
          </a:p>
        </p:txBody>
      </p:sp>
      <p:sp>
        <p:nvSpPr>
          <p:cNvPr id="8" name="Text 6"/>
          <p:cNvSpPr/>
          <p:nvPr/>
        </p:nvSpPr>
        <p:spPr>
          <a:xfrm>
            <a:off x="640080" y="3840480"/>
            <a:ext cx="10881360" cy="1097280"/>
          </a:xfrm>
          <a:prstGeom prst="rect">
            <a:avLst/>
          </a:prstGeom>
          <a:noFill/>
          <a:ln/>
        </p:spPr>
        <p:txBody>
          <a:bodyPr wrap="square" lIns="0" tIns="0" rIns="0" bIns="0" rtlCol="0" anchor="ctr"/>
          <a:lstStyle/>
          <a:p>
            <a:pPr indent="0" marL="0">
              <a:lnSpc>
                <a:spcPct val="140000"/>
              </a:lnSpc>
              <a:buNone/>
            </a:pPr>
            <a:r>
              <a:rPr lang="en-US" sz="1400" dirty="0">
                <a:solidFill>
                  <a:srgbClr val="2B2F36"/>
                </a:solidFill>
                <a:latin typeface="Arial" pitchFamily="34" charset="0"/>
                <a:ea typeface="BIZ UDPGothic" pitchFamily="34" charset="-122"/>
                <a:cs typeface="BIZ UDPGothic" pitchFamily="34" charset="-120"/>
              </a:rPr>
              <a:t>特に「会社を継ぐこと」への課税は、お金が動かないのに税金だけがかかるという、最も不合理な部分です。提言003の「強い中堅企業を育てる」という方向性とも真っ向から矛盾しています。</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640080" y="411480"/>
            <a:ext cx="10881360" cy="365760"/>
          </a:xfrm>
          <a:prstGeom prst="rect">
            <a:avLst/>
          </a:prstGeom>
          <a:noFill/>
          <a:ln/>
        </p:spPr>
        <p:txBody>
          <a:bodyPr wrap="square" lIns="0" tIns="0" rIns="0" bIns="0" rtlCol="0" anchor="ctr"/>
          <a:lstStyle/>
          <a:p>
            <a:pPr indent="0" marL="0">
              <a:buNone/>
            </a:pPr>
            <a:r>
              <a:rPr lang="en-US" sz="1200" b="1" spc="300" kern="0" dirty="0">
                <a:solidFill>
                  <a:srgbClr val="C8161D"/>
                </a:solidFill>
                <a:latin typeface="Arial" pitchFamily="34" charset="0"/>
                <a:ea typeface="BIZ UDPGothic" pitchFamily="34" charset="-122"/>
                <a:cs typeface="BIZ UDPGothic" pitchFamily="34" charset="-120"/>
              </a:rPr>
              <a:t>用語解説</a:t>
            </a:r>
            <a:endParaRPr lang="en-US" sz="1200" dirty="0"/>
          </a:p>
        </p:txBody>
      </p:sp>
      <p:sp>
        <p:nvSpPr>
          <p:cNvPr id="3" name="Text 1"/>
          <p:cNvSpPr/>
          <p:nvPr/>
        </p:nvSpPr>
        <p:spPr>
          <a:xfrm>
            <a:off x="640080" y="777240"/>
            <a:ext cx="10881360" cy="1005840"/>
          </a:xfrm>
          <a:prstGeom prst="rect">
            <a:avLst/>
          </a:prstGeom>
          <a:noFill/>
          <a:ln/>
        </p:spPr>
        <p:txBody>
          <a:bodyPr wrap="square" lIns="0" tIns="0" rIns="0" bIns="0" rtlCol="0" anchor="ctr"/>
          <a:lstStyle/>
          <a:p>
            <a:pPr indent="0" marL="0">
              <a:buNone/>
            </a:pPr>
            <a:r>
              <a:rPr lang="en-US" sz="3000" b="1" dirty="0">
                <a:solidFill>
                  <a:srgbClr val="16181D"/>
                </a:solidFill>
                <a:latin typeface="Arial" pitchFamily="34" charset="0"/>
                <a:ea typeface="BIZ UDPGothic" pitchFamily="34" charset="-122"/>
                <a:cs typeface="BIZ UDPGothic" pitchFamily="34" charset="-120"/>
              </a:rPr>
              <a:t>そもそも「相続税」って何？</a:t>
            </a:r>
            <a:endParaRPr lang="en-US" sz="3000" dirty="0"/>
          </a:p>
        </p:txBody>
      </p:sp>
      <p:sp>
        <p:nvSpPr>
          <p:cNvPr id="4" name="Text 2"/>
          <p:cNvSpPr/>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2B2F36"/>
                </a:solidFill>
                <a:latin typeface="Arial" pitchFamily="34" charset="0"/>
                <a:ea typeface="BIZ UDPGothic" pitchFamily="34" charset="-122"/>
                <a:cs typeface="BIZ UDPGothic" pitchFamily="34" charset="-120"/>
              </a:rPr>
              <a:t>04</a:t>
            </a:r>
            <a:endParaRPr lang="en-US" sz="1000" dirty="0"/>
          </a:p>
        </p:txBody>
      </p:sp>
      <p:sp>
        <p:nvSpPr>
          <p:cNvPr id="5" name="Text 3"/>
          <p:cNvSpPr/>
          <p:nvPr/>
        </p:nvSpPr>
        <p:spPr>
          <a:xfrm>
            <a:off x="640080" y="6446520"/>
            <a:ext cx="5486400" cy="320040"/>
          </a:xfrm>
          <a:prstGeom prst="rect">
            <a:avLst/>
          </a:prstGeom>
          <a:noFill/>
          <a:ln/>
        </p:spPr>
        <p:txBody>
          <a:bodyPr wrap="square" lIns="0" tIns="0" rIns="0" bIns="0" rtlCol="0" anchor="ctr"/>
          <a:lstStyle/>
          <a:p>
            <a:pPr indent="0" marL="0">
              <a:buNone/>
            </a:pPr>
            <a:r>
              <a:rPr lang="en-US" sz="900" dirty="0">
                <a:solidFill>
                  <a:srgbClr val="9AA0AA"/>
                </a:solidFill>
                <a:latin typeface="Arial" pitchFamily="34" charset="0"/>
                <a:ea typeface="BIZ UDPGothic" pitchFamily="34" charset="-122"/>
                <a:cs typeface="BIZ UDPGothic" pitchFamily="34" charset="-120"/>
              </a:rPr>
              <a:t>REBOOT JAPAN ── 提言004</a:t>
            </a:r>
            <a:endParaRPr lang="en-US" sz="900" dirty="0"/>
          </a:p>
        </p:txBody>
      </p:sp>
      <p:sp>
        <p:nvSpPr>
          <p:cNvPr id="6" name="Shape 4"/>
          <p:cNvSpPr/>
          <p:nvPr/>
        </p:nvSpPr>
        <p:spPr>
          <a:xfrm>
            <a:off x="640080" y="1828800"/>
            <a:ext cx="5212080" cy="3566160"/>
          </a:xfrm>
          <a:prstGeom prst="roundRect">
            <a:avLst>
              <a:gd name="adj" fmla="val 2051"/>
            </a:avLst>
          </a:prstGeom>
          <a:solidFill>
            <a:srgbClr val="FFFFFF"/>
          </a:solidFill>
          <a:ln w="12700">
            <a:solidFill>
              <a:srgbClr val="DDE0E6"/>
            </a:solidFill>
            <a:prstDash val="solid"/>
          </a:ln>
        </p:spPr>
      </p:sp>
      <p:sp>
        <p:nvSpPr>
          <p:cNvPr id="7" name="Shape 5"/>
          <p:cNvSpPr/>
          <p:nvPr/>
        </p:nvSpPr>
        <p:spPr>
          <a:xfrm>
            <a:off x="932688" y="2121408"/>
            <a:ext cx="502920" cy="502920"/>
          </a:xfrm>
          <a:prstGeom prst="ellipse">
            <a:avLst/>
          </a:prstGeom>
          <a:solidFill>
            <a:srgbClr val="F5F6F8"/>
          </a:solidFill>
          <a:ln w="12700">
            <a:solidFill>
              <a:srgbClr val="DDE0E6"/>
            </a:solidFill>
            <a:prstDash val="solid"/>
          </a:ln>
        </p:spPr>
      </p:sp>
      <p:pic>
        <p:nvPicPr>
          <p:cNvPr id="8" name="Image 0" descr="preencoded.png">    </p:cNvPr>
          <p:cNvPicPr>
            <a:picLocks noChangeAspect="1"/>
          </p:cNvPicPr>
          <p:nvPr/>
        </p:nvPicPr>
        <p:blipFill>
          <a:blip r:embed="rId1"/>
          <a:stretch>
            <a:fillRect/>
          </a:stretch>
        </p:blipFill>
        <p:spPr>
          <a:xfrm>
            <a:off x="1051560" y="2240280"/>
            <a:ext cx="265176" cy="265176"/>
          </a:xfrm>
          <a:prstGeom prst="rect">
            <a:avLst/>
          </a:prstGeom>
        </p:spPr>
      </p:pic>
      <p:sp>
        <p:nvSpPr>
          <p:cNvPr id="9" name="Text 6"/>
          <p:cNvSpPr/>
          <p:nvPr/>
        </p:nvSpPr>
        <p:spPr>
          <a:xfrm>
            <a:off x="932688" y="2788920"/>
            <a:ext cx="4626864" cy="502920"/>
          </a:xfrm>
          <a:prstGeom prst="rect">
            <a:avLst/>
          </a:prstGeom>
          <a:noFill/>
          <a:ln/>
        </p:spPr>
        <p:txBody>
          <a:bodyPr wrap="square" lIns="0" tIns="0" rIns="0" bIns="0" rtlCol="0" anchor="t"/>
          <a:lstStyle/>
          <a:p>
            <a:pPr indent="0" marL="0">
              <a:lnSpc>
                <a:spcPct val="120000"/>
              </a:lnSpc>
              <a:buNone/>
            </a:pPr>
            <a:r>
              <a:rPr lang="en-US" sz="1500" b="1" dirty="0">
                <a:solidFill>
                  <a:srgbClr val="16181D"/>
                </a:solidFill>
                <a:latin typeface="Arial" pitchFamily="34" charset="0"/>
                <a:ea typeface="BIZ UDPGothic" pitchFamily="34" charset="-122"/>
                <a:cs typeface="BIZ UDPGothic" pitchFamily="34" charset="-120"/>
              </a:rPr>
              <a:t>相続税とは</a:t>
            </a:r>
            <a:endParaRPr lang="en-US" sz="1500" dirty="0"/>
          </a:p>
        </p:txBody>
      </p:sp>
      <p:sp>
        <p:nvSpPr>
          <p:cNvPr id="10" name="Text 7"/>
          <p:cNvSpPr/>
          <p:nvPr/>
        </p:nvSpPr>
        <p:spPr>
          <a:xfrm>
            <a:off x="932688" y="3383280"/>
            <a:ext cx="4626864" cy="1810512"/>
          </a:xfrm>
          <a:prstGeom prst="rect">
            <a:avLst/>
          </a:prstGeom>
          <a:noFill/>
          <a:ln/>
        </p:spPr>
        <p:txBody>
          <a:bodyPr wrap="square" lIns="0" tIns="0" rIns="0" bIns="0" rtlCol="0" anchor="t"/>
          <a:lstStyle/>
          <a:p>
            <a:pPr indent="0" marL="0">
              <a:lnSpc>
                <a:spcPct val="125000"/>
              </a:lnSpc>
              <a:buNone/>
            </a:pPr>
            <a:r>
              <a:rPr lang="en-US" sz="1200" dirty="0">
                <a:solidFill>
                  <a:srgbClr val="2B2F36"/>
                </a:solidFill>
                <a:latin typeface="Arial" pitchFamily="34" charset="0"/>
                <a:ea typeface="BIZ UDPGothic" pitchFamily="34" charset="-122"/>
                <a:cs typeface="BIZ UDPGothic" pitchFamily="34" charset="-120"/>
              </a:rPr>
              <a:t>人が亡くなったとき、その人が持っていた財産（家・お金・株など）を家族が受け継ぐ際にかかる税金のことです。</a:t>
            </a:r>
            <a:endParaRPr lang="en-US" sz="1200" dirty="0"/>
          </a:p>
          <a:p>
            <a:pPr indent="0" marL="0">
              <a:lnSpc>
                <a:spcPct val="125000"/>
              </a:lnSpc>
              <a:buNone/>
            </a:pPr>
            <a:endParaRPr lang="en-US" sz="1200" dirty="0"/>
          </a:p>
          <a:p>
            <a:pPr indent="0" marL="0">
              <a:lnSpc>
                <a:spcPct val="125000"/>
              </a:lnSpc>
              <a:buNone/>
            </a:pPr>
            <a:r>
              <a:rPr lang="en-US" sz="1200" dirty="0">
                <a:solidFill>
                  <a:srgbClr val="2B2F36"/>
                </a:solidFill>
                <a:latin typeface="Arial" pitchFamily="34" charset="0"/>
                <a:ea typeface="BIZ UDPGothic" pitchFamily="34" charset="-122"/>
                <a:cs typeface="BIZ UDPGothic" pitchFamily="34" charset="-120"/>
              </a:rPr>
              <a:t>「もらった財産の額」が大きいほど、税金も大きくなる仕組みになっています。</a:t>
            </a:r>
            <a:endParaRPr lang="en-US" sz="1200" dirty="0"/>
          </a:p>
        </p:txBody>
      </p:sp>
      <p:sp>
        <p:nvSpPr>
          <p:cNvPr id="11" name="Shape 8"/>
          <p:cNvSpPr/>
          <p:nvPr/>
        </p:nvSpPr>
        <p:spPr>
          <a:xfrm>
            <a:off x="6126480" y="1828800"/>
            <a:ext cx="5394960" cy="3566160"/>
          </a:xfrm>
          <a:prstGeom prst="roundRect">
            <a:avLst>
              <a:gd name="adj" fmla="val 2051"/>
            </a:avLst>
          </a:prstGeom>
          <a:solidFill>
            <a:srgbClr val="FFFFFF"/>
          </a:solidFill>
          <a:ln w="12700">
            <a:solidFill>
              <a:srgbClr val="DDE0E6"/>
            </a:solidFill>
            <a:prstDash val="solid"/>
          </a:ln>
        </p:spPr>
      </p:sp>
      <p:sp>
        <p:nvSpPr>
          <p:cNvPr id="12" name="Shape 9"/>
          <p:cNvSpPr/>
          <p:nvPr/>
        </p:nvSpPr>
        <p:spPr>
          <a:xfrm>
            <a:off x="6419088" y="2121408"/>
            <a:ext cx="502920" cy="502920"/>
          </a:xfrm>
          <a:prstGeom prst="ellipse">
            <a:avLst/>
          </a:prstGeom>
          <a:solidFill>
            <a:srgbClr val="F5F6F8"/>
          </a:solidFill>
          <a:ln w="12700">
            <a:solidFill>
              <a:srgbClr val="DDE0E6"/>
            </a:solidFill>
            <a:prstDash val="solid"/>
          </a:ln>
        </p:spPr>
      </p:sp>
      <p:pic>
        <p:nvPicPr>
          <p:cNvPr id="13" name="Image 1" descr="preencoded.png">    </p:cNvPr>
          <p:cNvPicPr>
            <a:picLocks noChangeAspect="1"/>
          </p:cNvPicPr>
          <p:nvPr/>
        </p:nvPicPr>
        <p:blipFill>
          <a:blip r:embed="rId2"/>
          <a:stretch>
            <a:fillRect/>
          </a:stretch>
        </p:blipFill>
        <p:spPr>
          <a:xfrm>
            <a:off x="6537960" y="2240280"/>
            <a:ext cx="265176" cy="265176"/>
          </a:xfrm>
          <a:prstGeom prst="rect">
            <a:avLst/>
          </a:prstGeom>
        </p:spPr>
      </p:pic>
      <p:sp>
        <p:nvSpPr>
          <p:cNvPr id="14" name="Text 10"/>
          <p:cNvSpPr/>
          <p:nvPr/>
        </p:nvSpPr>
        <p:spPr>
          <a:xfrm>
            <a:off x="6419088" y="2788920"/>
            <a:ext cx="4809744" cy="502920"/>
          </a:xfrm>
          <a:prstGeom prst="rect">
            <a:avLst/>
          </a:prstGeom>
          <a:noFill/>
          <a:ln/>
        </p:spPr>
        <p:txBody>
          <a:bodyPr wrap="square" lIns="0" tIns="0" rIns="0" bIns="0" rtlCol="0" anchor="t"/>
          <a:lstStyle/>
          <a:p>
            <a:pPr indent="0" marL="0">
              <a:lnSpc>
                <a:spcPct val="120000"/>
              </a:lnSpc>
              <a:buNone/>
            </a:pPr>
            <a:r>
              <a:rPr lang="en-US" sz="1500" b="1" dirty="0">
                <a:solidFill>
                  <a:srgbClr val="16181D"/>
                </a:solidFill>
                <a:latin typeface="Arial" pitchFamily="34" charset="0"/>
                <a:ea typeface="BIZ UDPGothic" pitchFamily="34" charset="-122"/>
                <a:cs typeface="BIZ UDPGothic" pitchFamily="34" charset="-120"/>
              </a:rPr>
              <a:t>今の基礎控除（非課税のライン）</a:t>
            </a:r>
            <a:endParaRPr lang="en-US" sz="1500" dirty="0"/>
          </a:p>
        </p:txBody>
      </p:sp>
      <p:sp>
        <p:nvSpPr>
          <p:cNvPr id="15" name="Text 11"/>
          <p:cNvSpPr/>
          <p:nvPr/>
        </p:nvSpPr>
        <p:spPr>
          <a:xfrm>
            <a:off x="6419088" y="3383280"/>
            <a:ext cx="4809744" cy="1810512"/>
          </a:xfrm>
          <a:prstGeom prst="rect">
            <a:avLst/>
          </a:prstGeom>
          <a:noFill/>
          <a:ln/>
        </p:spPr>
        <p:txBody>
          <a:bodyPr wrap="square" lIns="0" tIns="0" rIns="0" bIns="0" rtlCol="0" anchor="t"/>
          <a:lstStyle/>
          <a:p>
            <a:pPr indent="0" marL="0">
              <a:lnSpc>
                <a:spcPct val="125000"/>
              </a:lnSpc>
              <a:buNone/>
            </a:pPr>
            <a:r>
              <a:rPr lang="en-US" sz="1200" dirty="0">
                <a:solidFill>
                  <a:srgbClr val="2B2F36"/>
                </a:solidFill>
                <a:latin typeface="Arial" pitchFamily="34" charset="0"/>
                <a:ea typeface="BIZ UDPGothic" pitchFamily="34" charset="-122"/>
                <a:cs typeface="BIZ UDPGothic" pitchFamily="34" charset="-120"/>
              </a:rPr>
              <a:t>3,000万円＋600万円×相続する人数、までは税金がかかりません。</a:t>
            </a:r>
            <a:endParaRPr lang="en-US" sz="1200" dirty="0"/>
          </a:p>
          <a:p>
            <a:pPr indent="0" marL="0">
              <a:lnSpc>
                <a:spcPct val="125000"/>
              </a:lnSpc>
              <a:buNone/>
            </a:pPr>
            <a:endParaRPr lang="en-US" sz="1200" dirty="0"/>
          </a:p>
          <a:p>
            <a:pPr indent="0" marL="0">
              <a:lnSpc>
                <a:spcPct val="125000"/>
              </a:lnSpc>
              <a:buNone/>
            </a:pPr>
            <a:r>
              <a:rPr lang="en-US" sz="1200" dirty="0">
                <a:solidFill>
                  <a:srgbClr val="2B2F36"/>
                </a:solidFill>
                <a:latin typeface="Arial" pitchFamily="34" charset="0"/>
                <a:ea typeface="BIZ UDPGothic" pitchFamily="34" charset="-122"/>
                <a:cs typeface="BIZ UDPGothic" pitchFamily="34" charset="-120"/>
              </a:rPr>
              <a:t>例えば家族3人なら、3,000万円＋600万円×3人＝4,800万円が非課税のラインです。</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640080" y="411480"/>
            <a:ext cx="10881360" cy="365760"/>
          </a:xfrm>
          <a:prstGeom prst="rect">
            <a:avLst/>
          </a:prstGeom>
          <a:noFill/>
          <a:ln/>
        </p:spPr>
        <p:txBody>
          <a:bodyPr wrap="square" lIns="0" tIns="0" rIns="0" bIns="0" rtlCol="0" anchor="ctr"/>
          <a:lstStyle/>
          <a:p>
            <a:pPr indent="0" marL="0">
              <a:buNone/>
            </a:pPr>
            <a:r>
              <a:rPr lang="en-US" sz="1200" b="1" spc="300" kern="0" dirty="0">
                <a:solidFill>
                  <a:srgbClr val="C8161D"/>
                </a:solidFill>
                <a:latin typeface="Arial" pitchFamily="34" charset="0"/>
                <a:ea typeface="BIZ UDPGothic" pitchFamily="34" charset="-122"/>
                <a:cs typeface="BIZ UDPGothic" pitchFamily="34" charset="-120"/>
              </a:rPr>
              <a:t>1. 問題① 線引きが低すぎる</a:t>
            </a:r>
            <a:endParaRPr lang="en-US" sz="1200" dirty="0"/>
          </a:p>
        </p:txBody>
      </p:sp>
      <p:sp>
        <p:nvSpPr>
          <p:cNvPr id="3" name="Text 1"/>
          <p:cNvSpPr/>
          <p:nvPr/>
        </p:nvSpPr>
        <p:spPr>
          <a:xfrm>
            <a:off x="640080" y="777240"/>
            <a:ext cx="10881360" cy="1005840"/>
          </a:xfrm>
          <a:prstGeom prst="rect">
            <a:avLst/>
          </a:prstGeom>
          <a:noFill/>
          <a:ln/>
        </p:spPr>
        <p:txBody>
          <a:bodyPr wrap="square" lIns="0" tIns="0" rIns="0" bIns="0" rtlCol="0" anchor="ctr"/>
          <a:lstStyle/>
          <a:p>
            <a:pPr indent="0" marL="0">
              <a:buNone/>
            </a:pPr>
            <a:r>
              <a:rPr lang="en-US" sz="3000" b="1" dirty="0">
                <a:solidFill>
                  <a:srgbClr val="16181D"/>
                </a:solidFill>
                <a:latin typeface="Arial" pitchFamily="34" charset="0"/>
                <a:ea typeface="BIZ UDPGothic" pitchFamily="34" charset="-122"/>
                <a:cs typeface="BIZ UDPGothic" pitchFamily="34" charset="-120"/>
              </a:rPr>
              <a:t>東京に家があるだけで、税金がかかる</a:t>
            </a:r>
            <a:endParaRPr lang="en-US" sz="3000" dirty="0"/>
          </a:p>
        </p:txBody>
      </p:sp>
      <p:sp>
        <p:nvSpPr>
          <p:cNvPr id="4" name="Text 2"/>
          <p:cNvSpPr/>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2B2F36"/>
                </a:solidFill>
                <a:latin typeface="Arial" pitchFamily="34" charset="0"/>
                <a:ea typeface="BIZ UDPGothic" pitchFamily="34" charset="-122"/>
                <a:cs typeface="BIZ UDPGothic" pitchFamily="34" charset="-120"/>
              </a:rPr>
              <a:t>05</a:t>
            </a:r>
            <a:endParaRPr lang="en-US" sz="1000" dirty="0"/>
          </a:p>
        </p:txBody>
      </p:sp>
      <p:sp>
        <p:nvSpPr>
          <p:cNvPr id="5" name="Text 3"/>
          <p:cNvSpPr/>
          <p:nvPr/>
        </p:nvSpPr>
        <p:spPr>
          <a:xfrm>
            <a:off x="640080" y="6446520"/>
            <a:ext cx="5486400" cy="320040"/>
          </a:xfrm>
          <a:prstGeom prst="rect">
            <a:avLst/>
          </a:prstGeom>
          <a:noFill/>
          <a:ln/>
        </p:spPr>
        <p:txBody>
          <a:bodyPr wrap="square" lIns="0" tIns="0" rIns="0" bIns="0" rtlCol="0" anchor="ctr"/>
          <a:lstStyle/>
          <a:p>
            <a:pPr indent="0" marL="0">
              <a:buNone/>
            </a:pPr>
            <a:r>
              <a:rPr lang="en-US" sz="900" dirty="0">
                <a:solidFill>
                  <a:srgbClr val="9AA0AA"/>
                </a:solidFill>
                <a:latin typeface="Arial" pitchFamily="34" charset="0"/>
                <a:ea typeface="BIZ UDPGothic" pitchFamily="34" charset="-122"/>
                <a:cs typeface="BIZ UDPGothic" pitchFamily="34" charset="-120"/>
              </a:rPr>
              <a:t>REBOOT JAPAN ── 提言004</a:t>
            </a:r>
            <a:endParaRPr lang="en-US" sz="900" dirty="0"/>
          </a:p>
        </p:txBody>
      </p:sp>
      <p:sp>
        <p:nvSpPr>
          <p:cNvPr id="6" name="Text 4"/>
          <p:cNvSpPr/>
          <p:nvPr/>
        </p:nvSpPr>
        <p:spPr>
          <a:xfrm>
            <a:off x="640080" y="1737360"/>
            <a:ext cx="10881360" cy="457200"/>
          </a:xfrm>
          <a:prstGeom prst="rect">
            <a:avLst/>
          </a:prstGeom>
          <a:noFill/>
          <a:ln/>
        </p:spPr>
        <p:txBody>
          <a:bodyPr wrap="square" lIns="0" tIns="0" rIns="0" bIns="0" rtlCol="0" anchor="ctr"/>
          <a:lstStyle/>
          <a:p>
            <a:pPr indent="0" marL="0">
              <a:buNone/>
            </a:pPr>
            <a:r>
              <a:rPr lang="en-US" sz="1400" dirty="0">
                <a:solidFill>
                  <a:srgbClr val="2B2F36"/>
                </a:solidFill>
                <a:latin typeface="Arial" pitchFamily="34" charset="0"/>
                <a:ea typeface="BIZ UDPGothic" pitchFamily="34" charset="-122"/>
                <a:cs typeface="BIZ UDPGothic" pitchFamily="34" charset="-120"/>
              </a:rPr>
              <a:t>4,800万円（家族3人の場合）という非課税のラインは、実は高くありません。</a:t>
            </a:r>
            <a:endParaRPr lang="en-US" sz="1400" dirty="0"/>
          </a:p>
        </p:txBody>
      </p:sp>
      <p:sp>
        <p:nvSpPr>
          <p:cNvPr id="7" name="Shape 5"/>
          <p:cNvSpPr/>
          <p:nvPr/>
        </p:nvSpPr>
        <p:spPr>
          <a:xfrm>
            <a:off x="640080" y="2286000"/>
            <a:ext cx="10881360" cy="2377440"/>
          </a:xfrm>
          <a:prstGeom prst="roundRect">
            <a:avLst>
              <a:gd name="adj" fmla="val 3077"/>
            </a:avLst>
          </a:prstGeom>
          <a:solidFill>
            <a:srgbClr val="FFFFFF"/>
          </a:solidFill>
          <a:ln w="19050">
            <a:solidFill>
              <a:srgbClr val="C8161D"/>
            </a:solidFill>
            <a:prstDash val="solid"/>
          </a:ln>
        </p:spPr>
      </p:sp>
      <p:pic>
        <p:nvPicPr>
          <p:cNvPr id="8" name="Image 0" descr="preencoded.png">    </p:cNvPr>
          <p:cNvPicPr>
            <a:picLocks noChangeAspect="1"/>
          </p:cNvPicPr>
          <p:nvPr/>
        </p:nvPicPr>
        <p:blipFill>
          <a:blip r:embed="rId1"/>
          <a:stretch>
            <a:fillRect/>
          </a:stretch>
        </p:blipFill>
        <p:spPr>
          <a:xfrm>
            <a:off x="1005840" y="2606040"/>
            <a:ext cx="594360" cy="594360"/>
          </a:xfrm>
          <a:prstGeom prst="rect">
            <a:avLst/>
          </a:prstGeom>
        </p:spPr>
      </p:pic>
      <p:sp>
        <p:nvSpPr>
          <p:cNvPr id="9" name="Text 6"/>
          <p:cNvSpPr/>
          <p:nvPr/>
        </p:nvSpPr>
        <p:spPr>
          <a:xfrm>
            <a:off x="1828800" y="2560320"/>
            <a:ext cx="9418320" cy="548640"/>
          </a:xfrm>
          <a:prstGeom prst="rect">
            <a:avLst/>
          </a:prstGeom>
          <a:noFill/>
          <a:ln/>
        </p:spPr>
        <p:txBody>
          <a:bodyPr wrap="square" lIns="0" tIns="0" rIns="0" bIns="0" rtlCol="0" anchor="ctr"/>
          <a:lstStyle/>
          <a:p>
            <a:pPr indent="0" marL="0">
              <a:buNone/>
            </a:pPr>
            <a:r>
              <a:rPr lang="en-US" sz="1700" b="1" dirty="0">
                <a:solidFill>
                  <a:srgbClr val="16181D"/>
                </a:solidFill>
                <a:latin typeface="Arial" pitchFamily="34" charset="0"/>
                <a:ea typeface="BIZ UDPGothic" pitchFamily="34" charset="-122"/>
                <a:cs typeface="BIZ UDPGothic" pitchFamily="34" charset="-120"/>
              </a:rPr>
              <a:t>東京の一等地などに家を持っているだけで、それだけでボーダーを超えてしまう</a:t>
            </a:r>
            <a:endParaRPr lang="en-US" sz="1700" dirty="0"/>
          </a:p>
        </p:txBody>
      </p:sp>
      <p:sp>
        <p:nvSpPr>
          <p:cNvPr id="10" name="Text 7"/>
          <p:cNvSpPr/>
          <p:nvPr/>
        </p:nvSpPr>
        <p:spPr>
          <a:xfrm>
            <a:off x="1828800" y="3200400"/>
            <a:ext cx="9418320" cy="1280160"/>
          </a:xfrm>
          <a:prstGeom prst="rect">
            <a:avLst/>
          </a:prstGeom>
          <a:noFill/>
          <a:ln/>
        </p:spPr>
        <p:txBody>
          <a:bodyPr wrap="square" lIns="0" tIns="0" rIns="0" bIns="0" rtlCol="0" anchor="ctr"/>
          <a:lstStyle/>
          <a:p>
            <a:pPr indent="0" marL="0">
              <a:lnSpc>
                <a:spcPct val="140000"/>
              </a:lnSpc>
              <a:buNone/>
            </a:pPr>
            <a:r>
              <a:rPr lang="en-US" sz="1350" dirty="0">
                <a:solidFill>
                  <a:srgbClr val="2B2F36"/>
                </a:solidFill>
                <a:latin typeface="Arial" pitchFamily="34" charset="0"/>
                <a:ea typeface="BIZ UDPGothic" pitchFamily="34" charset="-122"/>
                <a:cs typeface="BIZ UDPGothic" pitchFamily="34" charset="-120"/>
              </a:rPr>
              <a:t>つまり、生涯まじめに働いて家と退職金を築いただけの「一般的な家庭」が、相続税の課税対象になってしまっているのです。</a:t>
            </a:r>
            <a:endParaRPr lang="en-US" sz="1350" dirty="0"/>
          </a:p>
        </p:txBody>
      </p:sp>
      <p:sp>
        <p:nvSpPr>
          <p:cNvPr id="11" name="Text 8"/>
          <p:cNvSpPr/>
          <p:nvPr/>
        </p:nvSpPr>
        <p:spPr>
          <a:xfrm>
            <a:off x="640080" y="4892040"/>
            <a:ext cx="10881360" cy="548640"/>
          </a:xfrm>
          <a:prstGeom prst="rect">
            <a:avLst/>
          </a:prstGeom>
          <a:noFill/>
          <a:ln/>
        </p:spPr>
        <p:txBody>
          <a:bodyPr wrap="square" lIns="0" tIns="0" rIns="0" bIns="0" rtlCol="0" anchor="ctr"/>
          <a:lstStyle/>
          <a:p>
            <a:pPr indent="0" marL="0">
              <a:buNone/>
            </a:pPr>
            <a:r>
              <a:rPr lang="en-US" sz="1300" i="1" dirty="0">
                <a:solidFill>
                  <a:srgbClr val="C8161D"/>
                </a:solidFill>
                <a:latin typeface="Arial" pitchFamily="34" charset="0"/>
                <a:ea typeface="BIZ UDPGothic" pitchFamily="34" charset="-122"/>
                <a:cs typeface="BIZ UDPGothic" pitchFamily="34" charset="-120"/>
              </a:rPr>
              <a:t>これは「ちょっとお金持ち」ではなく「ふつうに頑張って生きてきた人」が対象になっているという問題です。</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640080" y="411480"/>
            <a:ext cx="10881360" cy="365760"/>
          </a:xfrm>
          <a:prstGeom prst="rect">
            <a:avLst/>
          </a:prstGeom>
          <a:noFill/>
          <a:ln/>
        </p:spPr>
        <p:txBody>
          <a:bodyPr wrap="square" lIns="0" tIns="0" rIns="0" bIns="0" rtlCol="0" anchor="ctr"/>
          <a:lstStyle/>
          <a:p>
            <a:pPr indent="0" marL="0">
              <a:buNone/>
            </a:pPr>
            <a:r>
              <a:rPr lang="en-US" sz="1200" b="1" spc="300" kern="0" dirty="0">
                <a:solidFill>
                  <a:srgbClr val="C8161D"/>
                </a:solidFill>
                <a:latin typeface="Arial" pitchFamily="34" charset="0"/>
                <a:ea typeface="BIZ UDPGothic" pitchFamily="34" charset="-122"/>
                <a:cs typeface="BIZ UDPGothic" pitchFamily="34" charset="-120"/>
              </a:rPr>
              <a:t>1. 問題② 生活基盤の破壊</a:t>
            </a:r>
            <a:endParaRPr lang="en-US" sz="1200" dirty="0"/>
          </a:p>
        </p:txBody>
      </p:sp>
      <p:sp>
        <p:nvSpPr>
          <p:cNvPr id="3" name="Text 1"/>
          <p:cNvSpPr/>
          <p:nvPr/>
        </p:nvSpPr>
        <p:spPr>
          <a:xfrm>
            <a:off x="640080" y="777240"/>
            <a:ext cx="10881360" cy="1005840"/>
          </a:xfrm>
          <a:prstGeom prst="rect">
            <a:avLst/>
          </a:prstGeom>
          <a:noFill/>
          <a:ln/>
        </p:spPr>
        <p:txBody>
          <a:bodyPr wrap="square" lIns="0" tIns="0" rIns="0" bIns="0" rtlCol="0" anchor="ctr"/>
          <a:lstStyle/>
          <a:p>
            <a:pPr indent="0" marL="0">
              <a:buNone/>
            </a:pPr>
            <a:r>
              <a:rPr lang="en-US" sz="3000" b="1" dirty="0">
                <a:solidFill>
                  <a:srgbClr val="16181D"/>
                </a:solidFill>
                <a:latin typeface="Arial" pitchFamily="34" charset="0"/>
                <a:ea typeface="BIZ UDPGothic" pitchFamily="34" charset="-122"/>
                <a:cs typeface="BIZ UDPGothic" pitchFamily="34" charset="-120"/>
              </a:rPr>
              <a:t>「住んでいる家を売って税金を払う」という悲劇</a:t>
            </a:r>
            <a:endParaRPr lang="en-US" sz="3000" dirty="0"/>
          </a:p>
        </p:txBody>
      </p:sp>
      <p:sp>
        <p:nvSpPr>
          <p:cNvPr id="4" name="Text 2"/>
          <p:cNvSpPr/>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2B2F36"/>
                </a:solidFill>
                <a:latin typeface="Arial" pitchFamily="34" charset="0"/>
                <a:ea typeface="BIZ UDPGothic" pitchFamily="34" charset="-122"/>
                <a:cs typeface="BIZ UDPGothic" pitchFamily="34" charset="-120"/>
              </a:rPr>
              <a:t>06</a:t>
            </a:r>
            <a:endParaRPr lang="en-US" sz="1000" dirty="0"/>
          </a:p>
        </p:txBody>
      </p:sp>
      <p:sp>
        <p:nvSpPr>
          <p:cNvPr id="5" name="Text 3"/>
          <p:cNvSpPr/>
          <p:nvPr/>
        </p:nvSpPr>
        <p:spPr>
          <a:xfrm>
            <a:off x="640080" y="6446520"/>
            <a:ext cx="5486400" cy="320040"/>
          </a:xfrm>
          <a:prstGeom prst="rect">
            <a:avLst/>
          </a:prstGeom>
          <a:noFill/>
          <a:ln/>
        </p:spPr>
        <p:txBody>
          <a:bodyPr wrap="square" lIns="0" tIns="0" rIns="0" bIns="0" rtlCol="0" anchor="ctr"/>
          <a:lstStyle/>
          <a:p>
            <a:pPr indent="0" marL="0">
              <a:buNone/>
            </a:pPr>
            <a:r>
              <a:rPr lang="en-US" sz="900" dirty="0">
                <a:solidFill>
                  <a:srgbClr val="9AA0AA"/>
                </a:solidFill>
                <a:latin typeface="Arial" pitchFamily="34" charset="0"/>
                <a:ea typeface="BIZ UDPGothic" pitchFamily="34" charset="-122"/>
                <a:cs typeface="BIZ UDPGothic" pitchFamily="34" charset="-120"/>
              </a:rPr>
              <a:t>REBOOT JAPAN ── 提言004</a:t>
            </a:r>
            <a:endParaRPr lang="en-US" sz="900" dirty="0"/>
          </a:p>
        </p:txBody>
      </p:sp>
      <p:sp>
        <p:nvSpPr>
          <p:cNvPr id="6" name="Shape 4"/>
          <p:cNvSpPr/>
          <p:nvPr/>
        </p:nvSpPr>
        <p:spPr>
          <a:xfrm>
            <a:off x="640080" y="1920240"/>
            <a:ext cx="5212080" cy="3200400"/>
          </a:xfrm>
          <a:prstGeom prst="roundRect">
            <a:avLst>
              <a:gd name="adj" fmla="val 2286"/>
            </a:avLst>
          </a:prstGeom>
          <a:solidFill>
            <a:srgbClr val="FFFFFF"/>
          </a:solidFill>
          <a:ln w="12700">
            <a:solidFill>
              <a:srgbClr val="DDE0E6"/>
            </a:solidFill>
            <a:prstDash val="solid"/>
          </a:ln>
        </p:spPr>
      </p:sp>
      <p:sp>
        <p:nvSpPr>
          <p:cNvPr id="7" name="Shape 5"/>
          <p:cNvSpPr/>
          <p:nvPr/>
        </p:nvSpPr>
        <p:spPr>
          <a:xfrm>
            <a:off x="932688" y="2212848"/>
            <a:ext cx="502920" cy="502920"/>
          </a:xfrm>
          <a:prstGeom prst="ellipse">
            <a:avLst/>
          </a:prstGeom>
          <a:solidFill>
            <a:srgbClr val="F5F6F8"/>
          </a:solidFill>
          <a:ln w="12700">
            <a:solidFill>
              <a:srgbClr val="DDE0E6"/>
            </a:solidFill>
            <a:prstDash val="solid"/>
          </a:ln>
        </p:spPr>
      </p:sp>
      <p:pic>
        <p:nvPicPr>
          <p:cNvPr id="8" name="Image 0" descr="preencoded.png">    </p:cNvPr>
          <p:cNvPicPr>
            <a:picLocks noChangeAspect="1"/>
          </p:cNvPicPr>
          <p:nvPr/>
        </p:nvPicPr>
        <p:blipFill>
          <a:blip r:embed="rId1"/>
          <a:stretch>
            <a:fillRect/>
          </a:stretch>
        </p:blipFill>
        <p:spPr>
          <a:xfrm>
            <a:off x="1051560" y="2331720"/>
            <a:ext cx="265176" cy="265176"/>
          </a:xfrm>
          <a:prstGeom prst="rect">
            <a:avLst/>
          </a:prstGeom>
        </p:spPr>
      </p:pic>
      <p:sp>
        <p:nvSpPr>
          <p:cNvPr id="9" name="Text 6"/>
          <p:cNvSpPr/>
          <p:nvPr/>
        </p:nvSpPr>
        <p:spPr>
          <a:xfrm>
            <a:off x="932688" y="2880360"/>
            <a:ext cx="4626864" cy="502920"/>
          </a:xfrm>
          <a:prstGeom prst="rect">
            <a:avLst/>
          </a:prstGeom>
          <a:noFill/>
          <a:ln/>
        </p:spPr>
        <p:txBody>
          <a:bodyPr wrap="square" lIns="0" tIns="0" rIns="0" bIns="0" rtlCol="0" anchor="t"/>
          <a:lstStyle/>
          <a:p>
            <a:pPr indent="0" marL="0">
              <a:lnSpc>
                <a:spcPct val="120000"/>
              </a:lnSpc>
              <a:buNone/>
            </a:pPr>
            <a:r>
              <a:rPr lang="en-US" sz="1500" b="1" dirty="0">
                <a:solidFill>
                  <a:srgbClr val="16181D"/>
                </a:solidFill>
                <a:latin typeface="Arial" pitchFamily="34" charset="0"/>
                <a:ea typeface="BIZ UDPGothic" pitchFamily="34" charset="-122"/>
                <a:cs typeface="BIZ UDPGothic" pitchFamily="34" charset="-120"/>
              </a:rPr>
              <a:t>今、起きていること</a:t>
            </a:r>
            <a:endParaRPr lang="en-US" sz="1500" dirty="0"/>
          </a:p>
        </p:txBody>
      </p:sp>
      <p:sp>
        <p:nvSpPr>
          <p:cNvPr id="10" name="Text 7"/>
          <p:cNvSpPr/>
          <p:nvPr/>
        </p:nvSpPr>
        <p:spPr>
          <a:xfrm>
            <a:off x="932688" y="3474720"/>
            <a:ext cx="4626864" cy="1444752"/>
          </a:xfrm>
          <a:prstGeom prst="rect">
            <a:avLst/>
          </a:prstGeom>
          <a:noFill/>
          <a:ln/>
        </p:spPr>
        <p:txBody>
          <a:bodyPr wrap="square" lIns="0" tIns="0" rIns="0" bIns="0" rtlCol="0" anchor="t"/>
          <a:lstStyle/>
          <a:p>
            <a:pPr indent="0" marL="0">
              <a:lnSpc>
                <a:spcPct val="125000"/>
              </a:lnSpc>
              <a:buNone/>
            </a:pPr>
            <a:r>
              <a:rPr lang="en-US" sz="1200" dirty="0">
                <a:solidFill>
                  <a:srgbClr val="2B2F36"/>
                </a:solidFill>
                <a:latin typeface="Arial" pitchFamily="34" charset="0"/>
                <a:ea typeface="BIZ UDPGothic" pitchFamily="34" charset="-122"/>
                <a:cs typeface="BIZ UDPGothic" pitchFamily="34" charset="-120"/>
              </a:rPr>
              <a:t>親が亡くなり、実家を相続した。でも相続税が払えない。</a:t>
            </a:r>
            <a:endParaRPr lang="en-US" sz="1200" dirty="0"/>
          </a:p>
          <a:p>
            <a:pPr indent="0" marL="0">
              <a:lnSpc>
                <a:spcPct val="125000"/>
              </a:lnSpc>
              <a:buNone/>
            </a:pPr>
            <a:endParaRPr lang="en-US" sz="1200" dirty="0"/>
          </a:p>
          <a:p>
            <a:pPr indent="0" marL="0">
              <a:lnSpc>
                <a:spcPct val="125000"/>
              </a:lnSpc>
              <a:buNone/>
            </a:pPr>
            <a:r>
              <a:rPr lang="en-US" sz="1200" dirty="0">
                <a:solidFill>
                  <a:srgbClr val="2B2F36"/>
                </a:solidFill>
                <a:latin typeface="Arial" pitchFamily="34" charset="0"/>
                <a:ea typeface="BIZ UDPGothic" pitchFamily="34" charset="-122"/>
                <a:cs typeface="BIZ UDPGothic" pitchFamily="34" charset="-120"/>
              </a:rPr>
              <a:t>仕方なく、ずっと住んでいた家を売って、その代金で税金を払う ── という本末転倒な事態が起きています。</a:t>
            </a:r>
            <a:endParaRPr lang="en-US" sz="1200" dirty="0"/>
          </a:p>
        </p:txBody>
      </p:sp>
      <p:sp>
        <p:nvSpPr>
          <p:cNvPr id="11" name="Shape 8"/>
          <p:cNvSpPr/>
          <p:nvPr/>
        </p:nvSpPr>
        <p:spPr>
          <a:xfrm>
            <a:off x="6126480" y="1920240"/>
            <a:ext cx="5212080" cy="3200400"/>
          </a:xfrm>
          <a:prstGeom prst="roundRect">
            <a:avLst>
              <a:gd name="adj" fmla="val 2286"/>
            </a:avLst>
          </a:prstGeom>
          <a:solidFill>
            <a:srgbClr val="FFFFFF"/>
          </a:solidFill>
          <a:ln w="19050">
            <a:solidFill>
              <a:srgbClr val="C8161D"/>
            </a:solidFill>
            <a:prstDash val="solid"/>
          </a:ln>
        </p:spPr>
      </p:sp>
      <p:sp>
        <p:nvSpPr>
          <p:cNvPr id="12" name="Shape 9"/>
          <p:cNvSpPr/>
          <p:nvPr/>
        </p:nvSpPr>
        <p:spPr>
          <a:xfrm>
            <a:off x="6419088" y="2212848"/>
            <a:ext cx="502920" cy="502920"/>
          </a:xfrm>
          <a:prstGeom prst="ellipse">
            <a:avLst/>
          </a:prstGeom>
          <a:solidFill>
            <a:srgbClr val="F5F6F8"/>
          </a:solidFill>
          <a:ln w="12700">
            <a:solidFill>
              <a:srgbClr val="DDE0E6"/>
            </a:solidFill>
            <a:prstDash val="solid"/>
          </a:ln>
        </p:spPr>
      </p:sp>
      <p:pic>
        <p:nvPicPr>
          <p:cNvPr id="13" name="Image 1" descr="preencoded.png">    </p:cNvPr>
          <p:cNvPicPr>
            <a:picLocks noChangeAspect="1"/>
          </p:cNvPicPr>
          <p:nvPr/>
        </p:nvPicPr>
        <p:blipFill>
          <a:blip r:embed="rId2"/>
          <a:stretch>
            <a:fillRect/>
          </a:stretch>
        </p:blipFill>
        <p:spPr>
          <a:xfrm>
            <a:off x="6537960" y="2331720"/>
            <a:ext cx="265176" cy="265176"/>
          </a:xfrm>
          <a:prstGeom prst="rect">
            <a:avLst/>
          </a:prstGeom>
        </p:spPr>
      </p:pic>
      <p:sp>
        <p:nvSpPr>
          <p:cNvPr id="14" name="Text 10"/>
          <p:cNvSpPr/>
          <p:nvPr/>
        </p:nvSpPr>
        <p:spPr>
          <a:xfrm>
            <a:off x="6419088" y="2880360"/>
            <a:ext cx="4626864" cy="502920"/>
          </a:xfrm>
          <a:prstGeom prst="rect">
            <a:avLst/>
          </a:prstGeom>
          <a:noFill/>
          <a:ln/>
        </p:spPr>
        <p:txBody>
          <a:bodyPr wrap="square" lIns="0" tIns="0" rIns="0" bIns="0" rtlCol="0" anchor="t"/>
          <a:lstStyle/>
          <a:p>
            <a:pPr indent="0" marL="0">
              <a:lnSpc>
                <a:spcPct val="120000"/>
              </a:lnSpc>
              <a:buNone/>
            </a:pPr>
            <a:r>
              <a:rPr lang="en-US" sz="1500" b="1" dirty="0">
                <a:solidFill>
                  <a:srgbClr val="16181D"/>
                </a:solidFill>
                <a:latin typeface="Arial" pitchFamily="34" charset="0"/>
                <a:ea typeface="BIZ UDPGothic" pitchFamily="34" charset="-122"/>
                <a:cs typeface="BIZ UDPGothic" pitchFamily="34" charset="-120"/>
              </a:rPr>
              <a:t>何が問題なのか</a:t>
            </a:r>
            <a:endParaRPr lang="en-US" sz="1500" dirty="0"/>
          </a:p>
        </p:txBody>
      </p:sp>
      <p:sp>
        <p:nvSpPr>
          <p:cNvPr id="15" name="Text 11"/>
          <p:cNvSpPr/>
          <p:nvPr/>
        </p:nvSpPr>
        <p:spPr>
          <a:xfrm>
            <a:off x="6419088" y="3474720"/>
            <a:ext cx="4626864" cy="1444752"/>
          </a:xfrm>
          <a:prstGeom prst="rect">
            <a:avLst/>
          </a:prstGeom>
          <a:noFill/>
          <a:ln/>
        </p:spPr>
        <p:txBody>
          <a:bodyPr wrap="square" lIns="0" tIns="0" rIns="0" bIns="0" rtlCol="0" anchor="t"/>
          <a:lstStyle/>
          <a:p>
            <a:pPr indent="0" marL="0">
              <a:lnSpc>
                <a:spcPct val="125000"/>
              </a:lnSpc>
              <a:buNone/>
            </a:pPr>
            <a:r>
              <a:rPr lang="en-US" sz="1200" dirty="0">
                <a:solidFill>
                  <a:srgbClr val="2B2F36"/>
                </a:solidFill>
                <a:latin typeface="Arial" pitchFamily="34" charset="0"/>
                <a:ea typeface="BIZ UDPGothic" pitchFamily="34" charset="-122"/>
                <a:cs typeface="BIZ UDPGothic" pitchFamily="34" charset="-120"/>
              </a:rPr>
              <a:t>相続税は本来「財産を受け継ぐこと」にかかる税金のはずです。</a:t>
            </a:r>
            <a:endParaRPr lang="en-US" sz="1200" dirty="0"/>
          </a:p>
          <a:p>
            <a:pPr indent="0" marL="0">
              <a:lnSpc>
                <a:spcPct val="125000"/>
              </a:lnSpc>
              <a:buNone/>
            </a:pPr>
            <a:endParaRPr lang="en-US" sz="1200" dirty="0"/>
          </a:p>
          <a:p>
            <a:pPr indent="0" marL="0">
              <a:lnSpc>
                <a:spcPct val="125000"/>
              </a:lnSpc>
              <a:buNone/>
            </a:pPr>
            <a:r>
              <a:rPr lang="en-US" sz="1200" dirty="0">
                <a:solidFill>
                  <a:srgbClr val="2B2F36"/>
                </a:solidFill>
                <a:latin typeface="Arial" pitchFamily="34" charset="0"/>
                <a:ea typeface="BIZ UDPGothic" pitchFamily="34" charset="-122"/>
                <a:cs typeface="BIZ UDPGothic" pitchFamily="34" charset="-120"/>
              </a:rPr>
              <a:t>それなのに、結果として「生活の場そのものを失う」ことになっているのは、制度の目的とズレています。</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640080" y="411480"/>
            <a:ext cx="10881360" cy="365760"/>
          </a:xfrm>
          <a:prstGeom prst="rect">
            <a:avLst/>
          </a:prstGeom>
          <a:noFill/>
          <a:ln/>
        </p:spPr>
        <p:txBody>
          <a:bodyPr wrap="square" lIns="0" tIns="0" rIns="0" bIns="0" rtlCol="0" anchor="ctr"/>
          <a:lstStyle/>
          <a:p>
            <a:pPr indent="0" marL="0">
              <a:buNone/>
            </a:pPr>
            <a:r>
              <a:rPr lang="en-US" sz="1200" b="1" spc="300" kern="0" dirty="0">
                <a:solidFill>
                  <a:srgbClr val="C8161D"/>
                </a:solidFill>
                <a:latin typeface="Arial" pitchFamily="34" charset="0"/>
                <a:ea typeface="BIZ UDPGothic" pitchFamily="34" charset="-122"/>
                <a:cs typeface="BIZ UDPGothic" pitchFamily="34" charset="-120"/>
              </a:rPr>
              <a:t>1. 問題③ 税率が重すぎる</a:t>
            </a:r>
            <a:endParaRPr lang="en-US" sz="1200" dirty="0"/>
          </a:p>
        </p:txBody>
      </p:sp>
      <p:sp>
        <p:nvSpPr>
          <p:cNvPr id="3" name="Text 1"/>
          <p:cNvSpPr/>
          <p:nvPr/>
        </p:nvSpPr>
        <p:spPr>
          <a:xfrm>
            <a:off x="640080" y="777240"/>
            <a:ext cx="10881360" cy="1005840"/>
          </a:xfrm>
          <a:prstGeom prst="rect">
            <a:avLst/>
          </a:prstGeom>
          <a:noFill/>
          <a:ln/>
        </p:spPr>
        <p:txBody>
          <a:bodyPr wrap="square" lIns="0" tIns="0" rIns="0" bIns="0" rtlCol="0" anchor="ctr"/>
          <a:lstStyle/>
          <a:p>
            <a:pPr indent="0" marL="0">
              <a:buNone/>
            </a:pPr>
            <a:r>
              <a:rPr lang="en-US" sz="3000" b="1" dirty="0">
                <a:solidFill>
                  <a:srgbClr val="16181D"/>
                </a:solidFill>
                <a:latin typeface="Arial" pitchFamily="34" charset="0"/>
                <a:ea typeface="BIZ UDPGothic" pitchFamily="34" charset="-122"/>
                <a:cs typeface="BIZ UDPGothic" pitchFamily="34" charset="-120"/>
              </a:rPr>
              <a:t>最高税率55%は「資産整理しないと払えない」</a:t>
            </a:r>
            <a:endParaRPr lang="en-US" sz="3000" dirty="0"/>
          </a:p>
        </p:txBody>
      </p:sp>
      <p:sp>
        <p:nvSpPr>
          <p:cNvPr id="4" name="Text 2"/>
          <p:cNvSpPr/>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2B2F36"/>
                </a:solidFill>
                <a:latin typeface="Arial" pitchFamily="34" charset="0"/>
                <a:ea typeface="BIZ UDPGothic" pitchFamily="34" charset="-122"/>
                <a:cs typeface="BIZ UDPGothic" pitchFamily="34" charset="-120"/>
              </a:rPr>
              <a:t>07</a:t>
            </a:r>
            <a:endParaRPr lang="en-US" sz="1000" dirty="0"/>
          </a:p>
        </p:txBody>
      </p:sp>
      <p:sp>
        <p:nvSpPr>
          <p:cNvPr id="5" name="Text 3"/>
          <p:cNvSpPr/>
          <p:nvPr/>
        </p:nvSpPr>
        <p:spPr>
          <a:xfrm>
            <a:off x="640080" y="6446520"/>
            <a:ext cx="5486400" cy="320040"/>
          </a:xfrm>
          <a:prstGeom prst="rect">
            <a:avLst/>
          </a:prstGeom>
          <a:noFill/>
          <a:ln/>
        </p:spPr>
        <p:txBody>
          <a:bodyPr wrap="square" lIns="0" tIns="0" rIns="0" bIns="0" rtlCol="0" anchor="ctr"/>
          <a:lstStyle/>
          <a:p>
            <a:pPr indent="0" marL="0">
              <a:buNone/>
            </a:pPr>
            <a:r>
              <a:rPr lang="en-US" sz="900" dirty="0">
                <a:solidFill>
                  <a:srgbClr val="9AA0AA"/>
                </a:solidFill>
                <a:latin typeface="Arial" pitchFamily="34" charset="0"/>
                <a:ea typeface="BIZ UDPGothic" pitchFamily="34" charset="-122"/>
                <a:cs typeface="BIZ UDPGothic" pitchFamily="34" charset="-120"/>
              </a:rPr>
              <a:t>REBOOT JAPAN ── 提言004</a:t>
            </a:r>
            <a:endParaRPr lang="en-US" sz="900" dirty="0"/>
          </a:p>
        </p:txBody>
      </p:sp>
      <p:sp>
        <p:nvSpPr>
          <p:cNvPr id="6" name="Text 4"/>
          <p:cNvSpPr/>
          <p:nvPr/>
        </p:nvSpPr>
        <p:spPr>
          <a:xfrm>
            <a:off x="640080" y="1737360"/>
            <a:ext cx="10881360" cy="457200"/>
          </a:xfrm>
          <a:prstGeom prst="rect">
            <a:avLst/>
          </a:prstGeom>
          <a:noFill/>
          <a:ln/>
        </p:spPr>
        <p:txBody>
          <a:bodyPr wrap="square" lIns="0" tIns="0" rIns="0" bIns="0" rtlCol="0" anchor="ctr"/>
          <a:lstStyle/>
          <a:p>
            <a:pPr indent="0" marL="0">
              <a:buNone/>
            </a:pPr>
            <a:r>
              <a:rPr lang="en-US" sz="1400" dirty="0">
                <a:solidFill>
                  <a:srgbClr val="2B2F36"/>
                </a:solidFill>
                <a:latin typeface="Arial" pitchFamily="34" charset="0"/>
                <a:ea typeface="BIZ UDPGothic" pitchFamily="34" charset="-122"/>
                <a:cs typeface="BIZ UDPGothic" pitchFamily="34" charset="-120"/>
              </a:rPr>
              <a:t>もらった財産のうち、半分以上を税金として持っていかれる ── これが、現行制度の最高税率です。</a:t>
            </a:r>
            <a:endParaRPr lang="en-US" sz="1400" dirty="0"/>
          </a:p>
        </p:txBody>
      </p:sp>
      <p:sp>
        <p:nvSpPr>
          <p:cNvPr id="7" name="Shape 5"/>
          <p:cNvSpPr/>
          <p:nvPr/>
        </p:nvSpPr>
        <p:spPr>
          <a:xfrm>
            <a:off x="640080" y="2377440"/>
            <a:ext cx="10881360" cy="822960"/>
          </a:xfrm>
          <a:prstGeom prst="rect">
            <a:avLst/>
          </a:prstGeom>
          <a:solidFill>
            <a:srgbClr val="FFFFFF"/>
          </a:solidFill>
          <a:ln/>
        </p:spPr>
      </p:sp>
      <p:sp>
        <p:nvSpPr>
          <p:cNvPr id="8" name="Shape 6"/>
          <p:cNvSpPr/>
          <p:nvPr/>
        </p:nvSpPr>
        <p:spPr>
          <a:xfrm>
            <a:off x="640080" y="2377440"/>
            <a:ext cx="5984748" cy="822960"/>
          </a:xfrm>
          <a:prstGeom prst="rect">
            <a:avLst/>
          </a:prstGeom>
          <a:solidFill>
            <a:srgbClr val="C8161D"/>
          </a:solidFill>
          <a:ln/>
        </p:spPr>
      </p:sp>
      <p:sp>
        <p:nvSpPr>
          <p:cNvPr id="9" name="Text 7"/>
          <p:cNvSpPr/>
          <p:nvPr/>
        </p:nvSpPr>
        <p:spPr>
          <a:xfrm>
            <a:off x="822960" y="2377440"/>
            <a:ext cx="5618988" cy="82296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BIZ UDPGothic" pitchFamily="34" charset="-122"/>
                <a:cs typeface="BIZ UDPGothic" pitchFamily="34" charset="-120"/>
              </a:rPr>
              <a:t>55%　税金として持っていかれる</a:t>
            </a:r>
            <a:endParaRPr lang="en-US" sz="1400" dirty="0"/>
          </a:p>
        </p:txBody>
      </p:sp>
      <p:sp>
        <p:nvSpPr>
          <p:cNvPr id="10" name="Text 8"/>
          <p:cNvSpPr/>
          <p:nvPr/>
        </p:nvSpPr>
        <p:spPr>
          <a:xfrm>
            <a:off x="6807708" y="2377440"/>
            <a:ext cx="4530852" cy="822960"/>
          </a:xfrm>
          <a:prstGeom prst="rect">
            <a:avLst/>
          </a:prstGeom>
          <a:noFill/>
          <a:ln/>
        </p:spPr>
        <p:txBody>
          <a:bodyPr wrap="square" lIns="0" tIns="0" rIns="0" bIns="0" rtlCol="0" anchor="ctr"/>
          <a:lstStyle/>
          <a:p>
            <a:pPr indent="0" marL="0">
              <a:buNone/>
            </a:pPr>
            <a:r>
              <a:rPr lang="en-US" sz="1300" dirty="0">
                <a:solidFill>
                  <a:srgbClr val="2B2F36"/>
                </a:solidFill>
                <a:latin typeface="Arial" pitchFamily="34" charset="0"/>
                <a:ea typeface="BIZ UDPGothic" pitchFamily="34" charset="-122"/>
                <a:cs typeface="BIZ UDPGothic" pitchFamily="34" charset="-120"/>
              </a:rPr>
              <a:t>45%　手元に残る</a:t>
            </a:r>
            <a:endParaRPr lang="en-US" sz="1300" dirty="0"/>
          </a:p>
        </p:txBody>
      </p:sp>
      <p:sp>
        <p:nvSpPr>
          <p:cNvPr id="11" name="Shape 9"/>
          <p:cNvSpPr/>
          <p:nvPr/>
        </p:nvSpPr>
        <p:spPr>
          <a:xfrm>
            <a:off x="640080" y="3520440"/>
            <a:ext cx="10881360" cy="1463040"/>
          </a:xfrm>
          <a:prstGeom prst="roundRect">
            <a:avLst>
              <a:gd name="adj" fmla="val 5000"/>
            </a:avLst>
          </a:prstGeom>
          <a:solidFill>
            <a:srgbClr val="FFFFFF"/>
          </a:solidFill>
          <a:ln w="12700">
            <a:solidFill>
              <a:srgbClr val="DDE0E6"/>
            </a:solidFill>
            <a:prstDash val="solid"/>
          </a:ln>
        </p:spPr>
      </p:sp>
      <p:sp>
        <p:nvSpPr>
          <p:cNvPr id="12" name="Text 10"/>
          <p:cNvSpPr/>
          <p:nvPr/>
        </p:nvSpPr>
        <p:spPr>
          <a:xfrm>
            <a:off x="960120" y="3703320"/>
            <a:ext cx="10241280" cy="1188720"/>
          </a:xfrm>
          <a:prstGeom prst="rect">
            <a:avLst/>
          </a:prstGeom>
          <a:noFill/>
          <a:ln/>
        </p:spPr>
        <p:txBody>
          <a:bodyPr wrap="square" lIns="0" tIns="0" rIns="0" bIns="0" rtlCol="0" anchor="ctr"/>
          <a:lstStyle/>
          <a:p>
            <a:pPr indent="0" marL="0">
              <a:lnSpc>
                <a:spcPct val="140000"/>
              </a:lnSpc>
              <a:buNone/>
            </a:pPr>
            <a:r>
              <a:rPr lang="en-US" sz="1300" dirty="0">
                <a:solidFill>
                  <a:srgbClr val="2B2F36"/>
                </a:solidFill>
                <a:latin typeface="Arial" pitchFamily="34" charset="0"/>
                <a:ea typeface="BIZ UDPGothic" pitchFamily="34" charset="-122"/>
                <a:cs typeface="BIZ UDPGothic" pitchFamily="34" charset="-120"/>
              </a:rPr>
              <a:t>不動産や自社の株式など、すぐには現金化できない財産を多く持っている人ほど、税金を払うために資産の大部分を整理しなければならなくなります。どれだけ資産を築いた人に対しても、これは行き過ぎた負担です。</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640080" y="411480"/>
            <a:ext cx="10881360" cy="365760"/>
          </a:xfrm>
          <a:prstGeom prst="rect">
            <a:avLst/>
          </a:prstGeom>
          <a:noFill/>
          <a:ln/>
        </p:spPr>
        <p:txBody>
          <a:bodyPr wrap="square" lIns="0" tIns="0" rIns="0" bIns="0" rtlCol="0" anchor="ctr"/>
          <a:lstStyle/>
          <a:p>
            <a:pPr indent="0" marL="0">
              <a:buNone/>
            </a:pPr>
            <a:r>
              <a:rPr lang="en-US" sz="1200" b="1" spc="300" kern="0" dirty="0">
                <a:solidFill>
                  <a:srgbClr val="C8161D"/>
                </a:solidFill>
                <a:latin typeface="Arial" pitchFamily="34" charset="0"/>
                <a:ea typeface="BIZ UDPGothic" pitchFamily="34" charset="-122"/>
                <a:cs typeface="BIZ UDPGothic" pitchFamily="34" charset="-120"/>
              </a:rPr>
              <a:t>1. 問題④ 最大の矛盾</a:t>
            </a:r>
            <a:endParaRPr lang="en-US" sz="1200" dirty="0"/>
          </a:p>
        </p:txBody>
      </p:sp>
      <p:sp>
        <p:nvSpPr>
          <p:cNvPr id="3" name="Text 1"/>
          <p:cNvSpPr/>
          <p:nvPr/>
        </p:nvSpPr>
        <p:spPr>
          <a:xfrm>
            <a:off x="640080" y="777240"/>
            <a:ext cx="10881360" cy="1005840"/>
          </a:xfrm>
          <a:prstGeom prst="rect">
            <a:avLst/>
          </a:prstGeom>
          <a:noFill/>
          <a:ln/>
        </p:spPr>
        <p:txBody>
          <a:bodyPr wrap="square" lIns="0" tIns="0" rIns="0" bIns="0" rtlCol="0" anchor="ctr"/>
          <a:lstStyle/>
          <a:p>
            <a:pPr indent="0" marL="0">
              <a:buNone/>
            </a:pPr>
            <a:r>
              <a:rPr lang="en-US" sz="3000" b="1" dirty="0">
                <a:solidFill>
                  <a:srgbClr val="16181D"/>
                </a:solidFill>
                <a:latin typeface="Arial" pitchFamily="34" charset="0"/>
                <a:ea typeface="BIZ UDPGothic" pitchFamily="34" charset="-122"/>
                <a:cs typeface="BIZ UDPGothic" pitchFamily="34" charset="-120"/>
              </a:rPr>
              <a:t>会社を継ぐだけなのに、お金がないのに税金がかかる</a:t>
            </a:r>
            <a:endParaRPr lang="en-US" sz="3000" dirty="0"/>
          </a:p>
        </p:txBody>
      </p:sp>
      <p:sp>
        <p:nvSpPr>
          <p:cNvPr id="4" name="Text 2"/>
          <p:cNvSpPr/>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2B2F36"/>
                </a:solidFill>
                <a:latin typeface="Arial" pitchFamily="34" charset="0"/>
                <a:ea typeface="BIZ UDPGothic" pitchFamily="34" charset="-122"/>
                <a:cs typeface="BIZ UDPGothic" pitchFamily="34" charset="-120"/>
              </a:rPr>
              <a:t>08</a:t>
            </a:r>
            <a:endParaRPr lang="en-US" sz="1000" dirty="0"/>
          </a:p>
        </p:txBody>
      </p:sp>
      <p:sp>
        <p:nvSpPr>
          <p:cNvPr id="5" name="Text 3"/>
          <p:cNvSpPr/>
          <p:nvPr/>
        </p:nvSpPr>
        <p:spPr>
          <a:xfrm>
            <a:off x="640080" y="6446520"/>
            <a:ext cx="5486400" cy="320040"/>
          </a:xfrm>
          <a:prstGeom prst="rect">
            <a:avLst/>
          </a:prstGeom>
          <a:noFill/>
          <a:ln/>
        </p:spPr>
        <p:txBody>
          <a:bodyPr wrap="square" lIns="0" tIns="0" rIns="0" bIns="0" rtlCol="0" anchor="ctr"/>
          <a:lstStyle/>
          <a:p>
            <a:pPr indent="0" marL="0">
              <a:buNone/>
            </a:pPr>
            <a:r>
              <a:rPr lang="en-US" sz="900" dirty="0">
                <a:solidFill>
                  <a:srgbClr val="9AA0AA"/>
                </a:solidFill>
                <a:latin typeface="Arial" pitchFamily="34" charset="0"/>
                <a:ea typeface="BIZ UDPGothic" pitchFamily="34" charset="-122"/>
                <a:cs typeface="BIZ UDPGothic" pitchFamily="34" charset="-120"/>
              </a:rPr>
              <a:t>REBOOT JAPAN ── 提言004</a:t>
            </a:r>
            <a:endParaRPr lang="en-US" sz="900" dirty="0"/>
          </a:p>
        </p:txBody>
      </p:sp>
      <p:sp>
        <p:nvSpPr>
          <p:cNvPr id="6" name="Shape 4"/>
          <p:cNvSpPr/>
          <p:nvPr/>
        </p:nvSpPr>
        <p:spPr>
          <a:xfrm>
            <a:off x="640080" y="1783080"/>
            <a:ext cx="10881360" cy="1828800"/>
          </a:xfrm>
          <a:prstGeom prst="roundRect">
            <a:avLst>
              <a:gd name="adj" fmla="val 4000"/>
            </a:avLst>
          </a:prstGeom>
          <a:solidFill>
            <a:srgbClr val="FFFFFF"/>
          </a:solidFill>
          <a:ln w="19050">
            <a:solidFill>
              <a:srgbClr val="C8161D"/>
            </a:solidFill>
            <a:prstDash val="solid"/>
          </a:ln>
        </p:spPr>
      </p:sp>
      <p:pic>
        <p:nvPicPr>
          <p:cNvPr id="7" name="Image 0" descr="preencoded.png">    </p:cNvPr>
          <p:cNvPicPr>
            <a:picLocks noChangeAspect="1"/>
          </p:cNvPicPr>
          <p:nvPr/>
        </p:nvPicPr>
        <p:blipFill>
          <a:blip r:embed="rId1"/>
          <a:stretch>
            <a:fillRect/>
          </a:stretch>
        </p:blipFill>
        <p:spPr>
          <a:xfrm>
            <a:off x="1005840" y="2103120"/>
            <a:ext cx="548640" cy="548640"/>
          </a:xfrm>
          <a:prstGeom prst="rect">
            <a:avLst/>
          </a:prstGeom>
        </p:spPr>
      </p:pic>
      <p:sp>
        <p:nvSpPr>
          <p:cNvPr id="8" name="Text 5"/>
          <p:cNvSpPr/>
          <p:nvPr/>
        </p:nvSpPr>
        <p:spPr>
          <a:xfrm>
            <a:off x="1828800" y="2011680"/>
            <a:ext cx="9418320" cy="731520"/>
          </a:xfrm>
          <a:prstGeom prst="rect">
            <a:avLst/>
          </a:prstGeom>
          <a:noFill/>
          <a:ln/>
        </p:spPr>
        <p:txBody>
          <a:bodyPr wrap="square" lIns="0" tIns="0" rIns="0" bIns="0" rtlCol="0" anchor="ctr"/>
          <a:lstStyle/>
          <a:p>
            <a:pPr indent="0" marL="0">
              <a:lnSpc>
                <a:spcPct val="125000"/>
              </a:lnSpc>
              <a:buNone/>
            </a:pPr>
            <a:r>
              <a:rPr lang="en-US" sz="1600" b="1" dirty="0">
                <a:solidFill>
                  <a:srgbClr val="16181D"/>
                </a:solidFill>
                <a:latin typeface="Arial" pitchFamily="34" charset="0"/>
                <a:ea typeface="BIZ UDPGothic" pitchFamily="34" charset="-122"/>
                <a:cs typeface="BIZ UDPGothic" pitchFamily="34" charset="-120"/>
              </a:rPr>
              <a:t>会社のオーナーが亡くなり、子や孫が経営を引き継ぐ場合、自社の株式の評価額に対して相続税がかかる</a:t>
            </a:r>
            <a:endParaRPr lang="en-US" sz="1600" dirty="0"/>
          </a:p>
        </p:txBody>
      </p:sp>
      <p:sp>
        <p:nvSpPr>
          <p:cNvPr id="9" name="Text 6"/>
          <p:cNvSpPr/>
          <p:nvPr/>
        </p:nvSpPr>
        <p:spPr>
          <a:xfrm>
            <a:off x="1828800" y="2788920"/>
            <a:ext cx="9418320" cy="731520"/>
          </a:xfrm>
          <a:prstGeom prst="rect">
            <a:avLst/>
          </a:prstGeom>
          <a:noFill/>
          <a:ln/>
        </p:spPr>
        <p:txBody>
          <a:bodyPr wrap="square" lIns="0" tIns="0" rIns="0" bIns="0" rtlCol="0" anchor="ctr"/>
          <a:lstStyle/>
          <a:p>
            <a:pPr indent="0" marL="0">
              <a:lnSpc>
                <a:spcPct val="130000"/>
              </a:lnSpc>
              <a:buNone/>
            </a:pPr>
            <a:r>
              <a:rPr lang="en-US" sz="1300" dirty="0">
                <a:solidFill>
                  <a:srgbClr val="2B2F36"/>
                </a:solidFill>
                <a:latin typeface="Arial" pitchFamily="34" charset="0"/>
                <a:ea typeface="BIZ UDPGothic" pitchFamily="34" charset="-122"/>
                <a:cs typeface="BIZ UDPGothic" pitchFamily="34" charset="-120"/>
              </a:rPr>
              <a:t>しかし、株式の評価額が高くても、相続人の手元に現金が入るわけではありません。会社の「所有権」が移るだけです。</a:t>
            </a:r>
            <a:endParaRPr lang="en-US" sz="1300" dirty="0"/>
          </a:p>
        </p:txBody>
      </p:sp>
      <p:sp>
        <p:nvSpPr>
          <p:cNvPr id="10" name="Text 7"/>
          <p:cNvSpPr/>
          <p:nvPr/>
        </p:nvSpPr>
        <p:spPr>
          <a:xfrm>
            <a:off x="640080" y="3840480"/>
            <a:ext cx="10881360" cy="365760"/>
          </a:xfrm>
          <a:prstGeom prst="rect">
            <a:avLst/>
          </a:prstGeom>
          <a:noFill/>
          <a:ln/>
        </p:spPr>
        <p:txBody>
          <a:bodyPr wrap="square" lIns="0" tIns="0" rIns="0" bIns="0" rtlCol="0" anchor="ctr"/>
          <a:lstStyle/>
          <a:p>
            <a:pPr indent="0" marL="0">
              <a:buNone/>
            </a:pPr>
            <a:r>
              <a:rPr lang="en-US" sz="1500" b="1" dirty="0">
                <a:solidFill>
                  <a:srgbClr val="C8161D"/>
                </a:solidFill>
                <a:latin typeface="Arial" pitchFamily="34" charset="0"/>
                <a:ea typeface="BIZ UDPGothic" pitchFamily="34" charset="-122"/>
                <a:cs typeface="BIZ UDPGothic" pitchFamily="34" charset="-120"/>
              </a:rPr>
              <a:t>結果として、何が起きるか？</a:t>
            </a:r>
            <a:endParaRPr lang="en-US" sz="1500" dirty="0"/>
          </a:p>
        </p:txBody>
      </p:sp>
      <p:sp>
        <p:nvSpPr>
          <p:cNvPr id="11" name="Text 8"/>
          <p:cNvSpPr/>
          <p:nvPr/>
        </p:nvSpPr>
        <p:spPr>
          <a:xfrm>
            <a:off x="822960" y="4251960"/>
            <a:ext cx="10058400" cy="1097280"/>
          </a:xfrm>
          <a:prstGeom prst="rect">
            <a:avLst/>
          </a:prstGeom>
          <a:noFill/>
          <a:ln/>
        </p:spPr>
        <p:txBody>
          <a:bodyPr wrap="square" lIns="0" tIns="0" rIns="0" bIns="0" rtlCol="0" anchor="ctr"/>
          <a:lstStyle/>
          <a:p>
            <a:pPr marL="342900" indent="-342900">
              <a:lnSpc>
                <a:spcPct val="135000"/>
              </a:lnSpc>
              <a:buSzPct val="100000"/>
              <a:buChar char="•"/>
            </a:pPr>
            <a:r>
              <a:rPr lang="en-US" sz="1350" dirty="0">
                <a:solidFill>
                  <a:srgbClr val="2B2F36"/>
                </a:solidFill>
                <a:latin typeface="Arial" pitchFamily="34" charset="0"/>
                <a:ea typeface="BIZ UDPGothic" pitchFamily="34" charset="-122"/>
                <a:cs typeface="BIZ UDPGothic" pitchFamily="34" charset="-120"/>
              </a:rPr>
              <a:t>納税のために自社の株式を売却する</a:t>
            </a:r>
            <a:endParaRPr lang="en-US" sz="1350" dirty="0"/>
          </a:p>
          <a:p>
            <a:pPr marL="342900" indent="-342900">
              <a:lnSpc>
                <a:spcPct val="135000"/>
              </a:lnSpc>
              <a:buSzPct val="100000"/>
              <a:buChar char="•"/>
            </a:pPr>
            <a:r>
              <a:rPr lang="en-US" sz="1350" dirty="0">
                <a:solidFill>
                  <a:srgbClr val="2B2F36"/>
                </a:solidFill>
                <a:latin typeface="Arial" pitchFamily="34" charset="0"/>
                <a:ea typeface="BIZ UDPGothic" pitchFamily="34" charset="-122"/>
                <a:cs typeface="BIZ UDPGothic" pitchFamily="34" charset="-120"/>
              </a:rPr>
              <a:t>会社を解散させる</a:t>
            </a:r>
            <a:endParaRPr lang="en-US" sz="1350" dirty="0"/>
          </a:p>
          <a:p>
            <a:pPr marL="342900" indent="-342900">
              <a:lnSpc>
                <a:spcPct val="135000"/>
              </a:lnSpc>
              <a:buSzPct val="100000"/>
              <a:buChar char="•"/>
            </a:pPr>
            <a:r>
              <a:rPr lang="en-US" sz="1350" dirty="0">
                <a:solidFill>
                  <a:srgbClr val="2B2F36"/>
                </a:solidFill>
                <a:latin typeface="Arial" pitchFamily="34" charset="0"/>
                <a:ea typeface="BIZ UDPGothic" pitchFamily="34" charset="-122"/>
                <a:cs typeface="BIZ UDPGothic" pitchFamily="34" charset="-120"/>
              </a:rPr>
              <a:t>銀行から借金をして納税する</a:t>
            </a:r>
            <a:endParaRPr lang="en-US" sz="1350" dirty="0"/>
          </a:p>
        </p:txBody>
      </p:sp>
      <p:sp>
        <p:nvSpPr>
          <p:cNvPr id="12" name="Text 9"/>
          <p:cNvSpPr/>
          <p:nvPr/>
        </p:nvSpPr>
        <p:spPr>
          <a:xfrm>
            <a:off x="640080" y="5349240"/>
            <a:ext cx="10881360" cy="365760"/>
          </a:xfrm>
          <a:prstGeom prst="rect">
            <a:avLst/>
          </a:prstGeom>
          <a:noFill/>
          <a:ln/>
        </p:spPr>
        <p:txBody>
          <a:bodyPr wrap="square" lIns="0" tIns="0" rIns="0" bIns="0" rtlCol="0" anchor="ctr"/>
          <a:lstStyle/>
          <a:p>
            <a:pPr indent="0" marL="0">
              <a:buNone/>
            </a:pPr>
            <a:r>
              <a:rPr lang="en-US" sz="1250" i="1" dirty="0">
                <a:solidFill>
                  <a:srgbClr val="C8161D"/>
                </a:solidFill>
                <a:latin typeface="Arial" pitchFamily="34" charset="0"/>
                <a:ea typeface="BIZ UDPGothic" pitchFamily="34" charset="-122"/>
                <a:cs typeface="BIZ UDPGothic" pitchFamily="34" charset="-120"/>
              </a:rPr>
              <a:t>せっかく育った会社が、創業者の死をきっかけに壊れてしまう ── これが現実です。</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640080" y="411480"/>
            <a:ext cx="10881360" cy="365760"/>
          </a:xfrm>
          <a:prstGeom prst="rect">
            <a:avLst/>
          </a:prstGeom>
          <a:noFill/>
          <a:ln/>
        </p:spPr>
        <p:txBody>
          <a:bodyPr wrap="square" lIns="0" tIns="0" rIns="0" bIns="0" rtlCol="0" anchor="ctr"/>
          <a:lstStyle/>
          <a:p>
            <a:pPr indent="0" marL="0">
              <a:buNone/>
            </a:pPr>
            <a:r>
              <a:rPr lang="en-US" sz="1200" b="1" spc="300" kern="0" dirty="0">
                <a:solidFill>
                  <a:srgbClr val="C8161D"/>
                </a:solidFill>
                <a:latin typeface="Arial" pitchFamily="34" charset="0"/>
                <a:ea typeface="BIZ UDPGothic" pitchFamily="34" charset="-122"/>
                <a:cs typeface="BIZ UDPGothic" pitchFamily="34" charset="-120"/>
              </a:rPr>
              <a:t>用語解説</a:t>
            </a:r>
            <a:endParaRPr lang="en-US" sz="1200" dirty="0"/>
          </a:p>
        </p:txBody>
      </p:sp>
      <p:sp>
        <p:nvSpPr>
          <p:cNvPr id="3" name="Text 1"/>
          <p:cNvSpPr/>
          <p:nvPr/>
        </p:nvSpPr>
        <p:spPr>
          <a:xfrm>
            <a:off x="640080" y="777240"/>
            <a:ext cx="10881360" cy="1005840"/>
          </a:xfrm>
          <a:prstGeom prst="rect">
            <a:avLst/>
          </a:prstGeom>
          <a:noFill/>
          <a:ln/>
        </p:spPr>
        <p:txBody>
          <a:bodyPr wrap="square" lIns="0" tIns="0" rIns="0" bIns="0" rtlCol="0" anchor="ctr"/>
          <a:lstStyle/>
          <a:p>
            <a:pPr indent="0" marL="0">
              <a:buNone/>
            </a:pPr>
            <a:r>
              <a:rPr lang="en-US" sz="3000" b="1" dirty="0">
                <a:solidFill>
                  <a:srgbClr val="16181D"/>
                </a:solidFill>
                <a:latin typeface="Arial" pitchFamily="34" charset="0"/>
                <a:ea typeface="BIZ UDPGothic" pitchFamily="34" charset="-122"/>
                <a:cs typeface="BIZ UDPGothic" pitchFamily="34" charset="-120"/>
              </a:rPr>
              <a:t>今ある「救済制度」は、実は不安定</a:t>
            </a:r>
            <a:endParaRPr lang="en-US" sz="3000" dirty="0"/>
          </a:p>
        </p:txBody>
      </p:sp>
      <p:sp>
        <p:nvSpPr>
          <p:cNvPr id="4" name="Text 2"/>
          <p:cNvSpPr/>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2B2F36"/>
                </a:solidFill>
                <a:latin typeface="Arial" pitchFamily="34" charset="0"/>
                <a:ea typeface="BIZ UDPGothic" pitchFamily="34" charset="-122"/>
                <a:cs typeface="BIZ UDPGothic" pitchFamily="34" charset="-120"/>
              </a:rPr>
              <a:t>09</a:t>
            </a:r>
            <a:endParaRPr lang="en-US" sz="1000" dirty="0"/>
          </a:p>
        </p:txBody>
      </p:sp>
      <p:sp>
        <p:nvSpPr>
          <p:cNvPr id="5" name="Text 3"/>
          <p:cNvSpPr/>
          <p:nvPr/>
        </p:nvSpPr>
        <p:spPr>
          <a:xfrm>
            <a:off x="640080" y="6446520"/>
            <a:ext cx="5486400" cy="320040"/>
          </a:xfrm>
          <a:prstGeom prst="rect">
            <a:avLst/>
          </a:prstGeom>
          <a:noFill/>
          <a:ln/>
        </p:spPr>
        <p:txBody>
          <a:bodyPr wrap="square" lIns="0" tIns="0" rIns="0" bIns="0" rtlCol="0" anchor="ctr"/>
          <a:lstStyle/>
          <a:p>
            <a:pPr indent="0" marL="0">
              <a:buNone/>
            </a:pPr>
            <a:r>
              <a:rPr lang="en-US" sz="900" dirty="0">
                <a:solidFill>
                  <a:srgbClr val="9AA0AA"/>
                </a:solidFill>
                <a:latin typeface="Arial" pitchFamily="34" charset="0"/>
                <a:ea typeface="BIZ UDPGothic" pitchFamily="34" charset="-122"/>
                <a:cs typeface="BIZ UDPGothic" pitchFamily="34" charset="-120"/>
              </a:rPr>
              <a:t>REBOOT JAPAN ── 提言004</a:t>
            </a:r>
            <a:endParaRPr lang="en-US" sz="900" dirty="0"/>
          </a:p>
        </p:txBody>
      </p:sp>
      <p:sp>
        <p:nvSpPr>
          <p:cNvPr id="6" name="Text 4"/>
          <p:cNvSpPr/>
          <p:nvPr/>
        </p:nvSpPr>
        <p:spPr>
          <a:xfrm>
            <a:off x="640080" y="1691640"/>
            <a:ext cx="10881360" cy="548640"/>
          </a:xfrm>
          <a:prstGeom prst="rect">
            <a:avLst/>
          </a:prstGeom>
          <a:noFill/>
          <a:ln/>
        </p:spPr>
        <p:txBody>
          <a:bodyPr wrap="square" lIns="0" tIns="0" rIns="0" bIns="0" rtlCol="0" anchor="ctr"/>
          <a:lstStyle/>
          <a:p>
            <a:pPr indent="0" marL="0">
              <a:lnSpc>
                <a:spcPct val="130000"/>
              </a:lnSpc>
              <a:buNone/>
            </a:pPr>
            <a:r>
              <a:rPr lang="en-US" sz="1350" dirty="0">
                <a:solidFill>
                  <a:srgbClr val="2B2F36"/>
                </a:solidFill>
                <a:latin typeface="Arial" pitchFamily="34" charset="0"/>
                <a:ea typeface="BIZ UDPGothic" pitchFamily="34" charset="-122"/>
                <a:cs typeface="BIZ UDPGothic" pitchFamily="34" charset="-120"/>
              </a:rPr>
              <a:t>実は今も「事業承継税制（特例措置）」という、自社株式の相続税を100%猶予する制度はあります。でも、これには大きな弱点があります。</a:t>
            </a:r>
            <a:endParaRPr lang="en-US" sz="1350" dirty="0"/>
          </a:p>
        </p:txBody>
      </p:sp>
      <p:sp>
        <p:nvSpPr>
          <p:cNvPr id="7" name="Shape 5"/>
          <p:cNvSpPr/>
          <p:nvPr/>
        </p:nvSpPr>
        <p:spPr>
          <a:xfrm>
            <a:off x="640080" y="2377440"/>
            <a:ext cx="10881360" cy="658368"/>
          </a:xfrm>
          <a:prstGeom prst="roundRect">
            <a:avLst>
              <a:gd name="adj" fmla="val 6944"/>
            </a:avLst>
          </a:prstGeom>
          <a:solidFill>
            <a:srgbClr val="FFFFFF"/>
          </a:solidFill>
          <a:ln w="12700">
            <a:solidFill>
              <a:srgbClr val="DDE0E6"/>
            </a:solidFill>
            <a:prstDash val="solid"/>
          </a:ln>
        </p:spPr>
      </p:sp>
      <p:sp>
        <p:nvSpPr>
          <p:cNvPr id="8" name="Text 6"/>
          <p:cNvSpPr/>
          <p:nvPr/>
        </p:nvSpPr>
        <p:spPr>
          <a:xfrm>
            <a:off x="914400" y="2377440"/>
            <a:ext cx="3108960" cy="658368"/>
          </a:xfrm>
          <a:prstGeom prst="rect">
            <a:avLst/>
          </a:prstGeom>
          <a:noFill/>
          <a:ln/>
        </p:spPr>
        <p:txBody>
          <a:bodyPr wrap="square" lIns="0" tIns="0" rIns="0" bIns="0" rtlCol="0" anchor="ctr"/>
          <a:lstStyle/>
          <a:p>
            <a:pPr indent="0" marL="0">
              <a:buNone/>
            </a:pPr>
            <a:r>
              <a:rPr lang="en-US" sz="1250" b="1" dirty="0">
                <a:solidFill>
                  <a:srgbClr val="C8161D"/>
                </a:solidFill>
                <a:latin typeface="Arial" pitchFamily="34" charset="0"/>
                <a:ea typeface="BIZ UDPGothic" pitchFamily="34" charset="-122"/>
                <a:cs typeface="BIZ UDPGothic" pitchFamily="34" charset="-120"/>
              </a:rPr>
              <a:t>猶予であって免除ではない</a:t>
            </a:r>
            <a:endParaRPr lang="en-US" sz="1250" dirty="0"/>
          </a:p>
        </p:txBody>
      </p:sp>
      <p:sp>
        <p:nvSpPr>
          <p:cNvPr id="9" name="Text 7"/>
          <p:cNvSpPr/>
          <p:nvPr/>
        </p:nvSpPr>
        <p:spPr>
          <a:xfrm>
            <a:off x="4206240" y="2377440"/>
            <a:ext cx="7132320" cy="658368"/>
          </a:xfrm>
          <a:prstGeom prst="rect">
            <a:avLst/>
          </a:prstGeom>
          <a:noFill/>
          <a:ln/>
        </p:spPr>
        <p:txBody>
          <a:bodyPr wrap="square" lIns="0" tIns="0" rIns="0" bIns="0" rtlCol="0" anchor="ctr"/>
          <a:lstStyle/>
          <a:p>
            <a:pPr indent="0" marL="0">
              <a:buNone/>
            </a:pPr>
            <a:r>
              <a:rPr lang="en-US" sz="1200" dirty="0">
                <a:solidFill>
                  <a:srgbClr val="2B2F36"/>
                </a:solidFill>
                <a:latin typeface="Arial" pitchFamily="34" charset="0"/>
                <a:ea typeface="BIZ UDPGothic" pitchFamily="34" charset="-122"/>
                <a:cs typeface="BIZ UDPGothic" pitchFamily="34" charset="-120"/>
              </a:rPr>
              <a:t>次の後継者へ引き継ぐまでは「先送り」されているだけ</a:t>
            </a:r>
            <a:endParaRPr lang="en-US" sz="1200" dirty="0"/>
          </a:p>
        </p:txBody>
      </p:sp>
      <p:sp>
        <p:nvSpPr>
          <p:cNvPr id="10" name="Shape 8"/>
          <p:cNvSpPr/>
          <p:nvPr/>
        </p:nvSpPr>
        <p:spPr>
          <a:xfrm>
            <a:off x="640080" y="3127248"/>
            <a:ext cx="10881360" cy="658368"/>
          </a:xfrm>
          <a:prstGeom prst="roundRect">
            <a:avLst>
              <a:gd name="adj" fmla="val 6944"/>
            </a:avLst>
          </a:prstGeom>
          <a:solidFill>
            <a:srgbClr val="FFFFFF"/>
          </a:solidFill>
          <a:ln w="12700">
            <a:solidFill>
              <a:srgbClr val="DDE0E6"/>
            </a:solidFill>
            <a:prstDash val="solid"/>
          </a:ln>
        </p:spPr>
      </p:sp>
      <p:sp>
        <p:nvSpPr>
          <p:cNvPr id="11" name="Text 9"/>
          <p:cNvSpPr/>
          <p:nvPr/>
        </p:nvSpPr>
        <p:spPr>
          <a:xfrm>
            <a:off x="914400" y="3127248"/>
            <a:ext cx="3108960" cy="658368"/>
          </a:xfrm>
          <a:prstGeom prst="rect">
            <a:avLst/>
          </a:prstGeom>
          <a:noFill/>
          <a:ln/>
        </p:spPr>
        <p:txBody>
          <a:bodyPr wrap="square" lIns="0" tIns="0" rIns="0" bIns="0" rtlCol="0" anchor="ctr"/>
          <a:lstStyle/>
          <a:p>
            <a:pPr indent="0" marL="0">
              <a:buNone/>
            </a:pPr>
            <a:r>
              <a:rPr lang="en-US" sz="1250" b="1" dirty="0">
                <a:solidFill>
                  <a:srgbClr val="C8161D"/>
                </a:solidFill>
                <a:latin typeface="Arial" pitchFamily="34" charset="0"/>
                <a:ea typeface="BIZ UDPGothic" pitchFamily="34" charset="-122"/>
                <a:cs typeface="BIZ UDPGothic" pitchFamily="34" charset="-120"/>
              </a:rPr>
              <a:t>期限付きの制度</a:t>
            </a:r>
            <a:endParaRPr lang="en-US" sz="1250" dirty="0"/>
          </a:p>
        </p:txBody>
      </p:sp>
      <p:sp>
        <p:nvSpPr>
          <p:cNvPr id="12" name="Text 10"/>
          <p:cNvSpPr/>
          <p:nvPr/>
        </p:nvSpPr>
        <p:spPr>
          <a:xfrm>
            <a:off x="4206240" y="3127248"/>
            <a:ext cx="7132320" cy="658368"/>
          </a:xfrm>
          <a:prstGeom prst="rect">
            <a:avLst/>
          </a:prstGeom>
          <a:noFill/>
          <a:ln/>
        </p:spPr>
        <p:txBody>
          <a:bodyPr wrap="square" lIns="0" tIns="0" rIns="0" bIns="0" rtlCol="0" anchor="ctr"/>
          <a:lstStyle/>
          <a:p>
            <a:pPr indent="0" marL="0">
              <a:buNone/>
            </a:pPr>
            <a:r>
              <a:rPr lang="en-US" sz="1200" dirty="0">
                <a:solidFill>
                  <a:srgbClr val="2B2F36"/>
                </a:solidFill>
                <a:latin typeface="Arial" pitchFamily="34" charset="0"/>
                <a:ea typeface="BIZ UDPGothic" pitchFamily="34" charset="-122"/>
                <a:cs typeface="BIZ UDPGothic" pitchFamily="34" charset="-120"/>
              </a:rPr>
              <a:t>申請期限は令和9年9月末まで。延長されない見込み</a:t>
            </a:r>
            <a:endParaRPr lang="en-US" sz="1200" dirty="0"/>
          </a:p>
        </p:txBody>
      </p:sp>
      <p:sp>
        <p:nvSpPr>
          <p:cNvPr id="13" name="Shape 11"/>
          <p:cNvSpPr/>
          <p:nvPr/>
        </p:nvSpPr>
        <p:spPr>
          <a:xfrm>
            <a:off x="640080" y="3877056"/>
            <a:ext cx="10881360" cy="658368"/>
          </a:xfrm>
          <a:prstGeom prst="roundRect">
            <a:avLst>
              <a:gd name="adj" fmla="val 6944"/>
            </a:avLst>
          </a:prstGeom>
          <a:solidFill>
            <a:srgbClr val="FFFFFF"/>
          </a:solidFill>
          <a:ln w="12700">
            <a:solidFill>
              <a:srgbClr val="DDE0E6"/>
            </a:solidFill>
            <a:prstDash val="solid"/>
          </a:ln>
        </p:spPr>
      </p:sp>
      <p:sp>
        <p:nvSpPr>
          <p:cNvPr id="14" name="Text 12"/>
          <p:cNvSpPr/>
          <p:nvPr/>
        </p:nvSpPr>
        <p:spPr>
          <a:xfrm>
            <a:off x="914400" y="3877056"/>
            <a:ext cx="3108960" cy="658368"/>
          </a:xfrm>
          <a:prstGeom prst="rect">
            <a:avLst/>
          </a:prstGeom>
          <a:noFill/>
          <a:ln/>
        </p:spPr>
        <p:txBody>
          <a:bodyPr wrap="square" lIns="0" tIns="0" rIns="0" bIns="0" rtlCol="0" anchor="ctr"/>
          <a:lstStyle/>
          <a:p>
            <a:pPr indent="0" marL="0">
              <a:buNone/>
            </a:pPr>
            <a:r>
              <a:rPr lang="en-US" sz="1250" b="1" dirty="0">
                <a:solidFill>
                  <a:srgbClr val="C8161D"/>
                </a:solidFill>
                <a:latin typeface="Arial" pitchFamily="34" charset="0"/>
                <a:ea typeface="BIZ UDPGothic" pitchFamily="34" charset="-122"/>
                <a:cs typeface="BIZ UDPGothic" pitchFamily="34" charset="-120"/>
              </a:rPr>
              <a:t>重い継続条件</a:t>
            </a:r>
            <a:endParaRPr lang="en-US" sz="1250" dirty="0"/>
          </a:p>
        </p:txBody>
      </p:sp>
      <p:sp>
        <p:nvSpPr>
          <p:cNvPr id="15" name="Text 13"/>
          <p:cNvSpPr/>
          <p:nvPr/>
        </p:nvSpPr>
        <p:spPr>
          <a:xfrm>
            <a:off x="4206240" y="3877056"/>
            <a:ext cx="7132320" cy="658368"/>
          </a:xfrm>
          <a:prstGeom prst="rect">
            <a:avLst/>
          </a:prstGeom>
          <a:noFill/>
          <a:ln/>
        </p:spPr>
        <p:txBody>
          <a:bodyPr wrap="square" lIns="0" tIns="0" rIns="0" bIns="0" rtlCol="0" anchor="ctr"/>
          <a:lstStyle/>
          <a:p>
            <a:pPr indent="0" marL="0">
              <a:buNone/>
            </a:pPr>
            <a:r>
              <a:rPr lang="en-US" sz="1200" dirty="0">
                <a:solidFill>
                  <a:srgbClr val="2B2F36"/>
                </a:solidFill>
                <a:latin typeface="Arial" pitchFamily="34" charset="0"/>
                <a:ea typeface="BIZ UDPGothic" pitchFamily="34" charset="-122"/>
                <a:cs typeface="BIZ UDPGothic" pitchFamily="34" charset="-120"/>
              </a:rPr>
              <a:t>申告から5年間、代表者として経営を続ける必要がある</a:t>
            </a:r>
            <a:endParaRPr lang="en-US" sz="1200" dirty="0"/>
          </a:p>
        </p:txBody>
      </p:sp>
      <p:sp>
        <p:nvSpPr>
          <p:cNvPr id="16" name="Shape 14"/>
          <p:cNvSpPr/>
          <p:nvPr/>
        </p:nvSpPr>
        <p:spPr>
          <a:xfrm>
            <a:off x="640080" y="4626864"/>
            <a:ext cx="10881360" cy="658368"/>
          </a:xfrm>
          <a:prstGeom prst="roundRect">
            <a:avLst>
              <a:gd name="adj" fmla="val 6944"/>
            </a:avLst>
          </a:prstGeom>
          <a:solidFill>
            <a:srgbClr val="FFFFFF"/>
          </a:solidFill>
          <a:ln w="12700">
            <a:solidFill>
              <a:srgbClr val="DDE0E6"/>
            </a:solidFill>
            <a:prstDash val="solid"/>
          </a:ln>
        </p:spPr>
      </p:sp>
      <p:sp>
        <p:nvSpPr>
          <p:cNvPr id="17" name="Text 15"/>
          <p:cNvSpPr/>
          <p:nvPr/>
        </p:nvSpPr>
        <p:spPr>
          <a:xfrm>
            <a:off x="914400" y="4626864"/>
            <a:ext cx="3108960" cy="658368"/>
          </a:xfrm>
          <a:prstGeom prst="rect">
            <a:avLst/>
          </a:prstGeom>
          <a:noFill/>
          <a:ln/>
        </p:spPr>
        <p:txBody>
          <a:bodyPr wrap="square" lIns="0" tIns="0" rIns="0" bIns="0" rtlCol="0" anchor="ctr"/>
          <a:lstStyle/>
          <a:p>
            <a:pPr indent="0" marL="0">
              <a:buNone/>
            </a:pPr>
            <a:r>
              <a:rPr lang="en-US" sz="1250" b="1" dirty="0">
                <a:solidFill>
                  <a:srgbClr val="C8161D"/>
                </a:solidFill>
                <a:latin typeface="Arial" pitchFamily="34" charset="0"/>
                <a:ea typeface="BIZ UDPGothic" pitchFamily="34" charset="-122"/>
                <a:cs typeface="BIZ UDPGothic" pitchFamily="34" charset="-120"/>
              </a:rPr>
              <a:t>取り消されると一括請求</a:t>
            </a:r>
            <a:endParaRPr lang="en-US" sz="1250" dirty="0"/>
          </a:p>
        </p:txBody>
      </p:sp>
      <p:sp>
        <p:nvSpPr>
          <p:cNvPr id="18" name="Text 16"/>
          <p:cNvSpPr/>
          <p:nvPr/>
        </p:nvSpPr>
        <p:spPr>
          <a:xfrm>
            <a:off x="4206240" y="4626864"/>
            <a:ext cx="7132320" cy="658368"/>
          </a:xfrm>
          <a:prstGeom prst="rect">
            <a:avLst/>
          </a:prstGeom>
          <a:noFill/>
          <a:ln/>
        </p:spPr>
        <p:txBody>
          <a:bodyPr wrap="square" lIns="0" tIns="0" rIns="0" bIns="0" rtlCol="0" anchor="ctr"/>
          <a:lstStyle/>
          <a:p>
            <a:pPr indent="0" marL="0">
              <a:buNone/>
            </a:pPr>
            <a:r>
              <a:rPr lang="en-US" sz="1200" dirty="0">
                <a:solidFill>
                  <a:srgbClr val="2B2F36"/>
                </a:solidFill>
                <a:latin typeface="Arial" pitchFamily="34" charset="0"/>
                <a:ea typeface="BIZ UDPGothic" pitchFamily="34" charset="-122"/>
                <a:cs typeface="BIZ UDPGothic" pitchFamily="34" charset="-120"/>
              </a:rPr>
              <a:t>条件を破ると、猶予されていた税金＋利息（10年で約4%）が一気に請求される</a:t>
            </a:r>
            <a:endParaRPr lang="en-US" sz="1200" dirty="0"/>
          </a:p>
        </p:txBody>
      </p:sp>
      <p:sp>
        <p:nvSpPr>
          <p:cNvPr id="19" name="Shape 17"/>
          <p:cNvSpPr/>
          <p:nvPr/>
        </p:nvSpPr>
        <p:spPr>
          <a:xfrm>
            <a:off x="640080" y="5376672"/>
            <a:ext cx="10881360" cy="658368"/>
          </a:xfrm>
          <a:prstGeom prst="roundRect">
            <a:avLst>
              <a:gd name="adj" fmla="val 6944"/>
            </a:avLst>
          </a:prstGeom>
          <a:solidFill>
            <a:srgbClr val="FFFFFF"/>
          </a:solidFill>
          <a:ln w="12700">
            <a:solidFill>
              <a:srgbClr val="DDE0E6"/>
            </a:solidFill>
            <a:prstDash val="solid"/>
          </a:ln>
        </p:spPr>
      </p:sp>
      <p:sp>
        <p:nvSpPr>
          <p:cNvPr id="20" name="Text 18"/>
          <p:cNvSpPr/>
          <p:nvPr/>
        </p:nvSpPr>
        <p:spPr>
          <a:xfrm>
            <a:off x="914400" y="5376672"/>
            <a:ext cx="3108960" cy="658368"/>
          </a:xfrm>
          <a:prstGeom prst="rect">
            <a:avLst/>
          </a:prstGeom>
          <a:noFill/>
          <a:ln/>
        </p:spPr>
        <p:txBody>
          <a:bodyPr wrap="square" lIns="0" tIns="0" rIns="0" bIns="0" rtlCol="0" anchor="ctr"/>
          <a:lstStyle/>
          <a:p>
            <a:pPr indent="0" marL="0">
              <a:buNone/>
            </a:pPr>
            <a:r>
              <a:rPr lang="en-US" sz="1250" b="1" dirty="0">
                <a:solidFill>
                  <a:srgbClr val="C8161D"/>
                </a:solidFill>
                <a:latin typeface="Arial" pitchFamily="34" charset="0"/>
                <a:ea typeface="BIZ UDPGothic" pitchFamily="34" charset="-122"/>
                <a:cs typeface="BIZ UDPGothic" pitchFamily="34" charset="-120"/>
              </a:rPr>
              <a:t>手続きが複雑</a:t>
            </a:r>
            <a:endParaRPr lang="en-US" sz="1250" dirty="0"/>
          </a:p>
        </p:txBody>
      </p:sp>
      <p:sp>
        <p:nvSpPr>
          <p:cNvPr id="21" name="Text 19"/>
          <p:cNvSpPr/>
          <p:nvPr/>
        </p:nvSpPr>
        <p:spPr>
          <a:xfrm>
            <a:off x="4206240" y="5376672"/>
            <a:ext cx="7132320" cy="658368"/>
          </a:xfrm>
          <a:prstGeom prst="rect">
            <a:avLst/>
          </a:prstGeom>
          <a:noFill/>
          <a:ln/>
        </p:spPr>
        <p:txBody>
          <a:bodyPr wrap="square" lIns="0" tIns="0" rIns="0" bIns="0" rtlCol="0" anchor="ctr"/>
          <a:lstStyle/>
          <a:p>
            <a:pPr indent="0" marL="0">
              <a:buNone/>
            </a:pPr>
            <a:r>
              <a:rPr lang="en-US" sz="1200" dirty="0">
                <a:solidFill>
                  <a:srgbClr val="2B2F36"/>
                </a:solidFill>
                <a:latin typeface="Arial" pitchFamily="34" charset="0"/>
                <a:ea typeface="BIZ UDPGothic" pitchFamily="34" charset="-122"/>
                <a:cs typeface="BIZ UDPGothic" pitchFamily="34" charset="-120"/>
              </a:rPr>
              <a:t>税理士などへの依頼が必須。年間20〜50万円ほどのコストがかかる</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640080" y="411480"/>
            <a:ext cx="10881360" cy="365760"/>
          </a:xfrm>
          <a:prstGeom prst="rect">
            <a:avLst/>
          </a:prstGeom>
          <a:noFill/>
          <a:ln/>
        </p:spPr>
        <p:txBody>
          <a:bodyPr wrap="square" lIns="0" tIns="0" rIns="0" bIns="0" rtlCol="0" anchor="ctr"/>
          <a:lstStyle/>
          <a:p>
            <a:pPr indent="0" marL="0">
              <a:buNone/>
            </a:pPr>
            <a:r>
              <a:rPr lang="en-US" sz="1200" b="1" spc="300" kern="0" dirty="0">
                <a:solidFill>
                  <a:srgbClr val="C8161D"/>
                </a:solidFill>
                <a:latin typeface="Arial" pitchFamily="34" charset="0"/>
                <a:ea typeface="BIZ UDPGothic" pitchFamily="34" charset="-122"/>
                <a:cs typeface="BIZ UDPGothic" pitchFamily="34" charset="-120"/>
              </a:rPr>
              <a:t>2. 本当のデータはどうか</a:t>
            </a:r>
            <a:endParaRPr lang="en-US" sz="1200" dirty="0"/>
          </a:p>
        </p:txBody>
      </p:sp>
      <p:sp>
        <p:nvSpPr>
          <p:cNvPr id="3" name="Text 1"/>
          <p:cNvSpPr/>
          <p:nvPr/>
        </p:nvSpPr>
        <p:spPr>
          <a:xfrm>
            <a:off x="640080" y="777240"/>
            <a:ext cx="10881360" cy="1005840"/>
          </a:xfrm>
          <a:prstGeom prst="rect">
            <a:avLst/>
          </a:prstGeom>
          <a:noFill/>
          <a:ln/>
        </p:spPr>
        <p:txBody>
          <a:bodyPr wrap="square" lIns="0" tIns="0" rIns="0" bIns="0" rtlCol="0" anchor="ctr"/>
          <a:lstStyle/>
          <a:p>
            <a:pPr indent="0" marL="0">
              <a:buNone/>
            </a:pPr>
            <a:r>
              <a:rPr lang="en-US" sz="3000" b="1" dirty="0">
                <a:solidFill>
                  <a:srgbClr val="16181D"/>
                </a:solidFill>
                <a:latin typeface="Arial" pitchFamily="34" charset="0"/>
                <a:ea typeface="BIZ UDPGothic" pitchFamily="34" charset="-122"/>
                <a:cs typeface="BIZ UDPGothic" pitchFamily="34" charset="-120"/>
              </a:rPr>
              <a:t>実は、相続税がかかるのは「10人に1人」</a:t>
            </a:r>
            <a:endParaRPr lang="en-US" sz="3000" dirty="0"/>
          </a:p>
        </p:txBody>
      </p:sp>
      <p:sp>
        <p:nvSpPr>
          <p:cNvPr id="4" name="Text 2"/>
          <p:cNvSpPr/>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2B2F36"/>
                </a:solidFill>
                <a:latin typeface="Arial" pitchFamily="34" charset="0"/>
                <a:ea typeface="BIZ UDPGothic" pitchFamily="34" charset="-122"/>
                <a:cs typeface="BIZ UDPGothic" pitchFamily="34" charset="-120"/>
              </a:rPr>
              <a:t>10</a:t>
            </a:r>
            <a:endParaRPr lang="en-US" sz="1000" dirty="0"/>
          </a:p>
        </p:txBody>
      </p:sp>
      <p:sp>
        <p:nvSpPr>
          <p:cNvPr id="5" name="Text 3"/>
          <p:cNvSpPr/>
          <p:nvPr/>
        </p:nvSpPr>
        <p:spPr>
          <a:xfrm>
            <a:off x="640080" y="6446520"/>
            <a:ext cx="5486400" cy="320040"/>
          </a:xfrm>
          <a:prstGeom prst="rect">
            <a:avLst/>
          </a:prstGeom>
          <a:noFill/>
          <a:ln/>
        </p:spPr>
        <p:txBody>
          <a:bodyPr wrap="square" lIns="0" tIns="0" rIns="0" bIns="0" rtlCol="0" anchor="ctr"/>
          <a:lstStyle/>
          <a:p>
            <a:pPr indent="0" marL="0">
              <a:buNone/>
            </a:pPr>
            <a:r>
              <a:rPr lang="en-US" sz="900" dirty="0">
                <a:solidFill>
                  <a:srgbClr val="9AA0AA"/>
                </a:solidFill>
                <a:latin typeface="Arial" pitchFamily="34" charset="0"/>
                <a:ea typeface="BIZ UDPGothic" pitchFamily="34" charset="-122"/>
                <a:cs typeface="BIZ UDPGothic" pitchFamily="34" charset="-120"/>
              </a:rPr>
              <a:t>REBOOT JAPAN ── 提言004</a:t>
            </a:r>
            <a:endParaRPr lang="en-US" sz="900" dirty="0"/>
          </a:p>
        </p:txBody>
      </p:sp>
      <p:sp>
        <p:nvSpPr>
          <p:cNvPr id="6" name="Text 4"/>
          <p:cNvSpPr/>
          <p:nvPr/>
        </p:nvSpPr>
        <p:spPr>
          <a:xfrm>
            <a:off x="640080" y="1508760"/>
            <a:ext cx="7315200" cy="365760"/>
          </a:xfrm>
          <a:prstGeom prst="rect">
            <a:avLst/>
          </a:prstGeom>
          <a:noFill/>
          <a:ln/>
        </p:spPr>
        <p:txBody>
          <a:bodyPr wrap="square" lIns="0" tIns="0" rIns="0" bIns="0" rtlCol="0" anchor="ctr"/>
          <a:lstStyle/>
          <a:p>
            <a:pPr indent="0" marL="0">
              <a:buNone/>
            </a:pPr>
            <a:r>
              <a:rPr lang="en-US" sz="1200" dirty="0">
                <a:solidFill>
                  <a:srgbClr val="626875"/>
                </a:solidFill>
                <a:latin typeface="Arial" pitchFamily="34" charset="0"/>
                <a:ea typeface="BIZ UDPGothic" pitchFamily="34" charset="-122"/>
                <a:cs typeface="BIZ UDPGothic" pitchFamily="34" charset="-120"/>
              </a:rPr>
              <a:t>令和5年・国税庁のデータより</a:t>
            </a:r>
            <a:endParaRPr lang="en-US" sz="1200" dirty="0"/>
          </a:p>
        </p:txBody>
      </p:sp>
      <p:sp>
        <p:nvSpPr>
          <p:cNvPr id="7" name="Shape 5"/>
          <p:cNvSpPr/>
          <p:nvPr/>
        </p:nvSpPr>
        <p:spPr>
          <a:xfrm>
            <a:off x="1280160" y="2377440"/>
            <a:ext cx="3108960" cy="3108960"/>
          </a:xfrm>
          <a:prstGeom prst="ellipse">
            <a:avLst/>
          </a:prstGeom>
          <a:solidFill>
            <a:srgbClr val="FFFFFF"/>
          </a:solidFill>
          <a:ln/>
        </p:spPr>
      </p:sp>
      <p:sp>
        <p:nvSpPr>
          <p:cNvPr id="8" name="Shape 6"/>
          <p:cNvSpPr/>
          <p:nvPr/>
        </p:nvSpPr>
        <p:spPr>
          <a:xfrm>
            <a:off x="1280160" y="2377440"/>
            <a:ext cx="3108960" cy="3108960"/>
          </a:xfrm>
          <a:prstGeom prst="pie">
            <a:avLst>
              <a:gd name="adj1" fmla="val 16200000"/>
              <a:gd name="adj2" fmla="val 18338400"/>
            </a:avLst>
          </a:prstGeom>
          <a:solidFill>
            <a:srgbClr val="C8161D"/>
          </a:solidFill>
          <a:ln/>
        </p:spPr>
      </p:sp>
      <p:sp>
        <p:nvSpPr>
          <p:cNvPr id="9" name="Shape 7"/>
          <p:cNvSpPr/>
          <p:nvPr/>
        </p:nvSpPr>
        <p:spPr>
          <a:xfrm>
            <a:off x="1979676" y="3076956"/>
            <a:ext cx="1709928" cy="1709928"/>
          </a:xfrm>
          <a:prstGeom prst="ellipse">
            <a:avLst/>
          </a:prstGeom>
          <a:solidFill>
            <a:srgbClr val="F5F6F8"/>
          </a:solidFill>
          <a:ln/>
        </p:spPr>
      </p:sp>
      <p:sp>
        <p:nvSpPr>
          <p:cNvPr id="10" name="Text 8"/>
          <p:cNvSpPr/>
          <p:nvPr/>
        </p:nvSpPr>
        <p:spPr>
          <a:xfrm>
            <a:off x="1979676" y="3611880"/>
            <a:ext cx="1709928" cy="640080"/>
          </a:xfrm>
          <a:prstGeom prst="rect">
            <a:avLst/>
          </a:prstGeom>
          <a:noFill/>
          <a:ln/>
        </p:spPr>
        <p:txBody>
          <a:bodyPr wrap="square" lIns="0" tIns="0" rIns="0" bIns="0" rtlCol="0" anchor="ctr"/>
          <a:lstStyle/>
          <a:p>
            <a:pPr algn="ctr" indent="0" marL="0">
              <a:buNone/>
            </a:pPr>
            <a:r>
              <a:rPr lang="en-US" sz="2600" b="1" dirty="0">
                <a:solidFill>
                  <a:srgbClr val="C8161D"/>
                </a:solidFill>
                <a:latin typeface="Arial" pitchFamily="34" charset="0"/>
                <a:ea typeface="BIZ UDPGothic" pitchFamily="34" charset="-122"/>
                <a:cs typeface="BIZ UDPGothic" pitchFamily="34" charset="-120"/>
              </a:rPr>
              <a:t>9.9%</a:t>
            </a:r>
            <a:endParaRPr lang="en-US" sz="2600" dirty="0"/>
          </a:p>
        </p:txBody>
      </p:sp>
      <p:sp>
        <p:nvSpPr>
          <p:cNvPr id="11" name="Text 9"/>
          <p:cNvSpPr/>
          <p:nvPr/>
        </p:nvSpPr>
        <p:spPr>
          <a:xfrm>
            <a:off x="1979676" y="4114800"/>
            <a:ext cx="1709928" cy="365760"/>
          </a:xfrm>
          <a:prstGeom prst="rect">
            <a:avLst/>
          </a:prstGeom>
          <a:noFill/>
          <a:ln/>
        </p:spPr>
        <p:txBody>
          <a:bodyPr wrap="square" lIns="0" tIns="0" rIns="0" bIns="0" rtlCol="0" anchor="ctr"/>
          <a:lstStyle/>
          <a:p>
            <a:pPr algn="ctr" indent="0" marL="0">
              <a:buNone/>
            </a:pPr>
            <a:r>
              <a:rPr lang="en-US" sz="1050" dirty="0">
                <a:solidFill>
                  <a:srgbClr val="FFFFFF"/>
                </a:solidFill>
                <a:latin typeface="Arial" pitchFamily="34" charset="0"/>
                <a:ea typeface="BIZ UDPGothic" pitchFamily="34" charset="-122"/>
                <a:cs typeface="BIZ UDPGothic" pitchFamily="34" charset="-120"/>
              </a:rPr>
              <a:t>が課税対象</a:t>
            </a:r>
            <a:endParaRPr lang="en-US" sz="1050" dirty="0"/>
          </a:p>
        </p:txBody>
      </p:sp>
      <p:sp>
        <p:nvSpPr>
          <p:cNvPr id="12" name="Text 10"/>
          <p:cNvSpPr/>
          <p:nvPr/>
        </p:nvSpPr>
        <p:spPr>
          <a:xfrm>
            <a:off x="5212080" y="2468880"/>
            <a:ext cx="6400800" cy="1097280"/>
          </a:xfrm>
          <a:prstGeom prst="rect">
            <a:avLst/>
          </a:prstGeom>
          <a:noFill/>
          <a:ln/>
        </p:spPr>
        <p:txBody>
          <a:bodyPr wrap="square" lIns="0" tIns="0" rIns="0" bIns="0" rtlCol="0" anchor="ctr"/>
          <a:lstStyle/>
          <a:p>
            <a:pPr indent="0" marL="0">
              <a:lnSpc>
                <a:spcPct val="140000"/>
              </a:lnSpc>
              <a:buNone/>
            </a:pPr>
            <a:r>
              <a:rPr lang="en-US" sz="1500" b="1" dirty="0">
                <a:solidFill>
                  <a:srgbClr val="16181D"/>
                </a:solidFill>
                <a:latin typeface="Arial" pitchFamily="34" charset="0"/>
                <a:ea typeface="BIZ UDPGothic" pitchFamily="34" charset="-122"/>
                <a:cs typeface="BIZ UDPGothic" pitchFamily="34" charset="-120"/>
              </a:rPr>
              <a:t>亡くなった人のうち、相続税がかかるのは約9.9%。</a:t>
            </a:r>
            <a:endParaRPr lang="en-US" sz="1500" dirty="0"/>
          </a:p>
          <a:p>
            <a:pPr indent="0" marL="0">
              <a:lnSpc>
                <a:spcPct val="140000"/>
              </a:lnSpc>
              <a:buNone/>
            </a:pPr>
            <a:r>
              <a:rPr lang="en-US" sz="1500" dirty="0">
                <a:solidFill>
                  <a:srgbClr val="2B2F36"/>
                </a:solidFill>
                <a:latin typeface="Arial" pitchFamily="34" charset="0"/>
                <a:ea typeface="BIZ UDPGothic" pitchFamily="34" charset="-122"/>
                <a:cs typeface="BIZ UDPGothic" pitchFamily="34" charset="-120"/>
              </a:rPr>
              <a:t>つまり、約10人に1人だけです。</a:t>
            </a:r>
            <a:endParaRPr lang="en-US" sz="1500" dirty="0"/>
          </a:p>
        </p:txBody>
      </p:sp>
      <p:sp>
        <p:nvSpPr>
          <p:cNvPr id="13" name="Shape 11"/>
          <p:cNvSpPr/>
          <p:nvPr/>
        </p:nvSpPr>
        <p:spPr>
          <a:xfrm>
            <a:off x="5212080" y="3657600"/>
            <a:ext cx="6400800" cy="1737360"/>
          </a:xfrm>
          <a:prstGeom prst="roundRect">
            <a:avLst>
              <a:gd name="adj" fmla="val 3158"/>
            </a:avLst>
          </a:prstGeom>
          <a:solidFill>
            <a:srgbClr val="FFFFFF"/>
          </a:solidFill>
          <a:ln w="12700">
            <a:solidFill>
              <a:srgbClr val="DDE0E6"/>
            </a:solidFill>
            <a:prstDash val="solid"/>
          </a:ln>
        </p:spPr>
      </p:sp>
      <p:sp>
        <p:nvSpPr>
          <p:cNvPr id="14" name="Text 12"/>
          <p:cNvSpPr/>
          <p:nvPr/>
        </p:nvSpPr>
        <p:spPr>
          <a:xfrm>
            <a:off x="5486400" y="3840480"/>
            <a:ext cx="5852160" cy="1371600"/>
          </a:xfrm>
          <a:prstGeom prst="rect">
            <a:avLst/>
          </a:prstGeom>
          <a:noFill/>
          <a:ln/>
        </p:spPr>
        <p:txBody>
          <a:bodyPr wrap="square" lIns="0" tIns="0" rIns="0" bIns="0" rtlCol="0" anchor="ctr"/>
          <a:lstStyle/>
          <a:p>
            <a:pPr indent="0" marL="0">
              <a:lnSpc>
                <a:spcPct val="150000"/>
              </a:lnSpc>
              <a:buNone/>
            </a:pPr>
            <a:r>
              <a:rPr lang="en-US" sz="1300" dirty="0">
                <a:solidFill>
                  <a:srgbClr val="16181D"/>
                </a:solidFill>
                <a:latin typeface="Arial" pitchFamily="34" charset="0"/>
                <a:ea typeface="BIZ UDPGothic" pitchFamily="34" charset="-122"/>
                <a:cs typeface="BIZ UDPGothic" pitchFamily="34" charset="-120"/>
              </a:rPr>
              <a:t>課税価格2億円以下の人：約89.3%</a:t>
            </a:r>
            <a:endParaRPr lang="en-US" sz="1300" dirty="0"/>
          </a:p>
          <a:p>
            <a:pPr indent="0" marL="0">
              <a:lnSpc>
                <a:spcPct val="150000"/>
              </a:lnSpc>
              <a:buNone/>
            </a:pPr>
            <a:r>
              <a:rPr lang="en-US" sz="1300" dirty="0">
                <a:solidFill>
                  <a:srgbClr val="16181D"/>
                </a:solidFill>
                <a:latin typeface="Arial" pitchFamily="34" charset="0"/>
                <a:ea typeface="BIZ UDPGothic" pitchFamily="34" charset="-122"/>
                <a:cs typeface="BIZ UDPGothic" pitchFamily="34" charset="-120"/>
              </a:rPr>
              <a:t>課税価格3億円以下の人：約94.6%</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640080" y="411480"/>
            <a:ext cx="10881360" cy="365760"/>
          </a:xfrm>
          <a:prstGeom prst="rect">
            <a:avLst/>
          </a:prstGeom>
          <a:noFill/>
          <a:ln/>
        </p:spPr>
        <p:txBody>
          <a:bodyPr wrap="square" lIns="0" tIns="0" rIns="0" bIns="0" rtlCol="0" anchor="ctr"/>
          <a:lstStyle/>
          <a:p>
            <a:pPr indent="0" marL="0">
              <a:buNone/>
            </a:pPr>
            <a:r>
              <a:rPr lang="en-US" sz="1200" b="1" spc="300" kern="0" dirty="0">
                <a:solidFill>
                  <a:srgbClr val="C8161D"/>
                </a:solidFill>
                <a:latin typeface="Arial" pitchFamily="34" charset="0"/>
                <a:ea typeface="BIZ UDPGothic" pitchFamily="34" charset="-122"/>
                <a:cs typeface="BIZ UDPGothic" pitchFamily="34" charset="-120"/>
              </a:rPr>
              <a:t>2. データで見る実態</a:t>
            </a:r>
            <a:endParaRPr lang="en-US" sz="1200" dirty="0"/>
          </a:p>
        </p:txBody>
      </p:sp>
      <p:sp>
        <p:nvSpPr>
          <p:cNvPr id="3" name="Text 1"/>
          <p:cNvSpPr/>
          <p:nvPr/>
        </p:nvSpPr>
        <p:spPr>
          <a:xfrm>
            <a:off x="640080" y="777240"/>
            <a:ext cx="10881360" cy="1005840"/>
          </a:xfrm>
          <a:prstGeom prst="rect">
            <a:avLst/>
          </a:prstGeom>
          <a:noFill/>
          <a:ln/>
        </p:spPr>
        <p:txBody>
          <a:bodyPr wrap="square" lIns="0" tIns="0" rIns="0" bIns="0" rtlCol="0" anchor="ctr"/>
          <a:lstStyle/>
          <a:p>
            <a:pPr indent="0" marL="0">
              <a:buNone/>
            </a:pPr>
            <a:r>
              <a:rPr lang="en-US" sz="3000" b="1" dirty="0">
                <a:solidFill>
                  <a:srgbClr val="16181D"/>
                </a:solidFill>
                <a:latin typeface="Arial" pitchFamily="34" charset="0"/>
                <a:ea typeface="BIZ UDPGothic" pitchFamily="34" charset="-122"/>
                <a:cs typeface="BIZ UDPGothic" pitchFamily="34" charset="-120"/>
              </a:rPr>
              <a:t>5億円を超える人は、たった2.2%しかいない</a:t>
            </a:r>
            <a:endParaRPr lang="en-US" sz="3000" dirty="0"/>
          </a:p>
        </p:txBody>
      </p:sp>
      <p:sp>
        <p:nvSpPr>
          <p:cNvPr id="4" name="Text 2"/>
          <p:cNvSpPr/>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2B2F36"/>
                </a:solidFill>
                <a:latin typeface="Arial" pitchFamily="34" charset="0"/>
                <a:ea typeface="BIZ UDPGothic" pitchFamily="34" charset="-122"/>
                <a:cs typeface="BIZ UDPGothic" pitchFamily="34" charset="-120"/>
              </a:rPr>
              <a:t>11</a:t>
            </a:r>
            <a:endParaRPr lang="en-US" sz="1000" dirty="0"/>
          </a:p>
        </p:txBody>
      </p:sp>
      <p:sp>
        <p:nvSpPr>
          <p:cNvPr id="5" name="Text 3"/>
          <p:cNvSpPr/>
          <p:nvPr/>
        </p:nvSpPr>
        <p:spPr>
          <a:xfrm>
            <a:off x="640080" y="6446520"/>
            <a:ext cx="5486400" cy="320040"/>
          </a:xfrm>
          <a:prstGeom prst="rect">
            <a:avLst/>
          </a:prstGeom>
          <a:noFill/>
          <a:ln/>
        </p:spPr>
        <p:txBody>
          <a:bodyPr wrap="square" lIns="0" tIns="0" rIns="0" bIns="0" rtlCol="0" anchor="ctr"/>
          <a:lstStyle/>
          <a:p>
            <a:pPr indent="0" marL="0">
              <a:buNone/>
            </a:pPr>
            <a:r>
              <a:rPr lang="en-US" sz="900" dirty="0">
                <a:solidFill>
                  <a:srgbClr val="9AA0AA"/>
                </a:solidFill>
                <a:latin typeface="Arial" pitchFamily="34" charset="0"/>
                <a:ea typeface="BIZ UDPGothic" pitchFamily="34" charset="-122"/>
                <a:cs typeface="BIZ UDPGothic" pitchFamily="34" charset="-120"/>
              </a:rPr>
              <a:t>REBOOT JAPAN ── 提言004</a:t>
            </a:r>
            <a:endParaRPr lang="en-US" sz="900" dirty="0"/>
          </a:p>
        </p:txBody>
      </p:sp>
      <p:sp>
        <p:nvSpPr>
          <p:cNvPr id="6" name="Shape 4"/>
          <p:cNvSpPr/>
          <p:nvPr/>
        </p:nvSpPr>
        <p:spPr>
          <a:xfrm>
            <a:off x="640080" y="1920240"/>
            <a:ext cx="10881360" cy="1463040"/>
          </a:xfrm>
          <a:prstGeom prst="roundRect">
            <a:avLst>
              <a:gd name="adj" fmla="val 5000"/>
            </a:avLst>
          </a:prstGeom>
          <a:solidFill>
            <a:srgbClr val="FFFFFF"/>
          </a:solidFill>
          <a:ln w="19050">
            <a:solidFill>
              <a:srgbClr val="C8161D"/>
            </a:solidFill>
            <a:prstDash val="solid"/>
          </a:ln>
        </p:spPr>
      </p:sp>
      <p:sp>
        <p:nvSpPr>
          <p:cNvPr id="7" name="Text 5"/>
          <p:cNvSpPr/>
          <p:nvPr/>
        </p:nvSpPr>
        <p:spPr>
          <a:xfrm>
            <a:off x="1005840" y="2148840"/>
            <a:ext cx="10149840" cy="502920"/>
          </a:xfrm>
          <a:prstGeom prst="rect">
            <a:avLst/>
          </a:prstGeom>
          <a:noFill/>
          <a:ln/>
        </p:spPr>
        <p:txBody>
          <a:bodyPr wrap="square" lIns="0" tIns="0" rIns="0" bIns="0" rtlCol="0" anchor="ctr"/>
          <a:lstStyle/>
          <a:p>
            <a:pPr indent="0" marL="0">
              <a:buNone/>
            </a:pPr>
            <a:r>
              <a:rPr lang="en-US" sz="1900" b="1" dirty="0">
                <a:solidFill>
                  <a:srgbClr val="16181D"/>
                </a:solidFill>
                <a:latin typeface="Arial" pitchFamily="34" charset="0"/>
                <a:ea typeface="BIZ UDPGothic" pitchFamily="34" charset="-122"/>
                <a:cs typeface="BIZ UDPGothic" pitchFamily="34" charset="-120"/>
              </a:rPr>
              <a:t>課税価格5億円を超える申告は、年間4,180件</a:t>
            </a:r>
            <a:endParaRPr lang="en-US" sz="1900" dirty="0"/>
          </a:p>
        </p:txBody>
      </p:sp>
      <p:sp>
        <p:nvSpPr>
          <p:cNvPr id="8" name="Text 6"/>
          <p:cNvSpPr/>
          <p:nvPr/>
        </p:nvSpPr>
        <p:spPr>
          <a:xfrm>
            <a:off x="1005840" y="2697480"/>
            <a:ext cx="10149840" cy="548640"/>
          </a:xfrm>
          <a:prstGeom prst="rect">
            <a:avLst/>
          </a:prstGeom>
          <a:noFill/>
          <a:ln/>
        </p:spPr>
        <p:txBody>
          <a:bodyPr wrap="square" lIns="0" tIns="0" rIns="0" bIns="0" rtlCol="0" anchor="ctr"/>
          <a:lstStyle/>
          <a:p>
            <a:pPr indent="0" marL="0">
              <a:buNone/>
            </a:pPr>
            <a:r>
              <a:rPr lang="en-US" sz="1400" dirty="0">
                <a:solidFill>
                  <a:srgbClr val="2B2F36"/>
                </a:solidFill>
                <a:latin typeface="Arial" pitchFamily="34" charset="0"/>
                <a:ea typeface="BIZ UDPGothic" pitchFamily="34" charset="-122"/>
                <a:cs typeface="BIZ UDPGothic" pitchFamily="34" charset="-120"/>
              </a:rPr>
              <a:t>これは、年間に亡くなる人全体のわずか「約2.2%」にすぎません。</a:t>
            </a:r>
            <a:endParaRPr lang="en-US" sz="1400" dirty="0"/>
          </a:p>
        </p:txBody>
      </p:sp>
      <p:sp>
        <p:nvSpPr>
          <p:cNvPr id="9" name="Text 7"/>
          <p:cNvSpPr/>
          <p:nvPr/>
        </p:nvSpPr>
        <p:spPr>
          <a:xfrm>
            <a:off x="640080" y="3657600"/>
            <a:ext cx="10881360" cy="914400"/>
          </a:xfrm>
          <a:prstGeom prst="rect">
            <a:avLst/>
          </a:prstGeom>
          <a:noFill/>
          <a:ln/>
        </p:spPr>
        <p:txBody>
          <a:bodyPr wrap="square" lIns="0" tIns="0" rIns="0" bIns="0" rtlCol="0" anchor="ctr"/>
          <a:lstStyle/>
          <a:p>
            <a:pPr indent="0" marL="0">
              <a:lnSpc>
                <a:spcPct val="140000"/>
              </a:lnSpc>
              <a:buNone/>
            </a:pPr>
            <a:r>
              <a:rPr lang="en-US" sz="1400" dirty="0">
                <a:solidFill>
                  <a:srgbClr val="2B2F36"/>
                </a:solidFill>
                <a:latin typeface="Arial" pitchFamily="34" charset="0"/>
                <a:ea typeface="BIZ UDPGothic" pitchFamily="34" charset="-122"/>
                <a:cs typeface="BIZ UDPGothic" pitchFamily="34" charset="-120"/>
              </a:rPr>
              <a:t>つまり、もし非課税のラインを10億円まで引き上げても、影響を受けるのは「すでに5億円を超えている人」の中でも、さらに一部のごく限られた人たちだけです。</a:t>
            </a:r>
            <a:endParaRPr lang="en-US" sz="1400" dirty="0"/>
          </a:p>
        </p:txBody>
      </p:sp>
      <p:sp>
        <p:nvSpPr>
          <p:cNvPr id="10" name="Text 8"/>
          <p:cNvSpPr/>
          <p:nvPr/>
        </p:nvSpPr>
        <p:spPr>
          <a:xfrm>
            <a:off x="640080" y="4663440"/>
            <a:ext cx="10881360" cy="365760"/>
          </a:xfrm>
          <a:prstGeom prst="rect">
            <a:avLst/>
          </a:prstGeom>
          <a:noFill/>
          <a:ln/>
        </p:spPr>
        <p:txBody>
          <a:bodyPr wrap="square" lIns="0" tIns="0" rIns="0" bIns="0" rtlCol="0" anchor="ctr"/>
          <a:lstStyle/>
          <a:p>
            <a:pPr indent="0" marL="0">
              <a:buNone/>
            </a:pPr>
            <a:r>
              <a:rPr lang="en-US" sz="1300" i="1" dirty="0">
                <a:solidFill>
                  <a:srgbClr val="C8161D"/>
                </a:solidFill>
                <a:latin typeface="Arial" pitchFamily="34" charset="0"/>
                <a:ea typeface="BIZ UDPGothic" pitchFamily="34" charset="-122"/>
                <a:cs typeface="BIZ UDPGothic" pitchFamily="34" charset="-120"/>
              </a:rPr>
              <a:t>中産階級・アッパーミドル層には、ほぼ影響がありません。</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640080" y="411480"/>
            <a:ext cx="10881360" cy="365760"/>
          </a:xfrm>
          <a:prstGeom prst="rect">
            <a:avLst/>
          </a:prstGeom>
          <a:noFill/>
          <a:ln/>
        </p:spPr>
        <p:txBody>
          <a:bodyPr wrap="square" lIns="0" tIns="0" rIns="0" bIns="0" rtlCol="0" anchor="ctr"/>
          <a:lstStyle/>
          <a:p>
            <a:pPr indent="0" marL="0">
              <a:buNone/>
            </a:pPr>
            <a:r>
              <a:rPr lang="en-US" sz="1200" b="1" spc="300" kern="0" dirty="0">
                <a:solidFill>
                  <a:srgbClr val="C8161D"/>
                </a:solidFill>
                <a:latin typeface="Arial" pitchFamily="34" charset="0"/>
                <a:ea typeface="BIZ UDPGothic" pitchFamily="34" charset="-122"/>
                <a:cs typeface="BIZ UDPGothic" pitchFamily="34" charset="-120"/>
              </a:rPr>
              <a:t>2. 税収全体で見ると</a:t>
            </a:r>
            <a:endParaRPr lang="en-US" sz="1200" dirty="0"/>
          </a:p>
        </p:txBody>
      </p:sp>
      <p:sp>
        <p:nvSpPr>
          <p:cNvPr id="3" name="Text 1"/>
          <p:cNvSpPr/>
          <p:nvPr/>
        </p:nvSpPr>
        <p:spPr>
          <a:xfrm>
            <a:off x="640080" y="777240"/>
            <a:ext cx="10881360" cy="1005840"/>
          </a:xfrm>
          <a:prstGeom prst="rect">
            <a:avLst/>
          </a:prstGeom>
          <a:noFill/>
          <a:ln/>
        </p:spPr>
        <p:txBody>
          <a:bodyPr wrap="square" lIns="0" tIns="0" rIns="0" bIns="0" rtlCol="0" anchor="ctr"/>
          <a:lstStyle/>
          <a:p>
            <a:pPr indent="0" marL="0">
              <a:buNone/>
            </a:pPr>
            <a:r>
              <a:rPr lang="en-US" sz="3000" b="1" dirty="0">
                <a:solidFill>
                  <a:srgbClr val="16181D"/>
                </a:solidFill>
                <a:latin typeface="Arial" pitchFamily="34" charset="0"/>
                <a:ea typeface="BIZ UDPGothic" pitchFamily="34" charset="-122"/>
                <a:cs typeface="BIZ UDPGothic" pitchFamily="34" charset="-120"/>
              </a:rPr>
              <a:t>相続税は、国の収入のごく一部にすぎない</a:t>
            </a:r>
            <a:endParaRPr lang="en-US" sz="3000" dirty="0"/>
          </a:p>
        </p:txBody>
      </p:sp>
      <p:sp>
        <p:nvSpPr>
          <p:cNvPr id="4" name="Text 2"/>
          <p:cNvSpPr/>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2B2F36"/>
                </a:solidFill>
                <a:latin typeface="Arial" pitchFamily="34" charset="0"/>
                <a:ea typeface="BIZ UDPGothic" pitchFamily="34" charset="-122"/>
                <a:cs typeface="BIZ UDPGothic" pitchFamily="34" charset="-120"/>
              </a:rPr>
              <a:t>12</a:t>
            </a:r>
            <a:endParaRPr lang="en-US" sz="1000" dirty="0"/>
          </a:p>
        </p:txBody>
      </p:sp>
      <p:sp>
        <p:nvSpPr>
          <p:cNvPr id="5" name="Text 3"/>
          <p:cNvSpPr/>
          <p:nvPr/>
        </p:nvSpPr>
        <p:spPr>
          <a:xfrm>
            <a:off x="640080" y="6446520"/>
            <a:ext cx="5486400" cy="320040"/>
          </a:xfrm>
          <a:prstGeom prst="rect">
            <a:avLst/>
          </a:prstGeom>
          <a:noFill/>
          <a:ln/>
        </p:spPr>
        <p:txBody>
          <a:bodyPr wrap="square" lIns="0" tIns="0" rIns="0" bIns="0" rtlCol="0" anchor="ctr"/>
          <a:lstStyle/>
          <a:p>
            <a:pPr indent="0" marL="0">
              <a:buNone/>
            </a:pPr>
            <a:r>
              <a:rPr lang="en-US" sz="900" dirty="0">
                <a:solidFill>
                  <a:srgbClr val="9AA0AA"/>
                </a:solidFill>
                <a:latin typeface="Arial" pitchFamily="34" charset="0"/>
                <a:ea typeface="BIZ UDPGothic" pitchFamily="34" charset="-122"/>
                <a:cs typeface="BIZ UDPGothic" pitchFamily="34" charset="-120"/>
              </a:rPr>
              <a:t>REBOOT JAPAN ── 提言004</a:t>
            </a:r>
            <a:endParaRPr lang="en-US" sz="900" dirty="0"/>
          </a:p>
        </p:txBody>
      </p:sp>
      <p:sp>
        <p:nvSpPr>
          <p:cNvPr id="6" name="Text 4"/>
          <p:cNvSpPr/>
          <p:nvPr/>
        </p:nvSpPr>
        <p:spPr>
          <a:xfrm>
            <a:off x="640080" y="1920240"/>
            <a:ext cx="5029200" cy="914400"/>
          </a:xfrm>
          <a:prstGeom prst="rect">
            <a:avLst/>
          </a:prstGeom>
          <a:noFill/>
          <a:ln/>
        </p:spPr>
        <p:txBody>
          <a:bodyPr wrap="square" lIns="0" tIns="0" rIns="0" bIns="0" rtlCol="0" anchor="ctr"/>
          <a:lstStyle/>
          <a:p>
            <a:pPr algn="l" indent="0" marL="0">
              <a:buNone/>
            </a:pPr>
            <a:r>
              <a:rPr lang="en-US" sz="5000" b="1" dirty="0">
                <a:solidFill>
                  <a:srgbClr val="C8161D"/>
                </a:solidFill>
                <a:latin typeface="Arial" pitchFamily="34" charset="0"/>
                <a:ea typeface="BIZ UDPGothic" pitchFamily="34" charset="-122"/>
                <a:cs typeface="BIZ UDPGothic" pitchFamily="34" charset="-120"/>
              </a:rPr>
              <a:t>約1.76兆円</a:t>
            </a:r>
            <a:endParaRPr lang="en-US" sz="5000" dirty="0"/>
          </a:p>
        </p:txBody>
      </p:sp>
      <p:sp>
        <p:nvSpPr>
          <p:cNvPr id="7" name="Text 5"/>
          <p:cNvSpPr/>
          <p:nvPr/>
        </p:nvSpPr>
        <p:spPr>
          <a:xfrm>
            <a:off x="640080" y="2788920"/>
            <a:ext cx="5029200" cy="457200"/>
          </a:xfrm>
          <a:prstGeom prst="rect">
            <a:avLst/>
          </a:prstGeom>
          <a:noFill/>
          <a:ln/>
        </p:spPr>
        <p:txBody>
          <a:bodyPr wrap="square" lIns="0" tIns="0" rIns="0" bIns="0" rtlCol="0" anchor="ctr"/>
          <a:lstStyle/>
          <a:p>
            <a:pPr algn="l" indent="0" marL="0">
              <a:buNone/>
            </a:pPr>
            <a:r>
              <a:rPr lang="en-US" sz="1300" dirty="0">
                <a:solidFill>
                  <a:srgbClr val="2B2F36"/>
                </a:solidFill>
                <a:latin typeface="Arial" pitchFamily="34" charset="0"/>
                <a:ea typeface="BIZ UDPGothic" pitchFamily="34" charset="-122"/>
                <a:cs typeface="BIZ UDPGothic" pitchFamily="34" charset="-120"/>
              </a:rPr>
              <a:t>令和7年度・相続税収（贈与税を含む）</a:t>
            </a:r>
            <a:endParaRPr lang="en-US" sz="1300" dirty="0"/>
          </a:p>
        </p:txBody>
      </p:sp>
      <p:sp>
        <p:nvSpPr>
          <p:cNvPr id="8" name="Shape 6"/>
          <p:cNvSpPr/>
          <p:nvPr/>
        </p:nvSpPr>
        <p:spPr>
          <a:xfrm>
            <a:off x="5852160" y="2011680"/>
            <a:ext cx="0" cy="3657600"/>
          </a:xfrm>
          <a:prstGeom prst="line">
            <a:avLst/>
          </a:prstGeom>
          <a:noFill/>
          <a:ln w="12700">
            <a:solidFill>
              <a:srgbClr val="DDE0E6"/>
            </a:solidFill>
            <a:prstDash val="solid"/>
          </a:ln>
        </p:spPr>
      </p:sp>
      <p:sp>
        <p:nvSpPr>
          <p:cNvPr id="9" name="Text 7"/>
          <p:cNvSpPr/>
          <p:nvPr/>
        </p:nvSpPr>
        <p:spPr>
          <a:xfrm>
            <a:off x="6309360" y="2194560"/>
            <a:ext cx="5212080" cy="822960"/>
          </a:xfrm>
          <a:prstGeom prst="rect">
            <a:avLst/>
          </a:prstGeom>
          <a:noFill/>
          <a:ln/>
        </p:spPr>
        <p:txBody>
          <a:bodyPr wrap="square" lIns="0" tIns="0" rIns="0" bIns="0" rtlCol="0" anchor="ctr"/>
          <a:lstStyle/>
          <a:p>
            <a:pPr indent="0" marL="0">
              <a:lnSpc>
                <a:spcPct val="125000"/>
              </a:lnSpc>
              <a:buNone/>
            </a:pPr>
            <a:r>
              <a:rPr lang="en-US" sz="1800" b="1" dirty="0">
                <a:solidFill>
                  <a:srgbClr val="16181D"/>
                </a:solidFill>
                <a:latin typeface="Arial" pitchFamily="34" charset="0"/>
                <a:ea typeface="BIZ UDPGothic" pitchFamily="34" charset="-122"/>
                <a:cs typeface="BIZ UDPGothic" pitchFamily="34" charset="-120"/>
              </a:rPr>
              <a:t>国の税収全体（約75兆円）の中では、わずか数%にすぎません。</a:t>
            </a:r>
            <a:endParaRPr lang="en-US" sz="1800" dirty="0"/>
          </a:p>
        </p:txBody>
      </p:sp>
      <p:sp>
        <p:nvSpPr>
          <p:cNvPr id="10" name="Text 8"/>
          <p:cNvSpPr/>
          <p:nvPr/>
        </p:nvSpPr>
        <p:spPr>
          <a:xfrm>
            <a:off x="6309360" y="3108960"/>
            <a:ext cx="5212080" cy="731520"/>
          </a:xfrm>
          <a:prstGeom prst="rect">
            <a:avLst/>
          </a:prstGeom>
          <a:noFill/>
          <a:ln/>
        </p:spPr>
        <p:txBody>
          <a:bodyPr wrap="square" lIns="0" tIns="0" rIns="0" bIns="0" rtlCol="0" anchor="ctr"/>
          <a:lstStyle/>
          <a:p>
            <a:pPr indent="0" marL="0">
              <a:lnSpc>
                <a:spcPct val="135000"/>
              </a:lnSpc>
              <a:buNone/>
            </a:pPr>
            <a:r>
              <a:rPr lang="en-US" sz="1350" dirty="0">
                <a:solidFill>
                  <a:srgbClr val="2B2F36"/>
                </a:solidFill>
                <a:latin typeface="Arial" pitchFamily="34" charset="0"/>
                <a:ea typeface="BIZ UDPGothic" pitchFamily="34" charset="-122"/>
                <a:cs typeface="BIZ UDPGothic" pitchFamily="34" charset="-120"/>
              </a:rPr>
              <a:t>つまり相続税は、国にとって「絶対に手放せない巨大な財源」ではありません。</a:t>
            </a:r>
            <a:endParaRPr lang="en-US" sz="1350" dirty="0"/>
          </a:p>
        </p:txBody>
      </p:sp>
      <p:pic>
        <p:nvPicPr>
          <p:cNvPr id="11" name="Image 0" descr="preencoded.png">    </p:cNvPr>
          <p:cNvPicPr>
            <a:picLocks noChangeAspect="1"/>
          </p:cNvPicPr>
          <p:nvPr/>
        </p:nvPicPr>
        <p:blipFill>
          <a:blip r:embed="rId1"/>
          <a:stretch>
            <a:fillRect/>
          </a:stretch>
        </p:blipFill>
        <p:spPr>
          <a:xfrm>
            <a:off x="6309360" y="4114800"/>
            <a:ext cx="411480" cy="411480"/>
          </a:xfrm>
          <a:prstGeom prst="rect">
            <a:avLst/>
          </a:prstGeom>
        </p:spPr>
      </p:pic>
      <p:sp>
        <p:nvSpPr>
          <p:cNvPr id="12" name="Text 9"/>
          <p:cNvSpPr/>
          <p:nvPr/>
        </p:nvSpPr>
        <p:spPr>
          <a:xfrm>
            <a:off x="6858000" y="4114800"/>
            <a:ext cx="4663440" cy="1188720"/>
          </a:xfrm>
          <a:prstGeom prst="rect">
            <a:avLst/>
          </a:prstGeom>
          <a:noFill/>
          <a:ln/>
        </p:spPr>
        <p:txBody>
          <a:bodyPr wrap="square" lIns="0" tIns="0" rIns="0" bIns="0" rtlCol="0" anchor="ctr"/>
          <a:lstStyle/>
          <a:p>
            <a:pPr indent="0" marL="0">
              <a:lnSpc>
                <a:spcPct val="135000"/>
              </a:lnSpc>
              <a:buNone/>
            </a:pPr>
            <a:r>
              <a:rPr lang="en-US" sz="1300" dirty="0">
                <a:solidFill>
                  <a:srgbClr val="C8161D"/>
                </a:solidFill>
                <a:latin typeface="Arial" pitchFamily="34" charset="0"/>
                <a:ea typeface="BIZ UDPGothic" pitchFamily="34" charset="-122"/>
                <a:cs typeface="BIZ UDPGothic" pitchFamily="34" charset="-120"/>
              </a:rPr>
              <a:t>それなのに、中産階級の生活基盤を壊すほどのコストを払っている ── これが今の制度の歪みです。</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640080" y="411480"/>
            <a:ext cx="10881360" cy="365760"/>
          </a:xfrm>
          <a:prstGeom prst="rect">
            <a:avLst/>
          </a:prstGeom>
          <a:noFill/>
          <a:ln/>
        </p:spPr>
        <p:txBody>
          <a:bodyPr wrap="square" lIns="0" tIns="0" rIns="0" bIns="0" rtlCol="0" anchor="ctr"/>
          <a:lstStyle/>
          <a:p>
            <a:pPr indent="0" marL="0">
              <a:buNone/>
            </a:pPr>
            <a:r>
              <a:rPr lang="en-US" sz="1200" b="1" spc="300" kern="0" dirty="0">
                <a:solidFill>
                  <a:srgbClr val="C8161D"/>
                </a:solidFill>
                <a:latin typeface="Arial" pitchFamily="34" charset="0"/>
                <a:ea typeface="BIZ UDPGothic" pitchFamily="34" charset="-122"/>
                <a:cs typeface="BIZ UDPGothic" pitchFamily="34" charset="-120"/>
              </a:rPr>
              <a:t>2. フェアに考える</a:t>
            </a:r>
            <a:endParaRPr lang="en-US" sz="1200" dirty="0"/>
          </a:p>
        </p:txBody>
      </p:sp>
      <p:sp>
        <p:nvSpPr>
          <p:cNvPr id="3" name="Text 1"/>
          <p:cNvSpPr/>
          <p:nvPr/>
        </p:nvSpPr>
        <p:spPr>
          <a:xfrm>
            <a:off x="640080" y="777240"/>
            <a:ext cx="10881360" cy="1005840"/>
          </a:xfrm>
          <a:prstGeom prst="rect">
            <a:avLst/>
          </a:prstGeom>
          <a:noFill/>
          <a:ln/>
        </p:spPr>
        <p:txBody>
          <a:bodyPr wrap="square" lIns="0" tIns="0" rIns="0" bIns="0" rtlCol="0" anchor="ctr"/>
          <a:lstStyle/>
          <a:p>
            <a:pPr indent="0" marL="0">
              <a:buNone/>
            </a:pPr>
            <a:r>
              <a:rPr lang="en-US" sz="3000" b="1" dirty="0">
                <a:solidFill>
                  <a:srgbClr val="16181D"/>
                </a:solidFill>
                <a:latin typeface="Arial" pitchFamily="34" charset="0"/>
                <a:ea typeface="BIZ UDPGothic" pitchFamily="34" charset="-122"/>
                <a:cs typeface="BIZ UDPGothic" pitchFamily="34" charset="-120"/>
              </a:rPr>
              <a:t>「税率を下げれば海外に逃げない」は本当か？</a:t>
            </a:r>
            <a:endParaRPr lang="en-US" sz="3000" dirty="0"/>
          </a:p>
        </p:txBody>
      </p:sp>
      <p:sp>
        <p:nvSpPr>
          <p:cNvPr id="4" name="Text 2"/>
          <p:cNvSpPr/>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2B2F36"/>
                </a:solidFill>
                <a:latin typeface="Arial" pitchFamily="34" charset="0"/>
                <a:ea typeface="BIZ UDPGothic" pitchFamily="34" charset="-122"/>
                <a:cs typeface="BIZ UDPGothic" pitchFamily="34" charset="-120"/>
              </a:rPr>
              <a:t>13</a:t>
            </a:r>
            <a:endParaRPr lang="en-US" sz="1000" dirty="0"/>
          </a:p>
        </p:txBody>
      </p:sp>
      <p:sp>
        <p:nvSpPr>
          <p:cNvPr id="5" name="Text 3"/>
          <p:cNvSpPr/>
          <p:nvPr/>
        </p:nvSpPr>
        <p:spPr>
          <a:xfrm>
            <a:off x="640080" y="6446520"/>
            <a:ext cx="5486400" cy="320040"/>
          </a:xfrm>
          <a:prstGeom prst="rect">
            <a:avLst/>
          </a:prstGeom>
          <a:noFill/>
          <a:ln/>
        </p:spPr>
        <p:txBody>
          <a:bodyPr wrap="square" lIns="0" tIns="0" rIns="0" bIns="0" rtlCol="0" anchor="ctr"/>
          <a:lstStyle/>
          <a:p>
            <a:pPr indent="0" marL="0">
              <a:buNone/>
            </a:pPr>
            <a:r>
              <a:rPr lang="en-US" sz="900" dirty="0">
                <a:solidFill>
                  <a:srgbClr val="9AA0AA"/>
                </a:solidFill>
                <a:latin typeface="Arial" pitchFamily="34" charset="0"/>
                <a:ea typeface="BIZ UDPGothic" pitchFamily="34" charset="-122"/>
                <a:cs typeface="BIZ UDPGothic" pitchFamily="34" charset="-120"/>
              </a:rPr>
              <a:t>REBOOT JAPAN ── 提言004</a:t>
            </a:r>
            <a:endParaRPr lang="en-US" sz="900" dirty="0"/>
          </a:p>
        </p:txBody>
      </p:sp>
      <p:sp>
        <p:nvSpPr>
          <p:cNvPr id="6" name="Text 4"/>
          <p:cNvSpPr/>
          <p:nvPr/>
        </p:nvSpPr>
        <p:spPr>
          <a:xfrm>
            <a:off x="640080" y="1691640"/>
            <a:ext cx="10881360" cy="548640"/>
          </a:xfrm>
          <a:prstGeom prst="rect">
            <a:avLst/>
          </a:prstGeom>
          <a:noFill/>
          <a:ln/>
        </p:spPr>
        <p:txBody>
          <a:bodyPr wrap="square" lIns="0" tIns="0" rIns="0" bIns="0" rtlCol="0" anchor="ctr"/>
          <a:lstStyle/>
          <a:p>
            <a:pPr indent="0" marL="0">
              <a:lnSpc>
                <a:spcPct val="130000"/>
              </a:lnSpc>
              <a:buNone/>
            </a:pPr>
            <a:r>
              <a:rPr lang="en-US" sz="1350" dirty="0">
                <a:solidFill>
                  <a:srgbClr val="2B2F36"/>
                </a:solidFill>
                <a:latin typeface="Arial" pitchFamily="34" charset="0"/>
                <a:ea typeface="BIZ UDPGothic" pitchFamily="34" charset="-122"/>
                <a:cs typeface="BIZ UDPGothic" pitchFamily="34" charset="-120"/>
              </a:rPr>
              <a:t>実は、税金が高いからといって、海外に移住すれば相続税から逃げられるわけではありません。すでに強力な仕組みがあります。</a:t>
            </a:r>
            <a:endParaRPr lang="en-US" sz="1350" dirty="0"/>
          </a:p>
        </p:txBody>
      </p:sp>
      <p:sp>
        <p:nvSpPr>
          <p:cNvPr id="7" name="Shape 5"/>
          <p:cNvSpPr/>
          <p:nvPr/>
        </p:nvSpPr>
        <p:spPr>
          <a:xfrm>
            <a:off x="640080" y="2377440"/>
            <a:ext cx="5212080" cy="2743200"/>
          </a:xfrm>
          <a:prstGeom prst="roundRect">
            <a:avLst>
              <a:gd name="adj" fmla="val 2667"/>
            </a:avLst>
          </a:prstGeom>
          <a:solidFill>
            <a:srgbClr val="FFFFFF"/>
          </a:solidFill>
          <a:ln w="12700">
            <a:solidFill>
              <a:srgbClr val="DDE0E6"/>
            </a:solidFill>
            <a:prstDash val="solid"/>
          </a:ln>
        </p:spPr>
      </p:sp>
      <p:sp>
        <p:nvSpPr>
          <p:cNvPr id="8" name="Shape 6"/>
          <p:cNvSpPr/>
          <p:nvPr/>
        </p:nvSpPr>
        <p:spPr>
          <a:xfrm>
            <a:off x="932688" y="2670048"/>
            <a:ext cx="502920" cy="502920"/>
          </a:xfrm>
          <a:prstGeom prst="ellipse">
            <a:avLst/>
          </a:prstGeom>
          <a:solidFill>
            <a:srgbClr val="F5F6F8"/>
          </a:solidFill>
          <a:ln w="12700">
            <a:solidFill>
              <a:srgbClr val="DDE0E6"/>
            </a:solidFill>
            <a:prstDash val="solid"/>
          </a:ln>
        </p:spPr>
      </p:sp>
      <p:pic>
        <p:nvPicPr>
          <p:cNvPr id="9" name="Image 0" descr="preencoded.png">    </p:cNvPr>
          <p:cNvPicPr>
            <a:picLocks noChangeAspect="1"/>
          </p:cNvPicPr>
          <p:nvPr/>
        </p:nvPicPr>
        <p:blipFill>
          <a:blip r:embed="rId1"/>
          <a:stretch>
            <a:fillRect/>
          </a:stretch>
        </p:blipFill>
        <p:spPr>
          <a:xfrm>
            <a:off x="1051560" y="2788920"/>
            <a:ext cx="265176" cy="265176"/>
          </a:xfrm>
          <a:prstGeom prst="rect">
            <a:avLst/>
          </a:prstGeom>
        </p:spPr>
      </p:pic>
      <p:sp>
        <p:nvSpPr>
          <p:cNvPr id="10" name="Text 7"/>
          <p:cNvSpPr/>
          <p:nvPr/>
        </p:nvSpPr>
        <p:spPr>
          <a:xfrm>
            <a:off x="932688" y="3337560"/>
            <a:ext cx="4626864" cy="502920"/>
          </a:xfrm>
          <a:prstGeom prst="rect">
            <a:avLst/>
          </a:prstGeom>
          <a:noFill/>
          <a:ln/>
        </p:spPr>
        <p:txBody>
          <a:bodyPr wrap="square" lIns="0" tIns="0" rIns="0" bIns="0" rtlCol="0" anchor="t"/>
          <a:lstStyle/>
          <a:p>
            <a:pPr indent="0" marL="0">
              <a:lnSpc>
                <a:spcPct val="120000"/>
              </a:lnSpc>
              <a:buNone/>
            </a:pPr>
            <a:r>
              <a:rPr lang="en-US" sz="1500" b="1" dirty="0">
                <a:solidFill>
                  <a:srgbClr val="16181D"/>
                </a:solidFill>
                <a:latin typeface="Arial" pitchFamily="34" charset="0"/>
                <a:ea typeface="BIZ UDPGothic" pitchFamily="34" charset="-122"/>
                <a:cs typeface="BIZ UDPGothic" pitchFamily="34" charset="-120"/>
              </a:rPr>
              <a:t>10年ルール</a:t>
            </a:r>
            <a:endParaRPr lang="en-US" sz="1500" dirty="0"/>
          </a:p>
        </p:txBody>
      </p:sp>
      <p:sp>
        <p:nvSpPr>
          <p:cNvPr id="11" name="Text 8"/>
          <p:cNvSpPr/>
          <p:nvPr/>
        </p:nvSpPr>
        <p:spPr>
          <a:xfrm>
            <a:off x="932688" y="3931920"/>
            <a:ext cx="4626864" cy="987552"/>
          </a:xfrm>
          <a:prstGeom prst="rect">
            <a:avLst/>
          </a:prstGeom>
          <a:noFill/>
          <a:ln/>
        </p:spPr>
        <p:txBody>
          <a:bodyPr wrap="square" lIns="0" tIns="0" rIns="0" bIns="0" rtlCol="0" anchor="t"/>
          <a:lstStyle/>
          <a:p>
            <a:pPr indent="0" marL="0">
              <a:lnSpc>
                <a:spcPct val="125000"/>
              </a:lnSpc>
              <a:buNone/>
            </a:pPr>
            <a:r>
              <a:rPr lang="en-US" sz="1200" dirty="0">
                <a:solidFill>
                  <a:srgbClr val="2B2F36"/>
                </a:solidFill>
                <a:latin typeface="Arial" pitchFamily="34" charset="0"/>
                <a:ea typeface="BIZ UDPGothic" pitchFamily="34" charset="-122"/>
                <a:cs typeface="BIZ UDPGothic" pitchFamily="34" charset="-120"/>
              </a:rPr>
              <a:t>親も子も海外に引っ越しても、10年が経過するまでは海外の資産にも日本の相続税がかかります。日本にある不動産・預金は、住んでいる場所に関係なく課税対象のままです。</a:t>
            </a:r>
            <a:endParaRPr lang="en-US" sz="1200" dirty="0"/>
          </a:p>
        </p:txBody>
      </p:sp>
      <p:sp>
        <p:nvSpPr>
          <p:cNvPr id="12" name="Shape 9"/>
          <p:cNvSpPr/>
          <p:nvPr/>
        </p:nvSpPr>
        <p:spPr>
          <a:xfrm>
            <a:off x="6126480" y="2377440"/>
            <a:ext cx="5212080" cy="2743200"/>
          </a:xfrm>
          <a:prstGeom prst="roundRect">
            <a:avLst>
              <a:gd name="adj" fmla="val 2667"/>
            </a:avLst>
          </a:prstGeom>
          <a:solidFill>
            <a:srgbClr val="FFFFFF"/>
          </a:solidFill>
          <a:ln w="12700">
            <a:solidFill>
              <a:srgbClr val="DDE0E6"/>
            </a:solidFill>
            <a:prstDash val="solid"/>
          </a:ln>
        </p:spPr>
      </p:sp>
      <p:sp>
        <p:nvSpPr>
          <p:cNvPr id="13" name="Shape 10"/>
          <p:cNvSpPr/>
          <p:nvPr/>
        </p:nvSpPr>
        <p:spPr>
          <a:xfrm>
            <a:off x="6419088" y="2670048"/>
            <a:ext cx="502920" cy="502920"/>
          </a:xfrm>
          <a:prstGeom prst="ellipse">
            <a:avLst/>
          </a:prstGeom>
          <a:solidFill>
            <a:srgbClr val="F5F6F8"/>
          </a:solidFill>
          <a:ln w="12700">
            <a:solidFill>
              <a:srgbClr val="DDE0E6"/>
            </a:solidFill>
            <a:prstDash val="solid"/>
          </a:ln>
        </p:spPr>
      </p:sp>
      <p:pic>
        <p:nvPicPr>
          <p:cNvPr id="14" name="Image 1" descr="preencoded.png">    </p:cNvPr>
          <p:cNvPicPr>
            <a:picLocks noChangeAspect="1"/>
          </p:cNvPicPr>
          <p:nvPr/>
        </p:nvPicPr>
        <p:blipFill>
          <a:blip r:embed="rId2"/>
          <a:stretch>
            <a:fillRect/>
          </a:stretch>
        </p:blipFill>
        <p:spPr>
          <a:xfrm>
            <a:off x="6537960" y="2788920"/>
            <a:ext cx="265176" cy="265176"/>
          </a:xfrm>
          <a:prstGeom prst="rect">
            <a:avLst/>
          </a:prstGeom>
        </p:spPr>
      </p:pic>
      <p:sp>
        <p:nvSpPr>
          <p:cNvPr id="15" name="Text 11"/>
          <p:cNvSpPr/>
          <p:nvPr/>
        </p:nvSpPr>
        <p:spPr>
          <a:xfrm>
            <a:off x="6419088" y="3337560"/>
            <a:ext cx="4626864" cy="502920"/>
          </a:xfrm>
          <a:prstGeom prst="rect">
            <a:avLst/>
          </a:prstGeom>
          <a:noFill/>
          <a:ln/>
        </p:spPr>
        <p:txBody>
          <a:bodyPr wrap="square" lIns="0" tIns="0" rIns="0" bIns="0" rtlCol="0" anchor="t"/>
          <a:lstStyle/>
          <a:p>
            <a:pPr indent="0" marL="0">
              <a:lnSpc>
                <a:spcPct val="120000"/>
              </a:lnSpc>
              <a:buNone/>
            </a:pPr>
            <a:r>
              <a:rPr lang="en-US" sz="1500" b="1" dirty="0">
                <a:solidFill>
                  <a:srgbClr val="16181D"/>
                </a:solidFill>
                <a:latin typeface="Arial" pitchFamily="34" charset="0"/>
                <a:ea typeface="BIZ UDPGothic" pitchFamily="34" charset="-122"/>
                <a:cs typeface="BIZ UDPGothic" pitchFamily="34" charset="-120"/>
              </a:rPr>
              <a:t>出国税（国外転出時課税）</a:t>
            </a:r>
            <a:endParaRPr lang="en-US" sz="1500" dirty="0"/>
          </a:p>
        </p:txBody>
      </p:sp>
      <p:sp>
        <p:nvSpPr>
          <p:cNvPr id="16" name="Text 12"/>
          <p:cNvSpPr/>
          <p:nvPr/>
        </p:nvSpPr>
        <p:spPr>
          <a:xfrm>
            <a:off x="6419088" y="3931920"/>
            <a:ext cx="4626864" cy="987552"/>
          </a:xfrm>
          <a:prstGeom prst="rect">
            <a:avLst/>
          </a:prstGeom>
          <a:noFill/>
          <a:ln/>
        </p:spPr>
        <p:txBody>
          <a:bodyPr wrap="square" lIns="0" tIns="0" rIns="0" bIns="0" rtlCol="0" anchor="t"/>
          <a:lstStyle/>
          <a:p>
            <a:pPr indent="0" marL="0">
              <a:lnSpc>
                <a:spcPct val="125000"/>
              </a:lnSpc>
              <a:buNone/>
            </a:pPr>
            <a:r>
              <a:rPr lang="en-US" sz="1200" dirty="0">
                <a:solidFill>
                  <a:srgbClr val="2B2F36"/>
                </a:solidFill>
                <a:latin typeface="Arial" pitchFamily="34" charset="0"/>
                <a:ea typeface="BIZ UDPGothic" pitchFamily="34" charset="-122"/>
                <a:cs typeface="BIZ UDPGothic" pitchFamily="34" charset="-120"/>
              </a:rPr>
              <a:t>1億円以上の株式などを持って海外に引っ越す場合、含み益（値上がり分）にあらかじめ税金がかかる仕組みがすでにあります。</a:t>
            </a:r>
            <a:endParaRPr lang="en-US" sz="1200" dirty="0"/>
          </a:p>
        </p:txBody>
      </p:sp>
      <p:sp>
        <p:nvSpPr>
          <p:cNvPr id="17" name="Text 13"/>
          <p:cNvSpPr/>
          <p:nvPr/>
        </p:nvSpPr>
        <p:spPr>
          <a:xfrm>
            <a:off x="640080" y="5349240"/>
            <a:ext cx="10881360" cy="640080"/>
          </a:xfrm>
          <a:prstGeom prst="rect">
            <a:avLst/>
          </a:prstGeom>
          <a:noFill/>
          <a:ln/>
        </p:spPr>
        <p:txBody>
          <a:bodyPr wrap="square" lIns="0" tIns="0" rIns="0" bIns="0" rtlCol="0" anchor="ctr"/>
          <a:lstStyle/>
          <a:p>
            <a:pPr indent="0" marL="0">
              <a:lnSpc>
                <a:spcPct val="130000"/>
              </a:lnSpc>
              <a:buNone/>
            </a:pPr>
            <a:r>
              <a:rPr lang="en-US" sz="1200" i="1" dirty="0">
                <a:solidFill>
                  <a:srgbClr val="4B515C"/>
                </a:solidFill>
                <a:latin typeface="Arial" pitchFamily="34" charset="0"/>
                <a:ea typeface="BIZ UDPGothic" pitchFamily="34" charset="-122"/>
                <a:cs typeface="BIZ UDPGothic" pitchFamily="34" charset="-120"/>
              </a:rPr>
              <a:t>つまり「30%に下げれば海外逃避を防げる」は、決定的な理由にはなりません。本提言が30%にする理由は、「資産の大きさに関係なく、フラットな税率にする」という考え方そのものにあります。</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640080" y="411480"/>
            <a:ext cx="10881360" cy="365760"/>
          </a:xfrm>
          <a:prstGeom prst="rect">
            <a:avLst/>
          </a:prstGeom>
          <a:noFill/>
          <a:ln/>
        </p:spPr>
        <p:txBody>
          <a:bodyPr wrap="square" lIns="0" tIns="0" rIns="0" bIns="0" rtlCol="0" anchor="ctr"/>
          <a:lstStyle/>
          <a:p>
            <a:pPr indent="0" marL="0">
              <a:buNone/>
            </a:pPr>
            <a:r>
              <a:rPr lang="en-US" sz="1200" b="1" spc="300" kern="0" dirty="0">
                <a:solidFill>
                  <a:srgbClr val="C8161D"/>
                </a:solidFill>
                <a:latin typeface="Arial" pitchFamily="34" charset="0"/>
                <a:ea typeface="BIZ UDPGothic" pitchFamily="34" charset="-122"/>
                <a:cs typeface="BIZ UDPGothic" pitchFamily="34" charset="-120"/>
              </a:rPr>
              <a:t>3. 新しい相続税の形</a:t>
            </a:r>
            <a:endParaRPr lang="en-US" sz="1200" dirty="0"/>
          </a:p>
        </p:txBody>
      </p:sp>
      <p:sp>
        <p:nvSpPr>
          <p:cNvPr id="3" name="Text 1"/>
          <p:cNvSpPr/>
          <p:nvPr/>
        </p:nvSpPr>
        <p:spPr>
          <a:xfrm>
            <a:off x="640080" y="777240"/>
            <a:ext cx="10881360" cy="1005840"/>
          </a:xfrm>
          <a:prstGeom prst="rect">
            <a:avLst/>
          </a:prstGeom>
          <a:noFill/>
          <a:ln/>
        </p:spPr>
        <p:txBody>
          <a:bodyPr wrap="square" lIns="0" tIns="0" rIns="0" bIns="0" rtlCol="0" anchor="ctr"/>
          <a:lstStyle/>
          <a:p>
            <a:pPr indent="0" marL="0">
              <a:buNone/>
            </a:pPr>
            <a:r>
              <a:rPr lang="en-US" sz="3000" b="1" dirty="0">
                <a:solidFill>
                  <a:srgbClr val="16181D"/>
                </a:solidFill>
                <a:latin typeface="Arial" pitchFamily="34" charset="0"/>
                <a:ea typeface="BIZ UDPGothic" pitchFamily="34" charset="-122"/>
                <a:cs typeface="BIZ UDPGothic" pitchFamily="34" charset="-120"/>
              </a:rPr>
              <a:t>変化を起こす「3つの柱」</a:t>
            </a:r>
            <a:endParaRPr lang="en-US" sz="3000" dirty="0"/>
          </a:p>
        </p:txBody>
      </p:sp>
      <p:sp>
        <p:nvSpPr>
          <p:cNvPr id="4" name="Text 2"/>
          <p:cNvSpPr/>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2B2F36"/>
                </a:solidFill>
                <a:latin typeface="Arial" pitchFamily="34" charset="0"/>
                <a:ea typeface="BIZ UDPGothic" pitchFamily="34" charset="-122"/>
                <a:cs typeface="BIZ UDPGothic" pitchFamily="34" charset="-120"/>
              </a:rPr>
              <a:t>14</a:t>
            </a:r>
            <a:endParaRPr lang="en-US" sz="1000" dirty="0"/>
          </a:p>
        </p:txBody>
      </p:sp>
      <p:sp>
        <p:nvSpPr>
          <p:cNvPr id="5" name="Text 3"/>
          <p:cNvSpPr/>
          <p:nvPr/>
        </p:nvSpPr>
        <p:spPr>
          <a:xfrm>
            <a:off x="640080" y="6446520"/>
            <a:ext cx="5486400" cy="320040"/>
          </a:xfrm>
          <a:prstGeom prst="rect">
            <a:avLst/>
          </a:prstGeom>
          <a:noFill/>
          <a:ln/>
        </p:spPr>
        <p:txBody>
          <a:bodyPr wrap="square" lIns="0" tIns="0" rIns="0" bIns="0" rtlCol="0" anchor="ctr"/>
          <a:lstStyle/>
          <a:p>
            <a:pPr indent="0" marL="0">
              <a:buNone/>
            </a:pPr>
            <a:r>
              <a:rPr lang="en-US" sz="900" dirty="0">
                <a:solidFill>
                  <a:srgbClr val="9AA0AA"/>
                </a:solidFill>
                <a:latin typeface="Arial" pitchFamily="34" charset="0"/>
                <a:ea typeface="BIZ UDPGothic" pitchFamily="34" charset="-122"/>
                <a:cs typeface="BIZ UDPGothic" pitchFamily="34" charset="-120"/>
              </a:rPr>
              <a:t>REBOOT JAPAN ── 提言004</a:t>
            </a:r>
            <a:endParaRPr lang="en-US" sz="900" dirty="0"/>
          </a:p>
        </p:txBody>
      </p:sp>
      <p:sp>
        <p:nvSpPr>
          <p:cNvPr id="6" name="Shape 4"/>
          <p:cNvSpPr/>
          <p:nvPr/>
        </p:nvSpPr>
        <p:spPr>
          <a:xfrm>
            <a:off x="640080" y="2194560"/>
            <a:ext cx="3474720" cy="3383280"/>
          </a:xfrm>
          <a:prstGeom prst="roundRect">
            <a:avLst>
              <a:gd name="adj" fmla="val 2162"/>
            </a:avLst>
          </a:prstGeom>
          <a:solidFill>
            <a:srgbClr val="FFFFFF"/>
          </a:solidFill>
          <a:ln w="12700">
            <a:solidFill>
              <a:srgbClr val="DDE0E6"/>
            </a:solidFill>
            <a:prstDash val="solid"/>
          </a:ln>
        </p:spPr>
      </p:sp>
      <p:sp>
        <p:nvSpPr>
          <p:cNvPr id="7" name="Text 5"/>
          <p:cNvSpPr/>
          <p:nvPr/>
        </p:nvSpPr>
        <p:spPr>
          <a:xfrm>
            <a:off x="960120" y="2468880"/>
            <a:ext cx="2834640" cy="548640"/>
          </a:xfrm>
          <a:prstGeom prst="rect">
            <a:avLst/>
          </a:prstGeom>
          <a:noFill/>
          <a:ln/>
        </p:spPr>
        <p:txBody>
          <a:bodyPr wrap="square" lIns="0" tIns="0" rIns="0" bIns="0" rtlCol="0" anchor="ctr"/>
          <a:lstStyle/>
          <a:p>
            <a:pPr indent="0" marL="0">
              <a:buNone/>
            </a:pPr>
            <a:r>
              <a:rPr lang="en-US" sz="2200" b="1" dirty="0">
                <a:solidFill>
                  <a:srgbClr val="C8161D"/>
                </a:solidFill>
                <a:latin typeface="Arial" pitchFamily="34" charset="0"/>
                <a:ea typeface="BIZ UDPGothic" pitchFamily="34" charset="-122"/>
                <a:cs typeface="BIZ UDPGothic" pitchFamily="34" charset="-120"/>
              </a:rPr>
              <a:t>柱①</a:t>
            </a:r>
            <a:endParaRPr lang="en-US" sz="2200" dirty="0"/>
          </a:p>
        </p:txBody>
      </p:sp>
      <p:sp>
        <p:nvSpPr>
          <p:cNvPr id="8" name="Text 6"/>
          <p:cNvSpPr/>
          <p:nvPr/>
        </p:nvSpPr>
        <p:spPr>
          <a:xfrm>
            <a:off x="960120" y="3063240"/>
            <a:ext cx="2834640" cy="822960"/>
          </a:xfrm>
          <a:prstGeom prst="rect">
            <a:avLst/>
          </a:prstGeom>
          <a:noFill/>
          <a:ln/>
        </p:spPr>
        <p:txBody>
          <a:bodyPr wrap="square" lIns="0" tIns="0" rIns="0" bIns="0" rtlCol="0" anchor="ctr"/>
          <a:lstStyle/>
          <a:p>
            <a:pPr indent="0" marL="0">
              <a:lnSpc>
                <a:spcPct val="115000"/>
              </a:lnSpc>
              <a:buNone/>
            </a:pPr>
            <a:r>
              <a:rPr lang="en-US" sz="1600" b="1" dirty="0">
                <a:solidFill>
                  <a:srgbClr val="16181D"/>
                </a:solidFill>
                <a:latin typeface="Arial" pitchFamily="34" charset="0"/>
                <a:ea typeface="BIZ UDPGothic" pitchFamily="34" charset="-122"/>
                <a:cs typeface="BIZ UDPGothic" pitchFamily="34" charset="-120"/>
              </a:rPr>
              <a:t>事業承継は、直系ならゼロ</a:t>
            </a:r>
            <a:endParaRPr lang="en-US" sz="1600" dirty="0"/>
          </a:p>
        </p:txBody>
      </p:sp>
      <p:sp>
        <p:nvSpPr>
          <p:cNvPr id="9" name="Text 7"/>
          <p:cNvSpPr/>
          <p:nvPr/>
        </p:nvSpPr>
        <p:spPr>
          <a:xfrm>
            <a:off x="960120" y="3977640"/>
            <a:ext cx="2834640" cy="1463040"/>
          </a:xfrm>
          <a:prstGeom prst="rect">
            <a:avLst/>
          </a:prstGeom>
          <a:noFill/>
          <a:ln/>
        </p:spPr>
        <p:txBody>
          <a:bodyPr wrap="square" lIns="0" tIns="0" rIns="0" bIns="0" rtlCol="0" anchor="ctr"/>
          <a:lstStyle/>
          <a:p>
            <a:pPr indent="0" marL="0">
              <a:lnSpc>
                <a:spcPct val="135000"/>
              </a:lnSpc>
              <a:buNone/>
            </a:pPr>
            <a:r>
              <a:rPr lang="en-US" sz="1250" dirty="0">
                <a:solidFill>
                  <a:srgbClr val="2B2F36"/>
                </a:solidFill>
                <a:latin typeface="Arial" pitchFamily="34" charset="0"/>
                <a:ea typeface="BIZ UDPGothic" pitchFamily="34" charset="-122"/>
                <a:cs typeface="BIZ UDPGothic" pitchFamily="34" charset="-120"/>
              </a:rPr>
              <a:t>配偶者・子・孫が会社を継ぐ場合、相続税は無条件でかからない</a:t>
            </a:r>
            <a:endParaRPr lang="en-US" sz="1250" dirty="0"/>
          </a:p>
        </p:txBody>
      </p:sp>
      <p:sp>
        <p:nvSpPr>
          <p:cNvPr id="10" name="Shape 8"/>
          <p:cNvSpPr/>
          <p:nvPr/>
        </p:nvSpPr>
        <p:spPr>
          <a:xfrm>
            <a:off x="4343400" y="2194560"/>
            <a:ext cx="3474720" cy="3383280"/>
          </a:xfrm>
          <a:prstGeom prst="roundRect">
            <a:avLst>
              <a:gd name="adj" fmla="val 2162"/>
            </a:avLst>
          </a:prstGeom>
          <a:solidFill>
            <a:srgbClr val="FFFFFF"/>
          </a:solidFill>
          <a:ln w="12700">
            <a:solidFill>
              <a:srgbClr val="DDE0E6"/>
            </a:solidFill>
            <a:prstDash val="solid"/>
          </a:ln>
        </p:spPr>
      </p:sp>
      <p:sp>
        <p:nvSpPr>
          <p:cNvPr id="11" name="Text 9"/>
          <p:cNvSpPr/>
          <p:nvPr/>
        </p:nvSpPr>
        <p:spPr>
          <a:xfrm>
            <a:off x="4663440" y="2468880"/>
            <a:ext cx="2834640" cy="548640"/>
          </a:xfrm>
          <a:prstGeom prst="rect">
            <a:avLst/>
          </a:prstGeom>
          <a:noFill/>
          <a:ln/>
        </p:spPr>
        <p:txBody>
          <a:bodyPr wrap="square" lIns="0" tIns="0" rIns="0" bIns="0" rtlCol="0" anchor="ctr"/>
          <a:lstStyle/>
          <a:p>
            <a:pPr indent="0" marL="0">
              <a:buNone/>
            </a:pPr>
            <a:r>
              <a:rPr lang="en-US" sz="2200" b="1" dirty="0">
                <a:solidFill>
                  <a:srgbClr val="C8161D"/>
                </a:solidFill>
                <a:latin typeface="Arial" pitchFamily="34" charset="0"/>
                <a:ea typeface="BIZ UDPGothic" pitchFamily="34" charset="-122"/>
                <a:cs typeface="BIZ UDPGothic" pitchFamily="34" charset="-120"/>
              </a:rPr>
              <a:t>柱②</a:t>
            </a:r>
            <a:endParaRPr lang="en-US" sz="2200" dirty="0"/>
          </a:p>
        </p:txBody>
      </p:sp>
      <p:sp>
        <p:nvSpPr>
          <p:cNvPr id="12" name="Text 10"/>
          <p:cNvSpPr/>
          <p:nvPr/>
        </p:nvSpPr>
        <p:spPr>
          <a:xfrm>
            <a:off x="4663440" y="3063240"/>
            <a:ext cx="2834640" cy="822960"/>
          </a:xfrm>
          <a:prstGeom prst="rect">
            <a:avLst/>
          </a:prstGeom>
          <a:noFill/>
          <a:ln/>
        </p:spPr>
        <p:txBody>
          <a:bodyPr wrap="square" lIns="0" tIns="0" rIns="0" bIns="0" rtlCol="0" anchor="ctr"/>
          <a:lstStyle/>
          <a:p>
            <a:pPr indent="0" marL="0">
              <a:lnSpc>
                <a:spcPct val="115000"/>
              </a:lnSpc>
              <a:buNone/>
            </a:pPr>
            <a:r>
              <a:rPr lang="en-US" sz="1600" b="1" dirty="0">
                <a:solidFill>
                  <a:srgbClr val="16181D"/>
                </a:solidFill>
                <a:latin typeface="Arial" pitchFamily="34" charset="0"/>
                <a:ea typeface="BIZ UDPGothic" pitchFamily="34" charset="-122"/>
                <a:cs typeface="BIZ UDPGothic" pitchFamily="34" charset="-120"/>
              </a:rPr>
              <a:t>10億円までは非課税</a:t>
            </a:r>
            <a:endParaRPr lang="en-US" sz="1600" dirty="0"/>
          </a:p>
        </p:txBody>
      </p:sp>
      <p:sp>
        <p:nvSpPr>
          <p:cNvPr id="13" name="Text 11"/>
          <p:cNvSpPr/>
          <p:nvPr/>
        </p:nvSpPr>
        <p:spPr>
          <a:xfrm>
            <a:off x="4663440" y="3977640"/>
            <a:ext cx="2834640" cy="1463040"/>
          </a:xfrm>
          <a:prstGeom prst="rect">
            <a:avLst/>
          </a:prstGeom>
          <a:noFill/>
          <a:ln/>
        </p:spPr>
        <p:txBody>
          <a:bodyPr wrap="square" lIns="0" tIns="0" rIns="0" bIns="0" rtlCol="0" anchor="ctr"/>
          <a:lstStyle/>
          <a:p>
            <a:pPr indent="0" marL="0">
              <a:lnSpc>
                <a:spcPct val="135000"/>
              </a:lnSpc>
              <a:buNone/>
            </a:pPr>
            <a:r>
              <a:rPr lang="en-US" sz="1250" dirty="0">
                <a:solidFill>
                  <a:srgbClr val="2B2F36"/>
                </a:solidFill>
                <a:latin typeface="Arial" pitchFamily="34" charset="0"/>
                <a:ea typeface="BIZ UDPGothic" pitchFamily="34" charset="-122"/>
                <a:cs typeface="BIZ UDPGothic" pitchFamily="34" charset="-120"/>
              </a:rPr>
              <a:t>超えた分にだけ、フラットに30%（崖なし）</a:t>
            </a:r>
            <a:endParaRPr lang="en-US" sz="1250" dirty="0"/>
          </a:p>
        </p:txBody>
      </p:sp>
      <p:sp>
        <p:nvSpPr>
          <p:cNvPr id="14" name="Shape 12"/>
          <p:cNvSpPr/>
          <p:nvPr/>
        </p:nvSpPr>
        <p:spPr>
          <a:xfrm>
            <a:off x="8046720" y="2194560"/>
            <a:ext cx="3474720" cy="3383280"/>
          </a:xfrm>
          <a:prstGeom prst="roundRect">
            <a:avLst>
              <a:gd name="adj" fmla="val 2162"/>
            </a:avLst>
          </a:prstGeom>
          <a:solidFill>
            <a:srgbClr val="FFFFFF"/>
          </a:solidFill>
          <a:ln w="12700">
            <a:solidFill>
              <a:srgbClr val="DDE0E6"/>
            </a:solidFill>
            <a:prstDash val="solid"/>
          </a:ln>
        </p:spPr>
      </p:sp>
      <p:sp>
        <p:nvSpPr>
          <p:cNvPr id="15" name="Text 13"/>
          <p:cNvSpPr/>
          <p:nvPr/>
        </p:nvSpPr>
        <p:spPr>
          <a:xfrm>
            <a:off x="8366760" y="2468880"/>
            <a:ext cx="2834640" cy="548640"/>
          </a:xfrm>
          <a:prstGeom prst="rect">
            <a:avLst/>
          </a:prstGeom>
          <a:noFill/>
          <a:ln/>
        </p:spPr>
        <p:txBody>
          <a:bodyPr wrap="square" lIns="0" tIns="0" rIns="0" bIns="0" rtlCol="0" anchor="ctr"/>
          <a:lstStyle/>
          <a:p>
            <a:pPr indent="0" marL="0">
              <a:buNone/>
            </a:pPr>
            <a:r>
              <a:rPr lang="en-US" sz="2200" b="1" dirty="0">
                <a:solidFill>
                  <a:srgbClr val="C8161D"/>
                </a:solidFill>
                <a:latin typeface="Arial" pitchFamily="34" charset="0"/>
                <a:ea typeface="BIZ UDPGothic" pitchFamily="34" charset="-122"/>
                <a:cs typeface="BIZ UDPGothic" pitchFamily="34" charset="-120"/>
              </a:rPr>
              <a:t>柱③</a:t>
            </a:r>
            <a:endParaRPr lang="en-US" sz="2200" dirty="0"/>
          </a:p>
        </p:txBody>
      </p:sp>
      <p:sp>
        <p:nvSpPr>
          <p:cNvPr id="16" name="Text 14"/>
          <p:cNvSpPr/>
          <p:nvPr/>
        </p:nvSpPr>
        <p:spPr>
          <a:xfrm>
            <a:off x="8366760" y="3063240"/>
            <a:ext cx="2834640" cy="822960"/>
          </a:xfrm>
          <a:prstGeom prst="rect">
            <a:avLst/>
          </a:prstGeom>
          <a:noFill/>
          <a:ln/>
        </p:spPr>
        <p:txBody>
          <a:bodyPr wrap="square" lIns="0" tIns="0" rIns="0" bIns="0" rtlCol="0" anchor="ctr"/>
          <a:lstStyle/>
          <a:p>
            <a:pPr indent="0" marL="0">
              <a:lnSpc>
                <a:spcPct val="115000"/>
              </a:lnSpc>
              <a:buNone/>
            </a:pPr>
            <a:r>
              <a:rPr lang="en-US" sz="1600" b="1" dirty="0">
                <a:solidFill>
                  <a:srgbClr val="16181D"/>
                </a:solidFill>
                <a:latin typeface="Arial" pitchFamily="34" charset="0"/>
                <a:ea typeface="BIZ UDPGothic" pitchFamily="34" charset="-122"/>
                <a:cs typeface="BIZ UDPGothic" pitchFamily="34" charset="-120"/>
              </a:rPr>
              <a:t>住んでいる家は評価ゼロ</a:t>
            </a:r>
            <a:endParaRPr lang="en-US" sz="1600" dirty="0"/>
          </a:p>
        </p:txBody>
      </p:sp>
      <p:sp>
        <p:nvSpPr>
          <p:cNvPr id="17" name="Text 15"/>
          <p:cNvSpPr/>
          <p:nvPr/>
        </p:nvSpPr>
        <p:spPr>
          <a:xfrm>
            <a:off x="8366760" y="3977640"/>
            <a:ext cx="2834640" cy="1463040"/>
          </a:xfrm>
          <a:prstGeom prst="rect">
            <a:avLst/>
          </a:prstGeom>
          <a:noFill/>
          <a:ln/>
        </p:spPr>
        <p:txBody>
          <a:bodyPr wrap="square" lIns="0" tIns="0" rIns="0" bIns="0" rtlCol="0" anchor="ctr"/>
          <a:lstStyle/>
          <a:p>
            <a:pPr indent="0" marL="0">
              <a:lnSpc>
                <a:spcPct val="135000"/>
              </a:lnSpc>
              <a:buNone/>
            </a:pPr>
            <a:r>
              <a:rPr lang="en-US" sz="1250" dirty="0">
                <a:solidFill>
                  <a:srgbClr val="2B2F36"/>
                </a:solidFill>
                <a:latin typeface="Arial" pitchFamily="34" charset="0"/>
                <a:ea typeface="BIZ UDPGothic" pitchFamily="34" charset="-122"/>
                <a:cs typeface="BIZ UDPGothic" pitchFamily="34" charset="-120"/>
              </a:rPr>
              <a:t>10年間住み続ければ、実家は税金の対象から外れる</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640080" y="411480"/>
            <a:ext cx="10881360" cy="365760"/>
          </a:xfrm>
          <a:prstGeom prst="rect">
            <a:avLst/>
          </a:prstGeom>
          <a:noFill/>
          <a:ln/>
        </p:spPr>
        <p:txBody>
          <a:bodyPr wrap="square" lIns="0" tIns="0" rIns="0" bIns="0" rtlCol="0" anchor="ctr"/>
          <a:lstStyle/>
          <a:p>
            <a:pPr indent="0" marL="0">
              <a:buNone/>
            </a:pPr>
            <a:r>
              <a:rPr lang="en-US" sz="1200" b="1" spc="300" kern="0" dirty="0">
                <a:solidFill>
                  <a:srgbClr val="C8161D"/>
                </a:solidFill>
                <a:latin typeface="Arial" pitchFamily="34" charset="0"/>
                <a:ea typeface="BIZ UDPGothic" pitchFamily="34" charset="-122"/>
                <a:cs typeface="BIZ UDPGothic" pitchFamily="34" charset="-120"/>
              </a:rPr>
              <a:t>3. 柱① 事業承継</a:t>
            </a:r>
            <a:endParaRPr lang="en-US" sz="1200" dirty="0"/>
          </a:p>
        </p:txBody>
      </p:sp>
      <p:sp>
        <p:nvSpPr>
          <p:cNvPr id="3" name="Text 1"/>
          <p:cNvSpPr/>
          <p:nvPr/>
        </p:nvSpPr>
        <p:spPr>
          <a:xfrm>
            <a:off x="640080" y="777240"/>
            <a:ext cx="10881360" cy="1005840"/>
          </a:xfrm>
          <a:prstGeom prst="rect">
            <a:avLst/>
          </a:prstGeom>
          <a:noFill/>
          <a:ln/>
        </p:spPr>
        <p:txBody>
          <a:bodyPr wrap="square" lIns="0" tIns="0" rIns="0" bIns="0" rtlCol="0" anchor="ctr"/>
          <a:lstStyle/>
          <a:p>
            <a:pPr indent="0" marL="0">
              <a:buNone/>
            </a:pPr>
            <a:r>
              <a:rPr lang="en-US" sz="3000" b="1" dirty="0">
                <a:solidFill>
                  <a:srgbClr val="16181D"/>
                </a:solidFill>
                <a:latin typeface="Arial" pitchFamily="34" charset="0"/>
                <a:ea typeface="BIZ UDPGothic" pitchFamily="34" charset="-122"/>
                <a:cs typeface="BIZ UDPGothic" pitchFamily="34" charset="-120"/>
              </a:rPr>
              <a:t>配偶者・子・孫が継ぐなら、相続税はゼロ</a:t>
            </a:r>
            <a:endParaRPr lang="en-US" sz="3000" dirty="0"/>
          </a:p>
        </p:txBody>
      </p:sp>
      <p:sp>
        <p:nvSpPr>
          <p:cNvPr id="4" name="Text 2"/>
          <p:cNvSpPr/>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2B2F36"/>
                </a:solidFill>
                <a:latin typeface="Arial" pitchFamily="34" charset="0"/>
                <a:ea typeface="BIZ UDPGothic" pitchFamily="34" charset="-122"/>
                <a:cs typeface="BIZ UDPGothic" pitchFamily="34" charset="-120"/>
              </a:rPr>
              <a:t>15</a:t>
            </a:r>
            <a:endParaRPr lang="en-US" sz="1000" dirty="0"/>
          </a:p>
        </p:txBody>
      </p:sp>
      <p:sp>
        <p:nvSpPr>
          <p:cNvPr id="5" name="Text 3"/>
          <p:cNvSpPr/>
          <p:nvPr/>
        </p:nvSpPr>
        <p:spPr>
          <a:xfrm>
            <a:off x="640080" y="6446520"/>
            <a:ext cx="5486400" cy="320040"/>
          </a:xfrm>
          <a:prstGeom prst="rect">
            <a:avLst/>
          </a:prstGeom>
          <a:noFill/>
          <a:ln/>
        </p:spPr>
        <p:txBody>
          <a:bodyPr wrap="square" lIns="0" tIns="0" rIns="0" bIns="0" rtlCol="0" anchor="ctr"/>
          <a:lstStyle/>
          <a:p>
            <a:pPr indent="0" marL="0">
              <a:buNone/>
            </a:pPr>
            <a:r>
              <a:rPr lang="en-US" sz="900" dirty="0">
                <a:solidFill>
                  <a:srgbClr val="9AA0AA"/>
                </a:solidFill>
                <a:latin typeface="Arial" pitchFamily="34" charset="0"/>
                <a:ea typeface="BIZ UDPGothic" pitchFamily="34" charset="-122"/>
                <a:cs typeface="BIZ UDPGothic" pitchFamily="34" charset="-120"/>
              </a:rPr>
              <a:t>REBOOT JAPAN ── 提言004</a:t>
            </a:r>
            <a:endParaRPr lang="en-US" sz="900" dirty="0"/>
          </a:p>
        </p:txBody>
      </p:sp>
      <p:sp>
        <p:nvSpPr>
          <p:cNvPr id="6" name="Shape 4"/>
          <p:cNvSpPr/>
          <p:nvPr/>
        </p:nvSpPr>
        <p:spPr>
          <a:xfrm>
            <a:off x="640080" y="1828800"/>
            <a:ext cx="10881360" cy="1463040"/>
          </a:xfrm>
          <a:prstGeom prst="roundRect">
            <a:avLst>
              <a:gd name="adj" fmla="val 5000"/>
            </a:avLst>
          </a:prstGeom>
          <a:solidFill>
            <a:srgbClr val="FFFFFF"/>
          </a:solidFill>
          <a:ln w="19050">
            <a:solidFill>
              <a:srgbClr val="C8161D"/>
            </a:solidFill>
            <a:prstDash val="solid"/>
          </a:ln>
        </p:spPr>
      </p:sp>
      <p:pic>
        <p:nvPicPr>
          <p:cNvPr id="7" name="Image 0" descr="preencoded.png">    </p:cNvPr>
          <p:cNvPicPr>
            <a:picLocks noChangeAspect="1"/>
          </p:cNvPicPr>
          <p:nvPr/>
        </p:nvPicPr>
        <p:blipFill>
          <a:blip r:embed="rId1"/>
          <a:stretch>
            <a:fillRect/>
          </a:stretch>
        </p:blipFill>
        <p:spPr>
          <a:xfrm>
            <a:off x="1005840" y="2103120"/>
            <a:ext cx="548640" cy="548640"/>
          </a:xfrm>
          <a:prstGeom prst="rect">
            <a:avLst/>
          </a:prstGeom>
        </p:spPr>
      </p:pic>
      <p:sp>
        <p:nvSpPr>
          <p:cNvPr id="8" name="Text 5"/>
          <p:cNvSpPr/>
          <p:nvPr/>
        </p:nvSpPr>
        <p:spPr>
          <a:xfrm>
            <a:off x="1828800" y="2057400"/>
            <a:ext cx="9418320" cy="457200"/>
          </a:xfrm>
          <a:prstGeom prst="rect">
            <a:avLst/>
          </a:prstGeom>
          <a:noFill/>
          <a:ln/>
        </p:spPr>
        <p:txBody>
          <a:bodyPr wrap="square" lIns="0" tIns="0" rIns="0" bIns="0" rtlCol="0" anchor="ctr"/>
          <a:lstStyle/>
          <a:p>
            <a:pPr indent="0" marL="0">
              <a:buNone/>
            </a:pPr>
            <a:r>
              <a:rPr lang="en-US" sz="1800" b="1" dirty="0">
                <a:solidFill>
                  <a:srgbClr val="16181D"/>
                </a:solidFill>
                <a:latin typeface="Arial" pitchFamily="34" charset="0"/>
                <a:ea typeface="BIZ UDPGothic" pitchFamily="34" charset="-122"/>
                <a:cs typeface="BIZ UDPGothic" pitchFamily="34" charset="-120"/>
              </a:rPr>
              <a:t>対象は「配偶者・子・孫」への承継のみ</a:t>
            </a:r>
            <a:endParaRPr lang="en-US" sz="1800" dirty="0"/>
          </a:p>
        </p:txBody>
      </p:sp>
      <p:sp>
        <p:nvSpPr>
          <p:cNvPr id="9" name="Text 6"/>
          <p:cNvSpPr/>
          <p:nvPr/>
        </p:nvSpPr>
        <p:spPr>
          <a:xfrm>
            <a:off x="1828800" y="2606040"/>
            <a:ext cx="9418320" cy="548640"/>
          </a:xfrm>
          <a:prstGeom prst="rect">
            <a:avLst/>
          </a:prstGeom>
          <a:noFill/>
          <a:ln/>
        </p:spPr>
        <p:txBody>
          <a:bodyPr wrap="square" lIns="0" tIns="0" rIns="0" bIns="0" rtlCol="0" anchor="ctr"/>
          <a:lstStyle/>
          <a:p>
            <a:pPr indent="0" marL="0">
              <a:buNone/>
            </a:pPr>
            <a:r>
              <a:rPr lang="en-US" sz="1300" dirty="0">
                <a:solidFill>
                  <a:srgbClr val="2B2F36"/>
                </a:solidFill>
                <a:latin typeface="Arial" pitchFamily="34" charset="0"/>
                <a:ea typeface="BIZ UDPGothic" pitchFamily="34" charset="-122"/>
                <a:cs typeface="BIZ UDPGothic" pitchFamily="34" charset="-120"/>
              </a:rPr>
              <a:t>兄弟姉妹や祖父母への承継は対象外。あくまで「直系（まっすぐ続く血筋）」だけを対象にします。</a:t>
            </a:r>
            <a:endParaRPr lang="en-US" sz="1300" dirty="0"/>
          </a:p>
        </p:txBody>
      </p:sp>
      <p:sp>
        <p:nvSpPr>
          <p:cNvPr id="10" name="Text 7"/>
          <p:cNvSpPr/>
          <p:nvPr/>
        </p:nvSpPr>
        <p:spPr>
          <a:xfrm>
            <a:off x="640080" y="3611880"/>
            <a:ext cx="10881360" cy="365760"/>
          </a:xfrm>
          <a:prstGeom prst="rect">
            <a:avLst/>
          </a:prstGeom>
          <a:noFill/>
          <a:ln/>
        </p:spPr>
        <p:txBody>
          <a:bodyPr wrap="square" lIns="0" tIns="0" rIns="0" bIns="0" rtlCol="0" anchor="ctr"/>
          <a:lstStyle/>
          <a:p>
            <a:pPr indent="0" marL="0">
              <a:buNone/>
            </a:pPr>
            <a:r>
              <a:rPr lang="en-US" sz="1500" b="1" dirty="0">
                <a:solidFill>
                  <a:srgbClr val="C8161D"/>
                </a:solidFill>
                <a:latin typeface="Arial" pitchFamily="34" charset="0"/>
                <a:ea typeface="BIZ UDPGothic" pitchFamily="34" charset="-122"/>
                <a:cs typeface="BIZ UDPGothic" pitchFamily="34" charset="-120"/>
              </a:rPr>
              <a:t>今までの「猶予」とは違う、シンプルな制度に</a:t>
            </a:r>
            <a:endParaRPr lang="en-US" sz="1500" dirty="0"/>
          </a:p>
        </p:txBody>
      </p:sp>
      <p:sp>
        <p:nvSpPr>
          <p:cNvPr id="11" name="Text 8"/>
          <p:cNvSpPr/>
          <p:nvPr/>
        </p:nvSpPr>
        <p:spPr>
          <a:xfrm>
            <a:off x="822960" y="4023360"/>
            <a:ext cx="10058400" cy="1463040"/>
          </a:xfrm>
          <a:prstGeom prst="rect">
            <a:avLst/>
          </a:prstGeom>
          <a:noFill/>
          <a:ln/>
        </p:spPr>
        <p:txBody>
          <a:bodyPr wrap="square" lIns="0" tIns="0" rIns="0" bIns="0" rtlCol="0" anchor="ctr"/>
          <a:lstStyle/>
          <a:p>
            <a:pPr marL="342900" indent="-342900">
              <a:lnSpc>
                <a:spcPct val="140000"/>
              </a:lnSpc>
              <a:buSzPct val="100000"/>
              <a:buChar char="•"/>
            </a:pPr>
            <a:r>
              <a:rPr lang="en-US" sz="1300" dirty="0">
                <a:solidFill>
                  <a:srgbClr val="2B2F36"/>
                </a:solidFill>
                <a:latin typeface="Arial" pitchFamily="34" charset="0"/>
                <a:ea typeface="BIZ UDPGothic" pitchFamily="34" charset="-122"/>
                <a:cs typeface="BIZ UDPGothic" pitchFamily="34" charset="-120"/>
              </a:rPr>
              <a:t>期限なし・条件を満たし続ける必要なし、の恒久的な制度</a:t>
            </a:r>
            <a:endParaRPr lang="en-US" sz="1300" dirty="0"/>
          </a:p>
          <a:p>
            <a:pPr marL="342900" indent="-342900">
              <a:lnSpc>
                <a:spcPct val="140000"/>
              </a:lnSpc>
              <a:buSzPct val="100000"/>
              <a:buChar char="•"/>
            </a:pPr>
            <a:r>
              <a:rPr lang="en-US" sz="1300" dirty="0">
                <a:solidFill>
                  <a:srgbClr val="2B2F36"/>
                </a:solidFill>
                <a:latin typeface="Arial" pitchFamily="34" charset="0"/>
                <a:ea typeface="BIZ UDPGothic" pitchFamily="34" charset="-122"/>
                <a:cs typeface="BIZ UDPGothic" pitchFamily="34" charset="-120"/>
              </a:rPr>
              <a:t>「いつか取り消されて、利息付きで税金を請求される」という不安がない</a:t>
            </a:r>
            <a:endParaRPr lang="en-US" sz="1300" dirty="0"/>
          </a:p>
          <a:p>
            <a:pPr marL="342900" indent="-342900">
              <a:lnSpc>
                <a:spcPct val="140000"/>
              </a:lnSpc>
              <a:buSzPct val="100000"/>
              <a:buChar char="•"/>
            </a:pPr>
            <a:r>
              <a:rPr lang="en-US" sz="1300" dirty="0">
                <a:solidFill>
                  <a:srgbClr val="2B2F36"/>
                </a:solidFill>
                <a:latin typeface="Arial" pitchFamily="34" charset="0"/>
                <a:ea typeface="BIZ UDPGothic" pitchFamily="34" charset="-122"/>
                <a:cs typeface="BIZ UDPGothic" pitchFamily="34" charset="-120"/>
              </a:rPr>
              <a:t>後継者は、納税の心配をせず、経営に専念できる</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640080" y="411480"/>
            <a:ext cx="10881360" cy="365760"/>
          </a:xfrm>
          <a:prstGeom prst="rect">
            <a:avLst/>
          </a:prstGeom>
          <a:noFill/>
          <a:ln/>
        </p:spPr>
        <p:txBody>
          <a:bodyPr wrap="square" lIns="0" tIns="0" rIns="0" bIns="0" rtlCol="0" anchor="ctr"/>
          <a:lstStyle/>
          <a:p>
            <a:pPr indent="0" marL="0">
              <a:buNone/>
            </a:pPr>
            <a:r>
              <a:rPr lang="en-US" sz="1200" b="1" spc="300" kern="0" dirty="0">
                <a:solidFill>
                  <a:srgbClr val="C8161D"/>
                </a:solidFill>
                <a:latin typeface="Arial" pitchFamily="34" charset="0"/>
                <a:ea typeface="BIZ UDPGothic" pitchFamily="34" charset="-122"/>
                <a:cs typeface="BIZ UDPGothic" pitchFamily="34" charset="-120"/>
              </a:rPr>
              <a:t>3. 柱② ボーダーライン</a:t>
            </a:r>
            <a:endParaRPr lang="en-US" sz="1200" dirty="0"/>
          </a:p>
        </p:txBody>
      </p:sp>
      <p:sp>
        <p:nvSpPr>
          <p:cNvPr id="3" name="Text 1"/>
          <p:cNvSpPr/>
          <p:nvPr/>
        </p:nvSpPr>
        <p:spPr>
          <a:xfrm>
            <a:off x="640080" y="777240"/>
            <a:ext cx="10881360" cy="1005840"/>
          </a:xfrm>
          <a:prstGeom prst="rect">
            <a:avLst/>
          </a:prstGeom>
          <a:noFill/>
          <a:ln/>
        </p:spPr>
        <p:txBody>
          <a:bodyPr wrap="square" lIns="0" tIns="0" rIns="0" bIns="0" rtlCol="0" anchor="ctr"/>
          <a:lstStyle/>
          <a:p>
            <a:pPr indent="0" marL="0">
              <a:buNone/>
            </a:pPr>
            <a:r>
              <a:rPr lang="en-US" sz="3000" b="1" dirty="0">
                <a:solidFill>
                  <a:srgbClr val="16181D"/>
                </a:solidFill>
                <a:latin typeface="Arial" pitchFamily="34" charset="0"/>
                <a:ea typeface="BIZ UDPGothic" pitchFamily="34" charset="-122"/>
                <a:cs typeface="BIZ UDPGothic" pitchFamily="34" charset="-120"/>
              </a:rPr>
              <a:t>なぜ「10億円」なのか</a:t>
            </a:r>
            <a:endParaRPr lang="en-US" sz="3000" dirty="0"/>
          </a:p>
        </p:txBody>
      </p:sp>
      <p:sp>
        <p:nvSpPr>
          <p:cNvPr id="4" name="Text 2"/>
          <p:cNvSpPr/>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2B2F36"/>
                </a:solidFill>
                <a:latin typeface="Arial" pitchFamily="34" charset="0"/>
                <a:ea typeface="BIZ UDPGothic" pitchFamily="34" charset="-122"/>
                <a:cs typeface="BIZ UDPGothic" pitchFamily="34" charset="-120"/>
              </a:rPr>
              <a:t>16</a:t>
            </a:r>
            <a:endParaRPr lang="en-US" sz="1000" dirty="0"/>
          </a:p>
        </p:txBody>
      </p:sp>
      <p:sp>
        <p:nvSpPr>
          <p:cNvPr id="5" name="Text 3"/>
          <p:cNvSpPr/>
          <p:nvPr/>
        </p:nvSpPr>
        <p:spPr>
          <a:xfrm>
            <a:off x="640080" y="6446520"/>
            <a:ext cx="5486400" cy="320040"/>
          </a:xfrm>
          <a:prstGeom prst="rect">
            <a:avLst/>
          </a:prstGeom>
          <a:noFill/>
          <a:ln/>
        </p:spPr>
        <p:txBody>
          <a:bodyPr wrap="square" lIns="0" tIns="0" rIns="0" bIns="0" rtlCol="0" anchor="ctr"/>
          <a:lstStyle/>
          <a:p>
            <a:pPr indent="0" marL="0">
              <a:buNone/>
            </a:pPr>
            <a:r>
              <a:rPr lang="en-US" sz="900" dirty="0">
                <a:solidFill>
                  <a:srgbClr val="9AA0AA"/>
                </a:solidFill>
                <a:latin typeface="Arial" pitchFamily="34" charset="0"/>
                <a:ea typeface="BIZ UDPGothic" pitchFamily="34" charset="-122"/>
                <a:cs typeface="BIZ UDPGothic" pitchFamily="34" charset="-120"/>
              </a:rPr>
              <a:t>REBOOT JAPAN ── 提言004</a:t>
            </a:r>
            <a:endParaRPr lang="en-US" sz="900" dirty="0"/>
          </a:p>
        </p:txBody>
      </p:sp>
      <p:sp>
        <p:nvSpPr>
          <p:cNvPr id="6" name="Shape 4"/>
          <p:cNvSpPr/>
          <p:nvPr/>
        </p:nvSpPr>
        <p:spPr>
          <a:xfrm>
            <a:off x="640080" y="1828800"/>
            <a:ext cx="10881360" cy="1371600"/>
          </a:xfrm>
          <a:prstGeom prst="roundRect">
            <a:avLst>
              <a:gd name="adj" fmla="val 5333"/>
            </a:avLst>
          </a:prstGeom>
          <a:solidFill>
            <a:srgbClr val="FFFFFF"/>
          </a:solidFill>
          <a:ln w="12700">
            <a:solidFill>
              <a:srgbClr val="DDE0E6"/>
            </a:solidFill>
            <a:prstDash val="solid"/>
          </a:ln>
        </p:spPr>
      </p:sp>
      <p:pic>
        <p:nvPicPr>
          <p:cNvPr id="7" name="Image 0" descr="preencoded.png">    </p:cNvPr>
          <p:cNvPicPr>
            <a:picLocks noChangeAspect="1"/>
          </p:cNvPicPr>
          <p:nvPr/>
        </p:nvPicPr>
        <p:blipFill>
          <a:blip r:embed="rId1"/>
          <a:stretch>
            <a:fillRect/>
          </a:stretch>
        </p:blipFill>
        <p:spPr>
          <a:xfrm>
            <a:off x="1005840" y="2103120"/>
            <a:ext cx="548640" cy="548640"/>
          </a:xfrm>
          <a:prstGeom prst="rect">
            <a:avLst/>
          </a:prstGeom>
        </p:spPr>
      </p:pic>
      <p:sp>
        <p:nvSpPr>
          <p:cNvPr id="8" name="Text 5"/>
          <p:cNvSpPr/>
          <p:nvPr/>
        </p:nvSpPr>
        <p:spPr>
          <a:xfrm>
            <a:off x="1828800" y="2103120"/>
            <a:ext cx="9418320" cy="548640"/>
          </a:xfrm>
          <a:prstGeom prst="rect">
            <a:avLst/>
          </a:prstGeom>
          <a:noFill/>
          <a:ln/>
        </p:spPr>
        <p:txBody>
          <a:bodyPr wrap="square" lIns="0" tIns="0" rIns="0" bIns="0" rtlCol="0" anchor="ctr"/>
          <a:lstStyle/>
          <a:p>
            <a:pPr indent="0" marL="0">
              <a:buNone/>
            </a:pPr>
            <a:r>
              <a:rPr lang="en-US" sz="1700" b="1" dirty="0">
                <a:solidFill>
                  <a:srgbClr val="16181D"/>
                </a:solidFill>
                <a:latin typeface="Arial" pitchFamily="34" charset="0"/>
                <a:ea typeface="BIZ UDPGothic" pitchFamily="34" charset="-122"/>
                <a:cs typeface="BIZ UDPGothic" pitchFamily="34" charset="-120"/>
              </a:rPr>
              <a:t>イメージは「宝くじの一等＋前後賞」を合わせた金額</a:t>
            </a:r>
            <a:endParaRPr lang="en-US" sz="1700" dirty="0"/>
          </a:p>
        </p:txBody>
      </p:sp>
      <p:sp>
        <p:nvSpPr>
          <p:cNvPr id="9" name="Text 6"/>
          <p:cNvSpPr/>
          <p:nvPr/>
        </p:nvSpPr>
        <p:spPr>
          <a:xfrm>
            <a:off x="1828800" y="2651760"/>
            <a:ext cx="9418320" cy="457200"/>
          </a:xfrm>
          <a:prstGeom prst="rect">
            <a:avLst/>
          </a:prstGeom>
          <a:noFill/>
          <a:ln/>
        </p:spPr>
        <p:txBody>
          <a:bodyPr wrap="square" lIns="0" tIns="0" rIns="0" bIns="0" rtlCol="0" anchor="ctr"/>
          <a:lstStyle/>
          <a:p>
            <a:pPr indent="0" marL="0">
              <a:buNone/>
            </a:pPr>
            <a:r>
              <a:rPr lang="en-US" sz="1300" dirty="0">
                <a:solidFill>
                  <a:srgbClr val="2B2F36"/>
                </a:solidFill>
                <a:latin typeface="Arial" pitchFamily="34" charset="0"/>
                <a:ea typeface="BIZ UDPGothic" pitchFamily="34" charset="-122"/>
                <a:cs typeface="BIZ UDPGothic" pitchFamily="34" charset="-120"/>
              </a:rPr>
              <a:t>誰もが「これはもう、桁違いの金額だ」と直感的に分かるラインを基準にしています。</a:t>
            </a:r>
            <a:endParaRPr lang="en-US" sz="1300" dirty="0"/>
          </a:p>
        </p:txBody>
      </p:sp>
      <p:sp>
        <p:nvSpPr>
          <p:cNvPr id="10" name="Text 7"/>
          <p:cNvSpPr/>
          <p:nvPr/>
        </p:nvSpPr>
        <p:spPr>
          <a:xfrm>
            <a:off x="640080" y="3520440"/>
            <a:ext cx="10881360" cy="365760"/>
          </a:xfrm>
          <a:prstGeom prst="rect">
            <a:avLst/>
          </a:prstGeom>
          <a:noFill/>
          <a:ln/>
        </p:spPr>
        <p:txBody>
          <a:bodyPr wrap="square" lIns="0" tIns="0" rIns="0" bIns="0" rtlCol="0" anchor="ctr"/>
          <a:lstStyle/>
          <a:p>
            <a:pPr indent="0" marL="0">
              <a:buNone/>
            </a:pPr>
            <a:r>
              <a:rPr lang="en-US" sz="1500" b="1" dirty="0">
                <a:solidFill>
                  <a:srgbClr val="C8161D"/>
                </a:solidFill>
                <a:latin typeface="Arial" pitchFamily="34" charset="0"/>
                <a:ea typeface="BIZ UDPGothic" pitchFamily="34" charset="-122"/>
                <a:cs typeface="BIZ UDPGothic" pitchFamily="34" charset="-120"/>
              </a:rPr>
              <a:t>対象になるのは、本当にごく一部の人だけ</a:t>
            </a:r>
            <a:endParaRPr lang="en-US" sz="1500" dirty="0"/>
          </a:p>
        </p:txBody>
      </p:sp>
      <p:sp>
        <p:nvSpPr>
          <p:cNvPr id="11" name="Text 8"/>
          <p:cNvSpPr/>
          <p:nvPr/>
        </p:nvSpPr>
        <p:spPr>
          <a:xfrm>
            <a:off x="640080" y="3931920"/>
            <a:ext cx="10881360" cy="914400"/>
          </a:xfrm>
          <a:prstGeom prst="rect">
            <a:avLst/>
          </a:prstGeom>
          <a:noFill/>
          <a:ln/>
        </p:spPr>
        <p:txBody>
          <a:bodyPr wrap="square" lIns="0" tIns="0" rIns="0" bIns="0" rtlCol="0" anchor="ctr"/>
          <a:lstStyle/>
          <a:p>
            <a:pPr indent="0" marL="0">
              <a:lnSpc>
                <a:spcPct val="140000"/>
              </a:lnSpc>
              <a:buNone/>
            </a:pPr>
            <a:r>
              <a:rPr lang="en-US" sz="1350" dirty="0">
                <a:solidFill>
                  <a:srgbClr val="2B2F36"/>
                </a:solidFill>
                <a:latin typeface="Arial" pitchFamily="34" charset="0"/>
                <a:ea typeface="BIZ UDPGothic" pitchFamily="34" charset="-122"/>
                <a:cs typeface="BIZ UDPGothic" pitchFamily="34" charset="-120"/>
              </a:rPr>
              <a:t>前のスライドで見たとおり、5億円を超える人ですら年間2.2%しかいません。10億円を超える人は、さらにその一部です。中産階級・アッパーミドル層は完全に対象から外れます。</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640080" y="411480"/>
            <a:ext cx="10881360" cy="365760"/>
          </a:xfrm>
          <a:prstGeom prst="rect">
            <a:avLst/>
          </a:prstGeom>
          <a:noFill/>
          <a:ln/>
        </p:spPr>
        <p:txBody>
          <a:bodyPr wrap="square" lIns="0" tIns="0" rIns="0" bIns="0" rtlCol="0" anchor="ctr"/>
          <a:lstStyle/>
          <a:p>
            <a:pPr indent="0" marL="0">
              <a:buNone/>
            </a:pPr>
            <a:r>
              <a:rPr lang="en-US" sz="1200" b="1" spc="300" kern="0" dirty="0">
                <a:solidFill>
                  <a:srgbClr val="C8161D"/>
                </a:solidFill>
                <a:latin typeface="Arial" pitchFamily="34" charset="0"/>
                <a:ea typeface="BIZ UDPGothic" pitchFamily="34" charset="-122"/>
                <a:cs typeface="BIZ UDPGothic" pitchFamily="34" charset="-120"/>
              </a:rPr>
              <a:t>3. 柱② 税率のしくみ</a:t>
            </a:r>
            <a:endParaRPr lang="en-US" sz="1200" dirty="0"/>
          </a:p>
        </p:txBody>
      </p:sp>
      <p:sp>
        <p:nvSpPr>
          <p:cNvPr id="3" name="Text 1"/>
          <p:cNvSpPr/>
          <p:nvPr/>
        </p:nvSpPr>
        <p:spPr>
          <a:xfrm>
            <a:off x="640080" y="777240"/>
            <a:ext cx="10881360" cy="1005840"/>
          </a:xfrm>
          <a:prstGeom prst="rect">
            <a:avLst/>
          </a:prstGeom>
          <a:noFill/>
          <a:ln/>
        </p:spPr>
        <p:txBody>
          <a:bodyPr wrap="square" lIns="0" tIns="0" rIns="0" bIns="0" rtlCol="0" anchor="ctr"/>
          <a:lstStyle/>
          <a:p>
            <a:pPr indent="0" marL="0">
              <a:buNone/>
            </a:pPr>
            <a:r>
              <a:rPr lang="en-US" sz="3000" b="1" dirty="0">
                <a:solidFill>
                  <a:srgbClr val="16181D"/>
                </a:solidFill>
                <a:latin typeface="Arial" pitchFamily="34" charset="0"/>
                <a:ea typeface="BIZ UDPGothic" pitchFamily="34" charset="-122"/>
                <a:cs typeface="BIZ UDPGothic" pitchFamily="34" charset="-120"/>
              </a:rPr>
              <a:t>10億円を超えた「分だけ」に、フラット30%</a:t>
            </a:r>
            <a:endParaRPr lang="en-US" sz="3000" dirty="0"/>
          </a:p>
        </p:txBody>
      </p:sp>
      <p:sp>
        <p:nvSpPr>
          <p:cNvPr id="4" name="Text 2"/>
          <p:cNvSpPr/>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2B2F36"/>
                </a:solidFill>
                <a:latin typeface="Arial" pitchFamily="34" charset="0"/>
                <a:ea typeface="BIZ UDPGothic" pitchFamily="34" charset="-122"/>
                <a:cs typeface="BIZ UDPGothic" pitchFamily="34" charset="-120"/>
              </a:rPr>
              <a:t>17</a:t>
            </a:r>
            <a:endParaRPr lang="en-US" sz="1000" dirty="0"/>
          </a:p>
        </p:txBody>
      </p:sp>
      <p:sp>
        <p:nvSpPr>
          <p:cNvPr id="5" name="Text 3"/>
          <p:cNvSpPr/>
          <p:nvPr/>
        </p:nvSpPr>
        <p:spPr>
          <a:xfrm>
            <a:off x="640080" y="6446520"/>
            <a:ext cx="5486400" cy="320040"/>
          </a:xfrm>
          <a:prstGeom prst="rect">
            <a:avLst/>
          </a:prstGeom>
          <a:noFill/>
          <a:ln/>
        </p:spPr>
        <p:txBody>
          <a:bodyPr wrap="square" lIns="0" tIns="0" rIns="0" bIns="0" rtlCol="0" anchor="ctr"/>
          <a:lstStyle/>
          <a:p>
            <a:pPr indent="0" marL="0">
              <a:buNone/>
            </a:pPr>
            <a:r>
              <a:rPr lang="en-US" sz="900" dirty="0">
                <a:solidFill>
                  <a:srgbClr val="9AA0AA"/>
                </a:solidFill>
                <a:latin typeface="Arial" pitchFamily="34" charset="0"/>
                <a:ea typeface="BIZ UDPGothic" pitchFamily="34" charset="-122"/>
                <a:cs typeface="BIZ UDPGothic" pitchFamily="34" charset="-120"/>
              </a:rPr>
              <a:t>REBOOT JAPAN ── 提言004</a:t>
            </a:r>
            <a:endParaRPr lang="en-US" sz="900" dirty="0"/>
          </a:p>
        </p:txBody>
      </p:sp>
      <p:sp>
        <p:nvSpPr>
          <p:cNvPr id="6" name="Shape 4"/>
          <p:cNvSpPr/>
          <p:nvPr/>
        </p:nvSpPr>
        <p:spPr>
          <a:xfrm>
            <a:off x="640080" y="1783080"/>
            <a:ext cx="10881360" cy="1554480"/>
          </a:xfrm>
          <a:prstGeom prst="roundRect">
            <a:avLst>
              <a:gd name="adj" fmla="val 4706"/>
            </a:avLst>
          </a:prstGeom>
          <a:solidFill>
            <a:srgbClr val="FFFFFF"/>
          </a:solidFill>
          <a:ln w="12700">
            <a:solidFill>
              <a:srgbClr val="DDE0E6"/>
            </a:solidFill>
            <a:prstDash val="solid"/>
          </a:ln>
        </p:spPr>
      </p:sp>
      <p:sp>
        <p:nvSpPr>
          <p:cNvPr id="7" name="Text 5"/>
          <p:cNvSpPr/>
          <p:nvPr/>
        </p:nvSpPr>
        <p:spPr>
          <a:xfrm>
            <a:off x="1005840" y="2011680"/>
            <a:ext cx="10149840" cy="457200"/>
          </a:xfrm>
          <a:prstGeom prst="rect">
            <a:avLst/>
          </a:prstGeom>
          <a:noFill/>
          <a:ln/>
        </p:spPr>
        <p:txBody>
          <a:bodyPr wrap="square" lIns="0" tIns="0" rIns="0" bIns="0" rtlCol="0" anchor="ctr"/>
          <a:lstStyle/>
          <a:p>
            <a:pPr indent="0" marL="0">
              <a:buNone/>
            </a:pPr>
            <a:r>
              <a:rPr lang="en-US" sz="1600" b="1" dirty="0">
                <a:solidFill>
                  <a:srgbClr val="16181D"/>
                </a:solidFill>
                <a:latin typeface="Arial" pitchFamily="34" charset="0"/>
                <a:ea typeface="BIZ UDPGothic" pitchFamily="34" charset="-122"/>
                <a:cs typeface="BIZ UDPGothic" pitchFamily="34" charset="-120"/>
              </a:rPr>
              <a:t>課税遺産額 ≦ 10億円　→　税額 0円</a:t>
            </a:r>
            <a:endParaRPr lang="en-US" sz="1600" dirty="0"/>
          </a:p>
        </p:txBody>
      </p:sp>
      <p:sp>
        <p:nvSpPr>
          <p:cNvPr id="8" name="Text 6"/>
          <p:cNvSpPr/>
          <p:nvPr/>
        </p:nvSpPr>
        <p:spPr>
          <a:xfrm>
            <a:off x="1005840" y="2606040"/>
            <a:ext cx="10149840" cy="457200"/>
          </a:xfrm>
          <a:prstGeom prst="rect">
            <a:avLst/>
          </a:prstGeom>
          <a:noFill/>
          <a:ln/>
        </p:spPr>
        <p:txBody>
          <a:bodyPr wrap="square" lIns="0" tIns="0" rIns="0" bIns="0" rtlCol="0" anchor="ctr"/>
          <a:lstStyle/>
          <a:p>
            <a:pPr indent="0" marL="0">
              <a:buNone/>
            </a:pPr>
            <a:r>
              <a:rPr lang="en-US" sz="1600" b="1" dirty="0">
                <a:solidFill>
                  <a:srgbClr val="C8161D"/>
                </a:solidFill>
                <a:latin typeface="Arial" pitchFamily="34" charset="0"/>
                <a:ea typeface="BIZ UDPGothic" pitchFamily="34" charset="-122"/>
                <a:cs typeface="BIZ UDPGothic" pitchFamily="34" charset="-120"/>
              </a:rPr>
              <a:t>課税遺産額 &gt; 10億円　→　（課税遺産額 − 10億円）× 30%</a:t>
            </a:r>
            <a:endParaRPr lang="en-US" sz="1600" dirty="0"/>
          </a:p>
        </p:txBody>
      </p:sp>
      <p:sp>
        <p:nvSpPr>
          <p:cNvPr id="9" name="Text 7"/>
          <p:cNvSpPr/>
          <p:nvPr/>
        </p:nvSpPr>
        <p:spPr>
          <a:xfrm>
            <a:off x="640080" y="3611880"/>
            <a:ext cx="5486400" cy="320040"/>
          </a:xfrm>
          <a:prstGeom prst="rect">
            <a:avLst/>
          </a:prstGeom>
          <a:noFill/>
          <a:ln/>
        </p:spPr>
        <p:txBody>
          <a:bodyPr wrap="square" lIns="0" tIns="0" rIns="0" bIns="0" rtlCol="0" anchor="ctr"/>
          <a:lstStyle/>
          <a:p>
            <a:pPr indent="0" marL="0">
              <a:buNone/>
            </a:pPr>
            <a:r>
              <a:rPr lang="en-US" sz="1300" b="1" dirty="0">
                <a:solidFill>
                  <a:srgbClr val="C8161D"/>
                </a:solidFill>
                <a:latin typeface="Arial" pitchFamily="34" charset="0"/>
                <a:ea typeface="BIZ UDPGothic" pitchFamily="34" charset="-122"/>
                <a:cs typeface="BIZ UDPGothic" pitchFamily="34" charset="-120"/>
              </a:rPr>
              <a:t>用語解説：「崖」がない、ということ</a:t>
            </a:r>
            <a:endParaRPr lang="en-US" sz="1300" dirty="0"/>
          </a:p>
        </p:txBody>
      </p:sp>
      <p:sp>
        <p:nvSpPr>
          <p:cNvPr id="10" name="Text 8"/>
          <p:cNvSpPr/>
          <p:nvPr/>
        </p:nvSpPr>
        <p:spPr>
          <a:xfrm>
            <a:off x="640080" y="3977640"/>
            <a:ext cx="10881360" cy="640080"/>
          </a:xfrm>
          <a:prstGeom prst="rect">
            <a:avLst/>
          </a:prstGeom>
          <a:noFill/>
          <a:ln/>
        </p:spPr>
        <p:txBody>
          <a:bodyPr wrap="square" lIns="0" tIns="0" rIns="0" bIns="0" rtlCol="0" anchor="ctr"/>
          <a:lstStyle/>
          <a:p>
            <a:pPr indent="0" marL="0">
              <a:lnSpc>
                <a:spcPct val="135000"/>
              </a:lnSpc>
              <a:buNone/>
            </a:pPr>
            <a:r>
              <a:rPr lang="en-US" sz="1300" dirty="0">
                <a:solidFill>
                  <a:srgbClr val="2B2F36"/>
                </a:solidFill>
                <a:latin typeface="Arial" pitchFamily="34" charset="0"/>
                <a:ea typeface="BIZ UDPGothic" pitchFamily="34" charset="-122"/>
                <a:cs typeface="BIZ UDPGothic" pitchFamily="34" charset="-120"/>
              </a:rPr>
              <a:t>10億円ちょうどの人と、10億円1円の人とで、税金の差はほとんどありません。線を1円超えた瞬間に全額へ課税される「崖」のような仕組みにはしません。</a:t>
            </a:r>
            <a:endParaRPr lang="en-US" sz="1300" dirty="0"/>
          </a:p>
        </p:txBody>
      </p:sp>
      <p:sp>
        <p:nvSpPr>
          <p:cNvPr id="11" name="Text 9"/>
          <p:cNvSpPr/>
          <p:nvPr/>
        </p:nvSpPr>
        <p:spPr>
          <a:xfrm>
            <a:off x="640080" y="4754880"/>
            <a:ext cx="10881360" cy="548640"/>
          </a:xfrm>
          <a:prstGeom prst="rect">
            <a:avLst/>
          </a:prstGeom>
          <a:noFill/>
          <a:ln/>
        </p:spPr>
        <p:txBody>
          <a:bodyPr wrap="square" lIns="0" tIns="0" rIns="0" bIns="0" rtlCol="0" anchor="ctr"/>
          <a:lstStyle/>
          <a:p>
            <a:pPr indent="0" marL="0">
              <a:lnSpc>
                <a:spcPct val="130000"/>
              </a:lnSpc>
              <a:buNone/>
            </a:pPr>
            <a:r>
              <a:rPr lang="en-US" sz="1250" i="1" dirty="0">
                <a:solidFill>
                  <a:srgbClr val="4B515C"/>
                </a:solidFill>
                <a:latin typeface="Arial" pitchFamily="34" charset="0"/>
                <a:ea typeface="BIZ UDPGothic" pitchFamily="34" charset="-122"/>
                <a:cs typeface="BIZ UDPGothic" pitchFamily="34" charset="-120"/>
              </a:rPr>
              <a:t>また、「稼ぐほど税率がどんどん上がる」仕組み（累進課税）も採用しません。超えた分にはどこまでも同じ30%です。</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640080" y="411480"/>
            <a:ext cx="10881360" cy="365760"/>
          </a:xfrm>
          <a:prstGeom prst="rect">
            <a:avLst/>
          </a:prstGeom>
          <a:noFill/>
          <a:ln/>
        </p:spPr>
        <p:txBody>
          <a:bodyPr wrap="square" lIns="0" tIns="0" rIns="0" bIns="0" rtlCol="0" anchor="ctr"/>
          <a:lstStyle/>
          <a:p>
            <a:pPr indent="0" marL="0">
              <a:buNone/>
            </a:pPr>
            <a:r>
              <a:rPr lang="en-US" sz="1200" b="1" spc="300" kern="0" dirty="0">
                <a:solidFill>
                  <a:srgbClr val="C8161D"/>
                </a:solidFill>
                <a:latin typeface="Arial" pitchFamily="34" charset="0"/>
                <a:ea typeface="BIZ UDPGothic" pitchFamily="34" charset="-122"/>
                <a:cs typeface="BIZ UDPGothic" pitchFamily="34" charset="-120"/>
              </a:rPr>
              <a:t>3. 柱③ 住んでいる家を守る</a:t>
            </a:r>
            <a:endParaRPr lang="en-US" sz="1200" dirty="0"/>
          </a:p>
        </p:txBody>
      </p:sp>
      <p:sp>
        <p:nvSpPr>
          <p:cNvPr id="3" name="Text 1"/>
          <p:cNvSpPr/>
          <p:nvPr/>
        </p:nvSpPr>
        <p:spPr>
          <a:xfrm>
            <a:off x="640080" y="777240"/>
            <a:ext cx="10881360" cy="1005840"/>
          </a:xfrm>
          <a:prstGeom prst="rect">
            <a:avLst/>
          </a:prstGeom>
          <a:noFill/>
          <a:ln/>
        </p:spPr>
        <p:txBody>
          <a:bodyPr wrap="square" lIns="0" tIns="0" rIns="0" bIns="0" rtlCol="0" anchor="ctr"/>
          <a:lstStyle/>
          <a:p>
            <a:pPr indent="0" marL="0">
              <a:buNone/>
            </a:pPr>
            <a:r>
              <a:rPr lang="en-US" sz="3000" b="1" dirty="0">
                <a:solidFill>
                  <a:srgbClr val="16181D"/>
                </a:solidFill>
                <a:latin typeface="Arial" pitchFamily="34" charset="0"/>
                <a:ea typeface="BIZ UDPGothic" pitchFamily="34" charset="-122"/>
                <a:cs typeface="BIZ UDPGothic" pitchFamily="34" charset="-120"/>
              </a:rPr>
              <a:t>10年間住み続ければ、実家は税金の対象外に</a:t>
            </a:r>
            <a:endParaRPr lang="en-US" sz="3000" dirty="0"/>
          </a:p>
        </p:txBody>
      </p:sp>
      <p:sp>
        <p:nvSpPr>
          <p:cNvPr id="4" name="Text 2"/>
          <p:cNvSpPr/>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2B2F36"/>
                </a:solidFill>
                <a:latin typeface="Arial" pitchFamily="34" charset="0"/>
                <a:ea typeface="BIZ UDPGothic" pitchFamily="34" charset="-122"/>
                <a:cs typeface="BIZ UDPGothic" pitchFamily="34" charset="-120"/>
              </a:rPr>
              <a:t>18</a:t>
            </a:r>
            <a:endParaRPr lang="en-US" sz="1000" dirty="0"/>
          </a:p>
        </p:txBody>
      </p:sp>
      <p:sp>
        <p:nvSpPr>
          <p:cNvPr id="5" name="Text 3"/>
          <p:cNvSpPr/>
          <p:nvPr/>
        </p:nvSpPr>
        <p:spPr>
          <a:xfrm>
            <a:off x="640080" y="6446520"/>
            <a:ext cx="5486400" cy="320040"/>
          </a:xfrm>
          <a:prstGeom prst="rect">
            <a:avLst/>
          </a:prstGeom>
          <a:noFill/>
          <a:ln/>
        </p:spPr>
        <p:txBody>
          <a:bodyPr wrap="square" lIns="0" tIns="0" rIns="0" bIns="0" rtlCol="0" anchor="ctr"/>
          <a:lstStyle/>
          <a:p>
            <a:pPr indent="0" marL="0">
              <a:buNone/>
            </a:pPr>
            <a:r>
              <a:rPr lang="en-US" sz="900" dirty="0">
                <a:solidFill>
                  <a:srgbClr val="9AA0AA"/>
                </a:solidFill>
                <a:latin typeface="Arial" pitchFamily="34" charset="0"/>
                <a:ea typeface="BIZ UDPGothic" pitchFamily="34" charset="-122"/>
                <a:cs typeface="BIZ UDPGothic" pitchFamily="34" charset="-120"/>
              </a:rPr>
              <a:t>REBOOT JAPAN ── 提言004</a:t>
            </a:r>
            <a:endParaRPr lang="en-US" sz="900" dirty="0"/>
          </a:p>
        </p:txBody>
      </p:sp>
      <p:sp>
        <p:nvSpPr>
          <p:cNvPr id="6" name="Shape 4"/>
          <p:cNvSpPr/>
          <p:nvPr/>
        </p:nvSpPr>
        <p:spPr>
          <a:xfrm>
            <a:off x="640080" y="1828800"/>
            <a:ext cx="10881360" cy="1783080"/>
          </a:xfrm>
          <a:prstGeom prst="roundRect">
            <a:avLst>
              <a:gd name="adj" fmla="val 4103"/>
            </a:avLst>
          </a:prstGeom>
          <a:solidFill>
            <a:srgbClr val="FFFFFF"/>
          </a:solidFill>
          <a:ln w="12700">
            <a:solidFill>
              <a:srgbClr val="DDE0E6"/>
            </a:solidFill>
            <a:prstDash val="solid"/>
          </a:ln>
        </p:spPr>
      </p:sp>
      <p:sp>
        <p:nvSpPr>
          <p:cNvPr id="7" name="Shape 5"/>
          <p:cNvSpPr/>
          <p:nvPr/>
        </p:nvSpPr>
        <p:spPr>
          <a:xfrm>
            <a:off x="932688" y="2121408"/>
            <a:ext cx="502920" cy="502920"/>
          </a:xfrm>
          <a:prstGeom prst="ellipse">
            <a:avLst/>
          </a:prstGeom>
          <a:solidFill>
            <a:srgbClr val="F5F6F8"/>
          </a:solidFill>
          <a:ln w="12700">
            <a:solidFill>
              <a:srgbClr val="DDE0E6"/>
            </a:solidFill>
            <a:prstDash val="solid"/>
          </a:ln>
        </p:spPr>
      </p:sp>
      <p:pic>
        <p:nvPicPr>
          <p:cNvPr id="8" name="Image 0" descr="preencoded.png">    </p:cNvPr>
          <p:cNvPicPr>
            <a:picLocks noChangeAspect="1"/>
          </p:cNvPicPr>
          <p:nvPr/>
        </p:nvPicPr>
        <p:blipFill>
          <a:blip r:embed="rId1"/>
          <a:stretch>
            <a:fillRect/>
          </a:stretch>
        </p:blipFill>
        <p:spPr>
          <a:xfrm>
            <a:off x="1051560" y="2240280"/>
            <a:ext cx="265176" cy="265176"/>
          </a:xfrm>
          <a:prstGeom prst="rect">
            <a:avLst/>
          </a:prstGeom>
        </p:spPr>
      </p:pic>
      <p:sp>
        <p:nvSpPr>
          <p:cNvPr id="9" name="Text 6"/>
          <p:cNvSpPr/>
          <p:nvPr/>
        </p:nvSpPr>
        <p:spPr>
          <a:xfrm>
            <a:off x="932688" y="2788920"/>
            <a:ext cx="10296144" cy="502920"/>
          </a:xfrm>
          <a:prstGeom prst="rect">
            <a:avLst/>
          </a:prstGeom>
          <a:noFill/>
          <a:ln/>
        </p:spPr>
        <p:txBody>
          <a:bodyPr wrap="square" lIns="0" tIns="0" rIns="0" bIns="0" rtlCol="0" anchor="t"/>
          <a:lstStyle/>
          <a:p>
            <a:pPr indent="0" marL="0">
              <a:lnSpc>
                <a:spcPct val="120000"/>
              </a:lnSpc>
              <a:buNone/>
            </a:pPr>
            <a:r>
              <a:rPr lang="en-US" sz="1500" b="1" dirty="0">
                <a:solidFill>
                  <a:srgbClr val="16181D"/>
                </a:solidFill>
                <a:latin typeface="Arial" pitchFamily="34" charset="0"/>
                <a:ea typeface="BIZ UDPGothic" pitchFamily="34" charset="-122"/>
                <a:cs typeface="BIZ UDPGothic" pitchFamily="34" charset="-120"/>
              </a:rPr>
              <a:t>住んでいる家（居住用財産）は、評価額をまるごとゼロに</a:t>
            </a:r>
            <a:endParaRPr lang="en-US" sz="1500" dirty="0"/>
          </a:p>
        </p:txBody>
      </p:sp>
      <p:sp>
        <p:nvSpPr>
          <p:cNvPr id="10" name="Text 7"/>
          <p:cNvSpPr/>
          <p:nvPr/>
        </p:nvSpPr>
        <p:spPr>
          <a:xfrm>
            <a:off x="932688" y="3383280"/>
            <a:ext cx="10296144" cy="27432"/>
          </a:xfrm>
          <a:prstGeom prst="rect">
            <a:avLst/>
          </a:prstGeom>
          <a:noFill/>
          <a:ln/>
        </p:spPr>
        <p:txBody>
          <a:bodyPr wrap="square" lIns="0" tIns="0" rIns="0" bIns="0" rtlCol="0" anchor="t"/>
          <a:lstStyle/>
          <a:p>
            <a:pPr indent="0" marL="0">
              <a:lnSpc>
                <a:spcPct val="125000"/>
              </a:lnSpc>
              <a:buNone/>
            </a:pPr>
            <a:r>
              <a:rPr lang="en-US" sz="1200" dirty="0">
                <a:solidFill>
                  <a:srgbClr val="2B2F36"/>
                </a:solidFill>
                <a:latin typeface="Arial" pitchFamily="34" charset="0"/>
                <a:ea typeface="BIZ UDPGothic" pitchFamily="34" charset="-122"/>
                <a:cs typeface="BIZ UDPGothic" pitchFamily="34" charset="-120"/>
              </a:rPr>
              <a:t>条件は「相続後10年間、そこに住み続けること」。目安は1か月のうち15日以上、実際に生活していることです。</a:t>
            </a:r>
            <a:endParaRPr lang="en-US" sz="1200" dirty="0"/>
          </a:p>
        </p:txBody>
      </p:sp>
      <p:sp>
        <p:nvSpPr>
          <p:cNvPr id="11" name="Text 8"/>
          <p:cNvSpPr/>
          <p:nvPr/>
        </p:nvSpPr>
        <p:spPr>
          <a:xfrm>
            <a:off x="640080" y="3840480"/>
            <a:ext cx="5486400" cy="365760"/>
          </a:xfrm>
          <a:prstGeom prst="rect">
            <a:avLst/>
          </a:prstGeom>
          <a:noFill/>
          <a:ln/>
        </p:spPr>
        <p:txBody>
          <a:bodyPr wrap="square" lIns="0" tIns="0" rIns="0" bIns="0" rtlCol="0" anchor="ctr"/>
          <a:lstStyle/>
          <a:p>
            <a:pPr indent="0" marL="0">
              <a:buNone/>
            </a:pPr>
            <a:r>
              <a:rPr lang="en-US" sz="1400" b="1" dirty="0">
                <a:solidFill>
                  <a:srgbClr val="C8161D"/>
                </a:solidFill>
                <a:latin typeface="Arial" pitchFamily="34" charset="0"/>
                <a:ea typeface="BIZ UDPGothic" pitchFamily="34" charset="-122"/>
                <a:cs typeface="BIZ UDPGothic" pitchFamily="34" charset="-120"/>
              </a:rPr>
              <a:t>条件が免除されるケース</a:t>
            </a:r>
            <a:endParaRPr lang="en-US" sz="1400" dirty="0"/>
          </a:p>
        </p:txBody>
      </p:sp>
      <p:sp>
        <p:nvSpPr>
          <p:cNvPr id="12" name="Text 9"/>
          <p:cNvSpPr/>
          <p:nvPr/>
        </p:nvSpPr>
        <p:spPr>
          <a:xfrm>
            <a:off x="822960" y="4251960"/>
            <a:ext cx="10058400" cy="822960"/>
          </a:xfrm>
          <a:prstGeom prst="rect">
            <a:avLst/>
          </a:prstGeom>
          <a:noFill/>
          <a:ln/>
        </p:spPr>
        <p:txBody>
          <a:bodyPr wrap="square" lIns="0" tIns="0" rIns="0" bIns="0" rtlCol="0" anchor="ctr"/>
          <a:lstStyle/>
          <a:p>
            <a:pPr marL="342900" indent="-342900">
              <a:lnSpc>
                <a:spcPct val="135000"/>
              </a:lnSpc>
              <a:buSzPct val="100000"/>
              <a:buChar char="•"/>
            </a:pPr>
            <a:r>
              <a:rPr lang="en-US" sz="1300" dirty="0">
                <a:solidFill>
                  <a:srgbClr val="2B2F36"/>
                </a:solidFill>
                <a:latin typeface="Arial" pitchFamily="34" charset="0"/>
                <a:ea typeface="BIZ UDPGothic" pitchFamily="34" charset="-122"/>
                <a:cs typeface="BIZ UDPGothic" pitchFamily="34" charset="-120"/>
              </a:rPr>
              <a:t>立ち退きや区画整理など、公的な理由</a:t>
            </a:r>
            <a:endParaRPr lang="en-US" sz="1300" dirty="0"/>
          </a:p>
          <a:p>
            <a:pPr marL="342900" indent="-342900">
              <a:lnSpc>
                <a:spcPct val="135000"/>
              </a:lnSpc>
              <a:buSzPct val="100000"/>
              <a:buChar char="•"/>
            </a:pPr>
            <a:r>
              <a:rPr lang="en-US" sz="1300" dirty="0">
                <a:solidFill>
                  <a:srgbClr val="2B2F36"/>
                </a:solidFill>
                <a:latin typeface="Arial" pitchFamily="34" charset="0"/>
                <a:ea typeface="BIZ UDPGothic" pitchFamily="34" charset="-122"/>
                <a:cs typeface="BIZ UDPGothic" pitchFamily="34" charset="-120"/>
              </a:rPr>
              <a:t>介護施設への入所など、病気や健康上の理由</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640080" y="411480"/>
            <a:ext cx="10881360" cy="365760"/>
          </a:xfrm>
          <a:prstGeom prst="rect">
            <a:avLst/>
          </a:prstGeom>
          <a:noFill/>
          <a:ln/>
        </p:spPr>
        <p:txBody>
          <a:bodyPr wrap="square" lIns="0" tIns="0" rIns="0" bIns="0" rtlCol="0" anchor="ctr"/>
          <a:lstStyle/>
          <a:p>
            <a:pPr indent="0" marL="0">
              <a:buNone/>
            </a:pPr>
            <a:r>
              <a:rPr lang="en-US" sz="1200" b="1" spc="300" kern="0" dirty="0">
                <a:solidFill>
                  <a:srgbClr val="C8161D"/>
                </a:solidFill>
                <a:latin typeface="Arial" pitchFamily="34" charset="0"/>
                <a:ea typeface="BIZ UDPGothic" pitchFamily="34" charset="-122"/>
                <a:cs typeface="BIZ UDPGothic" pitchFamily="34" charset="-120"/>
              </a:rPr>
              <a:t>3. 柱③ ズルを防ぐしくみ</a:t>
            </a:r>
            <a:endParaRPr lang="en-US" sz="1200" dirty="0"/>
          </a:p>
        </p:txBody>
      </p:sp>
      <p:sp>
        <p:nvSpPr>
          <p:cNvPr id="3" name="Text 1"/>
          <p:cNvSpPr/>
          <p:nvPr/>
        </p:nvSpPr>
        <p:spPr>
          <a:xfrm>
            <a:off x="640080" y="777240"/>
            <a:ext cx="10881360" cy="1005840"/>
          </a:xfrm>
          <a:prstGeom prst="rect">
            <a:avLst/>
          </a:prstGeom>
          <a:noFill/>
          <a:ln/>
        </p:spPr>
        <p:txBody>
          <a:bodyPr wrap="square" lIns="0" tIns="0" rIns="0" bIns="0" rtlCol="0" anchor="ctr"/>
          <a:lstStyle/>
          <a:p>
            <a:pPr indent="0" marL="0">
              <a:buNone/>
            </a:pPr>
            <a:r>
              <a:rPr lang="en-US" sz="3000" b="1" dirty="0">
                <a:solidFill>
                  <a:srgbClr val="16181D"/>
                </a:solidFill>
                <a:latin typeface="Arial" pitchFamily="34" charset="0"/>
                <a:ea typeface="BIZ UDPGothic" pitchFamily="34" charset="-122"/>
                <a:cs typeface="BIZ UDPGothic" pitchFamily="34" charset="-120"/>
              </a:rPr>
              <a:t>条件を破ったら、利息付きでさかのぼって課税</a:t>
            </a:r>
            <a:endParaRPr lang="en-US" sz="3000" dirty="0"/>
          </a:p>
        </p:txBody>
      </p:sp>
      <p:sp>
        <p:nvSpPr>
          <p:cNvPr id="4" name="Text 2"/>
          <p:cNvSpPr/>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2B2F36"/>
                </a:solidFill>
                <a:latin typeface="Arial" pitchFamily="34" charset="0"/>
                <a:ea typeface="BIZ UDPGothic" pitchFamily="34" charset="-122"/>
                <a:cs typeface="BIZ UDPGothic" pitchFamily="34" charset="-120"/>
              </a:rPr>
              <a:t>19</a:t>
            </a:r>
            <a:endParaRPr lang="en-US" sz="1000" dirty="0"/>
          </a:p>
        </p:txBody>
      </p:sp>
      <p:sp>
        <p:nvSpPr>
          <p:cNvPr id="5" name="Text 3"/>
          <p:cNvSpPr/>
          <p:nvPr/>
        </p:nvSpPr>
        <p:spPr>
          <a:xfrm>
            <a:off x="640080" y="6446520"/>
            <a:ext cx="5486400" cy="320040"/>
          </a:xfrm>
          <a:prstGeom prst="rect">
            <a:avLst/>
          </a:prstGeom>
          <a:noFill/>
          <a:ln/>
        </p:spPr>
        <p:txBody>
          <a:bodyPr wrap="square" lIns="0" tIns="0" rIns="0" bIns="0" rtlCol="0" anchor="ctr"/>
          <a:lstStyle/>
          <a:p>
            <a:pPr indent="0" marL="0">
              <a:buNone/>
            </a:pPr>
            <a:r>
              <a:rPr lang="en-US" sz="900" dirty="0">
                <a:solidFill>
                  <a:srgbClr val="9AA0AA"/>
                </a:solidFill>
                <a:latin typeface="Arial" pitchFamily="34" charset="0"/>
                <a:ea typeface="BIZ UDPGothic" pitchFamily="34" charset="-122"/>
                <a:cs typeface="BIZ UDPGothic" pitchFamily="34" charset="-120"/>
              </a:rPr>
              <a:t>REBOOT JAPAN ── 提言004</a:t>
            </a:r>
            <a:endParaRPr lang="en-US" sz="900" dirty="0"/>
          </a:p>
        </p:txBody>
      </p:sp>
      <p:sp>
        <p:nvSpPr>
          <p:cNvPr id="6" name="Text 4"/>
          <p:cNvSpPr/>
          <p:nvPr/>
        </p:nvSpPr>
        <p:spPr>
          <a:xfrm>
            <a:off x="640080" y="1737360"/>
            <a:ext cx="7315200" cy="365760"/>
          </a:xfrm>
          <a:prstGeom prst="rect">
            <a:avLst/>
          </a:prstGeom>
          <a:noFill/>
          <a:ln/>
        </p:spPr>
        <p:txBody>
          <a:bodyPr wrap="square" lIns="0" tIns="0" rIns="0" bIns="0" rtlCol="0" anchor="ctr"/>
          <a:lstStyle/>
          <a:p>
            <a:pPr indent="0" marL="0">
              <a:buNone/>
            </a:pPr>
            <a:r>
              <a:rPr lang="en-US" sz="1500" b="1" dirty="0">
                <a:solidFill>
                  <a:srgbClr val="C8161D"/>
                </a:solidFill>
                <a:latin typeface="Arial" pitchFamily="34" charset="0"/>
                <a:ea typeface="BIZ UDPGothic" pitchFamily="34" charset="-122"/>
                <a:cs typeface="BIZ UDPGothic" pitchFamily="34" charset="-120"/>
              </a:rPr>
              <a:t>なぜこのルールが必要なのか</a:t>
            </a:r>
            <a:endParaRPr lang="en-US" sz="1500" dirty="0"/>
          </a:p>
        </p:txBody>
      </p:sp>
      <p:sp>
        <p:nvSpPr>
          <p:cNvPr id="7" name="Text 5"/>
          <p:cNvSpPr/>
          <p:nvPr/>
        </p:nvSpPr>
        <p:spPr>
          <a:xfrm>
            <a:off x="640080" y="2148840"/>
            <a:ext cx="10881360" cy="822960"/>
          </a:xfrm>
          <a:prstGeom prst="rect">
            <a:avLst/>
          </a:prstGeom>
          <a:noFill/>
          <a:ln/>
        </p:spPr>
        <p:txBody>
          <a:bodyPr wrap="square" lIns="0" tIns="0" rIns="0" bIns="0" rtlCol="0" anchor="ctr"/>
          <a:lstStyle/>
          <a:p>
            <a:pPr indent="0" marL="0">
              <a:lnSpc>
                <a:spcPct val="135000"/>
              </a:lnSpc>
              <a:buNone/>
            </a:pPr>
            <a:r>
              <a:rPr lang="en-US" sz="1350" dirty="0">
                <a:solidFill>
                  <a:srgbClr val="2B2F36"/>
                </a:solidFill>
                <a:latin typeface="Arial" pitchFamily="34" charset="0"/>
                <a:ea typeface="BIZ UDPGothic" pitchFamily="34" charset="-122"/>
                <a:cs typeface="BIZ UDPGothic" pitchFamily="34" charset="-120"/>
              </a:rPr>
              <a:t>もし無条件で評価額をゼロにできるなら、「死ぬ直前に現金で家を買って、相続したらすぐ売る」という抜け道が使われてしまいます。これを防ぐためのルールです。</a:t>
            </a:r>
            <a:endParaRPr lang="en-US" sz="1350" dirty="0"/>
          </a:p>
        </p:txBody>
      </p:sp>
      <p:sp>
        <p:nvSpPr>
          <p:cNvPr id="8" name="Shape 6"/>
          <p:cNvSpPr/>
          <p:nvPr/>
        </p:nvSpPr>
        <p:spPr>
          <a:xfrm>
            <a:off x="640080" y="3200400"/>
            <a:ext cx="10881360" cy="1554480"/>
          </a:xfrm>
          <a:prstGeom prst="roundRect">
            <a:avLst>
              <a:gd name="adj" fmla="val 4706"/>
            </a:avLst>
          </a:prstGeom>
          <a:solidFill>
            <a:srgbClr val="FFFFFF"/>
          </a:solidFill>
          <a:ln w="19050">
            <a:solidFill>
              <a:srgbClr val="C8161D"/>
            </a:solidFill>
            <a:prstDash val="solid"/>
          </a:ln>
        </p:spPr>
      </p:sp>
      <p:pic>
        <p:nvPicPr>
          <p:cNvPr id="9" name="Image 0" descr="preencoded.png">    </p:cNvPr>
          <p:cNvPicPr>
            <a:picLocks noChangeAspect="1"/>
          </p:cNvPicPr>
          <p:nvPr/>
        </p:nvPicPr>
        <p:blipFill>
          <a:blip r:embed="rId1"/>
          <a:stretch>
            <a:fillRect/>
          </a:stretch>
        </p:blipFill>
        <p:spPr>
          <a:xfrm>
            <a:off x="1005840" y="3520440"/>
            <a:ext cx="548640" cy="548640"/>
          </a:xfrm>
          <a:prstGeom prst="rect">
            <a:avLst/>
          </a:prstGeom>
        </p:spPr>
      </p:pic>
      <p:sp>
        <p:nvSpPr>
          <p:cNvPr id="10" name="Text 7"/>
          <p:cNvSpPr/>
          <p:nvPr/>
        </p:nvSpPr>
        <p:spPr>
          <a:xfrm>
            <a:off x="1828800" y="3520440"/>
            <a:ext cx="9418320" cy="640080"/>
          </a:xfrm>
          <a:prstGeom prst="rect">
            <a:avLst/>
          </a:prstGeom>
          <a:noFill/>
          <a:ln/>
        </p:spPr>
        <p:txBody>
          <a:bodyPr wrap="square" lIns="0" tIns="0" rIns="0" bIns="0" rtlCol="0" anchor="ctr"/>
          <a:lstStyle/>
          <a:p>
            <a:pPr indent="0" marL="0">
              <a:lnSpc>
                <a:spcPct val="125000"/>
              </a:lnSpc>
              <a:buNone/>
            </a:pPr>
            <a:r>
              <a:rPr lang="en-US" sz="1600" b="1" dirty="0">
                <a:solidFill>
                  <a:srgbClr val="16181D"/>
                </a:solidFill>
                <a:latin typeface="Arial" pitchFamily="34" charset="0"/>
                <a:ea typeface="BIZ UDPGothic" pitchFamily="34" charset="-122"/>
                <a:cs typeface="BIZ UDPGothic" pitchFamily="34" charset="-120"/>
              </a:rPr>
              <a:t>10年以内に条件を破ったら、最初にさかのぼって課税＋利息分も追加で支払う</a:t>
            </a:r>
            <a:endParaRPr lang="en-US" sz="1600" dirty="0"/>
          </a:p>
        </p:txBody>
      </p:sp>
      <p:sp>
        <p:nvSpPr>
          <p:cNvPr id="11" name="Text 8"/>
          <p:cNvSpPr/>
          <p:nvPr/>
        </p:nvSpPr>
        <p:spPr>
          <a:xfrm>
            <a:off x="640080" y="4937760"/>
            <a:ext cx="10881360" cy="457200"/>
          </a:xfrm>
          <a:prstGeom prst="rect">
            <a:avLst/>
          </a:prstGeom>
          <a:noFill/>
          <a:ln/>
        </p:spPr>
        <p:txBody>
          <a:bodyPr wrap="square" lIns="0" tIns="0" rIns="0" bIns="0" rtlCol="0" anchor="ctr"/>
          <a:lstStyle/>
          <a:p>
            <a:pPr indent="0" marL="0">
              <a:buNone/>
            </a:pPr>
            <a:r>
              <a:rPr lang="en-US" sz="1250" i="1" dirty="0">
                <a:solidFill>
                  <a:srgbClr val="4B515C"/>
                </a:solidFill>
                <a:latin typeface="Arial" pitchFamily="34" charset="0"/>
                <a:ea typeface="BIZ UDPGothic" pitchFamily="34" charset="-122"/>
                <a:cs typeface="BIZ UDPGothic" pitchFamily="34" charset="-120"/>
              </a:rPr>
              <a:t>控除される金額が大きいからこそ、抜け道を防ぐルールもセットで必要、という考え方です。</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640080" y="411480"/>
            <a:ext cx="10881360" cy="365760"/>
          </a:xfrm>
          <a:prstGeom prst="rect">
            <a:avLst/>
          </a:prstGeom>
          <a:noFill/>
          <a:ln/>
        </p:spPr>
        <p:txBody>
          <a:bodyPr wrap="square" lIns="0" tIns="0" rIns="0" bIns="0" rtlCol="0" anchor="ctr"/>
          <a:lstStyle/>
          <a:p>
            <a:pPr indent="0" marL="0">
              <a:buNone/>
            </a:pPr>
            <a:r>
              <a:rPr lang="en-US" sz="1200" b="1" spc="300" kern="0" dirty="0">
                <a:solidFill>
                  <a:srgbClr val="C8161D"/>
                </a:solidFill>
                <a:latin typeface="Arial" pitchFamily="34" charset="0"/>
                <a:ea typeface="BIZ UDPGothic" pitchFamily="34" charset="-122"/>
                <a:cs typeface="BIZ UDPGothic" pitchFamily="34" charset="-120"/>
              </a:rPr>
              <a:t>4. 財源についての考え方</a:t>
            </a:r>
            <a:endParaRPr lang="en-US" sz="1200" dirty="0"/>
          </a:p>
        </p:txBody>
      </p:sp>
      <p:sp>
        <p:nvSpPr>
          <p:cNvPr id="3" name="Text 1"/>
          <p:cNvSpPr/>
          <p:nvPr/>
        </p:nvSpPr>
        <p:spPr>
          <a:xfrm>
            <a:off x="640080" y="777240"/>
            <a:ext cx="10881360" cy="1005840"/>
          </a:xfrm>
          <a:prstGeom prst="rect">
            <a:avLst/>
          </a:prstGeom>
          <a:noFill/>
          <a:ln/>
        </p:spPr>
        <p:txBody>
          <a:bodyPr wrap="square" lIns="0" tIns="0" rIns="0" bIns="0" rtlCol="0" anchor="ctr"/>
          <a:lstStyle/>
          <a:p>
            <a:pPr indent="0" marL="0">
              <a:buNone/>
            </a:pPr>
            <a:r>
              <a:rPr lang="en-US" sz="3000" b="1" dirty="0">
                <a:solidFill>
                  <a:srgbClr val="16181D"/>
                </a:solidFill>
                <a:latin typeface="Arial" pitchFamily="34" charset="0"/>
                <a:ea typeface="BIZ UDPGothic" pitchFamily="34" charset="-122"/>
                <a:cs typeface="BIZ UDPGothic" pitchFamily="34" charset="-120"/>
              </a:rPr>
              <a:t>相続税収が減ることは、問題なのか？</a:t>
            </a:r>
            <a:endParaRPr lang="en-US" sz="3000" dirty="0"/>
          </a:p>
        </p:txBody>
      </p:sp>
      <p:sp>
        <p:nvSpPr>
          <p:cNvPr id="4" name="Text 2"/>
          <p:cNvSpPr/>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2B2F36"/>
                </a:solidFill>
                <a:latin typeface="Arial" pitchFamily="34" charset="0"/>
                <a:ea typeface="BIZ UDPGothic" pitchFamily="34" charset="-122"/>
                <a:cs typeface="BIZ UDPGothic" pitchFamily="34" charset="-120"/>
              </a:rPr>
              <a:t>20</a:t>
            </a:r>
            <a:endParaRPr lang="en-US" sz="1000" dirty="0"/>
          </a:p>
        </p:txBody>
      </p:sp>
      <p:sp>
        <p:nvSpPr>
          <p:cNvPr id="5" name="Text 3"/>
          <p:cNvSpPr/>
          <p:nvPr/>
        </p:nvSpPr>
        <p:spPr>
          <a:xfrm>
            <a:off x="640080" y="6446520"/>
            <a:ext cx="5486400" cy="320040"/>
          </a:xfrm>
          <a:prstGeom prst="rect">
            <a:avLst/>
          </a:prstGeom>
          <a:noFill/>
          <a:ln/>
        </p:spPr>
        <p:txBody>
          <a:bodyPr wrap="square" lIns="0" tIns="0" rIns="0" bIns="0" rtlCol="0" anchor="ctr"/>
          <a:lstStyle/>
          <a:p>
            <a:pPr indent="0" marL="0">
              <a:buNone/>
            </a:pPr>
            <a:r>
              <a:rPr lang="en-US" sz="900" dirty="0">
                <a:solidFill>
                  <a:srgbClr val="9AA0AA"/>
                </a:solidFill>
                <a:latin typeface="Arial" pitchFamily="34" charset="0"/>
                <a:ea typeface="BIZ UDPGothic" pitchFamily="34" charset="-122"/>
                <a:cs typeface="BIZ UDPGothic" pitchFamily="34" charset="-120"/>
              </a:rPr>
              <a:t>REBOOT JAPAN ── 提言004</a:t>
            </a:r>
            <a:endParaRPr lang="en-US" sz="900" dirty="0"/>
          </a:p>
        </p:txBody>
      </p:sp>
      <p:sp>
        <p:nvSpPr>
          <p:cNvPr id="6" name="Shape 4"/>
          <p:cNvSpPr/>
          <p:nvPr/>
        </p:nvSpPr>
        <p:spPr>
          <a:xfrm>
            <a:off x="640080" y="1828800"/>
            <a:ext cx="10881360" cy="1463040"/>
          </a:xfrm>
          <a:prstGeom prst="roundRect">
            <a:avLst>
              <a:gd name="adj" fmla="val 5000"/>
            </a:avLst>
          </a:prstGeom>
          <a:solidFill>
            <a:srgbClr val="FFFFFF"/>
          </a:solidFill>
          <a:ln w="12700">
            <a:solidFill>
              <a:srgbClr val="DDE0E6"/>
            </a:solidFill>
            <a:prstDash val="solid"/>
          </a:ln>
        </p:spPr>
      </p:sp>
      <p:sp>
        <p:nvSpPr>
          <p:cNvPr id="7" name="Text 5"/>
          <p:cNvSpPr/>
          <p:nvPr/>
        </p:nvSpPr>
        <p:spPr>
          <a:xfrm>
            <a:off x="1005840" y="2057400"/>
            <a:ext cx="10149840" cy="457200"/>
          </a:xfrm>
          <a:prstGeom prst="rect">
            <a:avLst/>
          </a:prstGeom>
          <a:noFill/>
          <a:ln/>
        </p:spPr>
        <p:txBody>
          <a:bodyPr wrap="square" lIns="0" tIns="0" rIns="0" bIns="0" rtlCol="0" anchor="ctr"/>
          <a:lstStyle/>
          <a:p>
            <a:pPr indent="0" marL="0">
              <a:buNone/>
            </a:pPr>
            <a:r>
              <a:rPr lang="en-US" sz="1700" b="1" dirty="0">
                <a:solidFill>
                  <a:srgbClr val="16181D"/>
                </a:solidFill>
                <a:latin typeface="Arial" pitchFamily="34" charset="0"/>
                <a:ea typeface="BIZ UDPGothic" pitchFamily="34" charset="-122"/>
                <a:cs typeface="BIZ UDPGothic" pitchFamily="34" charset="-120"/>
              </a:rPr>
              <a:t>相続税は、国の税収全体のわずか数%です。</a:t>
            </a:r>
            <a:endParaRPr lang="en-US" sz="1700" dirty="0"/>
          </a:p>
        </p:txBody>
      </p:sp>
      <p:sp>
        <p:nvSpPr>
          <p:cNvPr id="8" name="Text 6"/>
          <p:cNvSpPr/>
          <p:nvPr/>
        </p:nvSpPr>
        <p:spPr>
          <a:xfrm>
            <a:off x="1005840" y="2606040"/>
            <a:ext cx="10149840" cy="594360"/>
          </a:xfrm>
          <a:prstGeom prst="rect">
            <a:avLst/>
          </a:prstGeom>
          <a:noFill/>
          <a:ln/>
        </p:spPr>
        <p:txBody>
          <a:bodyPr wrap="square" lIns="0" tIns="0" rIns="0" bIns="0" rtlCol="0" anchor="ctr"/>
          <a:lstStyle/>
          <a:p>
            <a:pPr indent="0" marL="0">
              <a:lnSpc>
                <a:spcPct val="130000"/>
              </a:lnSpc>
              <a:buNone/>
            </a:pPr>
            <a:r>
              <a:rPr lang="en-US" sz="1250" dirty="0">
                <a:solidFill>
                  <a:srgbClr val="2B2F36"/>
                </a:solidFill>
                <a:latin typeface="Arial" pitchFamily="34" charset="0"/>
                <a:ea typeface="BIZ UDPGothic" pitchFamily="34" charset="-122"/>
                <a:cs typeface="BIZ UDPGothic" pitchFamily="34" charset="-120"/>
              </a:rPr>
              <a:t>この提言では、相続税収が減ることよりも、「中産階級の生活基盤が壊れること」「強い会社が代替わりで潰れること」の方が、社会にとって大きな損失だと考えます。</a:t>
            </a:r>
            <a:endParaRPr lang="en-US" sz="1250" dirty="0"/>
          </a:p>
        </p:txBody>
      </p:sp>
      <p:sp>
        <p:nvSpPr>
          <p:cNvPr id="9" name="Text 7"/>
          <p:cNvSpPr/>
          <p:nvPr/>
        </p:nvSpPr>
        <p:spPr>
          <a:xfrm>
            <a:off x="640080" y="3566160"/>
            <a:ext cx="7315200" cy="365760"/>
          </a:xfrm>
          <a:prstGeom prst="rect">
            <a:avLst/>
          </a:prstGeom>
          <a:noFill/>
          <a:ln/>
        </p:spPr>
        <p:txBody>
          <a:bodyPr wrap="square" lIns="0" tIns="0" rIns="0" bIns="0" rtlCol="0" anchor="ctr"/>
          <a:lstStyle/>
          <a:p>
            <a:pPr indent="0" marL="0">
              <a:buNone/>
            </a:pPr>
            <a:r>
              <a:rPr lang="en-US" sz="1500" b="1" dirty="0">
                <a:solidFill>
                  <a:srgbClr val="C8161D"/>
                </a:solidFill>
                <a:latin typeface="Arial" pitchFamily="34" charset="0"/>
                <a:ea typeface="BIZ UDPGothic" pitchFamily="34" charset="-122"/>
                <a:cs typeface="BIZ UDPGothic" pitchFamily="34" charset="-120"/>
              </a:rPr>
              <a:t>足りなくなる分は、どうするのか？</a:t>
            </a:r>
            <a:endParaRPr lang="en-US" sz="1500" dirty="0"/>
          </a:p>
        </p:txBody>
      </p:sp>
      <p:sp>
        <p:nvSpPr>
          <p:cNvPr id="10" name="Text 8"/>
          <p:cNvSpPr/>
          <p:nvPr/>
        </p:nvSpPr>
        <p:spPr>
          <a:xfrm>
            <a:off x="640080" y="3977640"/>
            <a:ext cx="10881360" cy="822960"/>
          </a:xfrm>
          <a:prstGeom prst="rect">
            <a:avLst/>
          </a:prstGeom>
          <a:noFill/>
          <a:ln/>
        </p:spPr>
        <p:txBody>
          <a:bodyPr wrap="square" lIns="0" tIns="0" rIns="0" bIns="0" rtlCol="0" anchor="ctr"/>
          <a:lstStyle/>
          <a:p>
            <a:pPr indent="0" marL="0">
              <a:lnSpc>
                <a:spcPct val="135000"/>
              </a:lnSpc>
              <a:buNone/>
            </a:pPr>
            <a:r>
              <a:rPr lang="en-US" sz="1350" dirty="0">
                <a:solidFill>
                  <a:srgbClr val="2B2F36"/>
                </a:solidFill>
                <a:latin typeface="Arial" pitchFamily="34" charset="0"/>
                <a:ea typeface="BIZ UDPGothic" pitchFamily="34" charset="-122"/>
                <a:cs typeface="BIZ UDPGothic" pitchFamily="34" charset="-120"/>
              </a:rPr>
              <a:t>具体的な財源は、提言001で示した「フラット税」「消費税」など、他の提言の枠組みの中で確保していく考え方です。相続税という、もともと小さな財源に固執しません。</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640080" y="411480"/>
            <a:ext cx="10881360" cy="365760"/>
          </a:xfrm>
          <a:prstGeom prst="rect">
            <a:avLst/>
          </a:prstGeom>
          <a:noFill/>
          <a:ln/>
        </p:spPr>
        <p:txBody>
          <a:bodyPr wrap="square" lIns="0" tIns="0" rIns="0" bIns="0" rtlCol="0" anchor="ctr"/>
          <a:lstStyle/>
          <a:p>
            <a:pPr indent="0" marL="0">
              <a:buNone/>
            </a:pPr>
            <a:r>
              <a:rPr lang="en-US" sz="1200" b="1" spc="300" kern="0" dirty="0">
                <a:solidFill>
                  <a:srgbClr val="C8161D"/>
                </a:solidFill>
                <a:latin typeface="Arial" pitchFamily="34" charset="0"/>
                <a:ea typeface="BIZ UDPGothic" pitchFamily="34" charset="-122"/>
                <a:cs typeface="BIZ UDPGothic" pitchFamily="34" charset="-120"/>
              </a:rPr>
              <a:t>4. 他の提言とのつながり</a:t>
            </a:r>
            <a:endParaRPr lang="en-US" sz="1200" dirty="0"/>
          </a:p>
        </p:txBody>
      </p:sp>
      <p:sp>
        <p:nvSpPr>
          <p:cNvPr id="3" name="Text 1"/>
          <p:cNvSpPr/>
          <p:nvPr/>
        </p:nvSpPr>
        <p:spPr>
          <a:xfrm>
            <a:off x="640080" y="777240"/>
            <a:ext cx="10881360" cy="1005840"/>
          </a:xfrm>
          <a:prstGeom prst="rect">
            <a:avLst/>
          </a:prstGeom>
          <a:noFill/>
          <a:ln/>
        </p:spPr>
        <p:txBody>
          <a:bodyPr wrap="square" lIns="0" tIns="0" rIns="0" bIns="0" rtlCol="0" anchor="ctr"/>
          <a:lstStyle/>
          <a:p>
            <a:pPr indent="0" marL="0">
              <a:buNone/>
            </a:pPr>
            <a:r>
              <a:rPr lang="en-US" sz="3000" b="1" dirty="0">
                <a:solidFill>
                  <a:srgbClr val="16181D"/>
                </a:solidFill>
                <a:latin typeface="Arial" pitchFamily="34" charset="0"/>
                <a:ea typeface="BIZ UDPGothic" pitchFamily="34" charset="-122"/>
                <a:cs typeface="BIZ UDPGothic" pitchFamily="34" charset="-120"/>
              </a:rPr>
              <a:t>提言001・003と、同じ考え方でつながっている</a:t>
            </a:r>
            <a:endParaRPr lang="en-US" sz="3000" dirty="0"/>
          </a:p>
        </p:txBody>
      </p:sp>
      <p:sp>
        <p:nvSpPr>
          <p:cNvPr id="4" name="Text 2"/>
          <p:cNvSpPr/>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2B2F36"/>
                </a:solidFill>
                <a:latin typeface="Arial" pitchFamily="34" charset="0"/>
                <a:ea typeface="BIZ UDPGothic" pitchFamily="34" charset="-122"/>
                <a:cs typeface="BIZ UDPGothic" pitchFamily="34" charset="-120"/>
              </a:rPr>
              <a:t>21</a:t>
            </a:r>
            <a:endParaRPr lang="en-US" sz="1000" dirty="0"/>
          </a:p>
        </p:txBody>
      </p:sp>
      <p:sp>
        <p:nvSpPr>
          <p:cNvPr id="5" name="Text 3"/>
          <p:cNvSpPr/>
          <p:nvPr/>
        </p:nvSpPr>
        <p:spPr>
          <a:xfrm>
            <a:off x="640080" y="6446520"/>
            <a:ext cx="5486400" cy="320040"/>
          </a:xfrm>
          <a:prstGeom prst="rect">
            <a:avLst/>
          </a:prstGeom>
          <a:noFill/>
          <a:ln/>
        </p:spPr>
        <p:txBody>
          <a:bodyPr wrap="square" lIns="0" tIns="0" rIns="0" bIns="0" rtlCol="0" anchor="ctr"/>
          <a:lstStyle/>
          <a:p>
            <a:pPr indent="0" marL="0">
              <a:buNone/>
            </a:pPr>
            <a:r>
              <a:rPr lang="en-US" sz="900" dirty="0">
                <a:solidFill>
                  <a:srgbClr val="9AA0AA"/>
                </a:solidFill>
                <a:latin typeface="Arial" pitchFamily="34" charset="0"/>
                <a:ea typeface="BIZ UDPGothic" pitchFamily="34" charset="-122"/>
                <a:cs typeface="BIZ UDPGothic" pitchFamily="34" charset="-120"/>
              </a:rPr>
              <a:t>REBOOT JAPAN ── 提言004</a:t>
            </a:r>
            <a:endParaRPr lang="en-US" sz="900" dirty="0"/>
          </a:p>
        </p:txBody>
      </p:sp>
      <p:sp>
        <p:nvSpPr>
          <p:cNvPr id="6" name="Shape 4"/>
          <p:cNvSpPr/>
          <p:nvPr/>
        </p:nvSpPr>
        <p:spPr>
          <a:xfrm>
            <a:off x="640080" y="1920240"/>
            <a:ext cx="2926080" cy="548640"/>
          </a:xfrm>
          <a:prstGeom prst="rect">
            <a:avLst/>
          </a:prstGeom>
          <a:solidFill>
            <a:srgbClr val="DDE0E6"/>
          </a:solidFill>
          <a:ln/>
        </p:spPr>
      </p:sp>
      <p:sp>
        <p:nvSpPr>
          <p:cNvPr id="7" name="Text 5"/>
          <p:cNvSpPr/>
          <p:nvPr/>
        </p:nvSpPr>
        <p:spPr>
          <a:xfrm>
            <a:off x="777240" y="1920240"/>
            <a:ext cx="2651760" cy="548640"/>
          </a:xfrm>
          <a:prstGeom prst="rect">
            <a:avLst/>
          </a:prstGeom>
          <a:noFill/>
          <a:ln/>
        </p:spPr>
        <p:txBody>
          <a:bodyPr wrap="square" lIns="0" tIns="0" rIns="0" bIns="0" rtlCol="0" anchor="ctr"/>
          <a:lstStyle/>
          <a:p>
            <a:pPr indent="0" marL="0">
              <a:buNone/>
            </a:pPr>
            <a:r>
              <a:rPr lang="en-US" sz="1150" b="1" dirty="0">
                <a:solidFill>
                  <a:srgbClr val="16181D"/>
                </a:solidFill>
                <a:latin typeface="Arial" pitchFamily="34" charset="0"/>
                <a:ea typeface="BIZ UDPGothic" pitchFamily="34" charset="-122"/>
                <a:cs typeface="BIZ UDPGothic" pitchFamily="34" charset="-120"/>
              </a:rPr>
              <a:t>観点</a:t>
            </a:r>
            <a:endParaRPr lang="en-US" sz="1150" dirty="0"/>
          </a:p>
        </p:txBody>
      </p:sp>
      <p:sp>
        <p:nvSpPr>
          <p:cNvPr id="8" name="Shape 6"/>
          <p:cNvSpPr/>
          <p:nvPr/>
        </p:nvSpPr>
        <p:spPr>
          <a:xfrm>
            <a:off x="3566160" y="1920240"/>
            <a:ext cx="2651760" cy="548640"/>
          </a:xfrm>
          <a:prstGeom prst="rect">
            <a:avLst/>
          </a:prstGeom>
          <a:solidFill>
            <a:srgbClr val="DDE0E6"/>
          </a:solidFill>
          <a:ln/>
        </p:spPr>
      </p:sp>
      <p:sp>
        <p:nvSpPr>
          <p:cNvPr id="9" name="Text 7"/>
          <p:cNvSpPr/>
          <p:nvPr/>
        </p:nvSpPr>
        <p:spPr>
          <a:xfrm>
            <a:off x="3703320" y="1920240"/>
            <a:ext cx="2377440" cy="548640"/>
          </a:xfrm>
          <a:prstGeom prst="rect">
            <a:avLst/>
          </a:prstGeom>
          <a:noFill/>
          <a:ln/>
        </p:spPr>
        <p:txBody>
          <a:bodyPr wrap="square" lIns="0" tIns="0" rIns="0" bIns="0" rtlCol="0" anchor="ctr"/>
          <a:lstStyle/>
          <a:p>
            <a:pPr indent="0" marL="0">
              <a:buNone/>
            </a:pPr>
            <a:r>
              <a:rPr lang="en-US" sz="1150" b="1" dirty="0">
                <a:solidFill>
                  <a:srgbClr val="16181D"/>
                </a:solidFill>
                <a:latin typeface="Arial" pitchFamily="34" charset="0"/>
                <a:ea typeface="BIZ UDPGothic" pitchFamily="34" charset="-122"/>
                <a:cs typeface="BIZ UDPGothic" pitchFamily="34" charset="-120"/>
              </a:rPr>
              <a:t>提言001（民間）</a:t>
            </a:r>
            <a:endParaRPr lang="en-US" sz="1150" dirty="0"/>
          </a:p>
        </p:txBody>
      </p:sp>
      <p:sp>
        <p:nvSpPr>
          <p:cNvPr id="10" name="Shape 8"/>
          <p:cNvSpPr/>
          <p:nvPr/>
        </p:nvSpPr>
        <p:spPr>
          <a:xfrm>
            <a:off x="6217920" y="1920240"/>
            <a:ext cx="2651760" cy="548640"/>
          </a:xfrm>
          <a:prstGeom prst="rect">
            <a:avLst/>
          </a:prstGeom>
          <a:solidFill>
            <a:srgbClr val="DDE0E6"/>
          </a:solidFill>
          <a:ln/>
        </p:spPr>
      </p:sp>
      <p:sp>
        <p:nvSpPr>
          <p:cNvPr id="11" name="Text 9"/>
          <p:cNvSpPr/>
          <p:nvPr/>
        </p:nvSpPr>
        <p:spPr>
          <a:xfrm>
            <a:off x="6355080" y="1920240"/>
            <a:ext cx="2377440" cy="548640"/>
          </a:xfrm>
          <a:prstGeom prst="rect">
            <a:avLst/>
          </a:prstGeom>
          <a:noFill/>
          <a:ln/>
        </p:spPr>
        <p:txBody>
          <a:bodyPr wrap="square" lIns="0" tIns="0" rIns="0" bIns="0" rtlCol="0" anchor="ctr"/>
          <a:lstStyle/>
          <a:p>
            <a:pPr indent="0" marL="0">
              <a:buNone/>
            </a:pPr>
            <a:r>
              <a:rPr lang="en-US" sz="1150" b="1" dirty="0">
                <a:solidFill>
                  <a:srgbClr val="16181D"/>
                </a:solidFill>
                <a:latin typeface="Arial" pitchFamily="34" charset="0"/>
                <a:ea typeface="BIZ UDPGothic" pitchFamily="34" charset="-122"/>
                <a:cs typeface="BIZ UDPGothic" pitchFamily="34" charset="-120"/>
              </a:rPr>
              <a:t>提言003（企業）</a:t>
            </a:r>
            <a:endParaRPr lang="en-US" sz="1150" dirty="0"/>
          </a:p>
        </p:txBody>
      </p:sp>
      <p:sp>
        <p:nvSpPr>
          <p:cNvPr id="12" name="Shape 10"/>
          <p:cNvSpPr/>
          <p:nvPr/>
        </p:nvSpPr>
        <p:spPr>
          <a:xfrm>
            <a:off x="8869680" y="1920240"/>
            <a:ext cx="2651760" cy="548640"/>
          </a:xfrm>
          <a:prstGeom prst="rect">
            <a:avLst/>
          </a:prstGeom>
          <a:solidFill>
            <a:srgbClr val="DDE0E6"/>
          </a:solidFill>
          <a:ln/>
        </p:spPr>
      </p:sp>
      <p:sp>
        <p:nvSpPr>
          <p:cNvPr id="13" name="Text 11"/>
          <p:cNvSpPr/>
          <p:nvPr/>
        </p:nvSpPr>
        <p:spPr>
          <a:xfrm>
            <a:off x="9006840" y="1920240"/>
            <a:ext cx="2377440" cy="548640"/>
          </a:xfrm>
          <a:prstGeom prst="rect">
            <a:avLst/>
          </a:prstGeom>
          <a:noFill/>
          <a:ln/>
        </p:spPr>
        <p:txBody>
          <a:bodyPr wrap="square" lIns="0" tIns="0" rIns="0" bIns="0" rtlCol="0" anchor="ctr"/>
          <a:lstStyle/>
          <a:p>
            <a:pPr indent="0" marL="0">
              <a:buNone/>
            </a:pPr>
            <a:r>
              <a:rPr lang="en-US" sz="1150" b="1" dirty="0">
                <a:solidFill>
                  <a:srgbClr val="16181D"/>
                </a:solidFill>
                <a:latin typeface="Arial" pitchFamily="34" charset="0"/>
                <a:ea typeface="BIZ UDPGothic" pitchFamily="34" charset="-122"/>
                <a:cs typeface="BIZ UDPGothic" pitchFamily="34" charset="-120"/>
              </a:rPr>
              <a:t>提言004（相続）</a:t>
            </a:r>
            <a:endParaRPr lang="en-US" sz="1150" dirty="0"/>
          </a:p>
        </p:txBody>
      </p:sp>
      <p:sp>
        <p:nvSpPr>
          <p:cNvPr id="14" name="Shape 12"/>
          <p:cNvSpPr/>
          <p:nvPr/>
        </p:nvSpPr>
        <p:spPr>
          <a:xfrm>
            <a:off x="640080" y="2468880"/>
            <a:ext cx="2926080" cy="868680"/>
          </a:xfrm>
          <a:prstGeom prst="rect">
            <a:avLst/>
          </a:prstGeom>
          <a:solidFill>
            <a:srgbClr val="FFFFFF"/>
          </a:solidFill>
          <a:ln w="9525">
            <a:solidFill>
              <a:srgbClr val="DDE0E6"/>
            </a:solidFill>
            <a:prstDash val="solid"/>
          </a:ln>
        </p:spPr>
      </p:sp>
      <p:sp>
        <p:nvSpPr>
          <p:cNvPr id="15" name="Text 13"/>
          <p:cNvSpPr/>
          <p:nvPr/>
        </p:nvSpPr>
        <p:spPr>
          <a:xfrm>
            <a:off x="777240" y="2468880"/>
            <a:ext cx="2651760" cy="868680"/>
          </a:xfrm>
          <a:prstGeom prst="rect">
            <a:avLst/>
          </a:prstGeom>
          <a:noFill/>
          <a:ln/>
        </p:spPr>
        <p:txBody>
          <a:bodyPr wrap="square" lIns="0" tIns="0" rIns="0" bIns="0" rtlCol="0" anchor="ctr"/>
          <a:lstStyle/>
          <a:p>
            <a:pPr indent="0" marL="0">
              <a:lnSpc>
                <a:spcPct val="120000"/>
              </a:lnSpc>
              <a:buNone/>
            </a:pPr>
            <a:r>
              <a:rPr lang="en-US" sz="1100" b="1" dirty="0">
                <a:solidFill>
                  <a:srgbClr val="16181D"/>
                </a:solidFill>
                <a:latin typeface="Arial" pitchFamily="34" charset="0"/>
                <a:ea typeface="BIZ UDPGothic" pitchFamily="34" charset="-122"/>
                <a:cs typeface="BIZ UDPGothic" pitchFamily="34" charset="-120"/>
              </a:rPr>
              <a:t>累進課税への考え方</a:t>
            </a:r>
            <a:endParaRPr lang="en-US" sz="1100" dirty="0"/>
          </a:p>
        </p:txBody>
      </p:sp>
      <p:sp>
        <p:nvSpPr>
          <p:cNvPr id="16" name="Shape 14"/>
          <p:cNvSpPr/>
          <p:nvPr/>
        </p:nvSpPr>
        <p:spPr>
          <a:xfrm>
            <a:off x="3566160" y="2468880"/>
            <a:ext cx="2651760" cy="868680"/>
          </a:xfrm>
          <a:prstGeom prst="rect">
            <a:avLst/>
          </a:prstGeom>
          <a:solidFill>
            <a:srgbClr val="FFFFFF"/>
          </a:solidFill>
          <a:ln w="9525">
            <a:solidFill>
              <a:srgbClr val="DDE0E6"/>
            </a:solidFill>
            <a:prstDash val="solid"/>
          </a:ln>
        </p:spPr>
      </p:sp>
      <p:sp>
        <p:nvSpPr>
          <p:cNvPr id="17" name="Text 15"/>
          <p:cNvSpPr/>
          <p:nvPr/>
        </p:nvSpPr>
        <p:spPr>
          <a:xfrm>
            <a:off x="3703320" y="2468880"/>
            <a:ext cx="2377440" cy="868680"/>
          </a:xfrm>
          <a:prstGeom prst="rect">
            <a:avLst/>
          </a:prstGeom>
          <a:noFill/>
          <a:ln/>
        </p:spPr>
        <p:txBody>
          <a:bodyPr wrap="square" lIns="0" tIns="0" rIns="0" bIns="0" rtlCol="0" anchor="ctr"/>
          <a:lstStyle/>
          <a:p>
            <a:pPr indent="0" marL="0">
              <a:lnSpc>
                <a:spcPct val="120000"/>
              </a:lnSpc>
              <a:buNone/>
            </a:pPr>
            <a:r>
              <a:rPr lang="en-US" sz="1100" dirty="0">
                <a:solidFill>
                  <a:srgbClr val="2B2F36"/>
                </a:solidFill>
                <a:latin typeface="Arial" pitchFamily="34" charset="0"/>
                <a:ea typeface="BIZ UDPGothic" pitchFamily="34" charset="-122"/>
                <a:cs typeface="BIZ UDPGothic" pitchFamily="34" charset="-120"/>
              </a:rPr>
              <a:t>フラット税率を支持</a:t>
            </a:r>
            <a:endParaRPr lang="en-US" sz="1100" dirty="0"/>
          </a:p>
        </p:txBody>
      </p:sp>
      <p:sp>
        <p:nvSpPr>
          <p:cNvPr id="18" name="Shape 16"/>
          <p:cNvSpPr/>
          <p:nvPr/>
        </p:nvSpPr>
        <p:spPr>
          <a:xfrm>
            <a:off x="6217920" y="2468880"/>
            <a:ext cx="2651760" cy="868680"/>
          </a:xfrm>
          <a:prstGeom prst="rect">
            <a:avLst/>
          </a:prstGeom>
          <a:solidFill>
            <a:srgbClr val="FFFFFF"/>
          </a:solidFill>
          <a:ln w="9525">
            <a:solidFill>
              <a:srgbClr val="DDE0E6"/>
            </a:solidFill>
            <a:prstDash val="solid"/>
          </a:ln>
        </p:spPr>
      </p:sp>
      <p:sp>
        <p:nvSpPr>
          <p:cNvPr id="19" name="Text 17"/>
          <p:cNvSpPr/>
          <p:nvPr/>
        </p:nvSpPr>
        <p:spPr>
          <a:xfrm>
            <a:off x="6355080" y="2468880"/>
            <a:ext cx="2377440" cy="868680"/>
          </a:xfrm>
          <a:prstGeom prst="rect">
            <a:avLst/>
          </a:prstGeom>
          <a:noFill/>
          <a:ln/>
        </p:spPr>
        <p:txBody>
          <a:bodyPr wrap="square" lIns="0" tIns="0" rIns="0" bIns="0" rtlCol="0" anchor="ctr"/>
          <a:lstStyle/>
          <a:p>
            <a:pPr indent="0" marL="0">
              <a:lnSpc>
                <a:spcPct val="120000"/>
              </a:lnSpc>
              <a:buNone/>
            </a:pPr>
            <a:r>
              <a:rPr lang="en-US" sz="1100" dirty="0">
                <a:solidFill>
                  <a:srgbClr val="2B2F36"/>
                </a:solidFill>
                <a:latin typeface="Arial" pitchFamily="34" charset="0"/>
                <a:ea typeface="BIZ UDPGothic" pitchFamily="34" charset="-122"/>
                <a:cs typeface="BIZ UDPGothic" pitchFamily="34" charset="-120"/>
              </a:rPr>
              <a:t>成長すればフラットに優遇</a:t>
            </a:r>
            <a:endParaRPr lang="en-US" sz="1100" dirty="0"/>
          </a:p>
        </p:txBody>
      </p:sp>
      <p:sp>
        <p:nvSpPr>
          <p:cNvPr id="20" name="Shape 18"/>
          <p:cNvSpPr/>
          <p:nvPr/>
        </p:nvSpPr>
        <p:spPr>
          <a:xfrm>
            <a:off x="8869680" y="2468880"/>
            <a:ext cx="2651760" cy="868680"/>
          </a:xfrm>
          <a:prstGeom prst="rect">
            <a:avLst/>
          </a:prstGeom>
          <a:solidFill>
            <a:srgbClr val="FCEBEB"/>
          </a:solidFill>
          <a:ln w="9525">
            <a:solidFill>
              <a:srgbClr val="DDE0E6"/>
            </a:solidFill>
            <a:prstDash val="solid"/>
          </a:ln>
        </p:spPr>
      </p:sp>
      <p:sp>
        <p:nvSpPr>
          <p:cNvPr id="21" name="Text 19"/>
          <p:cNvSpPr/>
          <p:nvPr/>
        </p:nvSpPr>
        <p:spPr>
          <a:xfrm>
            <a:off x="9006840" y="2468880"/>
            <a:ext cx="2377440" cy="868680"/>
          </a:xfrm>
          <a:prstGeom prst="rect">
            <a:avLst/>
          </a:prstGeom>
          <a:noFill/>
          <a:ln/>
        </p:spPr>
        <p:txBody>
          <a:bodyPr wrap="square" lIns="0" tIns="0" rIns="0" bIns="0" rtlCol="0" anchor="ctr"/>
          <a:lstStyle/>
          <a:p>
            <a:pPr indent="0" marL="0">
              <a:lnSpc>
                <a:spcPct val="120000"/>
              </a:lnSpc>
              <a:buNone/>
            </a:pPr>
            <a:r>
              <a:rPr lang="en-US" sz="1100" b="1" dirty="0">
                <a:solidFill>
                  <a:srgbClr val="C8161D"/>
                </a:solidFill>
                <a:latin typeface="Arial" pitchFamily="34" charset="0"/>
                <a:ea typeface="BIZ UDPGothic" pitchFamily="34" charset="-122"/>
                <a:cs typeface="BIZ UDPGothic" pitchFamily="34" charset="-120"/>
              </a:rPr>
              <a:t>超えた分だけフラット30%</a:t>
            </a:r>
            <a:endParaRPr lang="en-US" sz="1100" dirty="0"/>
          </a:p>
        </p:txBody>
      </p:sp>
      <p:sp>
        <p:nvSpPr>
          <p:cNvPr id="22" name="Shape 20"/>
          <p:cNvSpPr/>
          <p:nvPr/>
        </p:nvSpPr>
        <p:spPr>
          <a:xfrm>
            <a:off x="640080" y="3337560"/>
            <a:ext cx="2926080" cy="868680"/>
          </a:xfrm>
          <a:prstGeom prst="rect">
            <a:avLst/>
          </a:prstGeom>
          <a:solidFill>
            <a:srgbClr val="F5F6F8"/>
          </a:solidFill>
          <a:ln w="9525">
            <a:solidFill>
              <a:srgbClr val="DDE0E6"/>
            </a:solidFill>
            <a:prstDash val="solid"/>
          </a:ln>
        </p:spPr>
      </p:sp>
      <p:sp>
        <p:nvSpPr>
          <p:cNvPr id="23" name="Text 21"/>
          <p:cNvSpPr/>
          <p:nvPr/>
        </p:nvSpPr>
        <p:spPr>
          <a:xfrm>
            <a:off x="777240" y="3337560"/>
            <a:ext cx="2651760" cy="868680"/>
          </a:xfrm>
          <a:prstGeom prst="rect">
            <a:avLst/>
          </a:prstGeom>
          <a:noFill/>
          <a:ln/>
        </p:spPr>
        <p:txBody>
          <a:bodyPr wrap="square" lIns="0" tIns="0" rIns="0" bIns="0" rtlCol="0" anchor="ctr"/>
          <a:lstStyle/>
          <a:p>
            <a:pPr indent="0" marL="0">
              <a:lnSpc>
                <a:spcPct val="120000"/>
              </a:lnSpc>
              <a:buNone/>
            </a:pPr>
            <a:r>
              <a:rPr lang="en-US" sz="1100" b="1" dirty="0">
                <a:solidFill>
                  <a:srgbClr val="16181D"/>
                </a:solidFill>
                <a:latin typeface="Arial" pitchFamily="34" charset="0"/>
                <a:ea typeface="BIZ UDPGothic" pitchFamily="34" charset="-122"/>
                <a:cs typeface="BIZ UDPGothic" pitchFamily="34" charset="-120"/>
              </a:rPr>
              <a:t>対象の絞り込み</a:t>
            </a:r>
            <a:endParaRPr lang="en-US" sz="1100" dirty="0"/>
          </a:p>
        </p:txBody>
      </p:sp>
      <p:sp>
        <p:nvSpPr>
          <p:cNvPr id="24" name="Shape 22"/>
          <p:cNvSpPr/>
          <p:nvPr/>
        </p:nvSpPr>
        <p:spPr>
          <a:xfrm>
            <a:off x="3566160" y="3337560"/>
            <a:ext cx="2651760" cy="868680"/>
          </a:xfrm>
          <a:prstGeom prst="rect">
            <a:avLst/>
          </a:prstGeom>
          <a:solidFill>
            <a:srgbClr val="F5F6F8"/>
          </a:solidFill>
          <a:ln w="9525">
            <a:solidFill>
              <a:srgbClr val="DDE0E6"/>
            </a:solidFill>
            <a:prstDash val="solid"/>
          </a:ln>
        </p:spPr>
      </p:sp>
      <p:sp>
        <p:nvSpPr>
          <p:cNvPr id="25" name="Text 23"/>
          <p:cNvSpPr/>
          <p:nvPr/>
        </p:nvSpPr>
        <p:spPr>
          <a:xfrm>
            <a:off x="3703320" y="3337560"/>
            <a:ext cx="2377440" cy="868680"/>
          </a:xfrm>
          <a:prstGeom prst="rect">
            <a:avLst/>
          </a:prstGeom>
          <a:noFill/>
          <a:ln/>
        </p:spPr>
        <p:txBody>
          <a:bodyPr wrap="square" lIns="0" tIns="0" rIns="0" bIns="0" rtlCol="0" anchor="ctr"/>
          <a:lstStyle/>
          <a:p>
            <a:pPr indent="0" marL="0">
              <a:lnSpc>
                <a:spcPct val="120000"/>
              </a:lnSpc>
              <a:buNone/>
            </a:pPr>
            <a:r>
              <a:rPr lang="en-US" sz="1100" dirty="0">
                <a:solidFill>
                  <a:srgbClr val="2B2F36"/>
                </a:solidFill>
                <a:latin typeface="Arial" pitchFamily="34" charset="0"/>
                <a:ea typeface="BIZ UDPGothic" pitchFamily="34" charset="-122"/>
                <a:cs typeface="BIZ UDPGothic" pitchFamily="34" charset="-120"/>
              </a:rPr>
              <a:t>全国民を公平に</a:t>
            </a:r>
            <a:endParaRPr lang="en-US" sz="1100" dirty="0"/>
          </a:p>
        </p:txBody>
      </p:sp>
      <p:sp>
        <p:nvSpPr>
          <p:cNvPr id="26" name="Shape 24"/>
          <p:cNvSpPr/>
          <p:nvPr/>
        </p:nvSpPr>
        <p:spPr>
          <a:xfrm>
            <a:off x="6217920" y="3337560"/>
            <a:ext cx="2651760" cy="868680"/>
          </a:xfrm>
          <a:prstGeom prst="rect">
            <a:avLst/>
          </a:prstGeom>
          <a:solidFill>
            <a:srgbClr val="F5F6F8"/>
          </a:solidFill>
          <a:ln w="9525">
            <a:solidFill>
              <a:srgbClr val="DDE0E6"/>
            </a:solidFill>
            <a:prstDash val="solid"/>
          </a:ln>
        </p:spPr>
      </p:sp>
      <p:sp>
        <p:nvSpPr>
          <p:cNvPr id="27" name="Text 25"/>
          <p:cNvSpPr/>
          <p:nvPr/>
        </p:nvSpPr>
        <p:spPr>
          <a:xfrm>
            <a:off x="6355080" y="3337560"/>
            <a:ext cx="2377440" cy="868680"/>
          </a:xfrm>
          <a:prstGeom prst="rect">
            <a:avLst/>
          </a:prstGeom>
          <a:noFill/>
          <a:ln/>
        </p:spPr>
        <p:txBody>
          <a:bodyPr wrap="square" lIns="0" tIns="0" rIns="0" bIns="0" rtlCol="0" anchor="ctr"/>
          <a:lstStyle/>
          <a:p>
            <a:pPr indent="0" marL="0">
              <a:lnSpc>
                <a:spcPct val="120000"/>
              </a:lnSpc>
              <a:buNone/>
            </a:pPr>
            <a:r>
              <a:rPr lang="en-US" sz="1100" dirty="0">
                <a:solidFill>
                  <a:srgbClr val="2B2F36"/>
                </a:solidFill>
                <a:latin typeface="Arial" pitchFamily="34" charset="0"/>
                <a:ea typeface="BIZ UDPGothic" pitchFamily="34" charset="-122"/>
                <a:cs typeface="BIZ UDPGothic" pitchFamily="34" charset="-120"/>
              </a:rPr>
              <a:t>成長する会社だけ優遇</a:t>
            </a:r>
            <a:endParaRPr lang="en-US" sz="1100" dirty="0"/>
          </a:p>
        </p:txBody>
      </p:sp>
      <p:sp>
        <p:nvSpPr>
          <p:cNvPr id="28" name="Shape 26"/>
          <p:cNvSpPr/>
          <p:nvPr/>
        </p:nvSpPr>
        <p:spPr>
          <a:xfrm>
            <a:off x="8869680" y="3337560"/>
            <a:ext cx="2651760" cy="868680"/>
          </a:xfrm>
          <a:prstGeom prst="rect">
            <a:avLst/>
          </a:prstGeom>
          <a:solidFill>
            <a:srgbClr val="FCEBEB"/>
          </a:solidFill>
          <a:ln w="9525">
            <a:solidFill>
              <a:srgbClr val="DDE0E6"/>
            </a:solidFill>
            <a:prstDash val="solid"/>
          </a:ln>
        </p:spPr>
      </p:sp>
      <p:sp>
        <p:nvSpPr>
          <p:cNvPr id="29" name="Text 27"/>
          <p:cNvSpPr/>
          <p:nvPr/>
        </p:nvSpPr>
        <p:spPr>
          <a:xfrm>
            <a:off x="9006840" y="3337560"/>
            <a:ext cx="2377440" cy="868680"/>
          </a:xfrm>
          <a:prstGeom prst="rect">
            <a:avLst/>
          </a:prstGeom>
          <a:noFill/>
          <a:ln/>
        </p:spPr>
        <p:txBody>
          <a:bodyPr wrap="square" lIns="0" tIns="0" rIns="0" bIns="0" rtlCol="0" anchor="ctr"/>
          <a:lstStyle/>
          <a:p>
            <a:pPr indent="0" marL="0">
              <a:lnSpc>
                <a:spcPct val="120000"/>
              </a:lnSpc>
              <a:buNone/>
            </a:pPr>
            <a:r>
              <a:rPr lang="en-US" sz="1100" b="1" dirty="0">
                <a:solidFill>
                  <a:srgbClr val="C8161D"/>
                </a:solidFill>
                <a:latin typeface="Arial" pitchFamily="34" charset="0"/>
                <a:ea typeface="BIZ UDPGothic" pitchFamily="34" charset="-122"/>
                <a:cs typeface="BIZ UDPGothic" pitchFamily="34" charset="-120"/>
              </a:rPr>
              <a:t>超富裕層のみに限定</a:t>
            </a:r>
            <a:endParaRPr lang="en-US" sz="1100" dirty="0"/>
          </a:p>
        </p:txBody>
      </p:sp>
      <p:sp>
        <p:nvSpPr>
          <p:cNvPr id="30" name="Shape 28"/>
          <p:cNvSpPr/>
          <p:nvPr/>
        </p:nvSpPr>
        <p:spPr>
          <a:xfrm>
            <a:off x="640080" y="4206240"/>
            <a:ext cx="2926080" cy="868680"/>
          </a:xfrm>
          <a:prstGeom prst="rect">
            <a:avLst/>
          </a:prstGeom>
          <a:solidFill>
            <a:srgbClr val="FFFFFF"/>
          </a:solidFill>
          <a:ln w="9525">
            <a:solidFill>
              <a:srgbClr val="DDE0E6"/>
            </a:solidFill>
            <a:prstDash val="solid"/>
          </a:ln>
        </p:spPr>
      </p:sp>
      <p:sp>
        <p:nvSpPr>
          <p:cNvPr id="31" name="Text 29"/>
          <p:cNvSpPr/>
          <p:nvPr/>
        </p:nvSpPr>
        <p:spPr>
          <a:xfrm>
            <a:off x="777240" y="4206240"/>
            <a:ext cx="2651760" cy="868680"/>
          </a:xfrm>
          <a:prstGeom prst="rect">
            <a:avLst/>
          </a:prstGeom>
          <a:noFill/>
          <a:ln/>
        </p:spPr>
        <p:txBody>
          <a:bodyPr wrap="square" lIns="0" tIns="0" rIns="0" bIns="0" rtlCol="0" anchor="ctr"/>
          <a:lstStyle/>
          <a:p>
            <a:pPr indent="0" marL="0">
              <a:lnSpc>
                <a:spcPct val="120000"/>
              </a:lnSpc>
              <a:buNone/>
            </a:pPr>
            <a:r>
              <a:rPr lang="en-US" sz="1100" b="1" dirty="0">
                <a:solidFill>
                  <a:srgbClr val="16181D"/>
                </a:solidFill>
                <a:latin typeface="Arial" pitchFamily="34" charset="0"/>
                <a:ea typeface="BIZ UDPGothic" pitchFamily="34" charset="-122"/>
                <a:cs typeface="BIZ UDPGothic" pitchFamily="34" charset="-120"/>
              </a:rPr>
              <a:t>中間層・中小企業の保護</a:t>
            </a:r>
            <a:endParaRPr lang="en-US" sz="1100" dirty="0"/>
          </a:p>
        </p:txBody>
      </p:sp>
      <p:sp>
        <p:nvSpPr>
          <p:cNvPr id="32" name="Shape 30"/>
          <p:cNvSpPr/>
          <p:nvPr/>
        </p:nvSpPr>
        <p:spPr>
          <a:xfrm>
            <a:off x="3566160" y="4206240"/>
            <a:ext cx="2651760" cy="868680"/>
          </a:xfrm>
          <a:prstGeom prst="rect">
            <a:avLst/>
          </a:prstGeom>
          <a:solidFill>
            <a:srgbClr val="FFFFFF"/>
          </a:solidFill>
          <a:ln w="9525">
            <a:solidFill>
              <a:srgbClr val="DDE0E6"/>
            </a:solidFill>
            <a:prstDash val="solid"/>
          </a:ln>
        </p:spPr>
      </p:sp>
      <p:sp>
        <p:nvSpPr>
          <p:cNvPr id="33" name="Text 31"/>
          <p:cNvSpPr/>
          <p:nvPr/>
        </p:nvSpPr>
        <p:spPr>
          <a:xfrm>
            <a:off x="3703320" y="4206240"/>
            <a:ext cx="2377440" cy="868680"/>
          </a:xfrm>
          <a:prstGeom prst="rect">
            <a:avLst/>
          </a:prstGeom>
          <a:noFill/>
          <a:ln/>
        </p:spPr>
        <p:txBody>
          <a:bodyPr wrap="square" lIns="0" tIns="0" rIns="0" bIns="0" rtlCol="0" anchor="ctr"/>
          <a:lstStyle/>
          <a:p>
            <a:pPr indent="0" marL="0">
              <a:lnSpc>
                <a:spcPct val="120000"/>
              </a:lnSpc>
              <a:buNone/>
            </a:pPr>
            <a:r>
              <a:rPr lang="en-US" sz="1100" dirty="0">
                <a:solidFill>
                  <a:srgbClr val="2B2F36"/>
                </a:solidFill>
                <a:latin typeface="Arial" pitchFamily="34" charset="0"/>
                <a:ea typeface="BIZ UDPGothic" pitchFamily="34" charset="-122"/>
                <a:cs typeface="BIZ UDPGothic" pitchFamily="34" charset="-120"/>
              </a:rPr>
              <a:t>中央値水準に揃える</a:t>
            </a:r>
            <a:endParaRPr lang="en-US" sz="1100" dirty="0"/>
          </a:p>
        </p:txBody>
      </p:sp>
      <p:sp>
        <p:nvSpPr>
          <p:cNvPr id="34" name="Shape 32"/>
          <p:cNvSpPr/>
          <p:nvPr/>
        </p:nvSpPr>
        <p:spPr>
          <a:xfrm>
            <a:off x="6217920" y="4206240"/>
            <a:ext cx="2651760" cy="868680"/>
          </a:xfrm>
          <a:prstGeom prst="rect">
            <a:avLst/>
          </a:prstGeom>
          <a:solidFill>
            <a:srgbClr val="FFFFFF"/>
          </a:solidFill>
          <a:ln w="9525">
            <a:solidFill>
              <a:srgbClr val="DDE0E6"/>
            </a:solidFill>
            <a:prstDash val="solid"/>
          </a:ln>
        </p:spPr>
      </p:sp>
      <p:sp>
        <p:nvSpPr>
          <p:cNvPr id="35" name="Text 33"/>
          <p:cNvSpPr/>
          <p:nvPr/>
        </p:nvSpPr>
        <p:spPr>
          <a:xfrm>
            <a:off x="6355080" y="4206240"/>
            <a:ext cx="2377440" cy="868680"/>
          </a:xfrm>
          <a:prstGeom prst="rect">
            <a:avLst/>
          </a:prstGeom>
          <a:noFill/>
          <a:ln/>
        </p:spPr>
        <p:txBody>
          <a:bodyPr wrap="square" lIns="0" tIns="0" rIns="0" bIns="0" rtlCol="0" anchor="ctr"/>
          <a:lstStyle/>
          <a:p>
            <a:pPr indent="0" marL="0">
              <a:lnSpc>
                <a:spcPct val="120000"/>
              </a:lnSpc>
              <a:buNone/>
            </a:pPr>
            <a:r>
              <a:rPr lang="en-US" sz="1100" dirty="0">
                <a:solidFill>
                  <a:srgbClr val="2B2F36"/>
                </a:solidFill>
                <a:latin typeface="Arial" pitchFamily="34" charset="0"/>
                <a:ea typeface="BIZ UDPGothic" pitchFamily="34" charset="-122"/>
                <a:cs typeface="BIZ UDPGothic" pitchFamily="34" charset="-120"/>
              </a:rPr>
              <a:t>中小・零細企業を保護</a:t>
            </a:r>
            <a:endParaRPr lang="en-US" sz="1100" dirty="0"/>
          </a:p>
        </p:txBody>
      </p:sp>
      <p:sp>
        <p:nvSpPr>
          <p:cNvPr id="36" name="Shape 34"/>
          <p:cNvSpPr/>
          <p:nvPr/>
        </p:nvSpPr>
        <p:spPr>
          <a:xfrm>
            <a:off x="8869680" y="4206240"/>
            <a:ext cx="2651760" cy="868680"/>
          </a:xfrm>
          <a:prstGeom prst="rect">
            <a:avLst/>
          </a:prstGeom>
          <a:solidFill>
            <a:srgbClr val="FCEBEB"/>
          </a:solidFill>
          <a:ln w="9525">
            <a:solidFill>
              <a:srgbClr val="DDE0E6"/>
            </a:solidFill>
            <a:prstDash val="solid"/>
          </a:ln>
        </p:spPr>
      </p:sp>
      <p:sp>
        <p:nvSpPr>
          <p:cNvPr id="37" name="Text 35"/>
          <p:cNvSpPr/>
          <p:nvPr/>
        </p:nvSpPr>
        <p:spPr>
          <a:xfrm>
            <a:off x="9006840" y="4206240"/>
            <a:ext cx="2377440" cy="868680"/>
          </a:xfrm>
          <a:prstGeom prst="rect">
            <a:avLst/>
          </a:prstGeom>
          <a:noFill/>
          <a:ln/>
        </p:spPr>
        <p:txBody>
          <a:bodyPr wrap="square" lIns="0" tIns="0" rIns="0" bIns="0" rtlCol="0" anchor="ctr"/>
          <a:lstStyle/>
          <a:p>
            <a:pPr indent="0" marL="0">
              <a:lnSpc>
                <a:spcPct val="120000"/>
              </a:lnSpc>
              <a:buNone/>
            </a:pPr>
            <a:r>
              <a:rPr lang="en-US" sz="1100" b="1" dirty="0">
                <a:solidFill>
                  <a:srgbClr val="C8161D"/>
                </a:solidFill>
                <a:latin typeface="Arial" pitchFamily="34" charset="0"/>
                <a:ea typeface="BIZ UDPGothic" pitchFamily="34" charset="-122"/>
                <a:cs typeface="BIZ UDPGothic" pitchFamily="34" charset="-120"/>
              </a:rPr>
              <a:t>中産階級・事業承継を保護</a:t>
            </a:r>
            <a:endParaRPr lang="en-US" sz="1100" dirty="0"/>
          </a:p>
        </p:txBody>
      </p:sp>
      <p:sp>
        <p:nvSpPr>
          <p:cNvPr id="38" name="Text 36"/>
          <p:cNvSpPr/>
          <p:nvPr/>
        </p:nvSpPr>
        <p:spPr>
          <a:xfrm>
            <a:off x="640080" y="5303520"/>
            <a:ext cx="10881360" cy="457200"/>
          </a:xfrm>
          <a:prstGeom prst="rect">
            <a:avLst/>
          </a:prstGeom>
          <a:noFill/>
          <a:ln/>
        </p:spPr>
        <p:txBody>
          <a:bodyPr wrap="square" lIns="0" tIns="0" rIns="0" bIns="0" rtlCol="0" anchor="ctr"/>
          <a:lstStyle/>
          <a:p>
            <a:pPr indent="0" marL="0">
              <a:buNone/>
            </a:pPr>
            <a:r>
              <a:rPr lang="en-US" sz="1300" i="1" dirty="0">
                <a:solidFill>
                  <a:srgbClr val="C8161D"/>
                </a:solidFill>
                <a:latin typeface="Arial" pitchFamily="34" charset="0"/>
                <a:ea typeface="BIZ UDPGothic" pitchFamily="34" charset="-122"/>
                <a:cs typeface="BIZ UDPGothic" pitchFamily="34" charset="-120"/>
              </a:rPr>
              <a:t>「頑張って築いた資産・事業は、世代を超えてもきちんと守られるべきだ」という一貫した思想です。</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640080" y="411480"/>
            <a:ext cx="10881360" cy="365760"/>
          </a:xfrm>
          <a:prstGeom prst="rect">
            <a:avLst/>
          </a:prstGeom>
          <a:noFill/>
          <a:ln/>
        </p:spPr>
        <p:txBody>
          <a:bodyPr wrap="square" lIns="0" tIns="0" rIns="0" bIns="0" rtlCol="0" anchor="ctr"/>
          <a:lstStyle/>
          <a:p>
            <a:pPr indent="0" marL="0">
              <a:buNone/>
            </a:pPr>
            <a:r>
              <a:rPr lang="en-US" sz="1200" b="1" spc="300" kern="0" dirty="0">
                <a:solidFill>
                  <a:srgbClr val="C8161D"/>
                </a:solidFill>
                <a:latin typeface="Arial" pitchFamily="34" charset="0"/>
                <a:ea typeface="BIZ UDPGothic" pitchFamily="34" charset="-122"/>
                <a:cs typeface="BIZ UDPGothic" pitchFamily="34" charset="-120"/>
              </a:rPr>
              <a:t>5. これから詰めること</a:t>
            </a:r>
            <a:endParaRPr lang="en-US" sz="1200" dirty="0"/>
          </a:p>
        </p:txBody>
      </p:sp>
      <p:sp>
        <p:nvSpPr>
          <p:cNvPr id="3" name="Text 1"/>
          <p:cNvSpPr/>
          <p:nvPr/>
        </p:nvSpPr>
        <p:spPr>
          <a:xfrm>
            <a:off x="640080" y="777240"/>
            <a:ext cx="10881360" cy="1005840"/>
          </a:xfrm>
          <a:prstGeom prst="rect">
            <a:avLst/>
          </a:prstGeom>
          <a:noFill/>
          <a:ln/>
        </p:spPr>
        <p:txBody>
          <a:bodyPr wrap="square" lIns="0" tIns="0" rIns="0" bIns="0" rtlCol="0" anchor="ctr"/>
          <a:lstStyle/>
          <a:p>
            <a:pPr indent="0" marL="0">
              <a:buNone/>
            </a:pPr>
            <a:r>
              <a:rPr lang="en-US" sz="3000" b="1" dirty="0">
                <a:solidFill>
                  <a:srgbClr val="16181D"/>
                </a:solidFill>
                <a:latin typeface="Arial" pitchFamily="34" charset="0"/>
                <a:ea typeface="BIZ UDPGothic" pitchFamily="34" charset="-122"/>
                <a:cs typeface="BIZ UDPGothic" pitchFamily="34" charset="-120"/>
              </a:rPr>
              <a:t>まだ議論が必要な、5つの論点</a:t>
            </a:r>
            <a:endParaRPr lang="en-US" sz="3000" dirty="0"/>
          </a:p>
        </p:txBody>
      </p:sp>
      <p:sp>
        <p:nvSpPr>
          <p:cNvPr id="4" name="Text 2"/>
          <p:cNvSpPr/>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2B2F36"/>
                </a:solidFill>
                <a:latin typeface="Arial" pitchFamily="34" charset="0"/>
                <a:ea typeface="BIZ UDPGothic" pitchFamily="34" charset="-122"/>
                <a:cs typeface="BIZ UDPGothic" pitchFamily="34" charset="-120"/>
              </a:rPr>
              <a:t>22</a:t>
            </a:r>
            <a:endParaRPr lang="en-US" sz="1000" dirty="0"/>
          </a:p>
        </p:txBody>
      </p:sp>
      <p:sp>
        <p:nvSpPr>
          <p:cNvPr id="5" name="Text 3"/>
          <p:cNvSpPr/>
          <p:nvPr/>
        </p:nvSpPr>
        <p:spPr>
          <a:xfrm>
            <a:off x="640080" y="6446520"/>
            <a:ext cx="5486400" cy="320040"/>
          </a:xfrm>
          <a:prstGeom prst="rect">
            <a:avLst/>
          </a:prstGeom>
          <a:noFill/>
          <a:ln/>
        </p:spPr>
        <p:txBody>
          <a:bodyPr wrap="square" lIns="0" tIns="0" rIns="0" bIns="0" rtlCol="0" anchor="ctr"/>
          <a:lstStyle/>
          <a:p>
            <a:pPr indent="0" marL="0">
              <a:buNone/>
            </a:pPr>
            <a:r>
              <a:rPr lang="en-US" sz="900" dirty="0">
                <a:solidFill>
                  <a:srgbClr val="9AA0AA"/>
                </a:solidFill>
                <a:latin typeface="Arial" pitchFamily="34" charset="0"/>
                <a:ea typeface="BIZ UDPGothic" pitchFamily="34" charset="-122"/>
                <a:cs typeface="BIZ UDPGothic" pitchFamily="34" charset="-120"/>
              </a:rPr>
              <a:t>REBOOT JAPAN ── 提言004</a:t>
            </a:r>
            <a:endParaRPr lang="en-US" sz="900" dirty="0"/>
          </a:p>
        </p:txBody>
      </p:sp>
      <p:sp>
        <p:nvSpPr>
          <p:cNvPr id="6" name="Shape 4"/>
          <p:cNvSpPr/>
          <p:nvPr/>
        </p:nvSpPr>
        <p:spPr>
          <a:xfrm>
            <a:off x="640080" y="1920240"/>
            <a:ext cx="10881360" cy="713232"/>
          </a:xfrm>
          <a:prstGeom prst="roundRect">
            <a:avLst>
              <a:gd name="adj" fmla="val 6410"/>
            </a:avLst>
          </a:prstGeom>
          <a:solidFill>
            <a:srgbClr val="FFFFFF"/>
          </a:solidFill>
          <a:ln w="12700">
            <a:solidFill>
              <a:srgbClr val="DDE0E6"/>
            </a:solidFill>
            <a:prstDash val="solid"/>
          </a:ln>
        </p:spPr>
      </p:sp>
      <p:sp>
        <p:nvSpPr>
          <p:cNvPr id="7" name="Text 5"/>
          <p:cNvSpPr/>
          <p:nvPr/>
        </p:nvSpPr>
        <p:spPr>
          <a:xfrm>
            <a:off x="914400" y="1920240"/>
            <a:ext cx="548640" cy="713232"/>
          </a:xfrm>
          <a:prstGeom prst="rect">
            <a:avLst/>
          </a:prstGeom>
          <a:noFill/>
          <a:ln/>
        </p:spPr>
        <p:txBody>
          <a:bodyPr wrap="square" lIns="0" tIns="0" rIns="0" bIns="0" rtlCol="0" anchor="ctr"/>
          <a:lstStyle/>
          <a:p>
            <a:pPr indent="0" marL="0">
              <a:buNone/>
            </a:pPr>
            <a:r>
              <a:rPr lang="en-US" sz="1800" b="1" dirty="0">
                <a:solidFill>
                  <a:srgbClr val="C8161D"/>
                </a:solidFill>
                <a:latin typeface="Arial" pitchFamily="34" charset="0"/>
                <a:ea typeface="BIZ UDPGothic" pitchFamily="34" charset="-122"/>
                <a:cs typeface="BIZ UDPGothic" pitchFamily="34" charset="-120"/>
              </a:rPr>
              <a:t>1</a:t>
            </a:r>
            <a:endParaRPr lang="en-US" sz="1800" dirty="0"/>
          </a:p>
        </p:txBody>
      </p:sp>
      <p:sp>
        <p:nvSpPr>
          <p:cNvPr id="8" name="Text 6"/>
          <p:cNvSpPr/>
          <p:nvPr/>
        </p:nvSpPr>
        <p:spPr>
          <a:xfrm>
            <a:off x="1554480" y="1920240"/>
            <a:ext cx="9692640" cy="713232"/>
          </a:xfrm>
          <a:prstGeom prst="rect">
            <a:avLst/>
          </a:prstGeom>
          <a:noFill/>
          <a:ln/>
        </p:spPr>
        <p:txBody>
          <a:bodyPr wrap="square" lIns="0" tIns="0" rIns="0" bIns="0" rtlCol="0" anchor="ctr"/>
          <a:lstStyle/>
          <a:p>
            <a:pPr indent="0" marL="0">
              <a:lnSpc>
                <a:spcPct val="120000"/>
              </a:lnSpc>
              <a:buNone/>
            </a:pPr>
            <a:r>
              <a:rPr lang="en-US" sz="1300" dirty="0">
                <a:solidFill>
                  <a:srgbClr val="2B2F36"/>
                </a:solidFill>
                <a:latin typeface="Arial" pitchFamily="34" charset="0"/>
                <a:ea typeface="BIZ UDPGothic" pitchFamily="34" charset="-122"/>
                <a:cs typeface="BIZ UDPGothic" pitchFamily="34" charset="-120"/>
              </a:rPr>
              <a:t>事業承継の対象となる「自社株式・事業用資産」の具体的な線引き</a:t>
            </a:r>
            <a:endParaRPr lang="en-US" sz="1300" dirty="0"/>
          </a:p>
        </p:txBody>
      </p:sp>
      <p:sp>
        <p:nvSpPr>
          <p:cNvPr id="9" name="Shape 7"/>
          <p:cNvSpPr/>
          <p:nvPr/>
        </p:nvSpPr>
        <p:spPr>
          <a:xfrm>
            <a:off x="640080" y="2743200"/>
            <a:ext cx="10881360" cy="713232"/>
          </a:xfrm>
          <a:prstGeom prst="roundRect">
            <a:avLst>
              <a:gd name="adj" fmla="val 6410"/>
            </a:avLst>
          </a:prstGeom>
          <a:solidFill>
            <a:srgbClr val="FFFFFF"/>
          </a:solidFill>
          <a:ln w="12700">
            <a:solidFill>
              <a:srgbClr val="DDE0E6"/>
            </a:solidFill>
            <a:prstDash val="solid"/>
          </a:ln>
        </p:spPr>
      </p:sp>
      <p:sp>
        <p:nvSpPr>
          <p:cNvPr id="10" name="Text 8"/>
          <p:cNvSpPr/>
          <p:nvPr/>
        </p:nvSpPr>
        <p:spPr>
          <a:xfrm>
            <a:off x="914400" y="2743200"/>
            <a:ext cx="548640" cy="713232"/>
          </a:xfrm>
          <a:prstGeom prst="rect">
            <a:avLst/>
          </a:prstGeom>
          <a:noFill/>
          <a:ln/>
        </p:spPr>
        <p:txBody>
          <a:bodyPr wrap="square" lIns="0" tIns="0" rIns="0" bIns="0" rtlCol="0" anchor="ctr"/>
          <a:lstStyle/>
          <a:p>
            <a:pPr indent="0" marL="0">
              <a:buNone/>
            </a:pPr>
            <a:r>
              <a:rPr lang="en-US" sz="1800" b="1" dirty="0">
                <a:solidFill>
                  <a:srgbClr val="C8161D"/>
                </a:solidFill>
                <a:latin typeface="Arial" pitchFamily="34" charset="0"/>
                <a:ea typeface="BIZ UDPGothic" pitchFamily="34" charset="-122"/>
                <a:cs typeface="BIZ UDPGothic" pitchFamily="34" charset="-120"/>
              </a:rPr>
              <a:t>2</a:t>
            </a:r>
            <a:endParaRPr lang="en-US" sz="1800" dirty="0"/>
          </a:p>
        </p:txBody>
      </p:sp>
      <p:sp>
        <p:nvSpPr>
          <p:cNvPr id="11" name="Text 9"/>
          <p:cNvSpPr/>
          <p:nvPr/>
        </p:nvSpPr>
        <p:spPr>
          <a:xfrm>
            <a:off x="1554480" y="2743200"/>
            <a:ext cx="9692640" cy="713232"/>
          </a:xfrm>
          <a:prstGeom prst="rect">
            <a:avLst/>
          </a:prstGeom>
          <a:noFill/>
          <a:ln/>
        </p:spPr>
        <p:txBody>
          <a:bodyPr wrap="square" lIns="0" tIns="0" rIns="0" bIns="0" rtlCol="0" anchor="ctr"/>
          <a:lstStyle/>
          <a:p>
            <a:pPr indent="0" marL="0">
              <a:lnSpc>
                <a:spcPct val="120000"/>
              </a:lnSpc>
              <a:buNone/>
            </a:pPr>
            <a:r>
              <a:rPr lang="en-US" sz="1300" dirty="0">
                <a:solidFill>
                  <a:srgbClr val="2B2F36"/>
                </a:solidFill>
                <a:latin typeface="Arial" pitchFamily="34" charset="0"/>
                <a:ea typeface="BIZ UDPGothic" pitchFamily="34" charset="-122"/>
                <a:cs typeface="BIZ UDPGothic" pitchFamily="34" charset="-120"/>
              </a:rPr>
              <a:t>直系（配偶者・子・孫）以外が会社を継ぐ場合（従業員承継・M&amp;Aなど）の扱い</a:t>
            </a:r>
            <a:endParaRPr lang="en-US" sz="1300" dirty="0"/>
          </a:p>
        </p:txBody>
      </p:sp>
      <p:sp>
        <p:nvSpPr>
          <p:cNvPr id="12" name="Shape 10"/>
          <p:cNvSpPr/>
          <p:nvPr/>
        </p:nvSpPr>
        <p:spPr>
          <a:xfrm>
            <a:off x="640080" y="3566160"/>
            <a:ext cx="10881360" cy="713232"/>
          </a:xfrm>
          <a:prstGeom prst="roundRect">
            <a:avLst>
              <a:gd name="adj" fmla="val 6410"/>
            </a:avLst>
          </a:prstGeom>
          <a:solidFill>
            <a:srgbClr val="FFFFFF"/>
          </a:solidFill>
          <a:ln w="12700">
            <a:solidFill>
              <a:srgbClr val="DDE0E6"/>
            </a:solidFill>
            <a:prstDash val="solid"/>
          </a:ln>
        </p:spPr>
      </p:sp>
      <p:sp>
        <p:nvSpPr>
          <p:cNvPr id="13" name="Text 11"/>
          <p:cNvSpPr/>
          <p:nvPr/>
        </p:nvSpPr>
        <p:spPr>
          <a:xfrm>
            <a:off x="914400" y="3566160"/>
            <a:ext cx="548640" cy="713232"/>
          </a:xfrm>
          <a:prstGeom prst="rect">
            <a:avLst/>
          </a:prstGeom>
          <a:noFill/>
          <a:ln/>
        </p:spPr>
        <p:txBody>
          <a:bodyPr wrap="square" lIns="0" tIns="0" rIns="0" bIns="0" rtlCol="0" anchor="ctr"/>
          <a:lstStyle/>
          <a:p>
            <a:pPr indent="0" marL="0">
              <a:buNone/>
            </a:pPr>
            <a:r>
              <a:rPr lang="en-US" sz="1800" b="1" dirty="0">
                <a:solidFill>
                  <a:srgbClr val="C8161D"/>
                </a:solidFill>
                <a:latin typeface="Arial" pitchFamily="34" charset="0"/>
                <a:ea typeface="BIZ UDPGothic" pitchFamily="34" charset="-122"/>
                <a:cs typeface="BIZ UDPGothic" pitchFamily="34" charset="-120"/>
              </a:rPr>
              <a:t>3</a:t>
            </a:r>
            <a:endParaRPr lang="en-US" sz="1800" dirty="0"/>
          </a:p>
        </p:txBody>
      </p:sp>
      <p:sp>
        <p:nvSpPr>
          <p:cNvPr id="14" name="Text 12"/>
          <p:cNvSpPr/>
          <p:nvPr/>
        </p:nvSpPr>
        <p:spPr>
          <a:xfrm>
            <a:off x="1554480" y="3566160"/>
            <a:ext cx="9692640" cy="713232"/>
          </a:xfrm>
          <a:prstGeom prst="rect">
            <a:avLst/>
          </a:prstGeom>
          <a:noFill/>
          <a:ln/>
        </p:spPr>
        <p:txBody>
          <a:bodyPr wrap="square" lIns="0" tIns="0" rIns="0" bIns="0" rtlCol="0" anchor="ctr"/>
          <a:lstStyle/>
          <a:p>
            <a:pPr indent="0" marL="0">
              <a:lnSpc>
                <a:spcPct val="120000"/>
              </a:lnSpc>
              <a:buNone/>
            </a:pPr>
            <a:r>
              <a:rPr lang="en-US" sz="1300" dirty="0">
                <a:solidFill>
                  <a:srgbClr val="2B2F36"/>
                </a:solidFill>
                <a:latin typeface="Arial" pitchFamily="34" charset="0"/>
                <a:ea typeface="BIZ UDPGothic" pitchFamily="34" charset="-122"/>
                <a:cs typeface="BIZ UDPGothic" pitchFamily="34" charset="-120"/>
              </a:rPr>
              <a:t>10億円ボーダー・住んでいる家のゼロ評価による、具体的な税収減少額の試算</a:t>
            </a:r>
            <a:endParaRPr lang="en-US" sz="1300" dirty="0"/>
          </a:p>
        </p:txBody>
      </p:sp>
      <p:sp>
        <p:nvSpPr>
          <p:cNvPr id="15" name="Shape 13"/>
          <p:cNvSpPr/>
          <p:nvPr/>
        </p:nvSpPr>
        <p:spPr>
          <a:xfrm>
            <a:off x="640080" y="4389120"/>
            <a:ext cx="10881360" cy="713232"/>
          </a:xfrm>
          <a:prstGeom prst="roundRect">
            <a:avLst>
              <a:gd name="adj" fmla="val 6410"/>
            </a:avLst>
          </a:prstGeom>
          <a:solidFill>
            <a:srgbClr val="FFFFFF"/>
          </a:solidFill>
          <a:ln w="12700">
            <a:solidFill>
              <a:srgbClr val="DDE0E6"/>
            </a:solidFill>
            <a:prstDash val="solid"/>
          </a:ln>
        </p:spPr>
      </p:sp>
      <p:sp>
        <p:nvSpPr>
          <p:cNvPr id="16" name="Text 14"/>
          <p:cNvSpPr/>
          <p:nvPr/>
        </p:nvSpPr>
        <p:spPr>
          <a:xfrm>
            <a:off x="914400" y="4389120"/>
            <a:ext cx="548640" cy="713232"/>
          </a:xfrm>
          <a:prstGeom prst="rect">
            <a:avLst/>
          </a:prstGeom>
          <a:noFill/>
          <a:ln/>
        </p:spPr>
        <p:txBody>
          <a:bodyPr wrap="square" lIns="0" tIns="0" rIns="0" bIns="0" rtlCol="0" anchor="ctr"/>
          <a:lstStyle/>
          <a:p>
            <a:pPr indent="0" marL="0">
              <a:buNone/>
            </a:pPr>
            <a:r>
              <a:rPr lang="en-US" sz="1800" b="1" dirty="0">
                <a:solidFill>
                  <a:srgbClr val="C8161D"/>
                </a:solidFill>
                <a:latin typeface="Arial" pitchFamily="34" charset="0"/>
                <a:ea typeface="BIZ UDPGothic" pitchFamily="34" charset="-122"/>
                <a:cs typeface="BIZ UDPGothic" pitchFamily="34" charset="-120"/>
              </a:rPr>
              <a:t>4</a:t>
            </a:r>
            <a:endParaRPr lang="en-US" sz="1800" dirty="0"/>
          </a:p>
        </p:txBody>
      </p:sp>
      <p:sp>
        <p:nvSpPr>
          <p:cNvPr id="17" name="Text 15"/>
          <p:cNvSpPr/>
          <p:nvPr/>
        </p:nvSpPr>
        <p:spPr>
          <a:xfrm>
            <a:off x="1554480" y="4389120"/>
            <a:ext cx="9692640" cy="713232"/>
          </a:xfrm>
          <a:prstGeom prst="rect">
            <a:avLst/>
          </a:prstGeom>
          <a:noFill/>
          <a:ln/>
        </p:spPr>
        <p:txBody>
          <a:bodyPr wrap="square" lIns="0" tIns="0" rIns="0" bIns="0" rtlCol="0" anchor="ctr"/>
          <a:lstStyle/>
          <a:p>
            <a:pPr indent="0" marL="0">
              <a:lnSpc>
                <a:spcPct val="120000"/>
              </a:lnSpc>
              <a:buNone/>
            </a:pPr>
            <a:r>
              <a:rPr lang="en-US" sz="1300" dirty="0">
                <a:solidFill>
                  <a:srgbClr val="2B2F36"/>
                </a:solidFill>
                <a:latin typeface="Arial" pitchFamily="34" charset="0"/>
                <a:ea typeface="BIZ UDPGothic" pitchFamily="34" charset="-122"/>
                <a:cs typeface="BIZ UDPGothic" pitchFamily="34" charset="-120"/>
              </a:rPr>
              <a:t>「月15日以上住んでいる」ことを、どうやって確認するか</a:t>
            </a:r>
            <a:endParaRPr lang="en-US" sz="1300" dirty="0"/>
          </a:p>
        </p:txBody>
      </p:sp>
      <p:sp>
        <p:nvSpPr>
          <p:cNvPr id="18" name="Shape 16"/>
          <p:cNvSpPr/>
          <p:nvPr/>
        </p:nvSpPr>
        <p:spPr>
          <a:xfrm>
            <a:off x="640080" y="5212080"/>
            <a:ext cx="10881360" cy="713232"/>
          </a:xfrm>
          <a:prstGeom prst="roundRect">
            <a:avLst>
              <a:gd name="adj" fmla="val 6410"/>
            </a:avLst>
          </a:prstGeom>
          <a:solidFill>
            <a:srgbClr val="FFFFFF"/>
          </a:solidFill>
          <a:ln w="12700">
            <a:solidFill>
              <a:srgbClr val="DDE0E6"/>
            </a:solidFill>
            <a:prstDash val="solid"/>
          </a:ln>
        </p:spPr>
      </p:sp>
      <p:sp>
        <p:nvSpPr>
          <p:cNvPr id="19" name="Text 17"/>
          <p:cNvSpPr/>
          <p:nvPr/>
        </p:nvSpPr>
        <p:spPr>
          <a:xfrm>
            <a:off x="914400" y="5212080"/>
            <a:ext cx="548640" cy="713232"/>
          </a:xfrm>
          <a:prstGeom prst="rect">
            <a:avLst/>
          </a:prstGeom>
          <a:noFill/>
          <a:ln/>
        </p:spPr>
        <p:txBody>
          <a:bodyPr wrap="square" lIns="0" tIns="0" rIns="0" bIns="0" rtlCol="0" anchor="ctr"/>
          <a:lstStyle/>
          <a:p>
            <a:pPr indent="0" marL="0">
              <a:buNone/>
            </a:pPr>
            <a:r>
              <a:rPr lang="en-US" sz="1800" b="1" dirty="0">
                <a:solidFill>
                  <a:srgbClr val="C8161D"/>
                </a:solidFill>
                <a:latin typeface="Arial" pitchFamily="34" charset="0"/>
                <a:ea typeface="BIZ UDPGothic" pitchFamily="34" charset="-122"/>
                <a:cs typeface="BIZ UDPGothic" pitchFamily="34" charset="-120"/>
              </a:rPr>
              <a:t>5</a:t>
            </a:r>
            <a:endParaRPr lang="en-US" sz="1800" dirty="0"/>
          </a:p>
        </p:txBody>
      </p:sp>
      <p:sp>
        <p:nvSpPr>
          <p:cNvPr id="20" name="Text 18"/>
          <p:cNvSpPr/>
          <p:nvPr/>
        </p:nvSpPr>
        <p:spPr>
          <a:xfrm>
            <a:off x="1554480" y="5212080"/>
            <a:ext cx="9692640" cy="713232"/>
          </a:xfrm>
          <a:prstGeom prst="rect">
            <a:avLst/>
          </a:prstGeom>
          <a:noFill/>
          <a:ln/>
        </p:spPr>
        <p:txBody>
          <a:bodyPr wrap="square" lIns="0" tIns="0" rIns="0" bIns="0" rtlCol="0" anchor="ctr"/>
          <a:lstStyle/>
          <a:p>
            <a:pPr indent="0" marL="0">
              <a:lnSpc>
                <a:spcPct val="120000"/>
              </a:lnSpc>
              <a:buNone/>
            </a:pPr>
            <a:r>
              <a:rPr lang="en-US" sz="1300" dirty="0">
                <a:solidFill>
                  <a:srgbClr val="2B2F36"/>
                </a:solidFill>
                <a:latin typeface="Arial" pitchFamily="34" charset="0"/>
                <a:ea typeface="BIZ UDPGothic" pitchFamily="34" charset="-122"/>
                <a:cs typeface="BIZ UDPGothic" pitchFamily="34" charset="-120"/>
              </a:rPr>
              <a:t>海外に住んでいる家族が関わる相続への適用関係</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640080" y="411480"/>
            <a:ext cx="10881360" cy="365760"/>
          </a:xfrm>
          <a:prstGeom prst="rect">
            <a:avLst/>
          </a:prstGeom>
          <a:noFill/>
          <a:ln/>
        </p:spPr>
        <p:txBody>
          <a:bodyPr wrap="square" lIns="0" tIns="0" rIns="0" bIns="0" rtlCol="0" anchor="ctr"/>
          <a:lstStyle/>
          <a:p>
            <a:pPr indent="0" marL="0">
              <a:buNone/>
            </a:pPr>
            <a:r>
              <a:rPr lang="en-US" sz="1200" b="1" spc="300" kern="0" dirty="0">
                <a:solidFill>
                  <a:srgbClr val="C8161D"/>
                </a:solidFill>
                <a:latin typeface="Arial" pitchFamily="34" charset="0"/>
                <a:ea typeface="BIZ UDPGothic" pitchFamily="34" charset="-122"/>
                <a:cs typeface="BIZ UDPGothic" pitchFamily="34" charset="-120"/>
              </a:rPr>
              <a:t>まとめ</a:t>
            </a:r>
            <a:endParaRPr lang="en-US" sz="1200" dirty="0"/>
          </a:p>
        </p:txBody>
      </p:sp>
      <p:sp>
        <p:nvSpPr>
          <p:cNvPr id="3" name="Text 1"/>
          <p:cNvSpPr/>
          <p:nvPr/>
        </p:nvSpPr>
        <p:spPr>
          <a:xfrm>
            <a:off x="11475720" y="6446520"/>
            <a:ext cx="548640" cy="320040"/>
          </a:xfrm>
          <a:prstGeom prst="rect">
            <a:avLst/>
          </a:prstGeom>
          <a:noFill/>
          <a:ln/>
        </p:spPr>
        <p:txBody>
          <a:bodyPr wrap="square" lIns="0" tIns="0" rIns="0" bIns="0" rtlCol="0" anchor="ctr"/>
          <a:lstStyle/>
          <a:p>
            <a:pPr algn="r" indent="0" marL="0">
              <a:buNone/>
            </a:pPr>
            <a:r>
              <a:rPr lang="en-US" sz="1000" dirty="0">
                <a:solidFill>
                  <a:srgbClr val="2B2F36"/>
                </a:solidFill>
                <a:latin typeface="Arial" pitchFamily="34" charset="0"/>
                <a:ea typeface="BIZ UDPGothic" pitchFamily="34" charset="-122"/>
                <a:cs typeface="BIZ UDPGothic" pitchFamily="34" charset="-120"/>
              </a:rPr>
              <a:t>23</a:t>
            </a:r>
            <a:endParaRPr lang="en-US" sz="1000" dirty="0"/>
          </a:p>
        </p:txBody>
      </p:sp>
      <p:sp>
        <p:nvSpPr>
          <p:cNvPr id="4" name="Text 2"/>
          <p:cNvSpPr/>
          <p:nvPr/>
        </p:nvSpPr>
        <p:spPr>
          <a:xfrm>
            <a:off x="640080" y="6446520"/>
            <a:ext cx="5486400" cy="320040"/>
          </a:xfrm>
          <a:prstGeom prst="rect">
            <a:avLst/>
          </a:prstGeom>
          <a:noFill/>
          <a:ln/>
        </p:spPr>
        <p:txBody>
          <a:bodyPr wrap="square" lIns="0" tIns="0" rIns="0" bIns="0" rtlCol="0" anchor="ctr"/>
          <a:lstStyle/>
          <a:p>
            <a:pPr indent="0" marL="0">
              <a:buNone/>
            </a:pPr>
            <a:r>
              <a:rPr lang="en-US" sz="900" dirty="0">
                <a:solidFill>
                  <a:srgbClr val="9AA0AA"/>
                </a:solidFill>
                <a:latin typeface="Arial" pitchFamily="34" charset="0"/>
                <a:ea typeface="BIZ UDPGothic" pitchFamily="34" charset="-122"/>
                <a:cs typeface="BIZ UDPGothic" pitchFamily="34" charset="-120"/>
              </a:rPr>
              <a:t>REBOOT JAPAN ── 提言004</a:t>
            </a:r>
            <a:endParaRPr lang="en-US" sz="900" dirty="0"/>
          </a:p>
        </p:txBody>
      </p:sp>
      <p:sp>
        <p:nvSpPr>
          <p:cNvPr id="5" name="Text 3"/>
          <p:cNvSpPr/>
          <p:nvPr/>
        </p:nvSpPr>
        <p:spPr>
          <a:xfrm>
            <a:off x="777240" y="1463040"/>
            <a:ext cx="10607040" cy="914400"/>
          </a:xfrm>
          <a:prstGeom prst="rect">
            <a:avLst/>
          </a:prstGeom>
          <a:noFill/>
          <a:ln/>
        </p:spPr>
        <p:txBody>
          <a:bodyPr wrap="square" lIns="0" tIns="0" rIns="0" bIns="0" rtlCol="0" anchor="ctr"/>
          <a:lstStyle/>
          <a:p>
            <a:pPr indent="0" marL="0">
              <a:buNone/>
            </a:pPr>
            <a:r>
              <a:rPr lang="en-US" sz="2800" b="1" dirty="0">
                <a:solidFill>
                  <a:srgbClr val="16181D"/>
                </a:solidFill>
                <a:latin typeface="Arial" pitchFamily="34" charset="0"/>
                <a:ea typeface="BIZ UDPGothic" pitchFamily="34" charset="-122"/>
                <a:cs typeface="BIZ UDPGothic" pitchFamily="34" charset="-120"/>
              </a:rPr>
              <a:t>資産を築き、遺すことに、誇りを持てる社会へ</a:t>
            </a:r>
            <a:endParaRPr lang="en-US" sz="2800" dirty="0"/>
          </a:p>
        </p:txBody>
      </p:sp>
      <p:sp>
        <p:nvSpPr>
          <p:cNvPr id="6" name="Text 4"/>
          <p:cNvSpPr/>
          <p:nvPr/>
        </p:nvSpPr>
        <p:spPr>
          <a:xfrm>
            <a:off x="777240" y="2423160"/>
            <a:ext cx="10607040" cy="914400"/>
          </a:xfrm>
          <a:prstGeom prst="rect">
            <a:avLst/>
          </a:prstGeom>
          <a:noFill/>
          <a:ln/>
        </p:spPr>
        <p:txBody>
          <a:bodyPr wrap="square" lIns="0" tIns="0" rIns="0" bIns="0" rtlCol="0" anchor="ctr"/>
          <a:lstStyle/>
          <a:p>
            <a:pPr indent="0" marL="0">
              <a:lnSpc>
                <a:spcPct val="140000"/>
              </a:lnSpc>
              <a:buNone/>
            </a:pPr>
            <a:r>
              <a:rPr lang="en-US" sz="1500" dirty="0">
                <a:solidFill>
                  <a:srgbClr val="2B2F36"/>
                </a:solidFill>
                <a:latin typeface="Arial" pitchFamily="34" charset="0"/>
                <a:ea typeface="BIZ UDPGothic" pitchFamily="34" charset="-122"/>
                <a:cs typeface="BIZ UDPGothic" pitchFamily="34" charset="-120"/>
              </a:rPr>
              <a:t>相続税は、本来「なくてもいい税」です。それでも残すのであれば、対象はごく一部の超富裕層に限り、税率も常識的な範囲にとどめるべきです。</a:t>
            </a:r>
            <a:endParaRPr lang="en-US" sz="1500" dirty="0"/>
          </a:p>
        </p:txBody>
      </p:sp>
      <p:sp>
        <p:nvSpPr>
          <p:cNvPr id="7" name="Text 5"/>
          <p:cNvSpPr/>
          <p:nvPr/>
        </p:nvSpPr>
        <p:spPr>
          <a:xfrm>
            <a:off x="777240" y="3429000"/>
            <a:ext cx="10607040" cy="914400"/>
          </a:xfrm>
          <a:prstGeom prst="rect">
            <a:avLst/>
          </a:prstGeom>
          <a:noFill/>
          <a:ln/>
        </p:spPr>
        <p:txBody>
          <a:bodyPr wrap="square" lIns="0" tIns="0" rIns="0" bIns="0" rtlCol="0" anchor="ctr"/>
          <a:lstStyle/>
          <a:p>
            <a:pPr indent="0" marL="0">
              <a:lnSpc>
                <a:spcPct val="140000"/>
              </a:lnSpc>
              <a:buNone/>
            </a:pPr>
            <a:r>
              <a:rPr lang="en-US" sz="1500" dirty="0">
                <a:solidFill>
                  <a:srgbClr val="2B2F36"/>
                </a:solidFill>
                <a:latin typeface="Arial" pitchFamily="34" charset="0"/>
                <a:ea typeface="BIZ UDPGothic" pitchFamily="34" charset="-122"/>
                <a:cs typeface="BIZ UDPGothic" pitchFamily="34" charset="-120"/>
              </a:rPr>
              <a:t>中産階級が生涯かけて築いた家を、相続のために手放す必要はありません。強い中堅企業が、創業者の死をきっかけに解体される必要もありません。</a:t>
            </a:r>
            <a:endParaRPr lang="en-US" sz="1500" dirty="0"/>
          </a:p>
        </p:txBody>
      </p:sp>
      <p:sp>
        <p:nvSpPr>
          <p:cNvPr id="8" name="Shape 6"/>
          <p:cNvSpPr/>
          <p:nvPr/>
        </p:nvSpPr>
        <p:spPr>
          <a:xfrm>
            <a:off x="777240" y="4572000"/>
            <a:ext cx="3200400" cy="0"/>
          </a:xfrm>
          <a:prstGeom prst="line">
            <a:avLst/>
          </a:prstGeom>
          <a:noFill/>
          <a:ln w="12700">
            <a:solidFill>
              <a:srgbClr val="DDE0E6"/>
            </a:solidFill>
            <a:prstDash val="solid"/>
          </a:ln>
        </p:spPr>
      </p:sp>
      <p:sp>
        <p:nvSpPr>
          <p:cNvPr id="9" name="Text 7"/>
          <p:cNvSpPr/>
          <p:nvPr/>
        </p:nvSpPr>
        <p:spPr>
          <a:xfrm>
            <a:off x="777240" y="4800600"/>
            <a:ext cx="10607040" cy="1280160"/>
          </a:xfrm>
          <a:prstGeom prst="rect">
            <a:avLst/>
          </a:prstGeom>
          <a:noFill/>
          <a:ln/>
        </p:spPr>
        <p:txBody>
          <a:bodyPr wrap="square" lIns="0" tIns="0" rIns="0" bIns="0" rtlCol="0" anchor="ctr"/>
          <a:lstStyle/>
          <a:p>
            <a:pPr indent="0" marL="0">
              <a:lnSpc>
                <a:spcPct val="130000"/>
              </a:lnSpc>
              <a:buNone/>
            </a:pPr>
            <a:r>
              <a:rPr lang="en-US" sz="2200" b="1" dirty="0">
                <a:solidFill>
                  <a:srgbClr val="C8161D"/>
                </a:solidFill>
                <a:latin typeface="Arial" pitchFamily="34" charset="0"/>
                <a:ea typeface="BIZ UDPGothic" pitchFamily="34" charset="-122"/>
                <a:cs typeface="BIZ UDPGothic" pitchFamily="34" charset="-120"/>
              </a:rPr>
              <a:t>一生懸命働き、事業を育て、資産を遺すこと。</a:t>
            </a:r>
            <a:endParaRPr lang="en-US" sz="2200" dirty="0"/>
          </a:p>
          <a:p>
            <a:pPr indent="0" marL="0">
              <a:lnSpc>
                <a:spcPct val="130000"/>
              </a:lnSpc>
              <a:buNone/>
            </a:pPr>
            <a:r>
              <a:rPr lang="en-US" sz="2200" b="1" dirty="0">
                <a:solidFill>
                  <a:srgbClr val="C8161D"/>
                </a:solidFill>
                <a:latin typeface="Arial" pitchFamily="34" charset="0"/>
                <a:ea typeface="BIZ UDPGothic" pitchFamily="34" charset="-122"/>
                <a:cs typeface="BIZ UDPGothic" pitchFamily="34" charset="-120"/>
              </a:rPr>
              <a:t>それが世代を超えて尊重される国を目指す。</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提言004：相続税の不条理是正</dc:title>
  <dc:subject>PptxGenJS Presentation</dc:subject>
  <dc:creator>REBOOT JAPAN</dc:creator>
  <cp:lastModifiedBy>REBOOT JAPAN</cp:lastModifiedBy>
  <cp:revision>1</cp:revision>
  <dcterms:created xsi:type="dcterms:W3CDTF">2026-06-21T06:17:30Z</dcterms:created>
  <dcterms:modified xsi:type="dcterms:W3CDTF">2026-06-21T06:17:30Z</dcterms:modified>
</cp:coreProperties>
</file>