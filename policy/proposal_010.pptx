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777240"/>
            <a:ext cx="8046720" cy="347472"/>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政策提言プラットフォーム ── 提言010</a:t>
            </a:r>
            <a:endParaRPr lang="en-US" sz="1000" dirty="0"/>
          </a:p>
        </p:txBody>
      </p:sp>
      <p:sp>
        <p:nvSpPr>
          <p:cNvPr id="4" name="Text 2"/>
          <p:cNvSpPr/>
          <p:nvPr/>
        </p:nvSpPr>
        <p:spPr>
          <a:xfrm>
            <a:off x="685800" y="1188720"/>
            <a:ext cx="8046720" cy="2286000"/>
          </a:xfrm>
          <a:prstGeom prst="rect">
            <a:avLst/>
          </a:prstGeom>
          <a:noFill/>
          <a:ln/>
        </p:spPr>
        <p:txBody>
          <a:bodyPr wrap="square" lIns="0" tIns="0" rIns="0" bIns="0" rtlCol="0" anchor="ctr"/>
          <a:lstStyle/>
          <a:p>
            <a:pPr indent="0" marL="0">
              <a:buNone/>
            </a:pPr>
            <a:r>
              <a:rPr lang="en-US" sz="3000" b="1" dirty="0">
                <a:solidFill>
                  <a:srgbClr val="16181D"/>
                </a:solidFill>
                <a:latin typeface="BIZ UDPGothic" pitchFamily="34" charset="0"/>
                <a:ea typeface="BIZ UDPGothic" pitchFamily="34" charset="-122"/>
                <a:cs typeface="BIZ UDPGothic" pitchFamily="34" charset="-120"/>
              </a:rPr>
              <a:t>土地・不動産の</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外国人・外国資本</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取得規制プラン</a:t>
            </a:r>
            <a:endParaRPr lang="en-US" sz="3000" dirty="0"/>
          </a:p>
        </p:txBody>
      </p:sp>
      <p:sp>
        <p:nvSpPr>
          <p:cNvPr id="5" name="Text 3"/>
          <p:cNvSpPr/>
          <p:nvPr/>
        </p:nvSpPr>
        <p:spPr>
          <a:xfrm>
            <a:off x="685800" y="3547872"/>
            <a:ext cx="8046720" cy="347472"/>
          </a:xfrm>
          <a:prstGeom prst="rect">
            <a:avLst/>
          </a:prstGeom>
          <a:noFill/>
          <a:ln/>
        </p:spPr>
        <p:txBody>
          <a:bodyPr wrap="square" lIns="0" tIns="0" rIns="0" bIns="0" rtlCol="0" anchor="ctr"/>
          <a:lstStyle/>
          <a:p>
            <a:pPr indent="0" marL="0">
              <a:buNone/>
            </a:pPr>
            <a:r>
              <a:rPr lang="en-US" sz="1200" dirty="0">
                <a:solidFill>
                  <a:srgbClr val="626875"/>
                </a:solidFill>
                <a:latin typeface="Arial" pitchFamily="34" charset="0"/>
                <a:ea typeface="BIZ UDPGothic" pitchFamily="34" charset="-122"/>
                <a:cs typeface="BIZ UDPGothic" pitchFamily="34" charset="-120"/>
              </a:rPr>
              <a:t>～国土は誰のものか。所有権の原則を取り戻す～</a:t>
            </a:r>
            <a:endParaRPr lang="en-US" sz="1200" dirty="0"/>
          </a:p>
        </p:txBody>
      </p:sp>
      <p:sp>
        <p:nvSpPr>
          <p:cNvPr id="6" name="Shape 4"/>
          <p:cNvSpPr/>
          <p:nvPr/>
        </p:nvSpPr>
        <p:spPr>
          <a:xfrm>
            <a:off x="685800" y="3950208"/>
            <a:ext cx="7772400" cy="13716"/>
          </a:xfrm>
          <a:prstGeom prst="rect">
            <a:avLst/>
          </a:prstGeom>
          <a:solidFill>
            <a:srgbClr val="DDE0E6"/>
          </a:solidFill>
          <a:ln w="12700">
            <a:solidFill>
              <a:srgbClr val="DDE0E6"/>
            </a:solidFill>
            <a:prstDash val="solid"/>
          </a:ln>
        </p:spPr>
      </p:sp>
      <p:sp>
        <p:nvSpPr>
          <p:cNvPr id="7" name="Text 5"/>
          <p:cNvSpPr/>
          <p:nvPr/>
        </p:nvSpPr>
        <p:spPr>
          <a:xfrm>
            <a:off x="685800" y="4059936"/>
            <a:ext cx="8046720" cy="310896"/>
          </a:xfrm>
          <a:prstGeom prst="rect">
            <a:avLst/>
          </a:prstGeom>
          <a:noFill/>
          <a:ln/>
        </p:spPr>
        <p:txBody>
          <a:bodyPr wrap="square" lIns="0" tIns="0" rIns="0" bIns="0" rtlCol="0" anchor="ctr"/>
          <a:lstStyle/>
          <a:p>
            <a:pPr indent="0" marL="0">
              <a:buNone/>
            </a:pPr>
            <a:r>
              <a:rPr lang="en-US" sz="1100" dirty="0">
                <a:solidFill>
                  <a:srgbClr val="626875"/>
                </a:solidFill>
                <a:latin typeface="Arial" pitchFamily="34" charset="0"/>
                <a:ea typeface="BIZ UDPGothic" pitchFamily="34" charset="-122"/>
                <a:cs typeface="BIZ UDPGothic" pitchFamily="34" charset="-120"/>
              </a:rPr>
              <a:t>REBOOT JAPAN ── 市民による政策提言プラットフォーム</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PROBLEM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なぜ今、この問題なのか？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日本は世界でも珍しい「外国人でも土地を自由に買える国」。この仕組みが3つの大きな問題を起こしている。</a:t>
            </a:r>
            <a:endParaRPr lang="en-US" sz="1100" dirty="0"/>
          </a:p>
        </p:txBody>
      </p:sp>
      <p:sp>
        <p:nvSpPr>
          <p:cNvPr id="6" name="Shape 4"/>
          <p:cNvSpPr/>
          <p:nvPr/>
        </p:nvSpPr>
        <p:spPr>
          <a:xfrm>
            <a:off x="457200" y="1865376"/>
            <a:ext cx="8229600" cy="841248"/>
          </a:xfrm>
          <a:prstGeom prst="roundRect">
            <a:avLst>
              <a:gd name="adj" fmla="val 8696"/>
            </a:avLst>
          </a:prstGeom>
          <a:solidFill>
            <a:srgbClr val="FFFFFF"/>
          </a:solidFill>
          <a:ln w="12700">
            <a:solidFill>
              <a:srgbClr val="DDE0E6"/>
            </a:solidFill>
            <a:prstDash val="solid"/>
          </a:ln>
        </p:spPr>
      </p:sp>
      <p:sp>
        <p:nvSpPr>
          <p:cNvPr id="7" name="Text 5"/>
          <p:cNvSpPr/>
          <p:nvPr/>
        </p:nvSpPr>
        <p:spPr>
          <a:xfrm>
            <a:off x="594360" y="1938528"/>
            <a:ext cx="640080" cy="694944"/>
          </a:xfrm>
          <a:prstGeom prst="rect">
            <a:avLst/>
          </a:prstGeom>
          <a:noFill/>
          <a:ln/>
        </p:spPr>
        <p:txBody>
          <a:bodyPr wrap="square" lIns="0" tIns="0" rIns="0" bIns="0" rtlCol="0" anchor="ctr"/>
          <a:lstStyle/>
          <a:p>
            <a:pPr algn="ctr" indent="0" marL="0">
              <a:buNone/>
            </a:pPr>
            <a:r>
              <a:rPr lang="en-US" sz="2000" b="1" dirty="0">
                <a:solidFill>
                  <a:srgbClr val="C8161D"/>
                </a:solidFill>
                <a:latin typeface="BIZ UDPGothic" pitchFamily="34" charset="0"/>
                <a:ea typeface="BIZ UDPGothic" pitchFamily="34" charset="-122"/>
                <a:cs typeface="BIZ UDPGothic" pitchFamily="34" charset="-120"/>
              </a:rPr>
              <a:t>01</a:t>
            </a:r>
            <a:endParaRPr lang="en-US" sz="2000" dirty="0"/>
          </a:p>
        </p:txBody>
      </p:sp>
      <p:sp>
        <p:nvSpPr>
          <p:cNvPr id="8" name="Shape 6"/>
          <p:cNvSpPr/>
          <p:nvPr/>
        </p:nvSpPr>
        <p:spPr>
          <a:xfrm>
            <a:off x="1298448" y="1993392"/>
            <a:ext cx="13716" cy="585216"/>
          </a:xfrm>
          <a:prstGeom prst="rect">
            <a:avLst/>
          </a:prstGeom>
          <a:solidFill>
            <a:srgbClr val="DDE0E6"/>
          </a:solidFill>
          <a:ln w="12700">
            <a:solidFill>
              <a:srgbClr val="DDE0E6"/>
            </a:solidFill>
            <a:prstDash val="solid"/>
          </a:ln>
        </p:spPr>
      </p:sp>
      <p:sp>
        <p:nvSpPr>
          <p:cNvPr id="9" name="Text 7"/>
          <p:cNvSpPr/>
          <p:nvPr/>
        </p:nvSpPr>
        <p:spPr>
          <a:xfrm>
            <a:off x="1444752" y="1938528"/>
            <a:ext cx="7086600" cy="29260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安全保障のリスク</a:t>
            </a:r>
            <a:endParaRPr lang="en-US" sz="1300" dirty="0"/>
          </a:p>
        </p:txBody>
      </p:sp>
      <p:sp>
        <p:nvSpPr>
          <p:cNvPr id="10" name="Text 8"/>
          <p:cNvSpPr/>
          <p:nvPr/>
        </p:nvSpPr>
        <p:spPr>
          <a:xfrm>
            <a:off x="1444752" y="2267712"/>
            <a:ext cx="708660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水源地や国境に近い島の土地が外国資本に買われている。実質的に外国が支配する土地が増えると、日本の主権そのものが脅かされる</a:t>
            </a:r>
            <a:endParaRPr lang="en-US" sz="1000" dirty="0"/>
          </a:p>
        </p:txBody>
      </p:sp>
      <p:sp>
        <p:nvSpPr>
          <p:cNvPr id="11" name="Shape 9"/>
          <p:cNvSpPr/>
          <p:nvPr/>
        </p:nvSpPr>
        <p:spPr>
          <a:xfrm>
            <a:off x="457200" y="2834640"/>
            <a:ext cx="8229600" cy="841248"/>
          </a:xfrm>
          <a:prstGeom prst="roundRect">
            <a:avLst>
              <a:gd name="adj" fmla="val 8696"/>
            </a:avLst>
          </a:prstGeom>
          <a:solidFill>
            <a:srgbClr val="FFFFFF"/>
          </a:solidFill>
          <a:ln w="12700">
            <a:solidFill>
              <a:srgbClr val="DDE0E6"/>
            </a:solidFill>
            <a:prstDash val="solid"/>
          </a:ln>
        </p:spPr>
      </p:sp>
      <p:sp>
        <p:nvSpPr>
          <p:cNvPr id="12" name="Text 10"/>
          <p:cNvSpPr/>
          <p:nvPr/>
        </p:nvSpPr>
        <p:spPr>
          <a:xfrm>
            <a:off x="594360" y="2907792"/>
            <a:ext cx="640080" cy="694944"/>
          </a:xfrm>
          <a:prstGeom prst="rect">
            <a:avLst/>
          </a:prstGeom>
          <a:noFill/>
          <a:ln/>
        </p:spPr>
        <p:txBody>
          <a:bodyPr wrap="square" lIns="0" tIns="0" rIns="0" bIns="0" rtlCol="0" anchor="ctr"/>
          <a:lstStyle/>
          <a:p>
            <a:pPr algn="ctr" indent="0" marL="0">
              <a:buNone/>
            </a:pPr>
            <a:r>
              <a:rPr lang="en-US" sz="2000" b="1" dirty="0">
                <a:solidFill>
                  <a:srgbClr val="C8161D"/>
                </a:solidFill>
                <a:latin typeface="BIZ UDPGothic" pitchFamily="34" charset="0"/>
                <a:ea typeface="BIZ UDPGothic" pitchFamily="34" charset="-122"/>
                <a:cs typeface="BIZ UDPGothic" pitchFamily="34" charset="-120"/>
              </a:rPr>
              <a:t>02</a:t>
            </a:r>
            <a:endParaRPr lang="en-US" sz="2000" dirty="0"/>
          </a:p>
        </p:txBody>
      </p:sp>
      <p:sp>
        <p:nvSpPr>
          <p:cNvPr id="13" name="Shape 11"/>
          <p:cNvSpPr/>
          <p:nvPr/>
        </p:nvSpPr>
        <p:spPr>
          <a:xfrm>
            <a:off x="1298448" y="2962656"/>
            <a:ext cx="13716" cy="585216"/>
          </a:xfrm>
          <a:prstGeom prst="rect">
            <a:avLst/>
          </a:prstGeom>
          <a:solidFill>
            <a:srgbClr val="DDE0E6"/>
          </a:solidFill>
          <a:ln w="12700">
            <a:solidFill>
              <a:srgbClr val="DDE0E6"/>
            </a:solidFill>
            <a:prstDash val="solid"/>
          </a:ln>
        </p:spPr>
      </p:sp>
      <p:sp>
        <p:nvSpPr>
          <p:cNvPr id="14" name="Text 12"/>
          <p:cNvSpPr/>
          <p:nvPr/>
        </p:nvSpPr>
        <p:spPr>
          <a:xfrm>
            <a:off x="1444752" y="2907792"/>
            <a:ext cx="7086600" cy="29260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住宅価格が上がって日本人が買えない</a:t>
            </a:r>
            <a:endParaRPr lang="en-US" sz="1300" dirty="0"/>
          </a:p>
        </p:txBody>
      </p:sp>
      <p:sp>
        <p:nvSpPr>
          <p:cNvPr id="15" name="Text 13"/>
          <p:cNvSpPr/>
          <p:nvPr/>
        </p:nvSpPr>
        <p:spPr>
          <a:xfrm>
            <a:off x="1444752" y="3236976"/>
            <a:ext cx="708660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都心の高級マンションは購入者の2〜4割が外国人という調査もある。投資目的の外国マネーが価格を押し上げ、普通の日本人が家を買いにくくなっている</a:t>
            </a:r>
            <a:endParaRPr lang="en-US" sz="1000" dirty="0"/>
          </a:p>
        </p:txBody>
      </p:sp>
      <p:sp>
        <p:nvSpPr>
          <p:cNvPr id="16" name="Shape 14"/>
          <p:cNvSpPr/>
          <p:nvPr/>
        </p:nvSpPr>
        <p:spPr>
          <a:xfrm>
            <a:off x="457200" y="3803904"/>
            <a:ext cx="8229600" cy="841248"/>
          </a:xfrm>
          <a:prstGeom prst="roundRect">
            <a:avLst>
              <a:gd name="adj" fmla="val 8696"/>
            </a:avLst>
          </a:prstGeom>
          <a:solidFill>
            <a:srgbClr val="FFFFFF"/>
          </a:solidFill>
          <a:ln w="12700">
            <a:solidFill>
              <a:srgbClr val="DDE0E6"/>
            </a:solidFill>
            <a:prstDash val="solid"/>
          </a:ln>
        </p:spPr>
      </p:sp>
      <p:sp>
        <p:nvSpPr>
          <p:cNvPr id="17" name="Text 15"/>
          <p:cNvSpPr/>
          <p:nvPr/>
        </p:nvSpPr>
        <p:spPr>
          <a:xfrm>
            <a:off x="594360" y="3877056"/>
            <a:ext cx="640080" cy="694944"/>
          </a:xfrm>
          <a:prstGeom prst="rect">
            <a:avLst/>
          </a:prstGeom>
          <a:noFill/>
          <a:ln/>
        </p:spPr>
        <p:txBody>
          <a:bodyPr wrap="square" lIns="0" tIns="0" rIns="0" bIns="0" rtlCol="0" anchor="ctr"/>
          <a:lstStyle/>
          <a:p>
            <a:pPr algn="ctr" indent="0" marL="0">
              <a:buNone/>
            </a:pPr>
            <a:r>
              <a:rPr lang="en-US" sz="2000" b="1" dirty="0">
                <a:solidFill>
                  <a:srgbClr val="C8161D"/>
                </a:solidFill>
                <a:latin typeface="BIZ UDPGothic" pitchFamily="34" charset="0"/>
                <a:ea typeface="BIZ UDPGothic" pitchFamily="34" charset="-122"/>
                <a:cs typeface="BIZ UDPGothic" pitchFamily="34" charset="-120"/>
              </a:rPr>
              <a:t>03</a:t>
            </a:r>
            <a:endParaRPr lang="en-US" sz="2000" dirty="0"/>
          </a:p>
        </p:txBody>
      </p:sp>
      <p:sp>
        <p:nvSpPr>
          <p:cNvPr id="18" name="Shape 16"/>
          <p:cNvSpPr/>
          <p:nvPr/>
        </p:nvSpPr>
        <p:spPr>
          <a:xfrm>
            <a:off x="1298448" y="3931920"/>
            <a:ext cx="13716" cy="585216"/>
          </a:xfrm>
          <a:prstGeom prst="rect">
            <a:avLst/>
          </a:prstGeom>
          <a:solidFill>
            <a:srgbClr val="DDE0E6"/>
          </a:solidFill>
          <a:ln w="12700">
            <a:solidFill>
              <a:srgbClr val="DDE0E6"/>
            </a:solidFill>
            <a:prstDash val="solid"/>
          </a:ln>
        </p:spPr>
      </p:sp>
      <p:sp>
        <p:nvSpPr>
          <p:cNvPr id="19" name="Text 17"/>
          <p:cNvSpPr/>
          <p:nvPr/>
        </p:nvSpPr>
        <p:spPr>
          <a:xfrm>
            <a:off x="1444752" y="3877056"/>
            <a:ext cx="7086600" cy="29260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今の法律では守れない</a:t>
            </a:r>
            <a:endParaRPr lang="en-US" sz="1300" dirty="0"/>
          </a:p>
        </p:txBody>
      </p:sp>
      <p:sp>
        <p:nvSpPr>
          <p:cNvPr id="20" name="Text 18"/>
          <p:cNvSpPr/>
          <p:nvPr/>
        </p:nvSpPr>
        <p:spPr>
          <a:xfrm>
            <a:off x="1444752" y="4206240"/>
            <a:ext cx="708660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2022年に「重要土地等規制法」ができたが、調査はできても購入そのものを止める力がない。ザルのような状態が続いている</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PROBLEM 01</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水源地・国境の島が外国資本に買われている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お金を出せば誰でも土地を買える日本の制度が、安全保障上の弱点になっている。</a:t>
            </a:r>
            <a:endParaRPr lang="en-US" sz="1100" dirty="0"/>
          </a:p>
        </p:txBody>
      </p:sp>
      <p:sp>
        <p:nvSpPr>
          <p:cNvPr id="6" name="Shape 4"/>
          <p:cNvSpPr/>
          <p:nvPr/>
        </p:nvSpPr>
        <p:spPr>
          <a:xfrm>
            <a:off x="457200" y="1755648"/>
            <a:ext cx="8229600" cy="969264"/>
          </a:xfrm>
          <a:prstGeom prst="roundRect">
            <a:avLst>
              <a:gd name="adj" fmla="val 7547"/>
            </a:avLst>
          </a:prstGeom>
          <a:solidFill>
            <a:srgbClr val="FFFFFF"/>
          </a:solidFill>
          <a:ln w="12700">
            <a:solidFill>
              <a:srgbClr val="DDE0E6"/>
            </a:solidFill>
            <a:prstDash val="solid"/>
          </a:ln>
        </p:spPr>
      </p:sp>
      <p:sp>
        <p:nvSpPr>
          <p:cNvPr id="7" name="Text 5"/>
          <p:cNvSpPr/>
          <p:nvPr/>
        </p:nvSpPr>
        <p:spPr>
          <a:xfrm>
            <a:off x="566928" y="1847088"/>
            <a:ext cx="640080" cy="786384"/>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Shape 6"/>
          <p:cNvSpPr/>
          <p:nvPr/>
        </p:nvSpPr>
        <p:spPr>
          <a:xfrm>
            <a:off x="1280160" y="1892808"/>
            <a:ext cx="13716" cy="694944"/>
          </a:xfrm>
          <a:prstGeom prst="rect">
            <a:avLst/>
          </a:prstGeom>
          <a:solidFill>
            <a:srgbClr val="DDE0E6"/>
          </a:solidFill>
          <a:ln w="12700">
            <a:solidFill>
              <a:srgbClr val="DDE0E6"/>
            </a:solidFill>
            <a:prstDash val="solid"/>
          </a:ln>
        </p:spPr>
      </p:sp>
      <p:sp>
        <p:nvSpPr>
          <p:cNvPr id="9" name="Text 7"/>
          <p:cNvSpPr/>
          <p:nvPr/>
        </p:nvSpPr>
        <p:spPr>
          <a:xfrm>
            <a:off x="1444752" y="1847088"/>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水源地の危機</a:t>
            </a:r>
            <a:endParaRPr lang="en-US" sz="1300" dirty="0"/>
          </a:p>
        </p:txBody>
      </p:sp>
      <p:sp>
        <p:nvSpPr>
          <p:cNvPr id="10" name="Text 8"/>
          <p:cNvSpPr/>
          <p:nvPr/>
        </p:nvSpPr>
        <p:spPr>
          <a:xfrm>
            <a:off x="1444752" y="2194560"/>
            <a:ext cx="7086600" cy="45720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川や湖の水が来る源になる山の土地（水源地）を外国人が購入するケースが増えている。水源地を持つ者が水を管理できる。ダムや浄水場の近くも同じリスクがある</a:t>
            </a:r>
            <a:endParaRPr lang="en-US" sz="1000" dirty="0"/>
          </a:p>
        </p:txBody>
      </p:sp>
      <p:sp>
        <p:nvSpPr>
          <p:cNvPr id="11" name="Shape 9"/>
          <p:cNvSpPr/>
          <p:nvPr/>
        </p:nvSpPr>
        <p:spPr>
          <a:xfrm>
            <a:off x="457200" y="2852928"/>
            <a:ext cx="8229600" cy="969264"/>
          </a:xfrm>
          <a:prstGeom prst="roundRect">
            <a:avLst>
              <a:gd name="adj" fmla="val 7547"/>
            </a:avLst>
          </a:prstGeom>
          <a:solidFill>
            <a:srgbClr val="FFFFFF"/>
          </a:solidFill>
          <a:ln w="12700">
            <a:solidFill>
              <a:srgbClr val="DDE0E6"/>
            </a:solidFill>
            <a:prstDash val="solid"/>
          </a:ln>
        </p:spPr>
      </p:sp>
      <p:sp>
        <p:nvSpPr>
          <p:cNvPr id="12" name="Text 10"/>
          <p:cNvSpPr/>
          <p:nvPr/>
        </p:nvSpPr>
        <p:spPr>
          <a:xfrm>
            <a:off x="566928" y="2944368"/>
            <a:ext cx="640080" cy="786384"/>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Shape 11"/>
          <p:cNvSpPr/>
          <p:nvPr/>
        </p:nvSpPr>
        <p:spPr>
          <a:xfrm>
            <a:off x="1280160" y="2990088"/>
            <a:ext cx="13716" cy="694944"/>
          </a:xfrm>
          <a:prstGeom prst="rect">
            <a:avLst/>
          </a:prstGeom>
          <a:solidFill>
            <a:srgbClr val="DDE0E6"/>
          </a:solidFill>
          <a:ln w="12700">
            <a:solidFill>
              <a:srgbClr val="DDE0E6"/>
            </a:solidFill>
            <a:prstDash val="solid"/>
          </a:ln>
        </p:spPr>
      </p:sp>
      <p:sp>
        <p:nvSpPr>
          <p:cNvPr id="14" name="Text 12"/>
          <p:cNvSpPr/>
          <p:nvPr/>
        </p:nvSpPr>
        <p:spPr>
          <a:xfrm>
            <a:off x="1444752" y="2944368"/>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国境の島の危機</a:t>
            </a:r>
            <a:endParaRPr lang="en-US" sz="1300" dirty="0"/>
          </a:p>
        </p:txBody>
      </p:sp>
      <p:sp>
        <p:nvSpPr>
          <p:cNvPr id="15" name="Text 13"/>
          <p:cNvSpPr/>
          <p:nvPr/>
        </p:nvSpPr>
        <p:spPr>
          <a:xfrm>
            <a:off x="1444752" y="3291840"/>
            <a:ext cx="7086600" cy="45720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日本の端にある小さな島（国境離島）が買われると、外国が実質的にそこを「支配」できてしまう。島の実質的な支配が積み重なれば、地図上の国境線が変わるリスクにもなる</a:t>
            </a:r>
            <a:endParaRPr lang="en-US" sz="1000" dirty="0"/>
          </a:p>
        </p:txBody>
      </p:sp>
      <p:sp>
        <p:nvSpPr>
          <p:cNvPr id="16" name="Shape 14"/>
          <p:cNvSpPr/>
          <p:nvPr/>
        </p:nvSpPr>
        <p:spPr>
          <a:xfrm>
            <a:off x="457200" y="3950208"/>
            <a:ext cx="8229600" cy="969264"/>
          </a:xfrm>
          <a:prstGeom prst="roundRect">
            <a:avLst>
              <a:gd name="adj" fmla="val 7547"/>
            </a:avLst>
          </a:prstGeom>
          <a:solidFill>
            <a:srgbClr val="FFFFFF"/>
          </a:solidFill>
          <a:ln w="12700">
            <a:solidFill>
              <a:srgbClr val="DDE0E6"/>
            </a:solidFill>
            <a:prstDash val="solid"/>
          </a:ln>
        </p:spPr>
      </p:sp>
      <p:sp>
        <p:nvSpPr>
          <p:cNvPr id="17" name="Text 15"/>
          <p:cNvSpPr/>
          <p:nvPr/>
        </p:nvSpPr>
        <p:spPr>
          <a:xfrm>
            <a:off x="566928" y="4041648"/>
            <a:ext cx="640080" cy="786384"/>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Shape 16"/>
          <p:cNvSpPr/>
          <p:nvPr/>
        </p:nvSpPr>
        <p:spPr>
          <a:xfrm>
            <a:off x="1280160" y="4087368"/>
            <a:ext cx="13716" cy="694944"/>
          </a:xfrm>
          <a:prstGeom prst="rect">
            <a:avLst/>
          </a:prstGeom>
          <a:solidFill>
            <a:srgbClr val="DDE0E6"/>
          </a:solidFill>
          <a:ln w="12700">
            <a:solidFill>
              <a:srgbClr val="DDE0E6"/>
            </a:solidFill>
            <a:prstDash val="solid"/>
          </a:ln>
        </p:spPr>
      </p:sp>
      <p:sp>
        <p:nvSpPr>
          <p:cNvPr id="19" name="Text 17"/>
          <p:cNvSpPr/>
          <p:nvPr/>
        </p:nvSpPr>
        <p:spPr>
          <a:xfrm>
            <a:off x="1444752" y="4041648"/>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今の法律の限界</a:t>
            </a:r>
            <a:endParaRPr lang="en-US" sz="1300" dirty="0"/>
          </a:p>
        </p:txBody>
      </p:sp>
      <p:sp>
        <p:nvSpPr>
          <p:cNvPr id="20" name="Text 18"/>
          <p:cNvSpPr/>
          <p:nvPr/>
        </p:nvSpPr>
        <p:spPr>
          <a:xfrm>
            <a:off x="1444752" y="4389120"/>
            <a:ext cx="7086600" cy="45720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2022年にできた法律で「調査はできる」ようになったが、「買うこと自体を止める」ことはできない。外国人が買った後に調べることしかできない状態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PROBLEM 02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外国マネーが住宅価格を押し上げている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投資目的の外国マネーが都心の高級マンション市場に流れ込み、日本人が家を買えなくなっている。</a:t>
            </a:r>
            <a:endParaRPr lang="en-US" sz="1100" dirty="0"/>
          </a:p>
        </p:txBody>
      </p:sp>
      <p:sp>
        <p:nvSpPr>
          <p:cNvPr id="6" name="Shape 4"/>
          <p:cNvSpPr/>
          <p:nvPr/>
        </p:nvSpPr>
        <p:spPr>
          <a:xfrm>
            <a:off x="457200" y="1755648"/>
            <a:ext cx="8229600" cy="969264"/>
          </a:xfrm>
          <a:prstGeom prst="roundRect">
            <a:avLst>
              <a:gd name="adj" fmla="val 7547"/>
            </a:avLst>
          </a:prstGeom>
          <a:solidFill>
            <a:srgbClr val="FCEBEB"/>
          </a:solidFill>
          <a:ln w="12700">
            <a:solidFill>
              <a:srgbClr val="DDE0E6"/>
            </a:solidFill>
            <a:prstDash val="solid"/>
          </a:ln>
        </p:spPr>
      </p:sp>
      <p:sp>
        <p:nvSpPr>
          <p:cNvPr id="7" name="Text 5"/>
          <p:cNvSpPr/>
          <p:nvPr/>
        </p:nvSpPr>
        <p:spPr>
          <a:xfrm>
            <a:off x="594360" y="1828800"/>
            <a:ext cx="2011680" cy="822960"/>
          </a:xfrm>
          <a:prstGeom prst="rect">
            <a:avLst/>
          </a:prstGeom>
          <a:noFill/>
          <a:ln/>
        </p:spPr>
        <p:txBody>
          <a:bodyPr wrap="square" lIns="0" tIns="0" rIns="0" bIns="0" rtlCol="0" anchor="ctr"/>
          <a:lstStyle/>
          <a:p>
            <a:pPr algn="ctr" indent="0" marL="0">
              <a:buNone/>
            </a:pPr>
            <a:r>
              <a:rPr lang="en-US" sz="2200" b="1" dirty="0">
                <a:solidFill>
                  <a:srgbClr val="C8161D"/>
                </a:solidFill>
                <a:latin typeface="BIZ UDPGothic" pitchFamily="34" charset="0"/>
                <a:ea typeface="BIZ UDPGothic" pitchFamily="34" charset="-122"/>
                <a:cs typeface="BIZ UDPGothic" pitchFamily="34" charset="-120"/>
              </a:rPr>
              <a:t>2〜4割</a:t>
            </a:r>
            <a:endParaRPr lang="en-US" sz="2200" dirty="0"/>
          </a:p>
        </p:txBody>
      </p:sp>
      <p:sp>
        <p:nvSpPr>
          <p:cNvPr id="8" name="Shape 6"/>
          <p:cNvSpPr/>
          <p:nvPr/>
        </p:nvSpPr>
        <p:spPr>
          <a:xfrm>
            <a:off x="2670048" y="1892808"/>
            <a:ext cx="13716" cy="694944"/>
          </a:xfrm>
          <a:prstGeom prst="rect">
            <a:avLst/>
          </a:prstGeom>
          <a:solidFill>
            <a:srgbClr val="DDE0E6"/>
          </a:solidFill>
          <a:ln w="12700">
            <a:solidFill>
              <a:srgbClr val="DDE0E6"/>
            </a:solidFill>
            <a:prstDash val="solid"/>
          </a:ln>
        </p:spPr>
      </p:sp>
      <p:sp>
        <p:nvSpPr>
          <p:cNvPr id="9" name="Text 7"/>
          <p:cNvSpPr/>
          <p:nvPr/>
        </p:nvSpPr>
        <p:spPr>
          <a:xfrm>
            <a:off x="2816352" y="1847088"/>
            <a:ext cx="5715000" cy="329184"/>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都心3区の億ションの購入者に占める外国人の割合</a:t>
            </a:r>
            <a:endParaRPr lang="en-US" sz="1200" dirty="0"/>
          </a:p>
        </p:txBody>
      </p:sp>
      <p:sp>
        <p:nvSpPr>
          <p:cNvPr id="10" name="Text 8"/>
          <p:cNvSpPr/>
          <p:nvPr/>
        </p:nvSpPr>
        <p:spPr>
          <a:xfrm>
            <a:off x="2816352" y="2212848"/>
            <a:ext cx="5715000" cy="40233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三菱UFJ信託銀行の業界調査（2024年度）。千代田・港・渋谷の3区が対象</a:t>
            </a:r>
            <a:endParaRPr lang="en-US" sz="1000" dirty="0"/>
          </a:p>
        </p:txBody>
      </p:sp>
      <p:sp>
        <p:nvSpPr>
          <p:cNvPr id="11" name="Shape 9"/>
          <p:cNvSpPr/>
          <p:nvPr/>
        </p:nvSpPr>
        <p:spPr>
          <a:xfrm>
            <a:off x="457200" y="2852928"/>
            <a:ext cx="8229600" cy="969264"/>
          </a:xfrm>
          <a:prstGeom prst="roundRect">
            <a:avLst>
              <a:gd name="adj" fmla="val 7547"/>
            </a:avLst>
          </a:prstGeom>
          <a:solidFill>
            <a:srgbClr val="FCEBEB"/>
          </a:solidFill>
          <a:ln w="12700">
            <a:solidFill>
              <a:srgbClr val="DDE0E6"/>
            </a:solidFill>
            <a:prstDash val="solid"/>
          </a:ln>
        </p:spPr>
      </p:sp>
      <p:sp>
        <p:nvSpPr>
          <p:cNvPr id="12" name="Text 10"/>
          <p:cNvSpPr/>
          <p:nvPr/>
        </p:nvSpPr>
        <p:spPr>
          <a:xfrm>
            <a:off x="594360" y="2926080"/>
            <a:ext cx="2011680" cy="822960"/>
          </a:xfrm>
          <a:prstGeom prst="rect">
            <a:avLst/>
          </a:prstGeom>
          <a:noFill/>
          <a:ln/>
        </p:spPr>
        <p:txBody>
          <a:bodyPr wrap="square" lIns="0" tIns="0" rIns="0" bIns="0" rtlCol="0" anchor="ctr"/>
          <a:lstStyle/>
          <a:p>
            <a:pPr algn="ctr" indent="0" marL="0">
              <a:buNone/>
            </a:pPr>
            <a:r>
              <a:rPr lang="en-US" sz="2200" b="1" dirty="0">
                <a:solidFill>
                  <a:srgbClr val="C8161D"/>
                </a:solidFill>
                <a:latin typeface="BIZ UDPGothic" pitchFamily="34" charset="0"/>
                <a:ea typeface="BIZ UDPGothic" pitchFamily="34" charset="-122"/>
                <a:cs typeface="BIZ UDPGothic" pitchFamily="34" charset="-120"/>
              </a:rPr>
              <a:t>7.5%</a:t>
            </a:r>
            <a:endParaRPr lang="en-US" sz="2200" dirty="0"/>
          </a:p>
        </p:txBody>
      </p:sp>
      <p:sp>
        <p:nvSpPr>
          <p:cNvPr id="13" name="Shape 11"/>
          <p:cNvSpPr/>
          <p:nvPr/>
        </p:nvSpPr>
        <p:spPr>
          <a:xfrm>
            <a:off x="2670048" y="2990088"/>
            <a:ext cx="13716" cy="694944"/>
          </a:xfrm>
          <a:prstGeom prst="rect">
            <a:avLst/>
          </a:prstGeom>
          <a:solidFill>
            <a:srgbClr val="DDE0E6"/>
          </a:solidFill>
          <a:ln w="12700">
            <a:solidFill>
              <a:srgbClr val="DDE0E6"/>
            </a:solidFill>
            <a:prstDash val="solid"/>
          </a:ln>
        </p:spPr>
      </p:sp>
      <p:sp>
        <p:nvSpPr>
          <p:cNvPr id="14" name="Text 12"/>
          <p:cNvSpPr/>
          <p:nvPr/>
        </p:nvSpPr>
        <p:spPr>
          <a:xfrm>
            <a:off x="2816352" y="2944368"/>
            <a:ext cx="5715000" cy="329184"/>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都心6区の新築マンション取得に占める国外居住者の割合</a:t>
            </a:r>
            <a:endParaRPr lang="en-US" sz="1200" dirty="0"/>
          </a:p>
        </p:txBody>
      </p:sp>
      <p:sp>
        <p:nvSpPr>
          <p:cNvPr id="15" name="Text 13"/>
          <p:cNvSpPr/>
          <p:nvPr/>
        </p:nvSpPr>
        <p:spPr>
          <a:xfrm>
            <a:off x="2816352" y="3310128"/>
            <a:ext cx="5715000" cy="40233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国土交通省の登記調査（2025年1〜6月）。国全体では3.5%だが都心ほど高い</a:t>
            </a:r>
            <a:endParaRPr lang="en-US" sz="1000" dirty="0"/>
          </a:p>
        </p:txBody>
      </p:sp>
      <p:sp>
        <p:nvSpPr>
          <p:cNvPr id="16" name="Shape 14"/>
          <p:cNvSpPr/>
          <p:nvPr/>
        </p:nvSpPr>
        <p:spPr>
          <a:xfrm>
            <a:off x="457200" y="3950208"/>
            <a:ext cx="8229600" cy="969264"/>
          </a:xfrm>
          <a:prstGeom prst="roundRect">
            <a:avLst>
              <a:gd name="adj" fmla="val 7547"/>
            </a:avLst>
          </a:prstGeom>
          <a:solidFill>
            <a:srgbClr val="FCEBEB"/>
          </a:solidFill>
          <a:ln w="12700">
            <a:solidFill>
              <a:srgbClr val="DDE0E6"/>
            </a:solidFill>
            <a:prstDash val="solid"/>
          </a:ln>
        </p:spPr>
      </p:sp>
      <p:sp>
        <p:nvSpPr>
          <p:cNvPr id="17" name="Text 15"/>
          <p:cNvSpPr/>
          <p:nvPr/>
        </p:nvSpPr>
        <p:spPr>
          <a:xfrm>
            <a:off x="594360" y="4023360"/>
            <a:ext cx="2011680" cy="822960"/>
          </a:xfrm>
          <a:prstGeom prst="rect">
            <a:avLst/>
          </a:prstGeom>
          <a:noFill/>
          <a:ln/>
        </p:spPr>
        <p:txBody>
          <a:bodyPr wrap="square" lIns="0" tIns="0" rIns="0" bIns="0" rtlCol="0" anchor="ctr"/>
          <a:lstStyle/>
          <a:p>
            <a:pPr algn="ctr" indent="0" marL="0">
              <a:buNone/>
            </a:pPr>
            <a:r>
              <a:rPr lang="en-US" sz="2200" b="1" dirty="0">
                <a:solidFill>
                  <a:srgbClr val="C8161D"/>
                </a:solidFill>
                <a:latin typeface="BIZ UDPGothic" pitchFamily="34" charset="0"/>
                <a:ea typeface="BIZ UDPGothic" pitchFamily="34" charset="-122"/>
                <a:cs typeface="BIZ UDPGothic" pitchFamily="34" charset="-120"/>
              </a:rPr>
              <a:t>約2.3億円</a:t>
            </a:r>
            <a:endParaRPr lang="en-US" sz="2200" dirty="0"/>
          </a:p>
        </p:txBody>
      </p:sp>
      <p:sp>
        <p:nvSpPr>
          <p:cNvPr id="18" name="Shape 16"/>
          <p:cNvSpPr/>
          <p:nvPr/>
        </p:nvSpPr>
        <p:spPr>
          <a:xfrm>
            <a:off x="2670048" y="4087368"/>
            <a:ext cx="13716" cy="694944"/>
          </a:xfrm>
          <a:prstGeom prst="rect">
            <a:avLst/>
          </a:prstGeom>
          <a:solidFill>
            <a:srgbClr val="DDE0E6"/>
          </a:solidFill>
          <a:ln w="12700">
            <a:solidFill>
              <a:srgbClr val="DDE0E6"/>
            </a:solidFill>
            <a:prstDash val="solid"/>
          </a:ln>
        </p:spPr>
      </p:sp>
      <p:sp>
        <p:nvSpPr>
          <p:cNvPr id="19" name="Text 17"/>
          <p:cNvSpPr/>
          <p:nvPr/>
        </p:nvSpPr>
        <p:spPr>
          <a:xfrm>
            <a:off x="2816352" y="4041648"/>
            <a:ext cx="5715000" cy="329184"/>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都心3区の新築マンションの平均価格</a:t>
            </a:r>
            <a:endParaRPr lang="en-US" sz="1200" dirty="0"/>
          </a:p>
        </p:txBody>
      </p:sp>
      <p:sp>
        <p:nvSpPr>
          <p:cNvPr id="20" name="Text 18"/>
          <p:cNvSpPr/>
          <p:nvPr/>
        </p:nvSpPr>
        <p:spPr>
          <a:xfrm>
            <a:off x="2816352" y="4407408"/>
            <a:ext cx="5715000" cy="40233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普通の共働き夫婦でも手が届かない水準。低金利＋外国マネーの両方が価格を押し上げている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OVERVIEW</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この提言のルール：全体像</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土地とマンションで、それぞれ別の考え方でルールを作る。両方合わせて「外国マネーから国土を守る二重の防波堤」にする。</a:t>
            </a:r>
            <a:endParaRPr lang="en-US" sz="1100" dirty="0"/>
          </a:p>
        </p:txBody>
      </p:sp>
      <p:sp>
        <p:nvSpPr>
          <p:cNvPr id="6" name="Shape 4"/>
          <p:cNvSpPr/>
          <p:nvPr/>
        </p:nvSpPr>
        <p:spPr>
          <a:xfrm>
            <a:off x="457200" y="1847088"/>
            <a:ext cx="4114800" cy="3072384"/>
          </a:xfrm>
          <a:prstGeom prst="roundRect">
            <a:avLst>
              <a:gd name="adj" fmla="val 2381"/>
            </a:avLst>
          </a:prstGeom>
          <a:solidFill>
            <a:srgbClr val="FFFFFF"/>
          </a:solidFill>
          <a:ln w="12700">
            <a:solidFill>
              <a:srgbClr val="DDE0E6"/>
            </a:solidFill>
            <a:prstDash val="solid"/>
          </a:ln>
        </p:spPr>
      </p:sp>
      <p:sp>
        <p:nvSpPr>
          <p:cNvPr id="7" name="Text 5"/>
          <p:cNvSpPr/>
          <p:nvPr/>
        </p:nvSpPr>
        <p:spPr>
          <a:xfrm>
            <a:off x="640080" y="1975104"/>
            <a:ext cx="3749040" cy="384048"/>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土地（一戸建て等）</a:t>
            </a:r>
            <a:endParaRPr lang="en-US" sz="1400" dirty="0"/>
          </a:p>
        </p:txBody>
      </p:sp>
      <p:sp>
        <p:nvSpPr>
          <p:cNvPr id="8" name="Shape 6"/>
          <p:cNvSpPr/>
          <p:nvPr/>
        </p:nvSpPr>
        <p:spPr>
          <a:xfrm>
            <a:off x="640080" y="2377440"/>
            <a:ext cx="3749040" cy="10973"/>
          </a:xfrm>
          <a:prstGeom prst="rect">
            <a:avLst/>
          </a:prstGeom>
          <a:solidFill>
            <a:srgbClr val="DDE0E6"/>
          </a:solidFill>
          <a:ln w="12700">
            <a:solidFill>
              <a:srgbClr val="DDE0E6"/>
            </a:solidFill>
            <a:prstDash val="solid"/>
          </a:ln>
        </p:spPr>
      </p:sp>
      <p:sp>
        <p:nvSpPr>
          <p:cNvPr id="9" name="Text 7"/>
          <p:cNvSpPr/>
          <p:nvPr/>
        </p:nvSpPr>
        <p:spPr>
          <a:xfrm>
            <a:off x="640080" y="2450592"/>
            <a:ext cx="3749040" cy="2359152"/>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国籍・資本の割合でルールを決める</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日本国籍・永住者・外国資本15%以下の日本法人だけが買える</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重要エリア（水源地・離島等）は購入も賃貸も全面禁止</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今の外国人所有者は5年以内に売ること</a:t>
            </a:r>
            <a:endParaRPr lang="en-US" sz="1100" dirty="0"/>
          </a:p>
        </p:txBody>
      </p:sp>
      <p:sp>
        <p:nvSpPr>
          <p:cNvPr id="10" name="Shape 8"/>
          <p:cNvSpPr/>
          <p:nvPr/>
        </p:nvSpPr>
        <p:spPr>
          <a:xfrm>
            <a:off x="4892040" y="1847088"/>
            <a:ext cx="4114800" cy="3072384"/>
          </a:xfrm>
          <a:prstGeom prst="roundRect">
            <a:avLst>
              <a:gd name="adj" fmla="val 2381"/>
            </a:avLst>
          </a:prstGeom>
          <a:solidFill>
            <a:srgbClr val="E9EFF8"/>
          </a:solidFill>
          <a:ln w="12700">
            <a:solidFill>
              <a:srgbClr val="DDE0E6"/>
            </a:solidFill>
            <a:prstDash val="solid"/>
          </a:ln>
        </p:spPr>
      </p:sp>
      <p:sp>
        <p:nvSpPr>
          <p:cNvPr id="11" name="Text 9"/>
          <p:cNvSpPr/>
          <p:nvPr/>
        </p:nvSpPr>
        <p:spPr>
          <a:xfrm>
            <a:off x="5074920" y="1975104"/>
            <a:ext cx="3749040" cy="384048"/>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マンション（区分所有）</a:t>
            </a:r>
            <a:endParaRPr lang="en-US" sz="1400" dirty="0"/>
          </a:p>
        </p:txBody>
      </p:sp>
      <p:sp>
        <p:nvSpPr>
          <p:cNvPr id="12" name="Shape 10"/>
          <p:cNvSpPr/>
          <p:nvPr/>
        </p:nvSpPr>
        <p:spPr>
          <a:xfrm>
            <a:off x="5074920" y="2377440"/>
            <a:ext cx="3749040" cy="10973"/>
          </a:xfrm>
          <a:prstGeom prst="rect">
            <a:avLst/>
          </a:prstGeom>
          <a:solidFill>
            <a:srgbClr val="DDE0E6"/>
          </a:solidFill>
          <a:ln w="12700">
            <a:solidFill>
              <a:srgbClr val="DDE0E6"/>
            </a:solidFill>
            <a:prstDash val="solid"/>
          </a:ln>
        </p:spPr>
      </p:sp>
      <p:sp>
        <p:nvSpPr>
          <p:cNvPr id="13" name="Text 11"/>
          <p:cNvSpPr/>
          <p:nvPr/>
        </p:nvSpPr>
        <p:spPr>
          <a:xfrm>
            <a:off x="5074920" y="2450592"/>
            <a:ext cx="3749040" cy="2359152"/>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「住む目的で買うか」でルールを決める</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居住目的なら国籍を問わず誰でも買える</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投資目的（買って他人に貸す）は外国人は不可</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購入後3年間で400日以上住み続けなければならない</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01</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土地を買えるのは誰？（一般エリア）</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日本の土地は、日本とのつながりが証明できる人・法人だけが買える。それ以外は「借りる」ことしかできない。</a:t>
            </a:r>
            <a:endParaRPr lang="en-US" sz="1100" dirty="0"/>
          </a:p>
        </p:txBody>
      </p:sp>
      <p:sp>
        <p:nvSpPr>
          <p:cNvPr id="6" name="Shape 4"/>
          <p:cNvSpPr/>
          <p:nvPr/>
        </p:nvSpPr>
        <p:spPr>
          <a:xfrm>
            <a:off x="457200" y="1755648"/>
            <a:ext cx="8229600" cy="475488"/>
          </a:xfrm>
          <a:prstGeom prst="roundRect">
            <a:avLst>
              <a:gd name="adj" fmla="val 15385"/>
            </a:avLst>
          </a:prstGeom>
          <a:solidFill>
            <a:srgbClr val="E9EFF8"/>
          </a:solidFill>
          <a:ln w="12700">
            <a:solidFill>
              <a:srgbClr val="DDE0E6"/>
            </a:solidFill>
            <a:prstDash val="solid"/>
          </a:ln>
        </p:spPr>
      </p:sp>
      <p:sp>
        <p:nvSpPr>
          <p:cNvPr id="7" name="Text 5"/>
          <p:cNvSpPr/>
          <p:nvPr/>
        </p:nvSpPr>
        <p:spPr>
          <a:xfrm>
            <a:off x="548640" y="1755648"/>
            <a:ext cx="457200" cy="475488"/>
          </a:xfrm>
          <a:prstGeom prst="rect">
            <a:avLst/>
          </a:prstGeom>
          <a:noFill/>
          <a:ln/>
        </p:spPr>
        <p:txBody>
          <a:bodyPr wrap="square" lIns="0" tIns="0" rIns="0" bIns="0" rtlCol="0" anchor="ctr"/>
          <a:lstStyle/>
          <a:p>
            <a:pPr algn="ctr" indent="0" marL="0">
              <a:buNone/>
            </a:pPr>
            <a:r>
              <a:rPr lang="en-US" sz="1200" dirty="0">
                <a:solidFill>
                  <a:srgbClr val="1D4F91"/>
                </a:solidFill>
                <a:latin typeface="Arial" pitchFamily="34" charset="0"/>
                <a:ea typeface="BIZ UDPGothic" pitchFamily="34" charset="-122"/>
                <a:cs typeface="BIZ UDPGothic" pitchFamily="34" charset="-120"/>
              </a:rPr>
              <a:t>✅</a:t>
            </a:r>
            <a:endParaRPr lang="en-US" sz="1200" dirty="0"/>
          </a:p>
        </p:txBody>
      </p:sp>
      <p:sp>
        <p:nvSpPr>
          <p:cNvPr id="8" name="Text 6"/>
          <p:cNvSpPr/>
          <p:nvPr/>
        </p:nvSpPr>
        <p:spPr>
          <a:xfrm>
            <a:off x="1051560" y="1755648"/>
            <a:ext cx="7543800" cy="47548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日本国籍を持つ人（帰化した人を含む）</a:t>
            </a:r>
            <a:endParaRPr lang="en-US" sz="1200" dirty="0"/>
          </a:p>
        </p:txBody>
      </p:sp>
      <p:sp>
        <p:nvSpPr>
          <p:cNvPr id="9" name="Shape 7"/>
          <p:cNvSpPr/>
          <p:nvPr/>
        </p:nvSpPr>
        <p:spPr>
          <a:xfrm>
            <a:off x="457200" y="2304288"/>
            <a:ext cx="8229600" cy="475488"/>
          </a:xfrm>
          <a:prstGeom prst="roundRect">
            <a:avLst>
              <a:gd name="adj" fmla="val 15385"/>
            </a:avLst>
          </a:prstGeom>
          <a:solidFill>
            <a:srgbClr val="E9EFF8"/>
          </a:solidFill>
          <a:ln w="12700">
            <a:solidFill>
              <a:srgbClr val="DDE0E6"/>
            </a:solidFill>
            <a:prstDash val="solid"/>
          </a:ln>
        </p:spPr>
      </p:sp>
      <p:sp>
        <p:nvSpPr>
          <p:cNvPr id="10" name="Text 8"/>
          <p:cNvSpPr/>
          <p:nvPr/>
        </p:nvSpPr>
        <p:spPr>
          <a:xfrm>
            <a:off x="548640" y="2304288"/>
            <a:ext cx="457200" cy="475488"/>
          </a:xfrm>
          <a:prstGeom prst="rect">
            <a:avLst/>
          </a:prstGeom>
          <a:noFill/>
          <a:ln/>
        </p:spPr>
        <p:txBody>
          <a:bodyPr wrap="square" lIns="0" tIns="0" rIns="0" bIns="0" rtlCol="0" anchor="ctr"/>
          <a:lstStyle/>
          <a:p>
            <a:pPr algn="ctr" indent="0" marL="0">
              <a:buNone/>
            </a:pPr>
            <a:r>
              <a:rPr lang="en-US" sz="1200" dirty="0">
                <a:solidFill>
                  <a:srgbClr val="1D4F91"/>
                </a:solidFill>
                <a:latin typeface="Arial" pitchFamily="34" charset="0"/>
                <a:ea typeface="BIZ UDPGothic" pitchFamily="34" charset="-122"/>
                <a:cs typeface="BIZ UDPGothic" pitchFamily="34" charset="-120"/>
              </a:rPr>
              <a:t>✅</a:t>
            </a:r>
            <a:endParaRPr lang="en-US" sz="1200" dirty="0"/>
          </a:p>
        </p:txBody>
      </p:sp>
      <p:sp>
        <p:nvSpPr>
          <p:cNvPr id="11" name="Text 9"/>
          <p:cNvSpPr/>
          <p:nvPr/>
        </p:nvSpPr>
        <p:spPr>
          <a:xfrm>
            <a:off x="1051560" y="2304288"/>
            <a:ext cx="7543800" cy="47548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永住者（永住権を持つ人）</a:t>
            </a:r>
            <a:endParaRPr lang="en-US" sz="1200" dirty="0"/>
          </a:p>
        </p:txBody>
      </p:sp>
      <p:sp>
        <p:nvSpPr>
          <p:cNvPr id="12" name="Shape 10"/>
          <p:cNvSpPr/>
          <p:nvPr/>
        </p:nvSpPr>
        <p:spPr>
          <a:xfrm>
            <a:off x="457200" y="2852928"/>
            <a:ext cx="8229600" cy="475488"/>
          </a:xfrm>
          <a:prstGeom prst="roundRect">
            <a:avLst>
              <a:gd name="adj" fmla="val 15385"/>
            </a:avLst>
          </a:prstGeom>
          <a:solidFill>
            <a:srgbClr val="E9EFF8"/>
          </a:solidFill>
          <a:ln w="12700">
            <a:solidFill>
              <a:srgbClr val="DDE0E6"/>
            </a:solidFill>
            <a:prstDash val="solid"/>
          </a:ln>
        </p:spPr>
      </p:sp>
      <p:sp>
        <p:nvSpPr>
          <p:cNvPr id="13" name="Text 11"/>
          <p:cNvSpPr/>
          <p:nvPr/>
        </p:nvSpPr>
        <p:spPr>
          <a:xfrm>
            <a:off x="548640" y="2852928"/>
            <a:ext cx="457200" cy="475488"/>
          </a:xfrm>
          <a:prstGeom prst="rect">
            <a:avLst/>
          </a:prstGeom>
          <a:noFill/>
          <a:ln/>
        </p:spPr>
        <p:txBody>
          <a:bodyPr wrap="square" lIns="0" tIns="0" rIns="0" bIns="0" rtlCol="0" anchor="ctr"/>
          <a:lstStyle/>
          <a:p>
            <a:pPr algn="ctr" indent="0" marL="0">
              <a:buNone/>
            </a:pPr>
            <a:r>
              <a:rPr lang="en-US" sz="1200" dirty="0">
                <a:solidFill>
                  <a:srgbClr val="1D4F91"/>
                </a:solidFill>
                <a:latin typeface="Arial" pitchFamily="34" charset="0"/>
                <a:ea typeface="BIZ UDPGothic" pitchFamily="34" charset="-122"/>
                <a:cs typeface="BIZ UDPGothic" pitchFamily="34" charset="-120"/>
              </a:rPr>
              <a:t>✅</a:t>
            </a:r>
            <a:endParaRPr lang="en-US" sz="1200" dirty="0"/>
          </a:p>
        </p:txBody>
      </p:sp>
      <p:sp>
        <p:nvSpPr>
          <p:cNvPr id="14" name="Text 12"/>
          <p:cNvSpPr/>
          <p:nvPr/>
        </p:nvSpPr>
        <p:spPr>
          <a:xfrm>
            <a:off x="1051560" y="2852928"/>
            <a:ext cx="7543800" cy="47548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外国資本が15%以下の日本法人</a:t>
            </a:r>
            <a:endParaRPr lang="en-US" sz="1200" dirty="0"/>
          </a:p>
        </p:txBody>
      </p:sp>
      <p:sp>
        <p:nvSpPr>
          <p:cNvPr id="15" name="Shape 13"/>
          <p:cNvSpPr/>
          <p:nvPr/>
        </p:nvSpPr>
        <p:spPr>
          <a:xfrm>
            <a:off x="457200" y="3401568"/>
            <a:ext cx="8229600" cy="475488"/>
          </a:xfrm>
          <a:prstGeom prst="roundRect">
            <a:avLst>
              <a:gd name="adj" fmla="val 15385"/>
            </a:avLst>
          </a:prstGeom>
          <a:solidFill>
            <a:srgbClr val="FCEBEB"/>
          </a:solidFill>
          <a:ln w="12700">
            <a:solidFill>
              <a:srgbClr val="DDE0E6"/>
            </a:solidFill>
            <a:prstDash val="solid"/>
          </a:ln>
        </p:spPr>
      </p:sp>
      <p:sp>
        <p:nvSpPr>
          <p:cNvPr id="16" name="Text 14"/>
          <p:cNvSpPr/>
          <p:nvPr/>
        </p:nvSpPr>
        <p:spPr>
          <a:xfrm>
            <a:off x="548640" y="3401568"/>
            <a:ext cx="457200" cy="475488"/>
          </a:xfrm>
          <a:prstGeom prst="rect">
            <a:avLst/>
          </a:prstGeom>
          <a:noFill/>
          <a:ln/>
        </p:spPr>
        <p:txBody>
          <a:bodyPr wrap="square" lIns="0" tIns="0" rIns="0" bIns="0" rtlCol="0" anchor="ctr"/>
          <a:lstStyle/>
          <a:p>
            <a:pPr algn="ctr" indent="0" marL="0">
              <a:buNone/>
            </a:pPr>
            <a:r>
              <a:rPr lang="en-US" sz="1200" dirty="0">
                <a:solidFill>
                  <a:srgbClr val="C8161D"/>
                </a:solidFill>
                <a:latin typeface="Arial" pitchFamily="34" charset="0"/>
                <a:ea typeface="BIZ UDPGothic" pitchFamily="34" charset="-122"/>
                <a:cs typeface="BIZ UDPGothic" pitchFamily="34" charset="-120"/>
              </a:rPr>
              <a:t>❌</a:t>
            </a:r>
            <a:endParaRPr lang="en-US" sz="1200" dirty="0"/>
          </a:p>
        </p:txBody>
      </p:sp>
      <p:sp>
        <p:nvSpPr>
          <p:cNvPr id="17" name="Text 15"/>
          <p:cNvSpPr/>
          <p:nvPr/>
        </p:nvSpPr>
        <p:spPr>
          <a:xfrm>
            <a:off x="1051560" y="3401568"/>
            <a:ext cx="7543800" cy="47548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就労・留学・観光などの在留資格を持つ外国人</a:t>
            </a:r>
            <a:endParaRPr lang="en-US" sz="1200" dirty="0"/>
          </a:p>
        </p:txBody>
      </p:sp>
      <p:sp>
        <p:nvSpPr>
          <p:cNvPr id="18" name="Shape 16"/>
          <p:cNvSpPr/>
          <p:nvPr/>
        </p:nvSpPr>
        <p:spPr>
          <a:xfrm>
            <a:off x="457200" y="3950208"/>
            <a:ext cx="8229600" cy="475488"/>
          </a:xfrm>
          <a:prstGeom prst="roundRect">
            <a:avLst>
              <a:gd name="adj" fmla="val 15385"/>
            </a:avLst>
          </a:prstGeom>
          <a:solidFill>
            <a:srgbClr val="FCEBEB"/>
          </a:solidFill>
          <a:ln w="12700">
            <a:solidFill>
              <a:srgbClr val="DDE0E6"/>
            </a:solidFill>
            <a:prstDash val="solid"/>
          </a:ln>
        </p:spPr>
      </p:sp>
      <p:sp>
        <p:nvSpPr>
          <p:cNvPr id="19" name="Text 17"/>
          <p:cNvSpPr/>
          <p:nvPr/>
        </p:nvSpPr>
        <p:spPr>
          <a:xfrm>
            <a:off x="548640" y="3950208"/>
            <a:ext cx="457200" cy="475488"/>
          </a:xfrm>
          <a:prstGeom prst="rect">
            <a:avLst/>
          </a:prstGeom>
          <a:noFill/>
          <a:ln/>
        </p:spPr>
        <p:txBody>
          <a:bodyPr wrap="square" lIns="0" tIns="0" rIns="0" bIns="0" rtlCol="0" anchor="ctr"/>
          <a:lstStyle/>
          <a:p>
            <a:pPr algn="ctr" indent="0" marL="0">
              <a:buNone/>
            </a:pPr>
            <a:r>
              <a:rPr lang="en-US" sz="1200" dirty="0">
                <a:solidFill>
                  <a:srgbClr val="C8161D"/>
                </a:solidFill>
                <a:latin typeface="Arial" pitchFamily="34" charset="0"/>
                <a:ea typeface="BIZ UDPGothic" pitchFamily="34" charset="-122"/>
                <a:cs typeface="BIZ UDPGothic" pitchFamily="34" charset="-120"/>
              </a:rPr>
              <a:t>❌</a:t>
            </a:r>
            <a:endParaRPr lang="en-US" sz="1200" dirty="0"/>
          </a:p>
        </p:txBody>
      </p:sp>
      <p:sp>
        <p:nvSpPr>
          <p:cNvPr id="20" name="Text 18"/>
          <p:cNvSpPr/>
          <p:nvPr/>
        </p:nvSpPr>
        <p:spPr>
          <a:xfrm>
            <a:off x="1051560" y="3950208"/>
            <a:ext cx="7543800" cy="47548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外国法人</a:t>
            </a:r>
            <a:endParaRPr lang="en-US" sz="1200" dirty="0"/>
          </a:p>
        </p:txBody>
      </p:sp>
      <p:sp>
        <p:nvSpPr>
          <p:cNvPr id="21" name="Shape 19"/>
          <p:cNvSpPr/>
          <p:nvPr/>
        </p:nvSpPr>
        <p:spPr>
          <a:xfrm>
            <a:off x="457200" y="4498848"/>
            <a:ext cx="8229600" cy="475488"/>
          </a:xfrm>
          <a:prstGeom prst="roundRect">
            <a:avLst>
              <a:gd name="adj" fmla="val 15385"/>
            </a:avLst>
          </a:prstGeom>
          <a:solidFill>
            <a:srgbClr val="FCEBEB"/>
          </a:solidFill>
          <a:ln w="12700">
            <a:solidFill>
              <a:srgbClr val="DDE0E6"/>
            </a:solidFill>
            <a:prstDash val="solid"/>
          </a:ln>
        </p:spPr>
      </p:sp>
      <p:sp>
        <p:nvSpPr>
          <p:cNvPr id="22" name="Text 20"/>
          <p:cNvSpPr/>
          <p:nvPr/>
        </p:nvSpPr>
        <p:spPr>
          <a:xfrm>
            <a:off x="548640" y="4498848"/>
            <a:ext cx="457200" cy="475488"/>
          </a:xfrm>
          <a:prstGeom prst="rect">
            <a:avLst/>
          </a:prstGeom>
          <a:noFill/>
          <a:ln/>
        </p:spPr>
        <p:txBody>
          <a:bodyPr wrap="square" lIns="0" tIns="0" rIns="0" bIns="0" rtlCol="0" anchor="ctr"/>
          <a:lstStyle/>
          <a:p>
            <a:pPr algn="ctr" indent="0" marL="0">
              <a:buNone/>
            </a:pPr>
            <a:r>
              <a:rPr lang="en-US" sz="1200" dirty="0">
                <a:solidFill>
                  <a:srgbClr val="C8161D"/>
                </a:solidFill>
                <a:latin typeface="Arial" pitchFamily="34" charset="0"/>
                <a:ea typeface="BIZ UDPGothic" pitchFamily="34" charset="-122"/>
                <a:cs typeface="BIZ UDPGothic" pitchFamily="34" charset="-120"/>
              </a:rPr>
              <a:t>❌</a:t>
            </a:r>
            <a:endParaRPr lang="en-US" sz="1200" dirty="0"/>
          </a:p>
        </p:txBody>
      </p:sp>
      <p:sp>
        <p:nvSpPr>
          <p:cNvPr id="23" name="Text 21"/>
          <p:cNvSpPr/>
          <p:nvPr/>
        </p:nvSpPr>
        <p:spPr>
          <a:xfrm>
            <a:off x="1051560" y="4498848"/>
            <a:ext cx="7543800" cy="47548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外国資本が15%を超える日本法人</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01 — DETAIL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永住者ってどんな人？</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「外国籍のまま日本に住み続けている人」のこと。日本国籍（帰化）とは別の制度。</a:t>
            </a:r>
            <a:endParaRPr lang="en-US" sz="1100" dirty="0"/>
          </a:p>
        </p:txBody>
      </p:sp>
      <p:sp>
        <p:nvSpPr>
          <p:cNvPr id="6" name="Shape 4"/>
          <p:cNvSpPr/>
          <p:nvPr/>
        </p:nvSpPr>
        <p:spPr>
          <a:xfrm>
            <a:off x="457200" y="1737360"/>
            <a:ext cx="8229600" cy="987552"/>
          </a:xfrm>
          <a:prstGeom prst="roundRect">
            <a:avLst>
              <a:gd name="adj" fmla="val 7407"/>
            </a:avLst>
          </a:prstGeom>
          <a:solidFill>
            <a:srgbClr val="FFFFFF"/>
          </a:solidFill>
          <a:ln w="12700">
            <a:solidFill>
              <a:srgbClr val="DDE0E6"/>
            </a:solidFill>
            <a:prstDash val="solid"/>
          </a:ln>
        </p:spPr>
      </p:sp>
      <p:sp>
        <p:nvSpPr>
          <p:cNvPr id="7" name="Text 5"/>
          <p:cNvSpPr/>
          <p:nvPr/>
        </p:nvSpPr>
        <p:spPr>
          <a:xfrm>
            <a:off x="594360" y="1828800"/>
            <a:ext cx="795528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永住者とは</a:t>
            </a:r>
            <a:endParaRPr lang="en-US" sz="1300" dirty="0"/>
          </a:p>
        </p:txBody>
      </p:sp>
      <p:sp>
        <p:nvSpPr>
          <p:cNvPr id="8" name="Text 6"/>
          <p:cNvSpPr/>
          <p:nvPr/>
        </p:nvSpPr>
        <p:spPr>
          <a:xfrm>
            <a:off x="594360" y="2194560"/>
            <a:ext cx="7955280" cy="45720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日本国籍は取得せず（元の国籍のまま）、法務大臣の許可を得て、期限なく日本に住み続けられる資格を持つ人のこと。「永住権」とも呼ばれる</a:t>
            </a:r>
            <a:endParaRPr lang="en-US" sz="1100" dirty="0"/>
          </a:p>
        </p:txBody>
      </p:sp>
      <p:sp>
        <p:nvSpPr>
          <p:cNvPr id="9" name="Shape 7"/>
          <p:cNvSpPr/>
          <p:nvPr/>
        </p:nvSpPr>
        <p:spPr>
          <a:xfrm>
            <a:off x="457200" y="2852928"/>
            <a:ext cx="8229600" cy="987552"/>
          </a:xfrm>
          <a:prstGeom prst="roundRect">
            <a:avLst>
              <a:gd name="adj" fmla="val 7407"/>
            </a:avLst>
          </a:prstGeom>
          <a:solidFill>
            <a:srgbClr val="FFFFFF"/>
          </a:solidFill>
          <a:ln w="12700">
            <a:solidFill>
              <a:srgbClr val="DDE0E6"/>
            </a:solidFill>
            <a:prstDash val="solid"/>
          </a:ln>
        </p:spPr>
      </p:sp>
      <p:sp>
        <p:nvSpPr>
          <p:cNvPr id="10" name="Text 8"/>
          <p:cNvSpPr/>
          <p:nvPr/>
        </p:nvSpPr>
        <p:spPr>
          <a:xfrm>
            <a:off x="594360" y="2944368"/>
            <a:ext cx="795528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取得のハードル（とても厳しい）</a:t>
            </a:r>
            <a:endParaRPr lang="en-US" sz="1300" dirty="0"/>
          </a:p>
        </p:txBody>
      </p:sp>
      <p:sp>
        <p:nvSpPr>
          <p:cNvPr id="11" name="Text 9"/>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原則として10年以上日本に住んでいること、素行が良いこと、税金・年金をしっかり払っていること、など国が厳しく審査する。誰でも取れるわけではない</a:t>
            </a:r>
            <a:endParaRPr lang="en-US" sz="1100" dirty="0"/>
          </a:p>
        </p:txBody>
      </p:sp>
      <p:sp>
        <p:nvSpPr>
          <p:cNvPr id="12" name="Shape 10"/>
          <p:cNvSpPr/>
          <p:nvPr/>
        </p:nvSpPr>
        <p:spPr>
          <a:xfrm>
            <a:off x="457200" y="3968496"/>
            <a:ext cx="8229600" cy="987552"/>
          </a:xfrm>
          <a:prstGeom prst="roundRect">
            <a:avLst>
              <a:gd name="adj" fmla="val 7407"/>
            </a:avLst>
          </a:prstGeom>
          <a:solidFill>
            <a:srgbClr val="FFFFFF"/>
          </a:solidFill>
          <a:ln w="12700">
            <a:solidFill>
              <a:srgbClr val="DDE0E6"/>
            </a:solidFill>
            <a:prstDash val="solid"/>
          </a:ln>
        </p:spPr>
      </p:sp>
      <p:sp>
        <p:nvSpPr>
          <p:cNvPr id="13" name="Text 11"/>
          <p:cNvSpPr/>
          <p:nvPr/>
        </p:nvSpPr>
        <p:spPr>
          <a:xfrm>
            <a:off x="594360" y="4059936"/>
            <a:ext cx="795528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なぜ永住者は土地を買えるのか</a:t>
            </a:r>
            <a:endParaRPr lang="en-US" sz="1300" dirty="0"/>
          </a:p>
        </p:txBody>
      </p:sp>
      <p:sp>
        <p:nvSpPr>
          <p:cNvPr id="14" name="Text 12"/>
          <p:cNvSpPr/>
          <p:nvPr/>
        </p:nvSpPr>
        <p:spPr>
          <a:xfrm>
            <a:off x="594360" y="4425696"/>
            <a:ext cx="7955280" cy="45720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国が長期間かけて審査し「この人は日本社会の一員として認める」と判断した人だから。土地を買いたい外国人は、まず永住権を取得する必要があり、それ自体が高いハードルになる</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01 — DETAIL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外国資本15%ルールとは？</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日本の会社（日本法人）でも、外国人・外国企業が大きな割合を持っていれば、実質的に「外国の会社」と同じリスクがある。</a:t>
            </a:r>
            <a:endParaRPr lang="en-US" sz="1100" dirty="0"/>
          </a:p>
        </p:txBody>
      </p:sp>
      <p:sp>
        <p:nvSpPr>
          <p:cNvPr id="6" name="Shape 4"/>
          <p:cNvSpPr/>
          <p:nvPr/>
        </p:nvSpPr>
        <p:spPr>
          <a:xfrm>
            <a:off x="457200" y="1847088"/>
            <a:ext cx="8229600" cy="585216"/>
          </a:xfrm>
          <a:prstGeom prst="roundRect">
            <a:avLst>
              <a:gd name="adj" fmla="val 12500"/>
            </a:avLst>
          </a:prstGeom>
          <a:solidFill>
            <a:srgbClr val="E9EFF8"/>
          </a:solidFill>
          <a:ln w="12700">
            <a:solidFill>
              <a:srgbClr val="DDE0E6"/>
            </a:solidFill>
            <a:prstDash val="solid"/>
          </a:ln>
        </p:spPr>
      </p:sp>
      <p:sp>
        <p:nvSpPr>
          <p:cNvPr id="7" name="Text 5"/>
          <p:cNvSpPr/>
          <p:nvPr/>
        </p:nvSpPr>
        <p:spPr>
          <a:xfrm>
            <a:off x="548640" y="1847088"/>
            <a:ext cx="457200" cy="585216"/>
          </a:xfrm>
          <a:prstGeom prst="rect">
            <a:avLst/>
          </a:prstGeom>
          <a:noFill/>
          <a:ln/>
        </p:spPr>
        <p:txBody>
          <a:bodyPr wrap="square" lIns="0" tIns="0" rIns="0" bIns="0" rtlCol="0" anchor="ctr"/>
          <a:lstStyle/>
          <a:p>
            <a:pPr algn="ctr" indent="0" marL="0">
              <a:buNone/>
            </a:pPr>
            <a:r>
              <a:rPr lang="en-US" sz="1300" dirty="0">
                <a:solidFill>
                  <a:srgbClr val="1D4F91"/>
                </a:solidFill>
                <a:latin typeface="Arial" pitchFamily="34" charset="0"/>
                <a:ea typeface="BIZ UDPGothic" pitchFamily="34" charset="-122"/>
                <a:cs typeface="BIZ UDPGothic" pitchFamily="34" charset="-120"/>
              </a:rPr>
              <a:t>✅</a:t>
            </a:r>
            <a:endParaRPr lang="en-US" sz="1300" dirty="0"/>
          </a:p>
        </p:txBody>
      </p:sp>
      <p:sp>
        <p:nvSpPr>
          <p:cNvPr id="8" name="Text 6"/>
          <p:cNvSpPr/>
          <p:nvPr/>
        </p:nvSpPr>
        <p:spPr>
          <a:xfrm>
            <a:off x="1051560" y="1847088"/>
            <a:ext cx="7543800" cy="585216"/>
          </a:xfrm>
          <a:prstGeom prst="rect">
            <a:avLst/>
          </a:prstGeom>
          <a:noFill/>
          <a:ln/>
        </p:spPr>
        <p:txBody>
          <a:bodyPr wrap="square" lIns="0" tIns="0" rIns="0" bIns="0" rtlCol="0" anchor="ctr"/>
          <a:lstStyle/>
          <a:p>
            <a:pPr indent="0" marL="0">
              <a:buNone/>
            </a:pPr>
            <a:r>
              <a:rPr lang="en-US" sz="1300" dirty="0">
                <a:solidFill>
                  <a:srgbClr val="2B2F36"/>
                </a:solidFill>
                <a:latin typeface="Arial" pitchFamily="34" charset="0"/>
                <a:ea typeface="BIZ UDPGothic" pitchFamily="34" charset="-122"/>
                <a:cs typeface="BIZ UDPGothic" pitchFamily="34" charset="-120"/>
              </a:rPr>
              <a:t>日本法人A：外国資本が10%だけ入っている → 土地を買える（15%以下なので問題なし）</a:t>
            </a:r>
            <a:endParaRPr lang="en-US" sz="1300" dirty="0"/>
          </a:p>
        </p:txBody>
      </p:sp>
      <p:sp>
        <p:nvSpPr>
          <p:cNvPr id="9" name="Shape 7"/>
          <p:cNvSpPr/>
          <p:nvPr/>
        </p:nvSpPr>
        <p:spPr>
          <a:xfrm>
            <a:off x="457200" y="2523744"/>
            <a:ext cx="8229600" cy="585216"/>
          </a:xfrm>
          <a:prstGeom prst="roundRect">
            <a:avLst>
              <a:gd name="adj" fmla="val 12500"/>
            </a:avLst>
          </a:prstGeom>
          <a:solidFill>
            <a:srgbClr val="FCEBEB"/>
          </a:solidFill>
          <a:ln w="12700">
            <a:solidFill>
              <a:srgbClr val="DDE0E6"/>
            </a:solidFill>
            <a:prstDash val="solid"/>
          </a:ln>
        </p:spPr>
      </p:sp>
      <p:sp>
        <p:nvSpPr>
          <p:cNvPr id="10" name="Text 8"/>
          <p:cNvSpPr/>
          <p:nvPr/>
        </p:nvSpPr>
        <p:spPr>
          <a:xfrm>
            <a:off x="548640" y="2523744"/>
            <a:ext cx="457200" cy="585216"/>
          </a:xfrm>
          <a:prstGeom prst="rect">
            <a:avLst/>
          </a:prstGeom>
          <a:noFill/>
          <a:ln/>
        </p:spPr>
        <p:txBody>
          <a:bodyPr wrap="square" lIns="0" tIns="0" rIns="0" bIns="0" rtlCol="0" anchor="ctr"/>
          <a:lstStyle/>
          <a:p>
            <a:pPr algn="ctr" indent="0" marL="0">
              <a:buNone/>
            </a:pPr>
            <a:r>
              <a:rPr lang="en-US" sz="1300" dirty="0">
                <a:solidFill>
                  <a:srgbClr val="C8161D"/>
                </a:solidFill>
                <a:latin typeface="Arial" pitchFamily="34" charset="0"/>
                <a:ea typeface="BIZ UDPGothic" pitchFamily="34" charset="-122"/>
                <a:cs typeface="BIZ UDPGothic" pitchFamily="34" charset="-120"/>
              </a:rPr>
              <a:t>❌</a:t>
            </a:r>
            <a:endParaRPr lang="en-US" sz="1300" dirty="0"/>
          </a:p>
        </p:txBody>
      </p:sp>
      <p:sp>
        <p:nvSpPr>
          <p:cNvPr id="11" name="Text 9"/>
          <p:cNvSpPr/>
          <p:nvPr/>
        </p:nvSpPr>
        <p:spPr>
          <a:xfrm>
            <a:off x="1051560" y="2523744"/>
            <a:ext cx="7543800" cy="585216"/>
          </a:xfrm>
          <a:prstGeom prst="rect">
            <a:avLst/>
          </a:prstGeom>
          <a:noFill/>
          <a:ln/>
        </p:spPr>
        <p:txBody>
          <a:bodyPr wrap="square" lIns="0" tIns="0" rIns="0" bIns="0" rtlCol="0" anchor="ctr"/>
          <a:lstStyle/>
          <a:p>
            <a:pPr indent="0" marL="0">
              <a:buNone/>
            </a:pPr>
            <a:r>
              <a:rPr lang="en-US" sz="1300" dirty="0">
                <a:solidFill>
                  <a:srgbClr val="2B2F36"/>
                </a:solidFill>
                <a:latin typeface="Arial" pitchFamily="34" charset="0"/>
                <a:ea typeface="BIZ UDPGothic" pitchFamily="34" charset="-122"/>
                <a:cs typeface="BIZ UDPGothic" pitchFamily="34" charset="-120"/>
              </a:rPr>
              <a:t>日本法人B：外国資本が40%入っている → 土地を買えない（15%超なので実質「外国の会社」とみなす）</a:t>
            </a:r>
            <a:endParaRPr lang="en-US" sz="1300" dirty="0"/>
          </a:p>
        </p:txBody>
      </p:sp>
      <p:sp>
        <p:nvSpPr>
          <p:cNvPr id="12" name="Shape 10"/>
          <p:cNvSpPr/>
          <p:nvPr/>
        </p:nvSpPr>
        <p:spPr>
          <a:xfrm>
            <a:off x="457200" y="3236976"/>
            <a:ext cx="8229600" cy="768096"/>
          </a:xfrm>
          <a:prstGeom prst="roundRect">
            <a:avLst>
              <a:gd name="adj" fmla="val 9524"/>
            </a:avLst>
          </a:prstGeom>
          <a:solidFill>
            <a:srgbClr val="FFF4DB"/>
          </a:solidFill>
          <a:ln w="12700">
            <a:solidFill>
              <a:srgbClr val="DDE0E6"/>
            </a:solidFill>
            <a:prstDash val="solid"/>
          </a:ln>
        </p:spPr>
      </p:sp>
      <p:sp>
        <p:nvSpPr>
          <p:cNvPr id="13" name="Text 11"/>
          <p:cNvSpPr/>
          <p:nvPr/>
        </p:nvSpPr>
        <p:spPr>
          <a:xfrm>
            <a:off x="594360" y="3328416"/>
            <a:ext cx="7955280" cy="292608"/>
          </a:xfrm>
          <a:prstGeom prst="rect">
            <a:avLst/>
          </a:prstGeom>
          <a:noFill/>
          <a:ln/>
        </p:spPr>
        <p:txBody>
          <a:bodyPr wrap="square" lIns="0" tIns="0" rIns="0" bIns="0" rtlCol="0" anchor="ctr"/>
          <a:lstStyle/>
          <a:p>
            <a:pPr indent="0" marL="0">
              <a:buNone/>
            </a:pPr>
            <a:r>
              <a:rPr lang="en-US" sz="1200" b="1" dirty="0">
                <a:solidFill>
                  <a:srgbClr val="9A6200"/>
                </a:solidFill>
                <a:latin typeface="BIZ UDPGothic" pitchFamily="34" charset="0"/>
                <a:ea typeface="BIZ UDPGothic" pitchFamily="34" charset="-122"/>
                <a:cs typeface="BIZ UDPGothic" pitchFamily="34" charset="-120"/>
              </a:rPr>
              <a:t>なぜ15%？</a:t>
            </a:r>
            <a:endParaRPr lang="en-US" sz="1200" dirty="0"/>
          </a:p>
        </p:txBody>
      </p:sp>
      <p:sp>
        <p:nvSpPr>
          <p:cNvPr id="14" name="Text 12"/>
          <p:cNvSpPr/>
          <p:nvPr/>
        </p:nvSpPr>
        <p:spPr>
          <a:xfrm>
            <a:off x="594360" y="3639312"/>
            <a:ext cx="7955280" cy="3108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外国為替・外国貿易法（外為法）で「企業への対内直接投資を審査する基準」として使われているラインに合わせた数字。この水準を超えると、外国が経営に実質的な影響を与えられると判断される。</a:t>
            </a:r>
            <a:endParaRPr lang="en-US" sz="1000" dirty="0"/>
          </a:p>
        </p:txBody>
      </p:sp>
      <p:sp>
        <p:nvSpPr>
          <p:cNvPr id="15" name="Shape 13"/>
          <p:cNvSpPr/>
          <p:nvPr/>
        </p:nvSpPr>
        <p:spPr>
          <a:xfrm>
            <a:off x="457200" y="4114800"/>
            <a:ext cx="8229600" cy="859536"/>
          </a:xfrm>
          <a:prstGeom prst="roundRect">
            <a:avLst>
              <a:gd name="adj" fmla="val 8511"/>
            </a:avLst>
          </a:prstGeom>
          <a:solidFill>
            <a:srgbClr val="FFFFFF"/>
          </a:solidFill>
          <a:ln w="12700">
            <a:solidFill>
              <a:srgbClr val="DDE0E6"/>
            </a:solidFill>
            <a:prstDash val="solid"/>
          </a:ln>
        </p:spPr>
      </p:sp>
      <p:sp>
        <p:nvSpPr>
          <p:cNvPr id="16" name="Text 14"/>
          <p:cNvSpPr/>
          <p:nvPr/>
        </p:nvSpPr>
        <p:spPr>
          <a:xfrm>
            <a:off x="594360" y="4206240"/>
            <a:ext cx="7955280" cy="292608"/>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抜け道を防ぐために</a:t>
            </a:r>
            <a:endParaRPr lang="en-US" sz="1200" dirty="0"/>
          </a:p>
        </p:txBody>
      </p:sp>
      <p:sp>
        <p:nvSpPr>
          <p:cNvPr id="17" name="Text 15"/>
          <p:cNvSpPr/>
          <p:nvPr/>
        </p:nvSpPr>
        <p:spPr>
          <a:xfrm>
            <a:off x="594360" y="4517136"/>
            <a:ext cx="7955280" cy="40233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外国人が直接買えないなら「日本の会社」を使って買えばいい——というズルをこのルールで防ぐ。日本の名前がついた法人でも、中身が外国資本なら同じ制限をかける。</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01 — TRANSITION</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今すでに外国人が持っている土地はどうなる？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75488"/>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新しいルールができたら、今すでに土地を持っている外国人・外国資本も5年以内に売らなければならない。「前から持っていたから大丈夫」はない。</a:t>
            </a:r>
            <a:endParaRPr lang="en-US" sz="1100" dirty="0"/>
          </a:p>
        </p:txBody>
      </p:sp>
      <p:sp>
        <p:nvSpPr>
          <p:cNvPr id="6" name="Shape 4"/>
          <p:cNvSpPr/>
          <p:nvPr/>
        </p:nvSpPr>
        <p:spPr>
          <a:xfrm>
            <a:off x="457200" y="1920240"/>
            <a:ext cx="8229600" cy="859536"/>
          </a:xfrm>
          <a:prstGeom prst="roundRect">
            <a:avLst>
              <a:gd name="adj" fmla="val 8511"/>
            </a:avLst>
          </a:prstGeom>
          <a:solidFill>
            <a:srgbClr val="FFFFFF"/>
          </a:solidFill>
          <a:ln w="12700">
            <a:solidFill>
              <a:srgbClr val="DDE0E6"/>
            </a:solidFill>
            <a:prstDash val="solid"/>
          </a:ln>
        </p:spPr>
      </p:sp>
      <p:sp>
        <p:nvSpPr>
          <p:cNvPr id="7" name="Shape 5"/>
          <p:cNvSpPr/>
          <p:nvPr/>
        </p:nvSpPr>
        <p:spPr>
          <a:xfrm>
            <a:off x="594360" y="2103120"/>
            <a:ext cx="1828800" cy="457200"/>
          </a:xfrm>
          <a:prstGeom prst="roundRect">
            <a:avLst>
              <a:gd name="adj" fmla="val 12000"/>
            </a:avLst>
          </a:prstGeom>
          <a:solidFill>
            <a:srgbClr val="C8161D"/>
          </a:solidFill>
          <a:ln w="12700">
            <a:solidFill>
              <a:srgbClr val="C8161D"/>
            </a:solidFill>
            <a:prstDash val="solid"/>
          </a:ln>
        </p:spPr>
      </p:sp>
      <p:sp>
        <p:nvSpPr>
          <p:cNvPr id="8" name="Text 6"/>
          <p:cNvSpPr/>
          <p:nvPr/>
        </p:nvSpPr>
        <p:spPr>
          <a:xfrm>
            <a:off x="594360" y="2103120"/>
            <a:ext cx="18288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制度スタート（0年目）</a:t>
            </a:r>
            <a:endParaRPr lang="en-US" sz="1100" dirty="0"/>
          </a:p>
        </p:txBody>
      </p:sp>
      <p:sp>
        <p:nvSpPr>
          <p:cNvPr id="9" name="Text 7"/>
          <p:cNvSpPr/>
          <p:nvPr/>
        </p:nvSpPr>
        <p:spPr>
          <a:xfrm>
            <a:off x="2578608" y="1993392"/>
            <a:ext cx="5943600" cy="71323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ルール開始と同時に5年のカウントが始まる。事前の告知期間はない</a:t>
            </a:r>
            <a:endParaRPr lang="en-US" sz="1100" dirty="0"/>
          </a:p>
        </p:txBody>
      </p:sp>
      <p:sp>
        <p:nvSpPr>
          <p:cNvPr id="10" name="Text 8"/>
          <p:cNvSpPr/>
          <p:nvPr/>
        </p:nvSpPr>
        <p:spPr>
          <a:xfrm>
            <a:off x="4114800" y="2798064"/>
            <a:ext cx="914400" cy="128016"/>
          </a:xfrm>
          <a:prstGeom prst="rect">
            <a:avLst/>
          </a:prstGeom>
          <a:noFill/>
          <a:ln/>
        </p:spPr>
        <p:txBody>
          <a:bodyPr wrap="square" lIns="0" tIns="0" rIns="0" bIns="0" rtlCol="0" anchor="ctr"/>
          <a:lstStyle/>
          <a:p>
            <a:pPr algn="ctr" indent="0" marL="0">
              <a:buNone/>
            </a:pPr>
            <a:r>
              <a:rPr lang="en-US" sz="1200" dirty="0">
                <a:solidFill>
                  <a:srgbClr val="C8161D"/>
                </a:solidFill>
                <a:latin typeface="Arial" pitchFamily="34" charset="0"/>
                <a:ea typeface="BIZ UDPGothic" pitchFamily="34" charset="-122"/>
                <a:cs typeface="BIZ UDPGothic" pitchFamily="34" charset="-120"/>
              </a:rPr>
              <a:t>↓</a:t>
            </a:r>
            <a:endParaRPr lang="en-US" sz="1200" dirty="0"/>
          </a:p>
        </p:txBody>
      </p:sp>
      <p:sp>
        <p:nvSpPr>
          <p:cNvPr id="11" name="Shape 9"/>
          <p:cNvSpPr/>
          <p:nvPr/>
        </p:nvSpPr>
        <p:spPr>
          <a:xfrm>
            <a:off x="457200" y="2907792"/>
            <a:ext cx="8229600" cy="859536"/>
          </a:xfrm>
          <a:prstGeom prst="roundRect">
            <a:avLst>
              <a:gd name="adj" fmla="val 8511"/>
            </a:avLst>
          </a:prstGeom>
          <a:solidFill>
            <a:srgbClr val="FFFFFF"/>
          </a:solidFill>
          <a:ln w="12700">
            <a:solidFill>
              <a:srgbClr val="DDE0E6"/>
            </a:solidFill>
            <a:prstDash val="solid"/>
          </a:ln>
        </p:spPr>
      </p:sp>
      <p:sp>
        <p:nvSpPr>
          <p:cNvPr id="12" name="Shape 10"/>
          <p:cNvSpPr/>
          <p:nvPr/>
        </p:nvSpPr>
        <p:spPr>
          <a:xfrm>
            <a:off x="594360" y="3090672"/>
            <a:ext cx="1828800" cy="457200"/>
          </a:xfrm>
          <a:prstGeom prst="roundRect">
            <a:avLst>
              <a:gd name="adj" fmla="val 12000"/>
            </a:avLst>
          </a:prstGeom>
          <a:solidFill>
            <a:srgbClr val="C8161D"/>
          </a:solidFill>
          <a:ln w="12700">
            <a:solidFill>
              <a:srgbClr val="C8161D"/>
            </a:solidFill>
            <a:prstDash val="solid"/>
          </a:ln>
        </p:spPr>
      </p:sp>
      <p:sp>
        <p:nvSpPr>
          <p:cNvPr id="13" name="Text 11"/>
          <p:cNvSpPr/>
          <p:nvPr/>
        </p:nvSpPr>
        <p:spPr>
          <a:xfrm>
            <a:off x="594360" y="3090672"/>
            <a:ext cx="18288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5年以内</a:t>
            </a:r>
            <a:endParaRPr lang="en-US" sz="1100" dirty="0"/>
          </a:p>
        </p:txBody>
      </p:sp>
      <p:sp>
        <p:nvSpPr>
          <p:cNvPr id="14" name="Text 12"/>
          <p:cNvSpPr/>
          <p:nvPr/>
        </p:nvSpPr>
        <p:spPr>
          <a:xfrm>
            <a:off x="2578608" y="2980944"/>
            <a:ext cx="5943600" cy="71323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まず日本国内の民間企業・個人に売ることを優先する。</a:t>
            </a:r>
            <a:endParaRPr lang="en-US" sz="1100" dirty="0"/>
          </a:p>
          <a:p>
            <a:pPr indent="0" marL="0">
              <a:buNone/>
            </a:pPr>
            <a:r>
              <a:rPr lang="en-US" sz="1100" dirty="0">
                <a:solidFill>
                  <a:srgbClr val="2B2F36"/>
                </a:solidFill>
                <a:latin typeface="Arial" pitchFamily="34" charset="0"/>
                <a:ea typeface="BIZ UDPGothic" pitchFamily="34" charset="-122"/>
                <a:cs typeface="BIZ UDPGothic" pitchFamily="34" charset="-120"/>
              </a:rPr>
              <a:t>「日本企業が土地を買って外国企業に貸す」というビジネスが自然に生まれる</a:t>
            </a:r>
            <a:endParaRPr lang="en-US" sz="1100" dirty="0"/>
          </a:p>
        </p:txBody>
      </p:sp>
      <p:sp>
        <p:nvSpPr>
          <p:cNvPr id="15" name="Text 13"/>
          <p:cNvSpPr/>
          <p:nvPr/>
        </p:nvSpPr>
        <p:spPr>
          <a:xfrm>
            <a:off x="4114800" y="3785616"/>
            <a:ext cx="914400" cy="128016"/>
          </a:xfrm>
          <a:prstGeom prst="rect">
            <a:avLst/>
          </a:prstGeom>
          <a:noFill/>
          <a:ln/>
        </p:spPr>
        <p:txBody>
          <a:bodyPr wrap="square" lIns="0" tIns="0" rIns="0" bIns="0" rtlCol="0" anchor="ctr"/>
          <a:lstStyle/>
          <a:p>
            <a:pPr algn="ctr" indent="0" marL="0">
              <a:buNone/>
            </a:pPr>
            <a:r>
              <a:rPr lang="en-US" sz="1200" dirty="0">
                <a:solidFill>
                  <a:srgbClr val="C8161D"/>
                </a:solidFill>
                <a:latin typeface="Arial" pitchFamily="34" charset="0"/>
                <a:ea typeface="BIZ UDPGothic" pitchFamily="34" charset="-122"/>
                <a:cs typeface="BIZ UDPGothic" pitchFamily="34" charset="-120"/>
              </a:rPr>
              <a:t>↓</a:t>
            </a:r>
            <a:endParaRPr lang="en-US" sz="1200" dirty="0"/>
          </a:p>
        </p:txBody>
      </p:sp>
      <p:sp>
        <p:nvSpPr>
          <p:cNvPr id="16" name="Shape 14"/>
          <p:cNvSpPr/>
          <p:nvPr/>
        </p:nvSpPr>
        <p:spPr>
          <a:xfrm>
            <a:off x="457200" y="3895344"/>
            <a:ext cx="8229600" cy="859536"/>
          </a:xfrm>
          <a:prstGeom prst="roundRect">
            <a:avLst>
              <a:gd name="adj" fmla="val 8511"/>
            </a:avLst>
          </a:prstGeom>
          <a:solidFill>
            <a:srgbClr val="FFFFFF"/>
          </a:solidFill>
          <a:ln w="12700">
            <a:solidFill>
              <a:srgbClr val="DDE0E6"/>
            </a:solidFill>
            <a:prstDash val="solid"/>
          </a:ln>
        </p:spPr>
      </p:sp>
      <p:sp>
        <p:nvSpPr>
          <p:cNvPr id="17" name="Shape 15"/>
          <p:cNvSpPr/>
          <p:nvPr/>
        </p:nvSpPr>
        <p:spPr>
          <a:xfrm>
            <a:off x="594360" y="4078224"/>
            <a:ext cx="1828800" cy="457200"/>
          </a:xfrm>
          <a:prstGeom prst="roundRect">
            <a:avLst>
              <a:gd name="adj" fmla="val 12000"/>
            </a:avLst>
          </a:prstGeom>
          <a:solidFill>
            <a:srgbClr val="C8161D"/>
          </a:solidFill>
          <a:ln w="12700">
            <a:solidFill>
              <a:srgbClr val="C8161D"/>
            </a:solidFill>
            <a:prstDash val="solid"/>
          </a:ln>
        </p:spPr>
      </p:sp>
      <p:sp>
        <p:nvSpPr>
          <p:cNvPr id="18" name="Text 16"/>
          <p:cNvSpPr/>
          <p:nvPr/>
        </p:nvSpPr>
        <p:spPr>
          <a:xfrm>
            <a:off x="594360" y="4078224"/>
            <a:ext cx="18288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売れなかった場合</a:t>
            </a:r>
            <a:endParaRPr lang="en-US" sz="1100" dirty="0"/>
          </a:p>
        </p:txBody>
      </p:sp>
      <p:sp>
        <p:nvSpPr>
          <p:cNvPr id="19" name="Text 17"/>
          <p:cNvSpPr/>
          <p:nvPr/>
        </p:nvSpPr>
        <p:spPr>
          <a:xfrm>
            <a:off x="2578608" y="3968496"/>
            <a:ext cx="5943600" cy="71323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国が最終的に買い取る仕組みを用意する。</a:t>
            </a:r>
            <a:endParaRPr lang="en-US" sz="1100" dirty="0"/>
          </a:p>
          <a:p>
            <a:pPr indent="0" marL="0">
              <a:buNone/>
            </a:pPr>
            <a:r>
              <a:rPr lang="en-US" sz="1100" dirty="0">
                <a:solidFill>
                  <a:srgbClr val="2B2F36"/>
                </a:solidFill>
                <a:latin typeface="Arial" pitchFamily="34" charset="0"/>
                <a:ea typeface="BIZ UDPGothic" pitchFamily="34" charset="-122"/>
                <a:cs typeface="BIZ UDPGothic" pitchFamily="34" charset="-120"/>
              </a:rPr>
              <a:t>「売れないから放置」は認めない</a:t>
            </a:r>
            <a:endParaRPr lang="en-US" sz="1100" dirty="0"/>
          </a:p>
        </p:txBody>
      </p:sp>
      <p:sp>
        <p:nvSpPr>
          <p:cNvPr id="20" name="Shape 18"/>
          <p:cNvSpPr/>
          <p:nvPr/>
        </p:nvSpPr>
        <p:spPr>
          <a:xfrm>
            <a:off x="457200" y="4919472"/>
            <a:ext cx="8229600" cy="164592"/>
          </a:xfrm>
          <a:prstGeom prst="roundRect">
            <a:avLst>
              <a:gd name="adj" fmla="val 44444"/>
            </a:avLst>
          </a:prstGeom>
          <a:solidFill>
            <a:srgbClr val="FCEBEB"/>
          </a:solidFill>
          <a:ln w="12700">
            <a:solidFill>
              <a:srgbClr val="DDE0E6"/>
            </a:solidFill>
            <a:prstDash val="solid"/>
          </a:ln>
        </p:spPr>
      </p:sp>
      <p:sp>
        <p:nvSpPr>
          <p:cNvPr id="21" name="Text 19"/>
          <p:cNvSpPr/>
          <p:nvPr/>
        </p:nvSpPr>
        <p:spPr>
          <a:xfrm>
            <a:off x="594360" y="4937760"/>
            <a:ext cx="7955280" cy="128016"/>
          </a:xfrm>
          <a:prstGeom prst="rect">
            <a:avLst/>
          </a:prstGeom>
          <a:noFill/>
          <a:ln/>
        </p:spPr>
        <p:txBody>
          <a:bodyPr wrap="square" lIns="0" tIns="0" rIns="0" bIns="0" rtlCol="0" anchor="ctr"/>
          <a:lstStyle/>
          <a:p>
            <a:pPr indent="0" marL="0">
              <a:buNone/>
            </a:pPr>
            <a:r>
              <a:rPr lang="en-US" sz="1000" dirty="0">
                <a:solidFill>
                  <a:srgbClr val="C8161D"/>
                </a:solidFill>
                <a:latin typeface="Arial" pitchFamily="34" charset="0"/>
                <a:ea typeface="BIZ UDPGothic" pitchFamily="34" charset="-122"/>
                <a:cs typeface="BIZ UDPGothic" pitchFamily="34" charset="-120"/>
              </a:rPr>
              <a:t>既得権（前から持っていたから守られるべき権利）は一切保護しない。ここは日本の国土。</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01 — RENTAL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外国企業は日本で工場を建てられなくなるの？</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土地を「買う」ことはできないが、「借りる（賃貸）」ことはできる。半導体工場などの誘致は引き続き可能。</a:t>
            </a:r>
            <a:endParaRPr lang="en-US" sz="1100" dirty="0"/>
          </a:p>
        </p:txBody>
      </p:sp>
      <p:sp>
        <p:nvSpPr>
          <p:cNvPr id="6" name="Shape 4"/>
          <p:cNvSpPr/>
          <p:nvPr/>
        </p:nvSpPr>
        <p:spPr>
          <a:xfrm>
            <a:off x="457200" y="1755648"/>
            <a:ext cx="8229600" cy="1700784"/>
          </a:xfrm>
          <a:prstGeom prst="roundRect">
            <a:avLst>
              <a:gd name="adj" fmla="val 4301"/>
            </a:avLst>
          </a:prstGeom>
          <a:solidFill>
            <a:srgbClr val="FFFFFF"/>
          </a:solidFill>
          <a:ln w="12700">
            <a:solidFill>
              <a:srgbClr val="DDE0E6"/>
            </a:solidFill>
            <a:prstDash val="solid"/>
          </a:ln>
        </p:spPr>
      </p:sp>
      <p:sp>
        <p:nvSpPr>
          <p:cNvPr id="7" name="Text 5"/>
          <p:cNvSpPr/>
          <p:nvPr/>
        </p:nvSpPr>
        <p:spPr>
          <a:xfrm>
            <a:off x="594360" y="1847088"/>
            <a:ext cx="795528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外国企業が工場を建てたいとき</a:t>
            </a:r>
            <a:endParaRPr lang="en-US" sz="1300" dirty="0"/>
          </a:p>
        </p:txBody>
      </p:sp>
      <p:sp>
        <p:nvSpPr>
          <p:cNvPr id="8" name="Text 6"/>
          <p:cNvSpPr/>
          <p:nvPr/>
        </p:nvSpPr>
        <p:spPr>
          <a:xfrm>
            <a:off x="594360" y="2231136"/>
            <a:ext cx="7955280" cy="1152144"/>
          </a:xfrm>
          <a:prstGeom prst="rect">
            <a:avLst/>
          </a:prstGeom>
          <a:noFill/>
          <a:ln/>
        </p:spPr>
        <p:txBody>
          <a:bodyPr wrap="square" lIns="0" tIns="0" rIns="0" bIns="0" rtlCol="0" anchor="ctr"/>
          <a:lstStyle/>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外国企業は土地を直接買えない</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日本企業が土地を買う（日本企業が地主になる）</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日本企業が外国企業に土地を貸す（賃貸契約）</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外国企業はその土地に工場を建てて使う</a:t>
            </a:r>
            <a:endParaRPr lang="en-US" sz="1100" dirty="0"/>
          </a:p>
        </p:txBody>
      </p:sp>
      <p:sp>
        <p:nvSpPr>
          <p:cNvPr id="9" name="Shape 7"/>
          <p:cNvSpPr/>
          <p:nvPr/>
        </p:nvSpPr>
        <p:spPr>
          <a:xfrm>
            <a:off x="457200" y="3566160"/>
            <a:ext cx="8229600" cy="1426464"/>
          </a:xfrm>
          <a:prstGeom prst="roundRect">
            <a:avLst>
              <a:gd name="adj" fmla="val 5128"/>
            </a:avLst>
          </a:prstGeom>
          <a:solidFill>
            <a:srgbClr val="E9EFF8"/>
          </a:solidFill>
          <a:ln w="12700">
            <a:solidFill>
              <a:srgbClr val="DDE0E6"/>
            </a:solidFill>
            <a:prstDash val="solid"/>
          </a:ln>
        </p:spPr>
      </p:sp>
      <p:sp>
        <p:nvSpPr>
          <p:cNvPr id="10" name="Text 8"/>
          <p:cNvSpPr/>
          <p:nvPr/>
        </p:nvSpPr>
        <p:spPr>
          <a:xfrm>
            <a:off x="594360" y="3657600"/>
            <a:ext cx="7955280" cy="329184"/>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これが「戦略的な武器」になる</a:t>
            </a:r>
            <a:endParaRPr lang="en-US" sz="1300" dirty="0"/>
          </a:p>
        </p:txBody>
      </p:sp>
      <p:sp>
        <p:nvSpPr>
          <p:cNvPr id="11" name="Text 9"/>
          <p:cNvSpPr/>
          <p:nvPr/>
        </p:nvSpPr>
        <p:spPr>
          <a:xfrm>
            <a:off x="594360" y="4023360"/>
            <a:ext cx="7955280" cy="91440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地主（日本企業）が賃料を安くすれば、外国企業の誘致がしやすくなる。逆に言えば、「この企業を日本に呼びたいか」によって条件を変えられる。土地の所有権は常に日本側にある状態で、利用権だけを戦略的に使える設計にな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重要エリアとは？：特別に守るべき土地</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一般の土地より一段厳しいルールを適用する「重要エリア」がある。ここは購入だけでなく「賃貸も禁止」。</a:t>
            </a:r>
            <a:endParaRPr lang="en-US" sz="1100" dirty="0"/>
          </a:p>
        </p:txBody>
      </p:sp>
      <p:sp>
        <p:nvSpPr>
          <p:cNvPr id="6" name="Shape 4"/>
          <p:cNvSpPr/>
          <p:nvPr/>
        </p:nvSpPr>
        <p:spPr>
          <a:xfrm>
            <a:off x="457200" y="1755648"/>
            <a:ext cx="4114800" cy="1481328"/>
          </a:xfrm>
          <a:prstGeom prst="roundRect">
            <a:avLst>
              <a:gd name="adj" fmla="val 4938"/>
            </a:avLst>
          </a:prstGeom>
          <a:solidFill>
            <a:srgbClr val="FCEBEB"/>
          </a:solidFill>
          <a:ln w="12700">
            <a:solidFill>
              <a:srgbClr val="DDE0E6"/>
            </a:solidFill>
            <a:prstDash val="solid"/>
          </a:ln>
        </p:spPr>
      </p:sp>
      <p:sp>
        <p:nvSpPr>
          <p:cNvPr id="7" name="Text 5"/>
          <p:cNvSpPr/>
          <p:nvPr/>
        </p:nvSpPr>
        <p:spPr>
          <a:xfrm>
            <a:off x="640080" y="1883664"/>
            <a:ext cx="3749040" cy="402336"/>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水源地</a:t>
            </a:r>
            <a:endParaRPr lang="en-US" sz="1300" dirty="0"/>
          </a:p>
        </p:txBody>
      </p:sp>
      <p:sp>
        <p:nvSpPr>
          <p:cNvPr id="8" name="Text 6"/>
          <p:cNvSpPr/>
          <p:nvPr/>
        </p:nvSpPr>
        <p:spPr>
          <a:xfrm>
            <a:off x="640080" y="2322576"/>
            <a:ext cx="3749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川・湖・ダム・浄水場の周辺。ここが外国に支配されると、水の供給を止めたり汚染されるリスクがある</a:t>
            </a:r>
            <a:endParaRPr lang="en-US" sz="1100" dirty="0"/>
          </a:p>
        </p:txBody>
      </p:sp>
      <p:sp>
        <p:nvSpPr>
          <p:cNvPr id="9" name="Shape 7"/>
          <p:cNvSpPr/>
          <p:nvPr/>
        </p:nvSpPr>
        <p:spPr>
          <a:xfrm>
            <a:off x="4800600" y="1755648"/>
            <a:ext cx="4114800" cy="1481328"/>
          </a:xfrm>
          <a:prstGeom prst="roundRect">
            <a:avLst>
              <a:gd name="adj" fmla="val 4938"/>
            </a:avLst>
          </a:prstGeom>
          <a:solidFill>
            <a:srgbClr val="FCEBEB"/>
          </a:solidFill>
          <a:ln w="12700">
            <a:solidFill>
              <a:srgbClr val="DDE0E6"/>
            </a:solidFill>
            <a:prstDash val="solid"/>
          </a:ln>
        </p:spPr>
      </p:sp>
      <p:sp>
        <p:nvSpPr>
          <p:cNvPr id="10" name="Text 8"/>
          <p:cNvSpPr/>
          <p:nvPr/>
        </p:nvSpPr>
        <p:spPr>
          <a:xfrm>
            <a:off x="4983480" y="1883664"/>
            <a:ext cx="3749040" cy="402336"/>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国境離島</a:t>
            </a:r>
            <a:endParaRPr lang="en-US" sz="1300" dirty="0"/>
          </a:p>
        </p:txBody>
      </p:sp>
      <p:sp>
        <p:nvSpPr>
          <p:cNvPr id="11" name="Text 9"/>
          <p:cNvSpPr/>
          <p:nvPr/>
        </p:nvSpPr>
        <p:spPr>
          <a:xfrm>
            <a:off x="4983480" y="2322576"/>
            <a:ext cx="3749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日本の端にある島。外国が実質的に支配すると「国境線」が変わるリスクがある</a:t>
            </a:r>
            <a:endParaRPr lang="en-US" sz="1100" dirty="0"/>
          </a:p>
        </p:txBody>
      </p:sp>
      <p:sp>
        <p:nvSpPr>
          <p:cNvPr id="12" name="Shape 10"/>
          <p:cNvSpPr/>
          <p:nvPr/>
        </p:nvSpPr>
        <p:spPr>
          <a:xfrm>
            <a:off x="457200" y="3364992"/>
            <a:ext cx="4114800" cy="1481328"/>
          </a:xfrm>
          <a:prstGeom prst="roundRect">
            <a:avLst>
              <a:gd name="adj" fmla="val 4938"/>
            </a:avLst>
          </a:prstGeom>
          <a:solidFill>
            <a:srgbClr val="FCEBEB"/>
          </a:solidFill>
          <a:ln w="12700">
            <a:solidFill>
              <a:srgbClr val="DDE0E6"/>
            </a:solidFill>
            <a:prstDash val="solid"/>
          </a:ln>
        </p:spPr>
      </p:sp>
      <p:sp>
        <p:nvSpPr>
          <p:cNvPr id="13" name="Text 11"/>
          <p:cNvSpPr/>
          <p:nvPr/>
        </p:nvSpPr>
        <p:spPr>
          <a:xfrm>
            <a:off x="640080" y="3493008"/>
            <a:ext cx="3749040" cy="402336"/>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防衛施設・自衛隊基地の周辺</a:t>
            </a:r>
            <a:endParaRPr lang="en-US" sz="1300" dirty="0"/>
          </a:p>
        </p:txBody>
      </p:sp>
      <p:sp>
        <p:nvSpPr>
          <p:cNvPr id="14" name="Text 12"/>
          <p:cNvSpPr/>
          <p:nvPr/>
        </p:nvSpPr>
        <p:spPr>
          <a:xfrm>
            <a:off x="640080" y="3931920"/>
            <a:ext cx="3749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基地のすぐそばの土地から監視・妨害活動をされるリスクがある</a:t>
            </a:r>
            <a:endParaRPr lang="en-US" sz="1100" dirty="0"/>
          </a:p>
        </p:txBody>
      </p:sp>
      <p:sp>
        <p:nvSpPr>
          <p:cNvPr id="15" name="Shape 13"/>
          <p:cNvSpPr/>
          <p:nvPr/>
        </p:nvSpPr>
        <p:spPr>
          <a:xfrm>
            <a:off x="4800600" y="3364992"/>
            <a:ext cx="4114800" cy="1481328"/>
          </a:xfrm>
          <a:prstGeom prst="roundRect">
            <a:avLst>
              <a:gd name="adj" fmla="val 4938"/>
            </a:avLst>
          </a:prstGeom>
          <a:solidFill>
            <a:srgbClr val="FCEBEB"/>
          </a:solidFill>
          <a:ln w="12700">
            <a:solidFill>
              <a:srgbClr val="DDE0E6"/>
            </a:solidFill>
            <a:prstDash val="solid"/>
          </a:ln>
        </p:spPr>
      </p:sp>
      <p:sp>
        <p:nvSpPr>
          <p:cNvPr id="16" name="Text 14"/>
          <p:cNvSpPr/>
          <p:nvPr/>
        </p:nvSpPr>
        <p:spPr>
          <a:xfrm>
            <a:off x="4983480" y="3493008"/>
            <a:ext cx="3749040" cy="402336"/>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原発・電波塔など重要インフラの周辺</a:t>
            </a:r>
            <a:endParaRPr lang="en-US" sz="1300" dirty="0"/>
          </a:p>
        </p:txBody>
      </p:sp>
      <p:sp>
        <p:nvSpPr>
          <p:cNvPr id="17" name="Text 15"/>
          <p:cNvSpPr/>
          <p:nvPr/>
        </p:nvSpPr>
        <p:spPr>
          <a:xfrm>
            <a:off x="4983480" y="3931920"/>
            <a:ext cx="3749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電気・通信などの重要な設備の近くに外国の拠点ができることを防ぐ</a:t>
            </a:r>
            <a:endParaRPr lang="en-US" sz="1100" dirty="0"/>
          </a:p>
        </p:txBody>
      </p:sp>
      <p:sp>
        <p:nvSpPr>
          <p:cNvPr id="18" name="Shape 16"/>
          <p:cNvSpPr/>
          <p:nvPr/>
        </p:nvSpPr>
        <p:spPr>
          <a:xfrm>
            <a:off x="457200" y="5029200"/>
            <a:ext cx="8229600" cy="36576"/>
          </a:xfrm>
          <a:prstGeom prst="roundRect">
            <a:avLst>
              <a:gd name="adj" fmla="val 200000"/>
            </a:avLst>
          </a:prstGeom>
          <a:solidFill>
            <a:srgbClr val="DDE0E6"/>
          </a:solidFill>
          <a:ln w="12700">
            <a:solidFill>
              <a:srgbClr val="DDE0E6"/>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02 — DETAIL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重要エリアのルール：買うことも借りることも禁止</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一般エリアでは「賃貸は可」だったが、重要エリアでは賃貸も含めて外国人・外国資本への提供を全面禁止にする。</a:t>
            </a:r>
            <a:endParaRPr lang="en-US" sz="1100" dirty="0"/>
          </a:p>
        </p:txBody>
      </p:sp>
      <p:sp>
        <p:nvSpPr>
          <p:cNvPr id="6" name="Shape 4"/>
          <p:cNvSpPr/>
          <p:nvPr/>
        </p:nvSpPr>
        <p:spPr>
          <a:xfrm>
            <a:off x="457200" y="1755648"/>
            <a:ext cx="8229600" cy="548640"/>
          </a:xfrm>
          <a:prstGeom prst="roundRect">
            <a:avLst>
              <a:gd name="adj" fmla="val 13333"/>
            </a:avLst>
          </a:prstGeom>
          <a:solidFill>
            <a:srgbClr val="FCEBEB"/>
          </a:solidFill>
          <a:ln w="12700">
            <a:solidFill>
              <a:srgbClr val="DDE0E6"/>
            </a:solidFill>
            <a:prstDash val="solid"/>
          </a:ln>
        </p:spPr>
      </p:sp>
      <p:sp>
        <p:nvSpPr>
          <p:cNvPr id="7" name="Text 5"/>
          <p:cNvSpPr/>
          <p:nvPr/>
        </p:nvSpPr>
        <p:spPr>
          <a:xfrm>
            <a:off x="548640" y="1755648"/>
            <a:ext cx="457200" cy="548640"/>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8" name="Text 6"/>
          <p:cNvSpPr/>
          <p:nvPr/>
        </p:nvSpPr>
        <p:spPr>
          <a:xfrm>
            <a:off x="1051560" y="1755648"/>
            <a:ext cx="7543800" cy="548640"/>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購入（外国人・外国資本が重要エリアの土地を買うこと）</a:t>
            </a:r>
            <a:endParaRPr lang="en-US" sz="1400" dirty="0"/>
          </a:p>
        </p:txBody>
      </p:sp>
      <p:sp>
        <p:nvSpPr>
          <p:cNvPr id="9" name="Shape 7"/>
          <p:cNvSpPr/>
          <p:nvPr/>
        </p:nvSpPr>
        <p:spPr>
          <a:xfrm>
            <a:off x="457200" y="2395728"/>
            <a:ext cx="8229600" cy="548640"/>
          </a:xfrm>
          <a:prstGeom prst="roundRect">
            <a:avLst>
              <a:gd name="adj" fmla="val 13333"/>
            </a:avLst>
          </a:prstGeom>
          <a:solidFill>
            <a:srgbClr val="FCEBEB"/>
          </a:solidFill>
          <a:ln w="12700">
            <a:solidFill>
              <a:srgbClr val="DDE0E6"/>
            </a:solidFill>
            <a:prstDash val="solid"/>
          </a:ln>
        </p:spPr>
      </p:sp>
      <p:sp>
        <p:nvSpPr>
          <p:cNvPr id="10" name="Text 8"/>
          <p:cNvSpPr/>
          <p:nvPr/>
        </p:nvSpPr>
        <p:spPr>
          <a:xfrm>
            <a:off x="548640" y="2395728"/>
            <a:ext cx="457200" cy="548640"/>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1" name="Text 9"/>
          <p:cNvSpPr/>
          <p:nvPr/>
        </p:nvSpPr>
        <p:spPr>
          <a:xfrm>
            <a:off x="1051560" y="2395728"/>
            <a:ext cx="7543800" cy="548640"/>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賃貸（重要エリアの土地を外国人・外国資本に貸すこと）</a:t>
            </a:r>
            <a:endParaRPr lang="en-US" sz="1400" dirty="0"/>
          </a:p>
        </p:txBody>
      </p:sp>
      <p:sp>
        <p:nvSpPr>
          <p:cNvPr id="12" name="Shape 10"/>
          <p:cNvSpPr/>
          <p:nvPr/>
        </p:nvSpPr>
        <p:spPr>
          <a:xfrm>
            <a:off x="457200" y="3072384"/>
            <a:ext cx="8229600" cy="804672"/>
          </a:xfrm>
          <a:prstGeom prst="roundRect">
            <a:avLst>
              <a:gd name="adj" fmla="val 9091"/>
            </a:avLst>
          </a:prstGeom>
          <a:solidFill>
            <a:srgbClr val="FFF4DB"/>
          </a:solidFill>
          <a:ln w="12700">
            <a:solidFill>
              <a:srgbClr val="DDE0E6"/>
            </a:solidFill>
            <a:prstDash val="solid"/>
          </a:ln>
        </p:spPr>
      </p:sp>
      <p:sp>
        <p:nvSpPr>
          <p:cNvPr id="13" name="Text 11"/>
          <p:cNvSpPr/>
          <p:nvPr/>
        </p:nvSpPr>
        <p:spPr>
          <a:xfrm>
            <a:off x="594360" y="3163824"/>
            <a:ext cx="7955280" cy="292608"/>
          </a:xfrm>
          <a:prstGeom prst="rect">
            <a:avLst/>
          </a:prstGeom>
          <a:noFill/>
          <a:ln/>
        </p:spPr>
        <p:txBody>
          <a:bodyPr wrap="square" lIns="0" tIns="0" rIns="0" bIns="0" rtlCol="0" anchor="ctr"/>
          <a:lstStyle/>
          <a:p>
            <a:pPr indent="0" marL="0">
              <a:buNone/>
            </a:pPr>
            <a:r>
              <a:rPr lang="en-US" sz="1200" b="1" dirty="0">
                <a:solidFill>
                  <a:srgbClr val="9A6200"/>
                </a:solidFill>
                <a:latin typeface="BIZ UDPGothic" pitchFamily="34" charset="0"/>
                <a:ea typeface="BIZ UDPGothic" pitchFamily="34" charset="-122"/>
                <a:cs typeface="BIZ UDPGothic" pitchFamily="34" charset="-120"/>
              </a:rPr>
              <a:t>なぜ賃貸も禁止にするのか？</a:t>
            </a:r>
            <a:endParaRPr lang="en-US" sz="1200" dirty="0"/>
          </a:p>
        </p:txBody>
      </p:sp>
      <p:sp>
        <p:nvSpPr>
          <p:cNvPr id="14" name="Text 12"/>
          <p:cNvSpPr/>
          <p:nvPr/>
        </p:nvSpPr>
        <p:spPr>
          <a:xfrm>
            <a:off x="594360" y="3474720"/>
            <a:ext cx="7955280" cy="32918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「土地は買っていないが長期間借りている」という形でも、実質的に外国が土地を「支配」することができてしまう。重要エリアでは所有権だけでなく利用権も含めて完全に封じる必要がある。</a:t>
            </a:r>
            <a:endParaRPr lang="en-US" sz="1000" dirty="0"/>
          </a:p>
        </p:txBody>
      </p:sp>
      <p:sp>
        <p:nvSpPr>
          <p:cNvPr id="15" name="Shape 13"/>
          <p:cNvSpPr/>
          <p:nvPr/>
        </p:nvSpPr>
        <p:spPr>
          <a:xfrm>
            <a:off x="457200" y="3986784"/>
            <a:ext cx="8229600" cy="329184"/>
          </a:xfrm>
          <a:prstGeom prst="roundRect">
            <a:avLst>
              <a:gd name="adj" fmla="val 22222"/>
            </a:avLst>
          </a:prstGeom>
          <a:solidFill>
            <a:srgbClr val="FFFFFF"/>
          </a:solidFill>
          <a:ln w="12700">
            <a:solidFill>
              <a:srgbClr val="DDE0E6"/>
            </a:solidFill>
            <a:prstDash val="solid"/>
          </a:ln>
        </p:spPr>
      </p:sp>
      <p:sp>
        <p:nvSpPr>
          <p:cNvPr id="16" name="Text 14"/>
          <p:cNvSpPr/>
          <p:nvPr/>
        </p:nvSpPr>
        <p:spPr>
          <a:xfrm>
            <a:off x="594360" y="4023360"/>
            <a:ext cx="7955280" cy="256032"/>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例外となる5番目のカテゴリ：「その他、国が指定した区画」（将来の新しいリスクに対応するための余白ルール）</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02 — MONITORING</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国が年4回、重要エリアを直接調べに行く</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「自分で報告してください」ではなく、「国が自ら調べに行く」仕組みにする。名義を借りたズルも同時に発見できる。</a:t>
            </a:r>
            <a:endParaRPr lang="en-US" sz="1100" dirty="0"/>
          </a:p>
        </p:txBody>
      </p:sp>
      <p:sp>
        <p:nvSpPr>
          <p:cNvPr id="6" name="Shape 4"/>
          <p:cNvSpPr/>
          <p:nvPr/>
        </p:nvSpPr>
        <p:spPr>
          <a:xfrm>
            <a:off x="457200" y="1847088"/>
            <a:ext cx="8229600" cy="841248"/>
          </a:xfrm>
          <a:prstGeom prst="roundRect">
            <a:avLst>
              <a:gd name="adj" fmla="val 8696"/>
            </a:avLst>
          </a:prstGeom>
          <a:solidFill>
            <a:srgbClr val="FFFFFF"/>
          </a:solidFill>
          <a:ln w="12700">
            <a:solidFill>
              <a:srgbClr val="DDE0E6"/>
            </a:solidFill>
            <a:prstDash val="solid"/>
          </a:ln>
        </p:spPr>
      </p:sp>
      <p:sp>
        <p:nvSpPr>
          <p:cNvPr id="7" name="Shape 5"/>
          <p:cNvSpPr/>
          <p:nvPr/>
        </p:nvSpPr>
        <p:spPr>
          <a:xfrm>
            <a:off x="594360" y="2011680"/>
            <a:ext cx="658368" cy="475488"/>
          </a:xfrm>
          <a:prstGeom prst="roundRect">
            <a:avLst>
              <a:gd name="adj" fmla="val 11538"/>
            </a:avLst>
          </a:prstGeom>
          <a:solidFill>
            <a:srgbClr val="C8161D"/>
          </a:solidFill>
          <a:ln w="12700">
            <a:solidFill>
              <a:srgbClr val="C8161D"/>
            </a:solidFill>
            <a:prstDash val="solid"/>
          </a:ln>
        </p:spPr>
      </p:sp>
      <p:sp>
        <p:nvSpPr>
          <p:cNvPr id="8" name="Text 6"/>
          <p:cNvSpPr/>
          <p:nvPr/>
        </p:nvSpPr>
        <p:spPr>
          <a:xfrm>
            <a:off x="594360" y="201168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01</a:t>
            </a:r>
            <a:endParaRPr lang="en-US" sz="1400" dirty="0"/>
          </a:p>
        </p:txBody>
      </p:sp>
      <p:sp>
        <p:nvSpPr>
          <p:cNvPr id="9" name="Text 7"/>
          <p:cNvSpPr/>
          <p:nvPr/>
        </p:nvSpPr>
        <p:spPr>
          <a:xfrm>
            <a:off x="1389888" y="1938528"/>
            <a:ext cx="713232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その土地が今どう使われているか確認する</a:t>
            </a:r>
            <a:endParaRPr lang="en-US" sz="1300" dirty="0"/>
          </a:p>
        </p:txBody>
      </p:sp>
      <p:sp>
        <p:nvSpPr>
          <p:cNvPr id="10" name="Text 8"/>
          <p:cNvSpPr/>
          <p:nvPr/>
        </p:nvSpPr>
        <p:spPr>
          <a:xfrm>
            <a:off x="1389888" y="2304288"/>
            <a:ext cx="7132320" cy="3108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許可されていない外国人・外国資本が使っていないかを現地で直接確認</a:t>
            </a:r>
            <a:endParaRPr lang="en-US" sz="1000" dirty="0"/>
          </a:p>
        </p:txBody>
      </p:sp>
      <p:sp>
        <p:nvSpPr>
          <p:cNvPr id="11" name="Shape 9"/>
          <p:cNvSpPr/>
          <p:nvPr/>
        </p:nvSpPr>
        <p:spPr>
          <a:xfrm>
            <a:off x="457200" y="2816352"/>
            <a:ext cx="8229600" cy="841248"/>
          </a:xfrm>
          <a:prstGeom prst="roundRect">
            <a:avLst>
              <a:gd name="adj" fmla="val 8696"/>
            </a:avLst>
          </a:prstGeom>
          <a:solidFill>
            <a:srgbClr val="FFFFFF"/>
          </a:solidFill>
          <a:ln w="12700">
            <a:solidFill>
              <a:srgbClr val="DDE0E6"/>
            </a:solidFill>
            <a:prstDash val="solid"/>
          </a:ln>
        </p:spPr>
      </p:sp>
      <p:sp>
        <p:nvSpPr>
          <p:cNvPr id="12" name="Shape 10"/>
          <p:cNvSpPr/>
          <p:nvPr/>
        </p:nvSpPr>
        <p:spPr>
          <a:xfrm>
            <a:off x="594360" y="2980944"/>
            <a:ext cx="658368" cy="475488"/>
          </a:xfrm>
          <a:prstGeom prst="roundRect">
            <a:avLst>
              <a:gd name="adj" fmla="val 11538"/>
            </a:avLst>
          </a:prstGeom>
          <a:solidFill>
            <a:srgbClr val="C8161D"/>
          </a:solidFill>
          <a:ln w="12700">
            <a:solidFill>
              <a:srgbClr val="C8161D"/>
            </a:solidFill>
            <a:prstDash val="solid"/>
          </a:ln>
        </p:spPr>
      </p:sp>
      <p:sp>
        <p:nvSpPr>
          <p:cNvPr id="13" name="Text 11"/>
          <p:cNvSpPr/>
          <p:nvPr/>
        </p:nvSpPr>
        <p:spPr>
          <a:xfrm>
            <a:off x="594360" y="2980944"/>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02</a:t>
            </a:r>
            <a:endParaRPr lang="en-US" sz="1400" dirty="0"/>
          </a:p>
        </p:txBody>
      </p:sp>
      <p:sp>
        <p:nvSpPr>
          <p:cNvPr id="14" name="Text 12"/>
          <p:cNvSpPr/>
          <p:nvPr/>
        </p:nvSpPr>
        <p:spPr>
          <a:xfrm>
            <a:off x="1389888" y="2907792"/>
            <a:ext cx="713232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本当の所有者・使用者が誰かを調べる</a:t>
            </a:r>
            <a:endParaRPr lang="en-US" sz="1300" dirty="0"/>
          </a:p>
        </p:txBody>
      </p:sp>
      <p:sp>
        <p:nvSpPr>
          <p:cNvPr id="15" name="Text 13"/>
          <p:cNvSpPr/>
          <p:nvPr/>
        </p:nvSpPr>
        <p:spPr>
          <a:xfrm>
            <a:off x="1389888" y="3273552"/>
            <a:ext cx="7132320" cy="3108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名義上は日本人でも、実際に使ってお金を出しているのが外国人・外国資本でないかをチェック</a:t>
            </a:r>
            <a:endParaRPr lang="en-US" sz="1000" dirty="0"/>
          </a:p>
        </p:txBody>
      </p:sp>
      <p:sp>
        <p:nvSpPr>
          <p:cNvPr id="16" name="Shape 14"/>
          <p:cNvSpPr/>
          <p:nvPr/>
        </p:nvSpPr>
        <p:spPr>
          <a:xfrm>
            <a:off x="457200" y="3785616"/>
            <a:ext cx="8229600" cy="841248"/>
          </a:xfrm>
          <a:prstGeom prst="roundRect">
            <a:avLst>
              <a:gd name="adj" fmla="val 8696"/>
            </a:avLst>
          </a:prstGeom>
          <a:solidFill>
            <a:srgbClr val="FFFFFF"/>
          </a:solidFill>
          <a:ln w="12700">
            <a:solidFill>
              <a:srgbClr val="DDE0E6"/>
            </a:solidFill>
            <a:prstDash val="solid"/>
          </a:ln>
        </p:spPr>
      </p:sp>
      <p:sp>
        <p:nvSpPr>
          <p:cNvPr id="17" name="Shape 15"/>
          <p:cNvSpPr/>
          <p:nvPr/>
        </p:nvSpPr>
        <p:spPr>
          <a:xfrm>
            <a:off x="594360" y="3950208"/>
            <a:ext cx="658368" cy="475488"/>
          </a:xfrm>
          <a:prstGeom prst="roundRect">
            <a:avLst>
              <a:gd name="adj" fmla="val 11538"/>
            </a:avLst>
          </a:prstGeom>
          <a:solidFill>
            <a:srgbClr val="C8161D"/>
          </a:solidFill>
          <a:ln w="12700">
            <a:solidFill>
              <a:srgbClr val="C8161D"/>
            </a:solidFill>
            <a:prstDash val="solid"/>
          </a:ln>
        </p:spPr>
      </p:sp>
      <p:sp>
        <p:nvSpPr>
          <p:cNvPr id="18" name="Text 16"/>
          <p:cNvSpPr/>
          <p:nvPr/>
        </p:nvSpPr>
        <p:spPr>
          <a:xfrm>
            <a:off x="594360" y="3950208"/>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03</a:t>
            </a:r>
            <a:endParaRPr lang="en-US" sz="1400" dirty="0"/>
          </a:p>
        </p:txBody>
      </p:sp>
      <p:sp>
        <p:nvSpPr>
          <p:cNvPr id="19" name="Text 17"/>
          <p:cNvSpPr/>
          <p:nvPr/>
        </p:nvSpPr>
        <p:spPr>
          <a:xfrm>
            <a:off x="1389888" y="3877056"/>
            <a:ext cx="713232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お金の流れを確認する</a:t>
            </a:r>
            <a:endParaRPr lang="en-US" sz="1300" dirty="0"/>
          </a:p>
        </p:txBody>
      </p:sp>
      <p:sp>
        <p:nvSpPr>
          <p:cNvPr id="20" name="Text 18"/>
          <p:cNvSpPr/>
          <p:nvPr/>
        </p:nvSpPr>
        <p:spPr>
          <a:xfrm>
            <a:off x="1389888" y="4242816"/>
            <a:ext cx="7132320" cy="3108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その土地の購入資金がどこから来たかを追跡する。外国から資金が出ていれば「名義貸し」の疑いがある</a:t>
            </a:r>
            <a:endParaRPr lang="en-US" sz="1000" dirty="0"/>
          </a:p>
        </p:txBody>
      </p:sp>
      <p:sp>
        <p:nvSpPr>
          <p:cNvPr id="21" name="Shape 19"/>
          <p:cNvSpPr/>
          <p:nvPr/>
        </p:nvSpPr>
        <p:spPr>
          <a:xfrm>
            <a:off x="457200" y="4809744"/>
            <a:ext cx="8229600" cy="274320"/>
          </a:xfrm>
          <a:prstGeom prst="roundRect">
            <a:avLst>
              <a:gd name="adj" fmla="val 26667"/>
            </a:avLst>
          </a:prstGeom>
          <a:solidFill>
            <a:srgbClr val="FFFFFF"/>
          </a:solidFill>
          <a:ln w="12700">
            <a:solidFill>
              <a:srgbClr val="DDE0E6"/>
            </a:solidFill>
            <a:prstDash val="solid"/>
          </a:ln>
        </p:spPr>
      </p:sp>
      <p:sp>
        <p:nvSpPr>
          <p:cNvPr id="22" name="Text 20"/>
          <p:cNvSpPr/>
          <p:nvPr/>
        </p:nvSpPr>
        <p:spPr>
          <a:xfrm>
            <a:off x="594360" y="4828032"/>
            <a:ext cx="7955280" cy="237744"/>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年4回の調査で「名義貸し」（日本人の名前を使って外国人が実質支配する）も同時に発見・摘発できる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03</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マンションのルール：「住む目的」かどうかで決める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一戸建ての土地とは違う考え方。「誰が買うか」ではなく「何のために買うか」でルールを決める。</a:t>
            </a:r>
            <a:endParaRPr lang="en-US" sz="1100" dirty="0"/>
          </a:p>
        </p:txBody>
      </p:sp>
      <p:sp>
        <p:nvSpPr>
          <p:cNvPr id="6" name="Shape 4"/>
          <p:cNvSpPr/>
          <p:nvPr/>
        </p:nvSpPr>
        <p:spPr>
          <a:xfrm>
            <a:off x="457200" y="1755648"/>
            <a:ext cx="8229600" cy="658368"/>
          </a:xfrm>
          <a:prstGeom prst="roundRect">
            <a:avLst>
              <a:gd name="adj" fmla="val 11111"/>
            </a:avLst>
          </a:prstGeom>
          <a:solidFill>
            <a:srgbClr val="E9EFF8"/>
          </a:solidFill>
          <a:ln w="12700">
            <a:solidFill>
              <a:srgbClr val="DDE0E6"/>
            </a:solidFill>
            <a:prstDash val="solid"/>
          </a:ln>
        </p:spPr>
      </p:sp>
      <p:sp>
        <p:nvSpPr>
          <p:cNvPr id="7" name="Text 5"/>
          <p:cNvSpPr/>
          <p:nvPr/>
        </p:nvSpPr>
        <p:spPr>
          <a:xfrm>
            <a:off x="548640" y="1755648"/>
            <a:ext cx="457200" cy="658368"/>
          </a:xfrm>
          <a:prstGeom prst="rect">
            <a:avLst/>
          </a:prstGeom>
          <a:noFill/>
          <a:ln/>
        </p:spPr>
        <p:txBody>
          <a:bodyPr wrap="square" lIns="0" tIns="0" rIns="0" bIns="0" rtlCol="0" anchor="ctr"/>
          <a:lstStyle/>
          <a:p>
            <a:pPr algn="ctr" indent="0" marL="0">
              <a:buNone/>
            </a:pPr>
            <a:r>
              <a:rPr lang="en-US" sz="1400" dirty="0">
                <a:solidFill>
                  <a:srgbClr val="1D4F91"/>
                </a:solidFill>
                <a:latin typeface="Arial" pitchFamily="34" charset="0"/>
                <a:ea typeface="BIZ UDPGothic" pitchFamily="34" charset="-122"/>
                <a:cs typeface="BIZ UDPGothic" pitchFamily="34" charset="-120"/>
              </a:rPr>
              <a:t>✅</a:t>
            </a:r>
            <a:endParaRPr lang="en-US" sz="1400" dirty="0"/>
          </a:p>
        </p:txBody>
      </p:sp>
      <p:sp>
        <p:nvSpPr>
          <p:cNvPr id="8" name="Text 6"/>
          <p:cNvSpPr/>
          <p:nvPr/>
        </p:nvSpPr>
        <p:spPr>
          <a:xfrm>
            <a:off x="1051560" y="1755648"/>
            <a:ext cx="7543800" cy="658368"/>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自分で住むために買う（居住目的）：国籍を問わず誰でも買える。外国人でもOK</a:t>
            </a:r>
            <a:endParaRPr lang="en-US" sz="1400" dirty="0"/>
          </a:p>
        </p:txBody>
      </p:sp>
      <p:sp>
        <p:nvSpPr>
          <p:cNvPr id="9" name="Shape 7"/>
          <p:cNvSpPr/>
          <p:nvPr/>
        </p:nvSpPr>
        <p:spPr>
          <a:xfrm>
            <a:off x="457200" y="2505456"/>
            <a:ext cx="8229600" cy="658368"/>
          </a:xfrm>
          <a:prstGeom prst="roundRect">
            <a:avLst>
              <a:gd name="adj" fmla="val 11111"/>
            </a:avLst>
          </a:prstGeom>
          <a:solidFill>
            <a:srgbClr val="FCEBEB"/>
          </a:solidFill>
          <a:ln w="12700">
            <a:solidFill>
              <a:srgbClr val="DDE0E6"/>
            </a:solidFill>
            <a:prstDash val="solid"/>
          </a:ln>
        </p:spPr>
      </p:sp>
      <p:sp>
        <p:nvSpPr>
          <p:cNvPr id="10" name="Text 8"/>
          <p:cNvSpPr/>
          <p:nvPr/>
        </p:nvSpPr>
        <p:spPr>
          <a:xfrm>
            <a:off x="548640" y="2505456"/>
            <a:ext cx="457200" cy="658368"/>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1" name="Text 9"/>
          <p:cNvSpPr/>
          <p:nvPr/>
        </p:nvSpPr>
        <p:spPr>
          <a:xfrm>
            <a:off x="1051560" y="2505456"/>
            <a:ext cx="7543800" cy="658368"/>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買って他の人に貸す（投資・賃貸目的）：外国人は不可。購入してそのまま運用することはできない</a:t>
            </a:r>
            <a:endParaRPr lang="en-US" sz="1400" dirty="0"/>
          </a:p>
        </p:txBody>
      </p:sp>
      <p:sp>
        <p:nvSpPr>
          <p:cNvPr id="12" name="Shape 10"/>
          <p:cNvSpPr/>
          <p:nvPr/>
        </p:nvSpPr>
        <p:spPr>
          <a:xfrm>
            <a:off x="457200" y="3291840"/>
            <a:ext cx="8229600" cy="768096"/>
          </a:xfrm>
          <a:prstGeom prst="roundRect">
            <a:avLst>
              <a:gd name="adj" fmla="val 9524"/>
            </a:avLst>
          </a:prstGeom>
          <a:solidFill>
            <a:srgbClr val="E9EFF8"/>
          </a:solidFill>
          <a:ln w="12700">
            <a:solidFill>
              <a:srgbClr val="DDE0E6"/>
            </a:solidFill>
            <a:prstDash val="solid"/>
          </a:ln>
        </p:spPr>
      </p:sp>
      <p:sp>
        <p:nvSpPr>
          <p:cNvPr id="13" name="Text 11"/>
          <p:cNvSpPr/>
          <p:nvPr/>
        </p:nvSpPr>
        <p:spPr>
          <a:xfrm>
            <a:off x="594360" y="3383280"/>
            <a:ext cx="7955280" cy="292608"/>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なぜマンションは土地と違うルールにするのか？</a:t>
            </a:r>
            <a:endParaRPr lang="en-US" sz="1200" dirty="0"/>
          </a:p>
        </p:txBody>
      </p:sp>
      <p:sp>
        <p:nvSpPr>
          <p:cNvPr id="14" name="Text 12"/>
          <p:cNvSpPr/>
          <p:nvPr/>
        </p:nvSpPr>
        <p:spPr>
          <a:xfrm>
            <a:off x="594360" y="3694176"/>
            <a:ext cx="7955280" cy="3108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マンションの一室を買っても「敷地全体を外国が支配する」ことは構造上あり得ない（あくまで一室＋ごく小さな土地の持分だけ）。安全保障上のリスクは低いので、「住む人なら誰でも買える」という形で間口を広げた設計にしている。</a:t>
            </a:r>
            <a:endParaRPr lang="en-US" sz="1000" dirty="0"/>
          </a:p>
        </p:txBody>
      </p:sp>
      <p:sp>
        <p:nvSpPr>
          <p:cNvPr id="15" name="Shape 13"/>
          <p:cNvSpPr/>
          <p:nvPr/>
        </p:nvSpPr>
        <p:spPr>
          <a:xfrm>
            <a:off x="457200" y="4169664"/>
            <a:ext cx="8229600" cy="822960"/>
          </a:xfrm>
          <a:prstGeom prst="roundRect">
            <a:avLst>
              <a:gd name="adj" fmla="val 8889"/>
            </a:avLst>
          </a:prstGeom>
          <a:solidFill>
            <a:srgbClr val="FFFFFF"/>
          </a:solidFill>
          <a:ln w="12700">
            <a:solidFill>
              <a:srgbClr val="DDE0E6"/>
            </a:solidFill>
            <a:prstDash val="solid"/>
          </a:ln>
        </p:spPr>
      </p:sp>
      <p:sp>
        <p:nvSpPr>
          <p:cNvPr id="16" name="Text 14"/>
          <p:cNvSpPr/>
          <p:nvPr/>
        </p:nvSpPr>
        <p:spPr>
          <a:xfrm>
            <a:off x="594360" y="4261104"/>
            <a:ext cx="7955280" cy="292608"/>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マンションの「土地部分（敷地権）」はどうなる？</a:t>
            </a:r>
            <a:endParaRPr lang="en-US" sz="1200" dirty="0"/>
          </a:p>
        </p:txBody>
      </p:sp>
      <p:sp>
        <p:nvSpPr>
          <p:cNvPr id="17" name="Text 15"/>
          <p:cNvSpPr/>
          <p:nvPr/>
        </p:nvSpPr>
        <p:spPr>
          <a:xfrm>
            <a:off x="594360" y="4572000"/>
            <a:ext cx="795528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マンションには土地の持分（敷地権）も含まれるが、居住目的で買う場合はセットで取得できる。一戸建ての土地とは別のルールを適用する。</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RULE 03 — DETAIL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居住実績ルール：本当に住み続けることが条件</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「住む目的で買う」と言えば誰でも買えるが、実際に住み続けなければペナルティがある。</a:t>
            </a:r>
            <a:endParaRPr lang="en-US" sz="1100" dirty="0"/>
          </a:p>
        </p:txBody>
      </p:sp>
      <p:sp>
        <p:nvSpPr>
          <p:cNvPr id="6" name="Shape 4"/>
          <p:cNvSpPr/>
          <p:nvPr/>
        </p:nvSpPr>
        <p:spPr>
          <a:xfrm>
            <a:off x="457200" y="1755648"/>
            <a:ext cx="8229600" cy="950976"/>
          </a:xfrm>
          <a:prstGeom prst="roundRect">
            <a:avLst>
              <a:gd name="adj" fmla="val 7692"/>
            </a:avLst>
          </a:prstGeom>
          <a:solidFill>
            <a:srgbClr val="E9EFF8"/>
          </a:solidFill>
          <a:ln w="12700">
            <a:solidFill>
              <a:srgbClr val="DDE0E6"/>
            </a:solidFill>
            <a:prstDash val="solid"/>
          </a:ln>
        </p:spPr>
      </p:sp>
      <p:sp>
        <p:nvSpPr>
          <p:cNvPr id="7" name="Text 5"/>
          <p:cNvSpPr/>
          <p:nvPr/>
        </p:nvSpPr>
        <p:spPr>
          <a:xfrm>
            <a:off x="594360" y="1847088"/>
            <a:ext cx="7955280" cy="402336"/>
          </a:xfrm>
          <a:prstGeom prst="rect">
            <a:avLst/>
          </a:prstGeom>
          <a:noFill/>
          <a:ln/>
        </p:spPr>
        <p:txBody>
          <a:bodyPr wrap="square" lIns="0" tIns="0" rIns="0" bIns="0" rtlCol="0" anchor="ctr"/>
          <a:lstStyle/>
          <a:p>
            <a:pPr algn="ctr" indent="0" marL="0">
              <a:buNone/>
            </a:pPr>
            <a:r>
              <a:rPr lang="en-US" sz="1600" b="1" dirty="0">
                <a:solidFill>
                  <a:srgbClr val="1D4F91"/>
                </a:solidFill>
                <a:latin typeface="BIZ UDPGothic" pitchFamily="34" charset="0"/>
                <a:ea typeface="BIZ UDPGothic" pitchFamily="34" charset="-122"/>
                <a:cs typeface="BIZ UDPGothic" pitchFamily="34" charset="-120"/>
              </a:rPr>
              <a:t>3年間で400日以上、実際にそこに住んでいること</a:t>
            </a:r>
            <a:endParaRPr lang="en-US" sz="1600" dirty="0"/>
          </a:p>
        </p:txBody>
      </p:sp>
      <p:sp>
        <p:nvSpPr>
          <p:cNvPr id="8" name="Text 6"/>
          <p:cNvSpPr/>
          <p:nvPr/>
        </p:nvSpPr>
        <p:spPr>
          <a:xfrm>
            <a:off x="594360" y="2286000"/>
            <a:ext cx="7955280" cy="347472"/>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（3年間＝1,095日のうち、少なくとも400日は実際に住む。住民票・電気・水道の使用記録などで確認）</a:t>
            </a:r>
            <a:endParaRPr lang="en-US" sz="1000" dirty="0"/>
          </a:p>
        </p:txBody>
      </p:sp>
      <p:sp>
        <p:nvSpPr>
          <p:cNvPr id="9" name="Shape 7"/>
          <p:cNvSpPr/>
          <p:nvPr/>
        </p:nvSpPr>
        <p:spPr>
          <a:xfrm>
            <a:off x="457200" y="2834640"/>
            <a:ext cx="8229600" cy="896112"/>
          </a:xfrm>
          <a:prstGeom prst="roundRect">
            <a:avLst>
              <a:gd name="adj" fmla="val 8163"/>
            </a:avLst>
          </a:prstGeom>
          <a:solidFill>
            <a:srgbClr val="FCEBEB"/>
          </a:solidFill>
          <a:ln w="12700">
            <a:solidFill>
              <a:srgbClr val="DDE0E6"/>
            </a:solidFill>
            <a:prstDash val="solid"/>
          </a:ln>
        </p:spPr>
      </p:sp>
      <p:sp>
        <p:nvSpPr>
          <p:cNvPr id="10" name="Text 8"/>
          <p:cNvSpPr/>
          <p:nvPr/>
        </p:nvSpPr>
        <p:spPr>
          <a:xfrm>
            <a:off x="594360" y="2926080"/>
            <a:ext cx="795528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400日未満だった場合（ペナルティ）</a:t>
            </a:r>
            <a:endParaRPr lang="en-US" sz="1300" dirty="0"/>
          </a:p>
        </p:txBody>
      </p:sp>
      <p:sp>
        <p:nvSpPr>
          <p:cNvPr id="11" name="Text 9"/>
          <p:cNvSpPr/>
          <p:nvPr/>
        </p:nvSpPr>
        <p:spPr>
          <a:xfrm>
            <a:off x="594360" y="3291840"/>
            <a:ext cx="7955280" cy="3657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罰金・課徴金を払う。ただし部屋の所有自体は続けられる（強制的に売らせるわけではない）</a:t>
            </a:r>
            <a:endParaRPr lang="en-US" sz="1100" dirty="0"/>
          </a:p>
        </p:txBody>
      </p:sp>
      <p:sp>
        <p:nvSpPr>
          <p:cNvPr id="12" name="Shape 10"/>
          <p:cNvSpPr/>
          <p:nvPr/>
        </p:nvSpPr>
        <p:spPr>
          <a:xfrm>
            <a:off x="457200" y="3858768"/>
            <a:ext cx="8229600" cy="896112"/>
          </a:xfrm>
          <a:prstGeom prst="roundRect">
            <a:avLst>
              <a:gd name="adj" fmla="val 8163"/>
            </a:avLst>
          </a:prstGeom>
          <a:solidFill>
            <a:srgbClr val="FFFFFF"/>
          </a:solidFill>
          <a:ln w="12700">
            <a:solidFill>
              <a:srgbClr val="DDE0E6"/>
            </a:solidFill>
            <a:prstDash val="solid"/>
          </a:ln>
        </p:spPr>
      </p:sp>
      <p:sp>
        <p:nvSpPr>
          <p:cNvPr id="13" name="Text 11"/>
          <p:cNvSpPr/>
          <p:nvPr/>
        </p:nvSpPr>
        <p:spPr>
          <a:xfrm>
            <a:off x="594360" y="3950208"/>
            <a:ext cx="7955280" cy="329184"/>
          </a:xfrm>
          <a:prstGeom prst="rect">
            <a:avLst/>
          </a:prstGeom>
          <a:noFill/>
          <a:ln/>
        </p:spPr>
        <p:txBody>
          <a:bodyPr wrap="square" lIns="0" tIns="0" rIns="0" bIns="0" rtlCol="0" anchor="ctr"/>
          <a:lstStyle/>
          <a:p>
            <a:pPr indent="0" marL="0">
              <a:buNone/>
            </a:pPr>
            <a:r>
              <a:rPr lang="en-US" sz="1300" b="1" dirty="0">
                <a:solidFill>
                  <a:srgbClr val="9A6200"/>
                </a:solidFill>
                <a:latin typeface="BIZ UDPGothic" pitchFamily="34" charset="0"/>
                <a:ea typeface="BIZ UDPGothic" pitchFamily="34" charset="-122"/>
                <a:cs typeface="BIZ UDPGothic" pitchFamily="34" charset="-120"/>
              </a:rPr>
              <a:t>海外赴任など「仕方のない理由」がある場合</a:t>
            </a:r>
            <a:endParaRPr lang="en-US" sz="1300" dirty="0"/>
          </a:p>
        </p:txBody>
      </p:sp>
      <p:sp>
        <p:nvSpPr>
          <p:cNvPr id="14" name="Text 12"/>
          <p:cNvSpPr/>
          <p:nvPr/>
        </p:nvSpPr>
        <p:spPr>
          <a:xfrm>
            <a:off x="594360" y="4315968"/>
            <a:ext cx="7955280" cy="3657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申請すれば日数の緩和を認める。ただし連続して何度も申請することはできない（1回限りのルール）</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COMBINED EFFECT</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土地規制＋マンション規制で「二重の防波堤」になる</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どちらか一方だけでは守れない部分を、2つのルールが補い合う仕組みになっている。</a:t>
            </a:r>
            <a:endParaRPr lang="en-US" sz="1100" dirty="0"/>
          </a:p>
        </p:txBody>
      </p:sp>
      <p:sp>
        <p:nvSpPr>
          <p:cNvPr id="6" name="Shape 4"/>
          <p:cNvSpPr/>
          <p:nvPr/>
        </p:nvSpPr>
        <p:spPr>
          <a:xfrm>
            <a:off x="457200" y="1755648"/>
            <a:ext cx="8229600" cy="2743200"/>
          </a:xfrm>
          <a:prstGeom prst="roundRect">
            <a:avLst>
              <a:gd name="adj" fmla="val 2667"/>
            </a:avLst>
          </a:prstGeom>
          <a:solidFill>
            <a:srgbClr val="FFFFFF"/>
          </a:solidFill>
          <a:ln w="12700">
            <a:solidFill>
              <a:srgbClr val="DDE0E6"/>
            </a:solidFill>
            <a:prstDash val="solid"/>
          </a:ln>
        </p:spPr>
      </p:sp>
      <p:sp>
        <p:nvSpPr>
          <p:cNvPr id="7" name="Text 5"/>
          <p:cNvSpPr/>
          <p:nvPr/>
        </p:nvSpPr>
        <p:spPr>
          <a:xfrm>
            <a:off x="594360" y="1883664"/>
            <a:ext cx="7955280" cy="2487168"/>
          </a:xfrm>
          <a:prstGeom prst="rect">
            <a:avLst/>
          </a:prstGeom>
          <a:noFill/>
          <a:ln/>
        </p:spPr>
        <p:txBody>
          <a:bodyPr wrap="square" lIns="0" tIns="0" rIns="0" bIns="0" rtlCol="0" anchor="ctr"/>
          <a:lstStyle/>
          <a:p>
            <a:pPr indent="0" marL="0">
              <a:spcAft>
                <a:spcPts val="800"/>
              </a:spcAft>
              <a:buNone/>
            </a:pPr>
            <a:r>
              <a:rPr lang="en-US" sz="1100" dirty="0">
                <a:solidFill>
                  <a:srgbClr val="2B2F36"/>
                </a:solidFill>
                <a:latin typeface="Arial" pitchFamily="34" charset="0"/>
                <a:ea typeface="BIZ UDPGothic" pitchFamily="34" charset="-122"/>
                <a:cs typeface="BIZ UDPGothic" pitchFamily="34" charset="-120"/>
              </a:rPr>
              <a:t>外国資本は土地を買えない → タワマンを建てたい外国のデベロッパー（開発会社）は土地を「借りる」しかない</a:t>
            </a:r>
            <a:endParaRPr lang="en-US" sz="1100" dirty="0"/>
          </a:p>
          <a:p>
            <a:pPr indent="0" marL="0">
              <a:spcAft>
                <a:spcPts val="200"/>
              </a:spcAft>
              <a:buNone/>
            </a:pPr>
            <a:r>
              <a:rPr lang="en-US" sz="1100" dirty="0">
                <a:solidFill>
                  <a:srgbClr val="2B2F36"/>
                </a:solidFill>
                <a:latin typeface="Arial" pitchFamily="34" charset="0"/>
                <a:ea typeface="BIZ UDPGothic" pitchFamily="34" charset="-122"/>
                <a:cs typeface="BIZ UDPGothic" pitchFamily="34" charset="-120"/>
              </a:rPr>
              <a:t>↓</a:t>
            </a:r>
            <a:endParaRPr lang="en-US" sz="1100" dirty="0"/>
          </a:p>
          <a:p>
            <a:pPr indent="0" marL="0">
              <a:spcAft>
                <a:spcPts val="800"/>
              </a:spcAft>
              <a:buNone/>
            </a:pPr>
            <a:r>
              <a:rPr lang="en-US" sz="1100" dirty="0">
                <a:solidFill>
                  <a:srgbClr val="2B2F36"/>
                </a:solidFill>
                <a:latin typeface="Arial" pitchFamily="34" charset="0"/>
                <a:ea typeface="BIZ UDPGothic" pitchFamily="34" charset="-122"/>
                <a:cs typeface="BIZ UDPGothic" pitchFamily="34" charset="-120"/>
              </a:rPr>
              <a:t>土地を借りているだけなので、地主（日本企業）の方針が変われば「賃料を上げる」「貸さなくなる」リスクが常にある</a:t>
            </a:r>
            <a:endParaRPr lang="en-US" sz="1100" dirty="0"/>
          </a:p>
          <a:p>
            <a:pPr indent="0" marL="0">
              <a:spcAft>
                <a:spcPts val="200"/>
              </a:spcAft>
              <a:buNone/>
            </a:pPr>
            <a:r>
              <a:rPr lang="en-US" sz="1100" dirty="0">
                <a:solidFill>
                  <a:srgbClr val="2B2F36"/>
                </a:solidFill>
                <a:latin typeface="Arial" pitchFamily="34" charset="0"/>
                <a:ea typeface="BIZ UDPGothic" pitchFamily="34" charset="-122"/>
                <a:cs typeface="BIZ UDPGothic" pitchFamily="34" charset="-120"/>
              </a:rPr>
              <a:t>↓</a:t>
            </a:r>
            <a:endParaRPr lang="en-US" sz="1100" dirty="0"/>
          </a:p>
          <a:p>
            <a:pPr indent="0" marL="0">
              <a:spcAft>
                <a:spcPts val="800"/>
              </a:spcAft>
              <a:buNone/>
            </a:pPr>
            <a:r>
              <a:rPr lang="en-US" sz="1100" dirty="0">
                <a:solidFill>
                  <a:srgbClr val="2B2F36"/>
                </a:solidFill>
                <a:latin typeface="Arial" pitchFamily="34" charset="0"/>
                <a:ea typeface="BIZ UDPGothic" pitchFamily="34" charset="-122"/>
                <a:cs typeface="BIZ UDPGothic" pitchFamily="34" charset="-120"/>
              </a:rPr>
              <a:t>「いつ追い出されるかわからない土地」に何百億円もかけてタワマンを建てるのは怖くてできない</a:t>
            </a:r>
            <a:endParaRPr lang="en-US" sz="1100" dirty="0"/>
          </a:p>
          <a:p>
            <a:pPr indent="0" marL="0">
              <a:spcAft>
                <a:spcPts val="800"/>
              </a:spcAft>
              <a:buNone/>
            </a:pPr>
            <a:r>
              <a:rPr lang="en-US" sz="1100" dirty="0">
                <a:solidFill>
                  <a:srgbClr val="2B2F36"/>
                </a:solidFill>
                <a:latin typeface="Arial" pitchFamily="34" charset="0"/>
                <a:ea typeface="BIZ UDPGothic" pitchFamily="34" charset="-122"/>
                <a:cs typeface="BIZ UDPGothic" pitchFamily="34" charset="-120"/>
              </a:rPr>
              <a:t>↓</a:t>
            </a:r>
            <a:endParaRPr lang="en-US" sz="1100" dirty="0"/>
          </a:p>
          <a:p>
            <a:pPr indent="0" marL="0">
              <a:spcAft>
                <a:spcPts val="800"/>
              </a:spcAft>
              <a:buNone/>
            </a:pPr>
            <a:r>
              <a:rPr lang="en-US" sz="1100" dirty="0">
                <a:solidFill>
                  <a:srgbClr val="2B2F36"/>
                </a:solidFill>
                <a:latin typeface="Arial" pitchFamily="34" charset="0"/>
                <a:ea typeface="BIZ UDPGothic" pitchFamily="34" charset="-122"/>
                <a:cs typeface="BIZ UDPGothic" pitchFamily="34" charset="-120"/>
              </a:rPr>
              <a:t>外国資本による大型タワマン開発が自然に抑制される</a:t>
            </a:r>
            <a:endParaRPr lang="en-US" sz="1100" dirty="0"/>
          </a:p>
        </p:txBody>
      </p:sp>
      <p:sp>
        <p:nvSpPr>
          <p:cNvPr id="8" name="Shape 6"/>
          <p:cNvSpPr/>
          <p:nvPr/>
        </p:nvSpPr>
        <p:spPr>
          <a:xfrm>
            <a:off x="457200" y="4626864"/>
            <a:ext cx="8229600" cy="420624"/>
          </a:xfrm>
          <a:prstGeom prst="roundRect">
            <a:avLst>
              <a:gd name="adj" fmla="val 17391"/>
            </a:avLst>
          </a:prstGeom>
          <a:solidFill>
            <a:srgbClr val="E9EFF8"/>
          </a:solidFill>
          <a:ln w="12700">
            <a:solidFill>
              <a:srgbClr val="DDE0E6"/>
            </a:solidFill>
            <a:prstDash val="solid"/>
          </a:ln>
        </p:spPr>
      </p:sp>
      <p:sp>
        <p:nvSpPr>
          <p:cNvPr id="9" name="Text 7"/>
          <p:cNvSpPr/>
          <p:nvPr/>
        </p:nvSpPr>
        <p:spPr>
          <a:xfrm>
            <a:off x="594360" y="4663440"/>
            <a:ext cx="7955280" cy="347472"/>
          </a:xfrm>
          <a:prstGeom prst="rect">
            <a:avLst/>
          </a:prstGeom>
          <a:noFill/>
          <a:ln/>
        </p:spPr>
        <p:txBody>
          <a:bodyPr wrap="square" lIns="0" tIns="0" rIns="0" bIns="0" rtlCol="0" anchor="ctr"/>
          <a:lstStyle/>
          <a:p>
            <a:pPr indent="0" marL="0">
              <a:buNone/>
            </a:pPr>
            <a:r>
              <a:rPr lang="en-US" sz="1100" b="1" dirty="0">
                <a:solidFill>
                  <a:srgbClr val="1D4F91"/>
                </a:solidFill>
                <a:latin typeface="BIZ UDPGothic" pitchFamily="34" charset="0"/>
                <a:ea typeface="BIZ UDPGothic" pitchFamily="34" charset="-122"/>
                <a:cs typeface="BIZ UDPGothic" pitchFamily="34" charset="-120"/>
              </a:rPr>
              <a:t>土地規制で「建てる場所を奪い」、マンション規制で「投資目的の購入を奪う」。2つで住居費高騰を抑える。</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ECONOMIC IMPACT — NEGATIVE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マイナスの影響：新しいマンションが建ちにくくなる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このルールによって、外国のデベロッパーが日本での開発をやめるケースが増える。その結果、マンションの供給が減る可能性がある。</a:t>
            </a:r>
            <a:endParaRPr lang="en-US" sz="1100" dirty="0"/>
          </a:p>
        </p:txBody>
      </p:sp>
      <p:sp>
        <p:nvSpPr>
          <p:cNvPr id="6" name="Shape 4"/>
          <p:cNvSpPr/>
          <p:nvPr/>
        </p:nvSpPr>
        <p:spPr>
          <a:xfrm>
            <a:off x="457200" y="1865376"/>
            <a:ext cx="8229600" cy="1261872"/>
          </a:xfrm>
          <a:prstGeom prst="roundRect">
            <a:avLst>
              <a:gd name="adj" fmla="val 5797"/>
            </a:avLst>
          </a:prstGeom>
          <a:solidFill>
            <a:srgbClr val="FFFFFF"/>
          </a:solidFill>
          <a:ln w="12700">
            <a:solidFill>
              <a:srgbClr val="DDE0E6"/>
            </a:solidFill>
            <a:prstDash val="solid"/>
          </a:ln>
        </p:spPr>
      </p:sp>
      <p:sp>
        <p:nvSpPr>
          <p:cNvPr id="7" name="Shape 5"/>
          <p:cNvSpPr/>
          <p:nvPr/>
        </p:nvSpPr>
        <p:spPr>
          <a:xfrm>
            <a:off x="594360" y="2212848"/>
            <a:ext cx="1828800" cy="475488"/>
          </a:xfrm>
          <a:prstGeom prst="roundRect">
            <a:avLst>
              <a:gd name="adj" fmla="val 11538"/>
            </a:avLst>
          </a:prstGeom>
          <a:solidFill>
            <a:srgbClr val="C8161D"/>
          </a:solidFill>
          <a:ln w="12700">
            <a:solidFill>
              <a:srgbClr val="C8161D"/>
            </a:solidFill>
            <a:prstDash val="solid"/>
          </a:ln>
        </p:spPr>
      </p:sp>
      <p:sp>
        <p:nvSpPr>
          <p:cNvPr id="8" name="Text 6"/>
          <p:cNvSpPr/>
          <p:nvPr/>
        </p:nvSpPr>
        <p:spPr>
          <a:xfrm>
            <a:off x="594360" y="2212848"/>
            <a:ext cx="18288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保守的な試算</a:t>
            </a:r>
            <a:endParaRPr lang="en-US" sz="1100" dirty="0"/>
          </a:p>
        </p:txBody>
      </p:sp>
      <p:sp>
        <p:nvSpPr>
          <p:cNvPr id="9" name="Text 7"/>
          <p:cNvSpPr/>
          <p:nvPr/>
        </p:nvSpPr>
        <p:spPr>
          <a:xfrm>
            <a:off x="2578608" y="1993392"/>
            <a:ext cx="5943600" cy="100584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都心の高額帯（2億円以上のマンション）で外資系の開発が1〜2割ほど減る。ただし都心全体の新築供給への影響は約△1.5〜3%程度に留まる</a:t>
            </a:r>
            <a:endParaRPr lang="en-US" sz="1100" dirty="0"/>
          </a:p>
        </p:txBody>
      </p:sp>
      <p:sp>
        <p:nvSpPr>
          <p:cNvPr id="10" name="Shape 8"/>
          <p:cNvSpPr/>
          <p:nvPr/>
        </p:nvSpPr>
        <p:spPr>
          <a:xfrm>
            <a:off x="457200" y="3291840"/>
            <a:ext cx="8229600" cy="1261872"/>
          </a:xfrm>
          <a:prstGeom prst="roundRect">
            <a:avLst>
              <a:gd name="adj" fmla="val 5797"/>
            </a:avLst>
          </a:prstGeom>
          <a:solidFill>
            <a:srgbClr val="E9EFF8"/>
          </a:solidFill>
          <a:ln w="12700">
            <a:solidFill>
              <a:srgbClr val="DDE0E6"/>
            </a:solidFill>
            <a:prstDash val="solid"/>
          </a:ln>
        </p:spPr>
      </p:sp>
      <p:sp>
        <p:nvSpPr>
          <p:cNvPr id="11" name="Shape 9"/>
          <p:cNvSpPr/>
          <p:nvPr/>
        </p:nvSpPr>
        <p:spPr>
          <a:xfrm>
            <a:off x="594360" y="3639312"/>
            <a:ext cx="1828800" cy="475488"/>
          </a:xfrm>
          <a:prstGeom prst="roundRect">
            <a:avLst>
              <a:gd name="adj" fmla="val 11538"/>
            </a:avLst>
          </a:prstGeom>
          <a:solidFill>
            <a:srgbClr val="C8161D"/>
          </a:solidFill>
          <a:ln w="12700">
            <a:solidFill>
              <a:srgbClr val="C8161D"/>
            </a:solidFill>
            <a:prstDash val="solid"/>
          </a:ln>
        </p:spPr>
      </p:sp>
      <p:sp>
        <p:nvSpPr>
          <p:cNvPr id="12" name="Text 10"/>
          <p:cNvSpPr/>
          <p:nvPr/>
        </p:nvSpPr>
        <p:spPr>
          <a:xfrm>
            <a:off x="594360" y="3639312"/>
            <a:ext cx="18288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楽観的な試算</a:t>
            </a:r>
            <a:endParaRPr lang="en-US" sz="1100" dirty="0"/>
          </a:p>
        </p:txBody>
      </p:sp>
      <p:sp>
        <p:nvSpPr>
          <p:cNvPr id="13" name="Text 11"/>
          <p:cNvSpPr/>
          <p:nvPr/>
        </p:nvSpPr>
        <p:spPr>
          <a:xfrm>
            <a:off x="2578608" y="3419856"/>
            <a:ext cx="5943600" cy="100584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外資の撤退は少なく、日本のデベロッパーが代わりに開発を引き継ぐ。全体への影響はほぼ誤差の範囲（△1%未満）</a:t>
            </a:r>
            <a:endParaRPr lang="en-US" sz="1100" dirty="0"/>
          </a:p>
        </p:txBody>
      </p:sp>
      <p:sp>
        <p:nvSpPr>
          <p:cNvPr id="14" name="Shape 12"/>
          <p:cNvSpPr/>
          <p:nvPr/>
        </p:nvSpPr>
        <p:spPr>
          <a:xfrm>
            <a:off x="457200" y="4809744"/>
            <a:ext cx="8229600" cy="274320"/>
          </a:xfrm>
          <a:prstGeom prst="roundRect">
            <a:avLst>
              <a:gd name="adj" fmla="val 26667"/>
            </a:avLst>
          </a:prstGeom>
          <a:solidFill>
            <a:srgbClr val="FFF4DB"/>
          </a:solidFill>
          <a:ln w="12700">
            <a:solidFill>
              <a:srgbClr val="DDE0E6"/>
            </a:solidFill>
            <a:prstDash val="solid"/>
          </a:ln>
        </p:spPr>
      </p:sp>
      <p:sp>
        <p:nvSpPr>
          <p:cNvPr id="15" name="Text 13"/>
          <p:cNvSpPr/>
          <p:nvPr/>
        </p:nvSpPr>
        <p:spPr>
          <a:xfrm>
            <a:off x="594360" y="4828032"/>
            <a:ext cx="7955280" cy="237744"/>
          </a:xfrm>
          <a:prstGeom prst="rect">
            <a:avLst/>
          </a:prstGeom>
          <a:noFill/>
          <a:ln/>
        </p:spPr>
        <p:txBody>
          <a:bodyPr wrap="square" lIns="0" tIns="0" rIns="0" bIns="0" rtlCol="0" anchor="ctr"/>
          <a:lstStyle/>
          <a:p>
            <a:pPr indent="0" marL="0">
              <a:buNone/>
            </a:pPr>
            <a:r>
              <a:rPr lang="en-US" sz="1000" dirty="0">
                <a:solidFill>
                  <a:srgbClr val="9A6200"/>
                </a:solidFill>
                <a:latin typeface="Arial" pitchFamily="34" charset="0"/>
                <a:ea typeface="BIZ UDPGothic" pitchFamily="34" charset="-122"/>
                <a:cs typeface="BIZ UDPGothic" pitchFamily="34" charset="-120"/>
              </a:rPr>
              <a:t>注意：供給が減ると「希少性」が上がってかえって価格が上がる可能性もある。試算には不確実性が伴う。</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ECONOMIC IMPACT — POSITIVE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プラスの影響：マンション価格が下がり日本人が買いやすくなる</a:t>
            </a:r>
            <a:endParaRPr lang="en-US" sz="22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外国の投資マネーが市場から退くことで、高騰していた価格が落ち着く効果が期待できる。</a:t>
            </a:r>
            <a:endParaRPr lang="en-US" sz="1100" dirty="0"/>
          </a:p>
        </p:txBody>
      </p:sp>
      <p:sp>
        <p:nvSpPr>
          <p:cNvPr id="6" name="Shape 4"/>
          <p:cNvSpPr/>
          <p:nvPr/>
        </p:nvSpPr>
        <p:spPr>
          <a:xfrm>
            <a:off x="457200" y="1865376"/>
            <a:ext cx="8229600" cy="1261872"/>
          </a:xfrm>
          <a:prstGeom prst="roundRect">
            <a:avLst>
              <a:gd name="adj" fmla="val 5797"/>
            </a:avLst>
          </a:prstGeom>
          <a:solidFill>
            <a:srgbClr val="FFFFFF"/>
          </a:solidFill>
          <a:ln w="12700">
            <a:solidFill>
              <a:srgbClr val="DDE0E6"/>
            </a:solidFill>
            <a:prstDash val="solid"/>
          </a:ln>
        </p:spPr>
      </p:sp>
      <p:sp>
        <p:nvSpPr>
          <p:cNvPr id="7" name="Shape 5"/>
          <p:cNvSpPr/>
          <p:nvPr/>
        </p:nvSpPr>
        <p:spPr>
          <a:xfrm>
            <a:off x="594360" y="2212848"/>
            <a:ext cx="1828800" cy="475488"/>
          </a:xfrm>
          <a:prstGeom prst="roundRect">
            <a:avLst>
              <a:gd name="adj" fmla="val 11538"/>
            </a:avLst>
          </a:prstGeom>
          <a:solidFill>
            <a:srgbClr val="C8161D"/>
          </a:solidFill>
          <a:ln w="12700">
            <a:solidFill>
              <a:srgbClr val="C8161D"/>
            </a:solidFill>
            <a:prstDash val="solid"/>
          </a:ln>
        </p:spPr>
      </p:sp>
      <p:sp>
        <p:nvSpPr>
          <p:cNvPr id="8" name="Text 6"/>
          <p:cNvSpPr/>
          <p:nvPr/>
        </p:nvSpPr>
        <p:spPr>
          <a:xfrm>
            <a:off x="594360" y="2212848"/>
            <a:ext cx="18288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保守的な試算</a:t>
            </a:r>
            <a:endParaRPr lang="en-US" sz="1100" dirty="0"/>
          </a:p>
        </p:txBody>
      </p:sp>
      <p:sp>
        <p:nvSpPr>
          <p:cNvPr id="9" name="Text 7"/>
          <p:cNvSpPr/>
          <p:nvPr/>
        </p:nvSpPr>
        <p:spPr>
          <a:xfrm>
            <a:off x="2578608" y="1993392"/>
            <a:ext cx="5943600" cy="100584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価格の上がり方が「少し遅くなる」程度。都心の高額マンションで年間の上昇率が1〜2%ポイント鈍化する。完全に止まるわけではないが、過熱を抑える効果はある</a:t>
            </a:r>
            <a:endParaRPr lang="en-US" sz="1100" dirty="0"/>
          </a:p>
        </p:txBody>
      </p:sp>
      <p:sp>
        <p:nvSpPr>
          <p:cNvPr id="10" name="Shape 8"/>
          <p:cNvSpPr/>
          <p:nvPr/>
        </p:nvSpPr>
        <p:spPr>
          <a:xfrm>
            <a:off x="457200" y="3291840"/>
            <a:ext cx="8229600" cy="1261872"/>
          </a:xfrm>
          <a:prstGeom prst="roundRect">
            <a:avLst>
              <a:gd name="adj" fmla="val 5797"/>
            </a:avLst>
          </a:prstGeom>
          <a:solidFill>
            <a:srgbClr val="E9EFF8"/>
          </a:solidFill>
          <a:ln w="12700">
            <a:solidFill>
              <a:srgbClr val="DDE0E6"/>
            </a:solidFill>
            <a:prstDash val="solid"/>
          </a:ln>
        </p:spPr>
      </p:sp>
      <p:sp>
        <p:nvSpPr>
          <p:cNvPr id="11" name="Shape 9"/>
          <p:cNvSpPr/>
          <p:nvPr/>
        </p:nvSpPr>
        <p:spPr>
          <a:xfrm>
            <a:off x="594360" y="3639312"/>
            <a:ext cx="1828800" cy="475488"/>
          </a:xfrm>
          <a:prstGeom prst="roundRect">
            <a:avLst>
              <a:gd name="adj" fmla="val 11538"/>
            </a:avLst>
          </a:prstGeom>
          <a:solidFill>
            <a:srgbClr val="C8161D"/>
          </a:solidFill>
          <a:ln w="12700">
            <a:solidFill>
              <a:srgbClr val="C8161D"/>
            </a:solidFill>
            <a:prstDash val="solid"/>
          </a:ln>
        </p:spPr>
      </p:sp>
      <p:sp>
        <p:nvSpPr>
          <p:cNvPr id="12" name="Text 10"/>
          <p:cNvSpPr/>
          <p:nvPr/>
        </p:nvSpPr>
        <p:spPr>
          <a:xfrm>
            <a:off x="594360" y="3639312"/>
            <a:ext cx="18288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楽観的な試算</a:t>
            </a:r>
            <a:endParaRPr lang="en-US" sz="1100" dirty="0"/>
          </a:p>
        </p:txBody>
      </p:sp>
      <p:sp>
        <p:nvSpPr>
          <p:cNvPr id="13" name="Text 11"/>
          <p:cNvSpPr/>
          <p:nvPr/>
        </p:nvSpPr>
        <p:spPr>
          <a:xfrm>
            <a:off x="2578608" y="3419856"/>
            <a:ext cx="5943600" cy="100584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投資マネーが大きく引いた場合、都心の高額マンションの価格が5〜10%程度下落する可能性がある。その影響が周辺の相場にも波及し、日本人にとって買いやすい水準に近づく</a:t>
            </a:r>
            <a:endParaRPr lang="en-US" sz="1100" dirty="0"/>
          </a:p>
        </p:txBody>
      </p:sp>
      <p:sp>
        <p:nvSpPr>
          <p:cNvPr id="14" name="Shape 12"/>
          <p:cNvSpPr/>
          <p:nvPr/>
        </p:nvSpPr>
        <p:spPr>
          <a:xfrm>
            <a:off x="457200" y="4809744"/>
            <a:ext cx="8229600" cy="274320"/>
          </a:xfrm>
          <a:prstGeom prst="roundRect">
            <a:avLst>
              <a:gd name="adj" fmla="val 26667"/>
            </a:avLst>
          </a:prstGeom>
          <a:solidFill>
            <a:srgbClr val="FFFFFF"/>
          </a:solidFill>
          <a:ln w="12700">
            <a:solidFill>
              <a:srgbClr val="DDE0E6"/>
            </a:solidFill>
            <a:prstDash val="solid"/>
          </a:ln>
        </p:spPr>
      </p:sp>
      <p:sp>
        <p:nvSpPr>
          <p:cNvPr id="15" name="Text 13"/>
          <p:cNvSpPr/>
          <p:nvPr/>
        </p:nvSpPr>
        <p:spPr>
          <a:xfrm>
            <a:off x="594360" y="4828032"/>
            <a:ext cx="7955280" cy="237744"/>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一般的な価格帯（1億円未満）のマンションへの影響は、もともと外国人購入割合が数%程度のため限定的</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ECONOMIC IMPACT — BALANCE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経済効果のバランス：正直な整理</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マイナスとプラスの両方が存在する。どちらが大きいかは状況次第で、完全な答えは今の段階では出せない。</a:t>
            </a:r>
            <a:endParaRPr lang="en-US" sz="1100" dirty="0"/>
          </a:p>
        </p:txBody>
      </p:sp>
      <p:sp>
        <p:nvSpPr>
          <p:cNvPr id="6" name="Shape 4"/>
          <p:cNvSpPr/>
          <p:nvPr/>
        </p:nvSpPr>
        <p:spPr>
          <a:xfrm>
            <a:off x="457200" y="1755648"/>
            <a:ext cx="2926080" cy="438912"/>
          </a:xfrm>
          <a:prstGeom prst="roundRect">
            <a:avLst>
              <a:gd name="adj" fmla="val 16667"/>
            </a:avLst>
          </a:prstGeom>
          <a:solidFill>
            <a:srgbClr val="DDE0E6"/>
          </a:solidFill>
          <a:ln w="12700">
            <a:solidFill>
              <a:srgbClr val="DDE0E6"/>
            </a:solidFill>
            <a:prstDash val="solid"/>
          </a:ln>
        </p:spPr>
      </p:sp>
      <p:sp>
        <p:nvSpPr>
          <p:cNvPr id="7" name="Shape 5"/>
          <p:cNvSpPr/>
          <p:nvPr/>
        </p:nvSpPr>
        <p:spPr>
          <a:xfrm>
            <a:off x="3474720" y="1755648"/>
            <a:ext cx="2560320" cy="438912"/>
          </a:xfrm>
          <a:prstGeom prst="roundRect">
            <a:avLst>
              <a:gd name="adj" fmla="val 16667"/>
            </a:avLst>
          </a:prstGeom>
          <a:solidFill>
            <a:srgbClr val="DDE0E6"/>
          </a:solidFill>
          <a:ln w="12700">
            <a:solidFill>
              <a:srgbClr val="DDE0E6"/>
            </a:solidFill>
            <a:prstDash val="solid"/>
          </a:ln>
        </p:spPr>
      </p:sp>
      <p:sp>
        <p:nvSpPr>
          <p:cNvPr id="8" name="Text 6"/>
          <p:cNvSpPr/>
          <p:nvPr/>
        </p:nvSpPr>
        <p:spPr>
          <a:xfrm>
            <a:off x="3474720" y="1755648"/>
            <a:ext cx="2560320" cy="438912"/>
          </a:xfrm>
          <a:prstGeom prst="rect">
            <a:avLst/>
          </a:prstGeom>
          <a:noFill/>
          <a:ln/>
        </p:spPr>
        <p:txBody>
          <a:bodyPr wrap="square" lIns="0" tIns="0" rIns="0" bIns="0" rtlCol="0" anchor="ctr"/>
          <a:lstStyle/>
          <a:p>
            <a:pPr algn="ctr" indent="0" marL="0">
              <a:buNone/>
            </a:pPr>
            <a:r>
              <a:rPr lang="en-US" sz="1100" b="1" dirty="0">
                <a:solidFill>
                  <a:srgbClr val="16181D"/>
                </a:solidFill>
                <a:latin typeface="BIZ UDPGothic" pitchFamily="34" charset="0"/>
                <a:ea typeface="BIZ UDPGothic" pitchFamily="34" charset="-122"/>
                <a:cs typeface="BIZ UDPGothic" pitchFamily="34" charset="-120"/>
              </a:rPr>
              <a:t>保守的なシナリオ</a:t>
            </a:r>
            <a:endParaRPr lang="en-US" sz="1100" dirty="0"/>
          </a:p>
        </p:txBody>
      </p:sp>
      <p:sp>
        <p:nvSpPr>
          <p:cNvPr id="9" name="Shape 7"/>
          <p:cNvSpPr/>
          <p:nvPr/>
        </p:nvSpPr>
        <p:spPr>
          <a:xfrm>
            <a:off x="6126480" y="1755648"/>
            <a:ext cx="2560320" cy="438912"/>
          </a:xfrm>
          <a:prstGeom prst="roundRect">
            <a:avLst>
              <a:gd name="adj" fmla="val 16667"/>
            </a:avLst>
          </a:prstGeom>
          <a:solidFill>
            <a:srgbClr val="DDE0E6"/>
          </a:solidFill>
          <a:ln w="12700">
            <a:solidFill>
              <a:srgbClr val="DDE0E6"/>
            </a:solidFill>
            <a:prstDash val="solid"/>
          </a:ln>
        </p:spPr>
      </p:sp>
      <p:sp>
        <p:nvSpPr>
          <p:cNvPr id="10" name="Text 8"/>
          <p:cNvSpPr/>
          <p:nvPr/>
        </p:nvSpPr>
        <p:spPr>
          <a:xfrm>
            <a:off x="6126480" y="1755648"/>
            <a:ext cx="2560320" cy="438912"/>
          </a:xfrm>
          <a:prstGeom prst="rect">
            <a:avLst/>
          </a:prstGeom>
          <a:noFill/>
          <a:ln/>
        </p:spPr>
        <p:txBody>
          <a:bodyPr wrap="square" lIns="0" tIns="0" rIns="0" bIns="0" rtlCol="0" anchor="ctr"/>
          <a:lstStyle/>
          <a:p>
            <a:pPr algn="ctr" indent="0" marL="0">
              <a:buNone/>
            </a:pPr>
            <a:r>
              <a:rPr lang="en-US" sz="1100" b="1" dirty="0">
                <a:solidFill>
                  <a:srgbClr val="16181D"/>
                </a:solidFill>
                <a:latin typeface="BIZ UDPGothic" pitchFamily="34" charset="0"/>
                <a:ea typeface="BIZ UDPGothic" pitchFamily="34" charset="-122"/>
                <a:cs typeface="BIZ UDPGothic" pitchFamily="34" charset="-120"/>
              </a:rPr>
              <a:t>楽観的なシナリオ</a:t>
            </a:r>
            <a:endParaRPr lang="en-US" sz="1100" dirty="0"/>
          </a:p>
        </p:txBody>
      </p:sp>
      <p:sp>
        <p:nvSpPr>
          <p:cNvPr id="11" name="Shape 9"/>
          <p:cNvSpPr/>
          <p:nvPr/>
        </p:nvSpPr>
        <p:spPr>
          <a:xfrm>
            <a:off x="457200" y="2286000"/>
            <a:ext cx="2926080" cy="768096"/>
          </a:xfrm>
          <a:prstGeom prst="roundRect">
            <a:avLst>
              <a:gd name="adj" fmla="val 9524"/>
            </a:avLst>
          </a:prstGeom>
          <a:solidFill>
            <a:srgbClr val="FFFFFF"/>
          </a:solidFill>
          <a:ln w="12700">
            <a:solidFill>
              <a:srgbClr val="DDE0E6"/>
            </a:solidFill>
            <a:prstDash val="solid"/>
          </a:ln>
        </p:spPr>
      </p:sp>
      <p:sp>
        <p:nvSpPr>
          <p:cNvPr id="12" name="Text 10"/>
          <p:cNvSpPr/>
          <p:nvPr/>
        </p:nvSpPr>
        <p:spPr>
          <a:xfrm>
            <a:off x="548640" y="2286000"/>
            <a:ext cx="2743200" cy="768096"/>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新しいマンションの供給</a:t>
            </a:r>
            <a:endParaRPr lang="en-US" sz="1000" dirty="0"/>
          </a:p>
        </p:txBody>
      </p:sp>
      <p:sp>
        <p:nvSpPr>
          <p:cNvPr id="13" name="Shape 11"/>
          <p:cNvSpPr/>
          <p:nvPr/>
        </p:nvSpPr>
        <p:spPr>
          <a:xfrm>
            <a:off x="3474720" y="2286000"/>
            <a:ext cx="2560320" cy="768096"/>
          </a:xfrm>
          <a:prstGeom prst="roundRect">
            <a:avLst>
              <a:gd name="adj" fmla="val 9524"/>
            </a:avLst>
          </a:prstGeom>
          <a:solidFill>
            <a:srgbClr val="FFFFFF"/>
          </a:solidFill>
          <a:ln w="12700">
            <a:solidFill>
              <a:srgbClr val="DDE0E6"/>
            </a:solidFill>
            <a:prstDash val="solid"/>
          </a:ln>
        </p:spPr>
      </p:sp>
      <p:sp>
        <p:nvSpPr>
          <p:cNvPr id="14" name="Text 12"/>
          <p:cNvSpPr/>
          <p:nvPr/>
        </p:nvSpPr>
        <p:spPr>
          <a:xfrm>
            <a:off x="3566160" y="2286000"/>
            <a:ext cx="2377440" cy="7680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都心高額帯で1〜2割減（全体では△1.5〜3%）</a:t>
            </a:r>
            <a:endParaRPr lang="en-US" sz="1000" dirty="0"/>
          </a:p>
        </p:txBody>
      </p:sp>
      <p:sp>
        <p:nvSpPr>
          <p:cNvPr id="15" name="Shape 13"/>
          <p:cNvSpPr/>
          <p:nvPr/>
        </p:nvSpPr>
        <p:spPr>
          <a:xfrm>
            <a:off x="6126480" y="2286000"/>
            <a:ext cx="2560320" cy="768096"/>
          </a:xfrm>
          <a:prstGeom prst="roundRect">
            <a:avLst>
              <a:gd name="adj" fmla="val 9524"/>
            </a:avLst>
          </a:prstGeom>
          <a:solidFill>
            <a:srgbClr val="E9EFF8"/>
          </a:solidFill>
          <a:ln w="12700">
            <a:solidFill>
              <a:srgbClr val="DDE0E6"/>
            </a:solidFill>
            <a:prstDash val="solid"/>
          </a:ln>
        </p:spPr>
      </p:sp>
      <p:sp>
        <p:nvSpPr>
          <p:cNvPr id="16" name="Text 14"/>
          <p:cNvSpPr/>
          <p:nvPr/>
        </p:nvSpPr>
        <p:spPr>
          <a:xfrm>
            <a:off x="6217920" y="2286000"/>
            <a:ext cx="2377440" cy="7680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ほぼ誤差の範囲</a:t>
            </a:r>
            <a:endParaRPr lang="en-US" sz="1000" dirty="0"/>
          </a:p>
        </p:txBody>
      </p:sp>
      <p:sp>
        <p:nvSpPr>
          <p:cNvPr id="17" name="Shape 15"/>
          <p:cNvSpPr/>
          <p:nvPr/>
        </p:nvSpPr>
        <p:spPr>
          <a:xfrm>
            <a:off x="457200" y="3145536"/>
            <a:ext cx="2926080" cy="768096"/>
          </a:xfrm>
          <a:prstGeom prst="roundRect">
            <a:avLst>
              <a:gd name="adj" fmla="val 9524"/>
            </a:avLst>
          </a:prstGeom>
          <a:solidFill>
            <a:srgbClr val="FFFFFF"/>
          </a:solidFill>
          <a:ln w="12700">
            <a:solidFill>
              <a:srgbClr val="DDE0E6"/>
            </a:solidFill>
            <a:prstDash val="solid"/>
          </a:ln>
        </p:spPr>
      </p:sp>
      <p:sp>
        <p:nvSpPr>
          <p:cNvPr id="18" name="Text 16"/>
          <p:cNvSpPr/>
          <p:nvPr/>
        </p:nvSpPr>
        <p:spPr>
          <a:xfrm>
            <a:off x="548640" y="3145536"/>
            <a:ext cx="2743200" cy="768096"/>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マンション価格への影響</a:t>
            </a:r>
            <a:endParaRPr lang="en-US" sz="1000" dirty="0"/>
          </a:p>
        </p:txBody>
      </p:sp>
      <p:sp>
        <p:nvSpPr>
          <p:cNvPr id="19" name="Shape 17"/>
          <p:cNvSpPr/>
          <p:nvPr/>
        </p:nvSpPr>
        <p:spPr>
          <a:xfrm>
            <a:off x="3474720" y="3145536"/>
            <a:ext cx="2560320" cy="768096"/>
          </a:xfrm>
          <a:prstGeom prst="roundRect">
            <a:avLst>
              <a:gd name="adj" fmla="val 9524"/>
            </a:avLst>
          </a:prstGeom>
          <a:solidFill>
            <a:srgbClr val="FFFFFF"/>
          </a:solidFill>
          <a:ln w="12700">
            <a:solidFill>
              <a:srgbClr val="DDE0E6"/>
            </a:solidFill>
            <a:prstDash val="solid"/>
          </a:ln>
        </p:spPr>
      </p:sp>
      <p:sp>
        <p:nvSpPr>
          <p:cNvPr id="20" name="Text 18"/>
          <p:cNvSpPr/>
          <p:nvPr/>
        </p:nvSpPr>
        <p:spPr>
          <a:xfrm>
            <a:off x="3566160" y="3145536"/>
            <a:ext cx="2377440" cy="7680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都心高額帯の上昇が年1〜2%ポイント鈍化</a:t>
            </a:r>
            <a:endParaRPr lang="en-US" sz="1000" dirty="0"/>
          </a:p>
        </p:txBody>
      </p:sp>
      <p:sp>
        <p:nvSpPr>
          <p:cNvPr id="21" name="Shape 19"/>
          <p:cNvSpPr/>
          <p:nvPr/>
        </p:nvSpPr>
        <p:spPr>
          <a:xfrm>
            <a:off x="6126480" y="3145536"/>
            <a:ext cx="2560320" cy="768096"/>
          </a:xfrm>
          <a:prstGeom prst="roundRect">
            <a:avLst>
              <a:gd name="adj" fmla="val 9524"/>
            </a:avLst>
          </a:prstGeom>
          <a:solidFill>
            <a:srgbClr val="E9EFF8"/>
          </a:solidFill>
          <a:ln w="12700">
            <a:solidFill>
              <a:srgbClr val="DDE0E6"/>
            </a:solidFill>
            <a:prstDash val="solid"/>
          </a:ln>
        </p:spPr>
      </p:sp>
      <p:sp>
        <p:nvSpPr>
          <p:cNvPr id="22" name="Text 20"/>
          <p:cNvSpPr/>
          <p:nvPr/>
        </p:nvSpPr>
        <p:spPr>
          <a:xfrm>
            <a:off x="6217920" y="3145536"/>
            <a:ext cx="2377440" cy="7680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都心高額帯で5〜10%の価格下落</a:t>
            </a:r>
            <a:endParaRPr lang="en-US" sz="1000" dirty="0"/>
          </a:p>
        </p:txBody>
      </p:sp>
      <p:sp>
        <p:nvSpPr>
          <p:cNvPr id="23" name="Shape 21"/>
          <p:cNvSpPr/>
          <p:nvPr/>
        </p:nvSpPr>
        <p:spPr>
          <a:xfrm>
            <a:off x="457200" y="4005072"/>
            <a:ext cx="2926080" cy="768096"/>
          </a:xfrm>
          <a:prstGeom prst="roundRect">
            <a:avLst>
              <a:gd name="adj" fmla="val 9524"/>
            </a:avLst>
          </a:prstGeom>
          <a:solidFill>
            <a:srgbClr val="FFFFFF"/>
          </a:solidFill>
          <a:ln w="12700">
            <a:solidFill>
              <a:srgbClr val="DDE0E6"/>
            </a:solidFill>
            <a:prstDash val="solid"/>
          </a:ln>
        </p:spPr>
      </p:sp>
      <p:sp>
        <p:nvSpPr>
          <p:cNvPr id="24" name="Text 22"/>
          <p:cNvSpPr/>
          <p:nvPr/>
        </p:nvSpPr>
        <p:spPr>
          <a:xfrm>
            <a:off x="548640" y="4005072"/>
            <a:ext cx="2743200" cy="768096"/>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日本人の買いやすさ</a:t>
            </a:r>
            <a:endParaRPr lang="en-US" sz="1000" dirty="0"/>
          </a:p>
        </p:txBody>
      </p:sp>
      <p:sp>
        <p:nvSpPr>
          <p:cNvPr id="25" name="Shape 23"/>
          <p:cNvSpPr/>
          <p:nvPr/>
        </p:nvSpPr>
        <p:spPr>
          <a:xfrm>
            <a:off x="3474720" y="4005072"/>
            <a:ext cx="2560320" cy="768096"/>
          </a:xfrm>
          <a:prstGeom prst="roundRect">
            <a:avLst>
              <a:gd name="adj" fmla="val 9524"/>
            </a:avLst>
          </a:prstGeom>
          <a:solidFill>
            <a:srgbClr val="FFFFFF"/>
          </a:solidFill>
          <a:ln w="12700">
            <a:solidFill>
              <a:srgbClr val="DDE0E6"/>
            </a:solidFill>
            <a:prstDash val="solid"/>
          </a:ln>
        </p:spPr>
      </p:sp>
      <p:sp>
        <p:nvSpPr>
          <p:cNvPr id="26" name="Text 24"/>
          <p:cNvSpPr/>
          <p:nvPr/>
        </p:nvSpPr>
        <p:spPr>
          <a:xfrm>
            <a:off x="3566160" y="4005072"/>
            <a:ext cx="2377440" cy="7680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高額帯で少し改善</a:t>
            </a:r>
            <a:endParaRPr lang="en-US" sz="1000" dirty="0"/>
          </a:p>
        </p:txBody>
      </p:sp>
      <p:sp>
        <p:nvSpPr>
          <p:cNvPr id="27" name="Shape 25"/>
          <p:cNvSpPr/>
          <p:nvPr/>
        </p:nvSpPr>
        <p:spPr>
          <a:xfrm>
            <a:off x="6126480" y="4005072"/>
            <a:ext cx="2560320" cy="768096"/>
          </a:xfrm>
          <a:prstGeom prst="roundRect">
            <a:avLst>
              <a:gd name="adj" fmla="val 9524"/>
            </a:avLst>
          </a:prstGeom>
          <a:solidFill>
            <a:srgbClr val="E9EFF8"/>
          </a:solidFill>
          <a:ln w="12700">
            <a:solidFill>
              <a:srgbClr val="DDE0E6"/>
            </a:solidFill>
            <a:prstDash val="solid"/>
          </a:ln>
        </p:spPr>
      </p:sp>
      <p:sp>
        <p:nvSpPr>
          <p:cNvPr id="28" name="Text 26"/>
          <p:cNvSpPr/>
          <p:nvPr/>
        </p:nvSpPr>
        <p:spPr>
          <a:xfrm>
            <a:off x="6217920" y="4005072"/>
            <a:ext cx="2377440" cy="76809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都心高額帯で明確に改善。一般層にも一部波及</a:t>
            </a:r>
            <a:endParaRPr lang="en-US" sz="1000" dirty="0"/>
          </a:p>
        </p:txBody>
      </p:sp>
      <p:sp>
        <p:nvSpPr>
          <p:cNvPr id="29" name="Shape 27"/>
          <p:cNvSpPr/>
          <p:nvPr/>
        </p:nvSpPr>
        <p:spPr>
          <a:xfrm>
            <a:off x="457200" y="4901184"/>
            <a:ext cx="8229600" cy="182880"/>
          </a:xfrm>
          <a:prstGeom prst="roundRect">
            <a:avLst>
              <a:gd name="adj" fmla="val 40000"/>
            </a:avLst>
          </a:prstGeom>
          <a:solidFill>
            <a:srgbClr val="FFF4DB"/>
          </a:solidFill>
          <a:ln w="12700">
            <a:solidFill>
              <a:srgbClr val="DDE0E6"/>
            </a:solidFill>
            <a:prstDash val="solid"/>
          </a:ln>
        </p:spPr>
      </p:sp>
      <p:sp>
        <p:nvSpPr>
          <p:cNvPr id="30" name="Text 28"/>
          <p:cNvSpPr/>
          <p:nvPr/>
        </p:nvSpPr>
        <p:spPr>
          <a:xfrm>
            <a:off x="594360" y="4919472"/>
            <a:ext cx="7955280" cy="146304"/>
          </a:xfrm>
          <a:prstGeom prst="rect">
            <a:avLst/>
          </a:prstGeom>
          <a:noFill/>
          <a:ln/>
        </p:spPr>
        <p:txBody>
          <a:bodyPr wrap="square" lIns="0" tIns="0" rIns="0" bIns="0" rtlCol="0" anchor="ctr"/>
          <a:lstStyle/>
          <a:p>
            <a:pPr indent="0" marL="0">
              <a:buNone/>
            </a:pPr>
            <a:r>
              <a:rPr lang="en-US" sz="900" dirty="0">
                <a:solidFill>
                  <a:srgbClr val="9A6200"/>
                </a:solidFill>
                <a:latin typeface="Arial" pitchFamily="34" charset="0"/>
                <a:ea typeface="BIZ UDPGothic" pitchFamily="34" charset="-122"/>
                <a:cs typeface="BIZ UDPGothic" pitchFamily="34" charset="-120"/>
              </a:rPr>
              <a:t>データの制限：外国人取得割合の公的統計は2025年に整備が始まったばかり。試算の精度には限界がある。</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OUTCOME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この提言で何が変わるか：3つの効果</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1024128"/>
          </a:xfrm>
          <a:prstGeom prst="roundRect">
            <a:avLst>
              <a:gd name="adj" fmla="val 7143"/>
            </a:avLst>
          </a:prstGeom>
          <a:solidFill>
            <a:srgbClr val="FFFFFF"/>
          </a:solidFill>
          <a:ln w="12700">
            <a:solidFill>
              <a:srgbClr val="DDE0E6"/>
            </a:solidFill>
            <a:prstDash val="solid"/>
          </a:ln>
        </p:spPr>
      </p:sp>
      <p:sp>
        <p:nvSpPr>
          <p:cNvPr id="6" name="Shape 4"/>
          <p:cNvSpPr/>
          <p:nvPr/>
        </p:nvSpPr>
        <p:spPr>
          <a:xfrm>
            <a:off x="594360" y="1609344"/>
            <a:ext cx="530352" cy="530352"/>
          </a:xfrm>
          <a:prstGeom prst="roundRect">
            <a:avLst>
              <a:gd name="adj" fmla="val 10345"/>
            </a:avLst>
          </a:prstGeom>
          <a:solidFill>
            <a:srgbClr val="C8161D"/>
          </a:solidFill>
          <a:ln w="12700">
            <a:solidFill>
              <a:srgbClr val="C8161D"/>
            </a:solidFill>
            <a:prstDash val="solid"/>
          </a:ln>
        </p:spPr>
      </p:sp>
      <p:sp>
        <p:nvSpPr>
          <p:cNvPr id="7" name="Text 5"/>
          <p:cNvSpPr/>
          <p:nvPr/>
        </p:nvSpPr>
        <p:spPr>
          <a:xfrm>
            <a:off x="594360" y="160934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①</a:t>
            </a:r>
            <a:endParaRPr lang="en-US" sz="1800" dirty="0"/>
          </a:p>
        </p:txBody>
      </p:sp>
      <p:sp>
        <p:nvSpPr>
          <p:cNvPr id="8" name="Text 6"/>
          <p:cNvSpPr/>
          <p:nvPr/>
        </p:nvSpPr>
        <p:spPr>
          <a:xfrm>
            <a:off x="1261872" y="1481328"/>
            <a:ext cx="7269480" cy="36576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国土の安全を守る</a:t>
            </a:r>
            <a:endParaRPr lang="en-US" sz="1400" dirty="0"/>
          </a:p>
        </p:txBody>
      </p:sp>
      <p:sp>
        <p:nvSpPr>
          <p:cNvPr id="9" name="Text 7"/>
          <p:cNvSpPr/>
          <p:nvPr/>
        </p:nvSpPr>
        <p:spPr>
          <a:xfrm>
            <a:off x="1261872" y="1883664"/>
            <a:ext cx="7269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水源地・国境離島・防衛施設周辺など、国家の安全に関わる土地を外国資本から守る。「日本の土地は日本が管理する」という当たり前の原則を制度として確立する。</a:t>
            </a:r>
            <a:endParaRPr lang="en-US" sz="1000" dirty="0"/>
          </a:p>
        </p:txBody>
      </p:sp>
      <p:sp>
        <p:nvSpPr>
          <p:cNvPr id="10" name="Shape 8"/>
          <p:cNvSpPr/>
          <p:nvPr/>
        </p:nvSpPr>
        <p:spPr>
          <a:xfrm>
            <a:off x="457200" y="2578608"/>
            <a:ext cx="8229600" cy="1024128"/>
          </a:xfrm>
          <a:prstGeom prst="roundRect">
            <a:avLst>
              <a:gd name="adj" fmla="val 7143"/>
            </a:avLst>
          </a:prstGeom>
          <a:solidFill>
            <a:srgbClr val="FFFFFF"/>
          </a:solidFill>
          <a:ln w="12700">
            <a:solidFill>
              <a:srgbClr val="DDE0E6"/>
            </a:solidFill>
            <a:prstDash val="solid"/>
          </a:ln>
        </p:spPr>
      </p:sp>
      <p:sp>
        <p:nvSpPr>
          <p:cNvPr id="11" name="Shape 9"/>
          <p:cNvSpPr/>
          <p:nvPr/>
        </p:nvSpPr>
        <p:spPr>
          <a:xfrm>
            <a:off x="594360" y="2798064"/>
            <a:ext cx="530352" cy="530352"/>
          </a:xfrm>
          <a:prstGeom prst="roundRect">
            <a:avLst>
              <a:gd name="adj" fmla="val 10345"/>
            </a:avLst>
          </a:prstGeom>
          <a:solidFill>
            <a:srgbClr val="C8161D"/>
          </a:solidFill>
          <a:ln w="12700">
            <a:solidFill>
              <a:srgbClr val="C8161D"/>
            </a:solidFill>
            <a:prstDash val="solid"/>
          </a:ln>
        </p:spPr>
      </p:sp>
      <p:sp>
        <p:nvSpPr>
          <p:cNvPr id="12" name="Text 10"/>
          <p:cNvSpPr/>
          <p:nvPr/>
        </p:nvSpPr>
        <p:spPr>
          <a:xfrm>
            <a:off x="594360" y="279806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②</a:t>
            </a:r>
            <a:endParaRPr lang="en-US" sz="1800" dirty="0"/>
          </a:p>
        </p:txBody>
      </p:sp>
      <p:sp>
        <p:nvSpPr>
          <p:cNvPr id="13" name="Text 11"/>
          <p:cNvSpPr/>
          <p:nvPr/>
        </p:nvSpPr>
        <p:spPr>
          <a:xfrm>
            <a:off x="1261872" y="2670048"/>
            <a:ext cx="7269480" cy="365760"/>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住宅市場を日本人のものに戻す</a:t>
            </a:r>
            <a:endParaRPr lang="en-US" sz="1400" dirty="0"/>
          </a:p>
        </p:txBody>
      </p:sp>
      <p:sp>
        <p:nvSpPr>
          <p:cNvPr id="14" name="Text 12"/>
          <p:cNvSpPr/>
          <p:nvPr/>
        </p:nvSpPr>
        <p:spPr>
          <a:xfrm>
            <a:off x="1261872" y="3072384"/>
            <a:ext cx="7269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投資目的の外国マネーによる価格押し上げを抑制し、日本人が普通に家を買える市場環境を取り戻す。高額帯から始まり、中長期的には一般価格帯にも波及効果が期待できる。</a:t>
            </a:r>
            <a:endParaRPr lang="en-US" sz="1000" dirty="0"/>
          </a:p>
        </p:txBody>
      </p:sp>
      <p:sp>
        <p:nvSpPr>
          <p:cNvPr id="15" name="Shape 13"/>
          <p:cNvSpPr/>
          <p:nvPr/>
        </p:nvSpPr>
        <p:spPr>
          <a:xfrm>
            <a:off x="457200" y="3767328"/>
            <a:ext cx="8229600" cy="1024128"/>
          </a:xfrm>
          <a:prstGeom prst="roundRect">
            <a:avLst>
              <a:gd name="adj" fmla="val 7143"/>
            </a:avLst>
          </a:prstGeom>
          <a:solidFill>
            <a:srgbClr val="FFFFFF"/>
          </a:solidFill>
          <a:ln w="12700">
            <a:solidFill>
              <a:srgbClr val="DDE0E6"/>
            </a:solidFill>
            <a:prstDash val="solid"/>
          </a:ln>
        </p:spPr>
      </p:sp>
      <p:sp>
        <p:nvSpPr>
          <p:cNvPr id="16" name="Shape 14"/>
          <p:cNvSpPr/>
          <p:nvPr/>
        </p:nvSpPr>
        <p:spPr>
          <a:xfrm>
            <a:off x="594360" y="3986784"/>
            <a:ext cx="530352" cy="530352"/>
          </a:xfrm>
          <a:prstGeom prst="roundRect">
            <a:avLst>
              <a:gd name="adj" fmla="val 10345"/>
            </a:avLst>
          </a:prstGeom>
          <a:solidFill>
            <a:srgbClr val="C8161D"/>
          </a:solidFill>
          <a:ln w="12700">
            <a:solidFill>
              <a:srgbClr val="C8161D"/>
            </a:solidFill>
            <a:prstDash val="solid"/>
          </a:ln>
        </p:spPr>
      </p:sp>
      <p:sp>
        <p:nvSpPr>
          <p:cNvPr id="17" name="Text 15"/>
          <p:cNvSpPr/>
          <p:nvPr/>
        </p:nvSpPr>
        <p:spPr>
          <a:xfrm>
            <a:off x="594360" y="398678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③</a:t>
            </a:r>
            <a:endParaRPr lang="en-US" sz="1800" dirty="0"/>
          </a:p>
        </p:txBody>
      </p:sp>
      <p:sp>
        <p:nvSpPr>
          <p:cNvPr id="18" name="Text 16"/>
          <p:cNvSpPr/>
          <p:nvPr/>
        </p:nvSpPr>
        <p:spPr>
          <a:xfrm>
            <a:off x="1261872" y="3858768"/>
            <a:ext cx="7269480" cy="365760"/>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外国企業との関係は賃貸で続けられる</a:t>
            </a:r>
            <a:endParaRPr lang="en-US" sz="1400" dirty="0"/>
          </a:p>
        </p:txBody>
      </p:sp>
      <p:sp>
        <p:nvSpPr>
          <p:cNvPr id="19" name="Text 17"/>
          <p:cNvSpPr/>
          <p:nvPr/>
        </p:nvSpPr>
        <p:spPr>
          <a:xfrm>
            <a:off x="1261872" y="4261104"/>
            <a:ext cx="7269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外国企業を完全に締め出すのではなく、「買う」から「借りる」への転換を促す。土地の所有権を日本が持ちながら、経済関係は維持・強化できる。誘致条件は日本側がコントロールできる。</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REMAINING ISSUES</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これから詰めるべき課題</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4114800" cy="566928"/>
          </a:xfrm>
          <a:prstGeom prst="roundRect">
            <a:avLst>
              <a:gd name="adj" fmla="val 12903"/>
            </a:avLst>
          </a:prstGeom>
          <a:solidFill>
            <a:srgbClr val="FFFFFF"/>
          </a:solidFill>
          <a:ln w="12700">
            <a:solidFill>
              <a:srgbClr val="DDE0E6"/>
            </a:solidFill>
            <a:prstDash val="solid"/>
          </a:ln>
        </p:spPr>
      </p:sp>
      <p:sp>
        <p:nvSpPr>
          <p:cNvPr id="6" name="Text 4"/>
          <p:cNvSpPr/>
          <p:nvPr/>
        </p:nvSpPr>
        <p:spPr>
          <a:xfrm>
            <a:off x="594360" y="1389888"/>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外国資本「15%」の計算方法（議決権ベースか出資比率か。間接的に持っている分の扱い）</a:t>
            </a:r>
            <a:endParaRPr lang="en-US" sz="1000" dirty="0"/>
          </a:p>
        </p:txBody>
      </p:sp>
      <p:sp>
        <p:nvSpPr>
          <p:cNvPr id="7" name="Shape 5"/>
          <p:cNvSpPr/>
          <p:nvPr/>
        </p:nvSpPr>
        <p:spPr>
          <a:xfrm>
            <a:off x="4800600" y="1389888"/>
            <a:ext cx="4114800" cy="566928"/>
          </a:xfrm>
          <a:prstGeom prst="roundRect">
            <a:avLst>
              <a:gd name="adj" fmla="val 12903"/>
            </a:avLst>
          </a:prstGeom>
          <a:solidFill>
            <a:srgbClr val="FFFFFF"/>
          </a:solidFill>
          <a:ln w="12700">
            <a:solidFill>
              <a:srgbClr val="DDE0E6"/>
            </a:solidFill>
            <a:prstDash val="solid"/>
          </a:ln>
        </p:spPr>
      </p:sp>
      <p:sp>
        <p:nvSpPr>
          <p:cNvPr id="8" name="Text 6"/>
          <p:cNvSpPr/>
          <p:nvPr/>
        </p:nvSpPr>
        <p:spPr>
          <a:xfrm>
            <a:off x="4937760" y="1389888"/>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永住権取得のハードルと土地取得のセットを悪用されないか（永住権の審査強化との連動）</a:t>
            </a:r>
            <a:endParaRPr lang="en-US" sz="1000" dirty="0"/>
          </a:p>
        </p:txBody>
      </p:sp>
      <p:sp>
        <p:nvSpPr>
          <p:cNvPr id="9" name="Shape 7"/>
          <p:cNvSpPr/>
          <p:nvPr/>
        </p:nvSpPr>
        <p:spPr>
          <a:xfrm>
            <a:off x="457200" y="2048256"/>
            <a:ext cx="4114800" cy="566928"/>
          </a:xfrm>
          <a:prstGeom prst="roundRect">
            <a:avLst>
              <a:gd name="adj" fmla="val 12903"/>
            </a:avLst>
          </a:prstGeom>
          <a:solidFill>
            <a:srgbClr val="FFFFFF"/>
          </a:solidFill>
          <a:ln w="12700">
            <a:solidFill>
              <a:srgbClr val="DDE0E6"/>
            </a:solidFill>
            <a:prstDash val="solid"/>
          </a:ln>
        </p:spPr>
      </p:sp>
      <p:sp>
        <p:nvSpPr>
          <p:cNvPr id="10" name="Text 8"/>
          <p:cNvSpPr/>
          <p:nvPr/>
        </p:nvSpPr>
        <p:spPr>
          <a:xfrm>
            <a:off x="594360" y="2048256"/>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重要エリアの「国が指定した区画」の指定プロセス・基準を明確にする</a:t>
            </a:r>
            <a:endParaRPr lang="en-US" sz="1000" dirty="0"/>
          </a:p>
        </p:txBody>
      </p:sp>
      <p:sp>
        <p:nvSpPr>
          <p:cNvPr id="11" name="Shape 9"/>
          <p:cNvSpPr/>
          <p:nvPr/>
        </p:nvSpPr>
        <p:spPr>
          <a:xfrm>
            <a:off x="4800600" y="2048256"/>
            <a:ext cx="4114800" cy="566928"/>
          </a:xfrm>
          <a:prstGeom prst="roundRect">
            <a:avLst>
              <a:gd name="adj" fmla="val 12903"/>
            </a:avLst>
          </a:prstGeom>
          <a:solidFill>
            <a:srgbClr val="FFFFFF"/>
          </a:solidFill>
          <a:ln w="12700">
            <a:solidFill>
              <a:srgbClr val="DDE0E6"/>
            </a:solidFill>
            <a:prstDash val="solid"/>
          </a:ln>
        </p:spPr>
      </p:sp>
      <p:sp>
        <p:nvSpPr>
          <p:cNvPr id="12" name="Text 10"/>
          <p:cNvSpPr/>
          <p:nvPr/>
        </p:nvSpPr>
        <p:spPr>
          <a:xfrm>
            <a:off x="4937760" y="2048256"/>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年4回の調査を担う体制・人員・予算の設計</a:t>
            </a:r>
            <a:endParaRPr lang="en-US" sz="1000" dirty="0"/>
          </a:p>
        </p:txBody>
      </p:sp>
      <p:sp>
        <p:nvSpPr>
          <p:cNvPr id="13" name="Shape 11"/>
          <p:cNvSpPr/>
          <p:nvPr/>
        </p:nvSpPr>
        <p:spPr>
          <a:xfrm>
            <a:off x="457200" y="2706624"/>
            <a:ext cx="4114800" cy="566928"/>
          </a:xfrm>
          <a:prstGeom prst="roundRect">
            <a:avLst>
              <a:gd name="adj" fmla="val 12903"/>
            </a:avLst>
          </a:prstGeom>
          <a:solidFill>
            <a:srgbClr val="FFFFFF"/>
          </a:solidFill>
          <a:ln w="12700">
            <a:solidFill>
              <a:srgbClr val="DDE0E6"/>
            </a:solidFill>
            <a:prstDash val="solid"/>
          </a:ln>
        </p:spPr>
      </p:sp>
      <p:sp>
        <p:nvSpPr>
          <p:cNvPr id="14" name="Text 12"/>
          <p:cNvSpPr/>
          <p:nvPr/>
        </p:nvSpPr>
        <p:spPr>
          <a:xfrm>
            <a:off x="594360" y="2706624"/>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居住実績（3年で400日）の確認方法（住民票・電気・水道使用記録等の組み合わせ）</a:t>
            </a:r>
            <a:endParaRPr lang="en-US" sz="1000" dirty="0"/>
          </a:p>
        </p:txBody>
      </p:sp>
      <p:sp>
        <p:nvSpPr>
          <p:cNvPr id="15" name="Shape 13"/>
          <p:cNvSpPr/>
          <p:nvPr/>
        </p:nvSpPr>
        <p:spPr>
          <a:xfrm>
            <a:off x="4800600" y="2706624"/>
            <a:ext cx="4114800" cy="566928"/>
          </a:xfrm>
          <a:prstGeom prst="roundRect">
            <a:avLst>
              <a:gd name="adj" fmla="val 12903"/>
            </a:avLst>
          </a:prstGeom>
          <a:solidFill>
            <a:srgbClr val="FFFFFF"/>
          </a:solidFill>
          <a:ln w="12700">
            <a:solidFill>
              <a:srgbClr val="DDE0E6"/>
            </a:solidFill>
            <a:prstDash val="solid"/>
          </a:ln>
        </p:spPr>
      </p:sp>
      <p:sp>
        <p:nvSpPr>
          <p:cNvPr id="16" name="Text 14"/>
          <p:cNvSpPr/>
          <p:nvPr/>
        </p:nvSpPr>
        <p:spPr>
          <a:xfrm>
            <a:off x="4937760" y="2706624"/>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海外赴任などの「正当な理由」の判定基準を明文化する</a:t>
            </a:r>
            <a:endParaRPr lang="en-US" sz="1000" dirty="0"/>
          </a:p>
        </p:txBody>
      </p:sp>
      <p:sp>
        <p:nvSpPr>
          <p:cNvPr id="17" name="Shape 15"/>
          <p:cNvSpPr/>
          <p:nvPr/>
        </p:nvSpPr>
        <p:spPr>
          <a:xfrm>
            <a:off x="457200" y="3364992"/>
            <a:ext cx="4114800" cy="566928"/>
          </a:xfrm>
          <a:prstGeom prst="roundRect">
            <a:avLst>
              <a:gd name="adj" fmla="val 12903"/>
            </a:avLst>
          </a:prstGeom>
          <a:solidFill>
            <a:srgbClr val="FFFFFF"/>
          </a:solidFill>
          <a:ln w="12700">
            <a:solidFill>
              <a:srgbClr val="DDE0E6"/>
            </a:solidFill>
            <a:prstDash val="solid"/>
          </a:ln>
        </p:spPr>
      </p:sp>
      <p:sp>
        <p:nvSpPr>
          <p:cNvPr id="18" name="Text 16"/>
          <p:cNvSpPr/>
          <p:nvPr/>
        </p:nvSpPr>
        <p:spPr>
          <a:xfrm>
            <a:off x="594360" y="3364992"/>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今すでに持っている外国人所有者からの反発・国際的な摩擦への対応</a:t>
            </a:r>
            <a:endParaRPr lang="en-US" sz="1000" dirty="0"/>
          </a:p>
        </p:txBody>
      </p:sp>
      <p:sp>
        <p:nvSpPr>
          <p:cNvPr id="19" name="Shape 17"/>
          <p:cNvSpPr/>
          <p:nvPr/>
        </p:nvSpPr>
        <p:spPr>
          <a:xfrm>
            <a:off x="4800600" y="3364992"/>
            <a:ext cx="4114800" cy="566928"/>
          </a:xfrm>
          <a:prstGeom prst="roundRect">
            <a:avLst>
              <a:gd name="adj" fmla="val 12903"/>
            </a:avLst>
          </a:prstGeom>
          <a:solidFill>
            <a:srgbClr val="FFFFFF"/>
          </a:solidFill>
          <a:ln w="12700">
            <a:solidFill>
              <a:srgbClr val="DDE0E6"/>
            </a:solidFill>
            <a:prstDash val="solid"/>
          </a:ln>
        </p:spPr>
      </p:sp>
      <p:sp>
        <p:nvSpPr>
          <p:cNvPr id="20" name="Text 18"/>
          <p:cNvSpPr/>
          <p:nvPr/>
        </p:nvSpPr>
        <p:spPr>
          <a:xfrm>
            <a:off x="4937760" y="3364992"/>
            <a:ext cx="38404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重要土地等規制法など今ある法律との整合性・統合の必要性</a:t>
            </a:r>
            <a:endParaRPr lang="en-US" sz="1000" dirty="0"/>
          </a:p>
        </p:txBody>
      </p:sp>
      <p:sp>
        <p:nvSpPr>
          <p:cNvPr id="21" name="Shape 19"/>
          <p:cNvSpPr/>
          <p:nvPr/>
        </p:nvSpPr>
        <p:spPr>
          <a:xfrm>
            <a:off x="457200" y="4023360"/>
            <a:ext cx="8229600" cy="566928"/>
          </a:xfrm>
          <a:prstGeom prst="roundRect">
            <a:avLst>
              <a:gd name="adj" fmla="val 12903"/>
            </a:avLst>
          </a:prstGeom>
          <a:solidFill>
            <a:srgbClr val="FFFFFF"/>
          </a:solidFill>
          <a:ln w="12700">
            <a:solidFill>
              <a:srgbClr val="DDE0E6"/>
            </a:solidFill>
            <a:prstDash val="solid"/>
          </a:ln>
        </p:spPr>
      </p:sp>
      <p:sp>
        <p:nvSpPr>
          <p:cNvPr id="22" name="Text 20"/>
          <p:cNvSpPr/>
          <p:nvPr/>
        </p:nvSpPr>
        <p:spPr>
          <a:xfrm>
            <a:off x="594360" y="4023360"/>
            <a:ext cx="7955280" cy="56692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外資への土地賃貸条件がWTO・FTA等の国際ルールと矛盾しないかの確認</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457200"/>
            <a:ext cx="8046720" cy="329184"/>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REBOOT JAPAN ── 提言010　まとめ</a:t>
            </a:r>
            <a:endParaRPr lang="en-US" sz="1000" dirty="0"/>
          </a:p>
        </p:txBody>
      </p:sp>
      <p:sp>
        <p:nvSpPr>
          <p:cNvPr id="4" name="Text 2"/>
          <p:cNvSpPr/>
          <p:nvPr/>
        </p:nvSpPr>
        <p:spPr>
          <a:xfrm>
            <a:off x="685800" y="868680"/>
            <a:ext cx="8046720" cy="1920240"/>
          </a:xfrm>
          <a:prstGeom prst="rect">
            <a:avLst/>
          </a:prstGeom>
          <a:noFill/>
          <a:ln/>
        </p:spPr>
        <p:txBody>
          <a:bodyPr wrap="square" lIns="0" tIns="0" rIns="0" bIns="0" rtlCol="0" anchor="ctr"/>
          <a:lstStyle/>
          <a:p>
            <a:pPr indent="0" marL="0">
              <a:buNone/>
            </a:pPr>
            <a:r>
              <a:rPr lang="en-US" sz="3000" b="1" dirty="0">
                <a:solidFill>
                  <a:srgbClr val="16181D"/>
                </a:solidFill>
                <a:latin typeface="BIZ UDPGothic" pitchFamily="34" charset="0"/>
                <a:ea typeface="BIZ UDPGothic" pitchFamily="34" charset="-122"/>
                <a:cs typeface="BIZ UDPGothic" pitchFamily="34" charset="-120"/>
              </a:rPr>
              <a:t>国土は誰のものか。</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所有権の原則を</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取り戻す。</a:t>
            </a:r>
            <a:endParaRPr lang="en-US" sz="3000" dirty="0"/>
          </a:p>
        </p:txBody>
      </p:sp>
      <p:sp>
        <p:nvSpPr>
          <p:cNvPr id="5" name="Shape 3"/>
          <p:cNvSpPr/>
          <p:nvPr/>
        </p:nvSpPr>
        <p:spPr>
          <a:xfrm>
            <a:off x="685800" y="2880360"/>
            <a:ext cx="7772400" cy="13716"/>
          </a:xfrm>
          <a:prstGeom prst="rect">
            <a:avLst/>
          </a:prstGeom>
          <a:solidFill>
            <a:srgbClr val="DDE0E6"/>
          </a:solidFill>
          <a:ln w="12700">
            <a:solidFill>
              <a:srgbClr val="DDE0E6"/>
            </a:solidFill>
            <a:prstDash val="solid"/>
          </a:ln>
        </p:spPr>
      </p:sp>
      <p:sp>
        <p:nvSpPr>
          <p:cNvPr id="6" name="Text 4"/>
          <p:cNvSpPr/>
          <p:nvPr/>
        </p:nvSpPr>
        <p:spPr>
          <a:xfrm>
            <a:off x="685800" y="3017520"/>
            <a:ext cx="8046720" cy="2011680"/>
          </a:xfrm>
          <a:prstGeom prst="rect">
            <a:avLst/>
          </a:prstGeom>
          <a:noFill/>
          <a:ln/>
        </p:spPr>
        <p:txBody>
          <a:bodyPr wrap="square" lIns="0" tIns="0" rIns="0" bIns="0" rtlCol="0" anchor="ctr"/>
          <a:lstStyle/>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① 土地は日本国籍・永住者・外国資本15%以下の日本法人のみ取得可</a:t>
            </a:r>
            <a:endParaRPr lang="en-US" sz="1100" dirty="0"/>
          </a:p>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② 重要エリア（水源地・離島・防衛施設等）は購入も賃貸も全面禁止。国が年4回調査</a:t>
            </a:r>
            <a:endParaRPr lang="en-US" sz="1100" dirty="0"/>
          </a:p>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③ 今の外国人所有者は制度開始から5年以内に売却（既得権は保護しない）</a:t>
            </a:r>
            <a:endParaRPr lang="en-US" sz="1100" dirty="0"/>
          </a:p>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④ マンションは「住む目的なら誰でも買える」。購入後3年で400日以上の居住実績が条件</a:t>
            </a:r>
            <a:endParaRPr lang="en-US" sz="1100" dirty="0"/>
          </a:p>
          <a:p>
            <a:pPr indent="0" marL="0">
              <a:buNone/>
            </a:pPr>
            <a:r>
              <a:rPr lang="en-US" sz="1100" dirty="0">
                <a:solidFill>
                  <a:srgbClr val="2B2F36"/>
                </a:solidFill>
                <a:latin typeface="Arial" pitchFamily="34" charset="0"/>
                <a:ea typeface="BIZ UDPGothic" pitchFamily="34" charset="-122"/>
                <a:cs typeface="BIZ UDPGothic" pitchFamily="34" charset="-120"/>
              </a:rPr>
              <a:t>⑤ 外国企業は「借りる（賃貸）」形での利用は引き続き可能。誘致の武器として活用する</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提言010：土地・不動産の外国人・外国資本取得規制プラン</dc:title>
  <dc:subject>PptxGenJS Presentation</dc:subject>
  <dc:creator>PptxGenJS</dc:creator>
  <cp:lastModifiedBy>PptxGenJS</cp:lastModifiedBy>
  <cp:revision>1</cp:revision>
  <dcterms:created xsi:type="dcterms:W3CDTF">2026-07-01T09:47:43Z</dcterms:created>
  <dcterms:modified xsi:type="dcterms:W3CDTF">2026-07-01T09:47:43Z</dcterms:modified>
</cp:coreProperties>
</file>