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政策提言プラットフォーム　REBOOT JAPAN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" y="22860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「取られる税金」を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「選べる投資」に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公的機関への用途指定寄付制度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4983480"/>
            <a:ext cx="3657600" cy="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166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ふるさと納税は終わり。本物の「使い道を選ぶ」時代へ。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10241280" y="512064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このスライドで分かること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28800" y="1856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税金の「2つの問題」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828800" y="22402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取られるままで、使い道は全部お上任せ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69164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74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498080" y="1856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ふるさと納税の失敗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98080" y="22402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返礼品競争に変質、都市から地方への税収流出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375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20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828800" y="3502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3つの税から選べる制度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28800" y="3886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所得税・住民税・消費税、それぞれの仕組み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33375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3520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498080" y="3502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お金の「出口」設計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0" y="3886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メニュー・115%キャップ・ポイント還元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166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828800" y="5148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数字で見る影響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55321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年収別の控除額と、全国規模のマクロ試算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9360" y="49834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166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7498080" y="5148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不正を防ぐ仕組み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98080" y="55321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なりすまし・身内取引・予算過小申告への対策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今の税金の問題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税金はPayしたら、自分の手から離れていく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「自分の税金が何に使われているか、正直分からない」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28346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使い道は全部お上任せ。自分には何も決められない。これが今の税金です。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5212080" cy="2286000"/>
          </a:xfrm>
          <a:prstGeom prst="roundRect">
            <a:avLst>
              <a:gd name="adj" fmla="val 32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4087368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4206240"/>
            <a:ext cx="265176" cy="26517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32688" y="4754880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所得税・住民税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32688" y="5349240"/>
            <a:ext cx="46268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年間を通じて働き、確定申告。でも、そのお金がどの学校に、どの病院に使われているか、追いかける方法がない。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379476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19088" y="4087368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206240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19088" y="4754880"/>
            <a:ext cx="4809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国・自治体の一般財源へ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19088" y="5349240"/>
            <a:ext cx="4809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「一般財源」に入った瞬間に、お金は匿名になる。予算会議で決められた用途に、静かに使われていく。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ふるさと納税という失敗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「使い道を選ぶ」はずが、「返礼品をもらう節税」に変質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2A1A"/>
          </a:solidFill>
          <a:ln w="12700">
            <a:solidFill>
              <a:srgbClr val="3A6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8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本来の目的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0" y="1920240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応援したい自治体に寄付できる、使い道を選べる制度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61488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761488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実際の使われ方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40480" y="2761488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「お得な返礼品」目当ての節税ツールとして定着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602736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自治体側の実態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3602736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返礼品の調達コスト・ポータルへの手数料で疲弊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43984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443984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都市部への打撃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40480" y="4443984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住民税が住んでいる自治体から流出、財源が空洞化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285232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285232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透明性の欠如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0" y="5285232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何に使われたか、追いかける仕組みがほぼない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提言005は、ふるさと納税を即時廃止し、本来あるべき「使い道を選ぶ寄付」に作り変えます。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提言005の哲学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納税を、社会と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向き合う機会に変える。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77240" y="3840480"/>
            <a:ext cx="4572000" cy="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11480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お金を「取られる」のではなく、「託す」。</a:t>
            </a:r>
            <a:endParaRPr lang="en-US" sz="17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どこに、何のために、自分のお金を届けるか。</a:t>
            </a:r>
            <a:endParaRPr lang="en-US" sz="17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それを選べるのが、提言005です。</a:t>
            </a:r>
            <a:endParaRPr lang="en-US" sz="17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9601200" y="420624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制度の全体像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3つの税から「自分で選んで」寄付できる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474720" cy="3474720"/>
          </a:xfrm>
          <a:prstGeom prst="roundRect">
            <a:avLst>
              <a:gd name="adj" fmla="val 2105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377440"/>
            <a:ext cx="640080" cy="64008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0545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14400" y="3657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累進課税の「重い分」を寄付に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42519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年収が上がるほど税率が上がる仕組み。その重くなった分だけ寄付に使える枠が生まれる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43400" y="2103120"/>
            <a:ext cx="3474720" cy="3474720"/>
          </a:xfrm>
          <a:prstGeom prst="roundRect">
            <a:avLst>
              <a:gd name="adj" fmla="val 2105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2377440"/>
            <a:ext cx="640080" cy="64008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50545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17720" y="3657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50%まで控除、75%は地元に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617720" y="42519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住民税の半分まで寄付に使える。うち75%は住んでいる自治体へ、25%は自由に指定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46720" y="2103120"/>
            <a:ext cx="3474720" cy="3474720"/>
          </a:xfrm>
          <a:prstGeom prst="roundRect">
            <a:avLst>
              <a:gd name="adj" fmla="val 2105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66760" y="2377440"/>
            <a:ext cx="640080" cy="64008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250545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21040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消費税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8321040" y="3657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10万円超の買い物が対象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321040" y="42519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高額な買い物の領収書を確定申告で。医療費控除と同じ要領。寄付先は自由に指定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40080" y="58064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3つの控除枠はそれぞれ独立。所得税枠・住民税枠・消費税枠をそれぞれ上限まで使い切れる。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用語解説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「累進課税」とは何か？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年収が上がるほど、税率が上がる仕組みです。現行の所得税はこの「累進課税」を採用しています。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年収400万円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2606040"/>
            <a:ext cx="6858000" cy="54864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9" name="Shape 7"/>
          <p:cNvSpPr/>
          <p:nvPr/>
        </p:nvSpPr>
        <p:spPr>
          <a:xfrm>
            <a:off x="3291840" y="2606040"/>
            <a:ext cx="822960" cy="54864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2606040"/>
            <a:ext cx="7205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実効税率 約2.1%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0" y="2468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約8万円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年収800万円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91840" y="3520440"/>
            <a:ext cx="6858000" cy="54864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291840" y="3520440"/>
            <a:ext cx="2331720" cy="54864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3337560" y="3520440"/>
            <a:ext cx="22091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実効税率 約5.7%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0" y="33832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約46万円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297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年収1,200万円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91840" y="4434840"/>
            <a:ext cx="6858000" cy="54864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19" name="Shape 17"/>
          <p:cNvSpPr/>
          <p:nvPr/>
        </p:nvSpPr>
        <p:spPr>
          <a:xfrm>
            <a:off x="3291840" y="4434840"/>
            <a:ext cx="3977640" cy="548640"/>
          </a:xfrm>
          <a:prstGeom prst="rect">
            <a:avLst/>
          </a:prstGeom>
          <a:solidFill>
            <a:srgbClr val="8B1A1A"/>
          </a:solidFill>
          <a:ln/>
        </p:spPr>
      </p:sp>
      <p:sp>
        <p:nvSpPr>
          <p:cNvPr id="20" name="Text 18"/>
          <p:cNvSpPr/>
          <p:nvPr/>
        </p:nvSpPr>
        <p:spPr>
          <a:xfrm>
            <a:off x="3337560" y="4434840"/>
            <a:ext cx="3833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実効税率 約9.6%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0" y="42976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約115万円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212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年収2,000万円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91840" y="5349240"/>
            <a:ext cx="6858000" cy="54864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24" name="Shape 22"/>
          <p:cNvSpPr/>
          <p:nvPr/>
        </p:nvSpPr>
        <p:spPr>
          <a:xfrm>
            <a:off x="3291840" y="5349240"/>
            <a:ext cx="6858000" cy="548640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25" name="Text 23"/>
          <p:cNvSpPr/>
          <p:nvPr/>
        </p:nvSpPr>
        <p:spPr>
          <a:xfrm>
            <a:off x="3337560" y="53492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実効税率 約16.4%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241280" y="52120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約327万円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年収が上がるほど税率が急に跳ね上がる ── この「累進性」の分を、005では寄付に変えられます。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所得税の控除の仕組み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「中央値の人と同じ税率」まで、寄付で下げられる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881360" cy="1737360"/>
          </a:xfrm>
          <a:prstGeom prst="roundRect">
            <a:avLst>
              <a:gd name="adj" fmla="val 4211"/>
            </a:avLst>
          </a:prstGeom>
          <a:solidFill>
            <a:srgbClr val="1A1A1A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031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寄付に使える枠  ＝  現行の累進課税での所得税額  －  中央値（5%）での所得税額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74320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年収の中央値（約380万円）の人に適用される税率5%を、自分の所得にも当てはめた場合の税額との差額が、寄付できる枠になります。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年収800万円の場合の例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0624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現行の累進課税での所得税額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0" y="420624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約45.7万円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956048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956048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中央値水準（5%）で計算した場合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0" y="495604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約22.1万円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705856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705856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寄付できる枠（差額）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0" y="5705856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約23.6万円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所得税 年収別シミュレーション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年収が高いほど、寄付できる枠が大きくなる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（概算：給与所得控除・社会保険料控除等は現行制度に基づく試算）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2194560" cy="50292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65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926080" y="1965960"/>
            <a:ext cx="2651760" cy="50292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10" name="Text 8"/>
          <p:cNvSpPr/>
          <p:nvPr/>
        </p:nvSpPr>
        <p:spPr>
          <a:xfrm>
            <a:off x="301752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現行所得税額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0" y="1965960"/>
            <a:ext cx="2743200" cy="50292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1965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寄付できる枠（差額）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503920" y="1965960"/>
            <a:ext cx="3840480" cy="502920"/>
          </a:xfrm>
          <a:prstGeom prst="rect">
            <a:avLst/>
          </a:prstGeom>
          <a:solidFill>
            <a:srgbClr val="2E2E2E"/>
          </a:solidFill>
          <a:ln/>
        </p:spPr>
      </p:sp>
      <p:sp>
        <p:nvSpPr>
          <p:cNvPr id="14" name="Text 12"/>
          <p:cNvSpPr/>
          <p:nvPr/>
        </p:nvSpPr>
        <p:spPr>
          <a:xfrm>
            <a:off x="8595360" y="1965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2468880"/>
            <a:ext cx="2194560" cy="80467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46888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年収400万円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468880"/>
            <a:ext cx="2651760" cy="80467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2468880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約8.4万円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0" y="2468880"/>
            <a:ext cx="2743200" cy="80467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2468880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0円（対象外）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503920" y="2468880"/>
            <a:ext cx="3840480" cy="80467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41080" y="2468880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中央値以下のため差額がほぼゼロ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3273552"/>
            <a:ext cx="2194560" cy="80467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327355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年収800万円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26080" y="3273552"/>
            <a:ext cx="2651760" cy="80467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0" y="3273552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約45.7万円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0" y="3273552"/>
            <a:ext cx="2743200" cy="80467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3273552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約23.6万円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503920" y="3273552"/>
            <a:ext cx="3840480" cy="80467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3474720"/>
            <a:ext cx="1389888" cy="402336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31" name="Shape 29"/>
          <p:cNvSpPr/>
          <p:nvPr/>
        </p:nvSpPr>
        <p:spPr>
          <a:xfrm>
            <a:off x="640080" y="4078224"/>
            <a:ext cx="2194560" cy="80467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07822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年収1,200万円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926080" y="4078224"/>
            <a:ext cx="2651760" cy="80467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17520" y="4078224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約115.1万円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0" y="4078224"/>
            <a:ext cx="2743200" cy="80467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4078224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約76.3万円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03920" y="4078224"/>
            <a:ext cx="3840480" cy="80467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95360" y="4279392"/>
            <a:ext cx="2816352" cy="402336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39" name="Shape 37"/>
          <p:cNvSpPr/>
          <p:nvPr/>
        </p:nvSpPr>
        <p:spPr>
          <a:xfrm>
            <a:off x="640080" y="4882896"/>
            <a:ext cx="2194560" cy="80467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882896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年収2,000万円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926080" y="4882896"/>
            <a:ext cx="2651760" cy="80467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0" y="4882896"/>
            <a:ext cx="2468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約327.2万円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669280" y="4882896"/>
            <a:ext cx="2743200" cy="80467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0" y="4882896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約254.4万円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503920" y="4882896"/>
            <a:ext cx="3840480" cy="80467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595360" y="5084064"/>
            <a:ext cx="3657600" cy="402336"/>
          </a:xfrm>
          <a:prstGeom prst="rect">
            <a:avLst/>
          </a:prstGeom>
          <a:solidFill>
            <a:srgbClr val="D62828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寄付しなければ今まで通り累進課税のまま。寄付した場合のみ、税率が中央値水準まで下がります。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住民税の控除の仕組み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住民税の50%まで控除、75%は地元の自治体へ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2121408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40280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788920"/>
            <a:ext cx="10296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住民税はフラットな税率（一律10%）なので、「差額」ではなく「50%まで」という上限方式を採用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32688" y="3703320"/>
            <a:ext cx="10296144" cy="-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住民税の納税額のうち、50%を上限として寄付に使えます。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977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: 25 ルール（住民税ならではの配分）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4846320"/>
            <a:ext cx="7543800" cy="594360"/>
          </a:xfrm>
          <a:prstGeom prst="rect">
            <a:avLst/>
          </a:prstGeom>
          <a:solidFill>
            <a:srgbClr val="1A3A1A"/>
          </a:solidFill>
          <a:ln/>
        </p:spPr>
      </p:sp>
      <p:sp>
        <p:nvSpPr>
          <p:cNvPr id="14" name="Shape 11"/>
          <p:cNvSpPr/>
          <p:nvPr/>
        </p:nvSpPr>
        <p:spPr>
          <a:xfrm>
            <a:off x="8549640" y="4846320"/>
            <a:ext cx="2514600" cy="594360"/>
          </a:xfrm>
          <a:prstGeom prst="rect">
            <a:avLst/>
          </a:prstGeom>
          <a:solidFill>
            <a:srgbClr val="A01F1F"/>
          </a:solidFill>
          <a:ln/>
        </p:spPr>
      </p:sp>
      <p:sp>
        <p:nvSpPr>
          <p:cNvPr id="15" name="Text 12"/>
          <p:cNvSpPr/>
          <p:nvPr/>
        </p:nvSpPr>
        <p:spPr>
          <a:xfrm>
            <a:off x="1097280" y="4846320"/>
            <a:ext cx="7360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8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　居住する自治体へ（地元の財源を守る）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41080" y="48463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　自由指定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05840" y="562356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ふるさと納税の最大の欠陥（都市部の税収が丸ごと流出）を、この75:25ルールで是正します。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消費税の控除の仕組み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10万円超の買い物の消費税が、寄付に使える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212080" cy="4206240"/>
          </a:xfrm>
          <a:prstGeom prst="roundRect">
            <a:avLst>
              <a:gd name="adj" fmla="val 1739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2121408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40280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788920"/>
            <a:ext cx="4626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なぜ10万円超なのか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32688" y="3383280"/>
            <a:ext cx="46268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常の小額決済すべてを追跡するのは現実的ではありません。高額な買い物（家電・家具・車・リフォームなど）なら、領収書が自然に手元に残ります。医療費控除と同じ要領で、確定申告時に合算して申告できます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26480" y="18288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19088" y="2121408"/>
            <a:ext cx="502920" cy="50292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40280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19088" y="2788920"/>
            <a:ext cx="4809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控除の上限と寄付先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19088" y="3383280"/>
            <a:ext cx="480974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控除できるのは、対象となる消費税額の50%まで。消費税は国税なので、住民税の75:25ルールは適用しない。寄付先は自由に指定できます。（所得税と同じ自由度）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3つの控除枠はすべて独立しているので、所得税枠・住民税枠・消費税枠をそれぞれ上限まで使い切れます。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お金の出口設計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国・自治体・施設が「使い道のメニュー」を提示する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194560"/>
            <a:ext cx="594360" cy="59436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2322576"/>
            <a:ext cx="338328" cy="3383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28800" y="21488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用途限定メニュー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828800" y="265176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「○○市児童相談所の人員増強」のように、具体的な用途を明示。施設・部署が自ら作成する。成果報告が義務。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1088136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4023360"/>
            <a:ext cx="594360" cy="59436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4151376"/>
            <a:ext cx="338328" cy="3383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828800" y="39776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用途自由メニュー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1828800" y="448056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使い道を指定しない寄付も選べる。資金をプールするかどうかは自治体の裁量に委ねる。報告義務なし。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用途限定メニューには「単年度型」か「複数年型」かを必ず明示する（寄付者が何年計画か事前に分かる）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40080" y="62636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施設・部署が自らメニューを作成 → 現場の「本当に必要なもの」が寄付メニューに直結します。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受付上限のルール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必要予算の115%に達したら、受付終了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「集まりすぎた」による無駄や不正を防ぐためのシンプルなルールです。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1088136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560320"/>
            <a:ext cx="9462052" cy="1005840"/>
          </a:xfrm>
          <a:prstGeom prst="rect">
            <a:avLst/>
          </a:prstGeom>
          <a:solidFill>
            <a:srgbClr val="1A3A1A"/>
          </a:solidFill>
          <a:ln/>
        </p:spPr>
      </p:sp>
      <p:sp>
        <p:nvSpPr>
          <p:cNvPr id="9" name="Shape 7"/>
          <p:cNvSpPr/>
          <p:nvPr/>
        </p:nvSpPr>
        <p:spPr>
          <a:xfrm>
            <a:off x="10102132" y="2560320"/>
            <a:ext cx="1419308" cy="1005840"/>
          </a:xfrm>
          <a:prstGeom prst="rect">
            <a:avLst/>
          </a:prstGeom>
          <a:solidFill>
            <a:srgbClr val="3A6A3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56032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必要予算（100%）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193572" y="256032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余裕分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521440" y="2423160"/>
            <a:ext cx="0" cy="1280160"/>
          </a:xfrm>
          <a:prstGeom prst="line">
            <a:avLst/>
          </a:prstGeom>
          <a:noFill/>
          <a:ln w="12700">
            <a:solidFill>
              <a:srgbClr val="555555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77240" y="2057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受付上限（115%）に達したら即座に受付終了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13632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05840" y="3886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15%の余裕は、人件費・資材価格の変動など「運用上の誤差」を吸収できる範囲として設定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416552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05840" y="4389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これにより「予算を低く申告してポイントを大量発生させる」という不正が構造的に防がれる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91947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4892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115%到達後に寄付したい人は、他のメニューを選ぶ（超過分の自動繰越はしない）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余剰分のポイント還元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使い切れなかった分は、翌年の寄付に使えるポイントへ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115%キャップにより余剰は稀ですが、単年度型メニューで余った場合の精算ルールです。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423160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1pt＝1円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97680" y="2423160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シンプルな換算レート。現金との等価で分かりやすい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19272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319272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翌年の寄付のみに使用可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3319272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換金不可。次の寄付に使うためだけのポイント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215384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自治体・用途を問わない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97680" y="4215384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発行元の自治体は使い道を縛らない。翌年どこでも自由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111496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11496"/>
            <a:ext cx="3200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ポイントが「余る」のは稀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297680" y="5111496"/>
            <a:ext cx="7040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115%キャップのおかげで、そもそも大量発生しにくい設計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成果報告の仕組み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用途を指定した以上、結果を説明する義務がある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対象は用途限定メニューのみ。用途自由メニューは個別報告義務なし。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331720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3172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頻度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233172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四半期ごとに報告（単年度型・複数年型の両方）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27832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2783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タイミング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08960" y="3227832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例：4〜6月分の活動は、9月末までに提出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23944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12394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報告の中身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123944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数字（使った金額・救われた人数など）＋現場の声（定性データ）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10881360" cy="804672"/>
          </a:xfrm>
          <a:prstGeom prst="roundRect">
            <a:avLst>
              <a:gd name="adj" fmla="val 5682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020056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公開方法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020056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マイナポータルで常時閲覧可能（誰でもいつでも確認できる）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6007608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6236208"/>
            <a:ext cx="457200" cy="4572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645920" y="6190488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報告しなかった場合：自治体が集まった寄付額を全額返却。寄付者の税控除はそのまま有効。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不正利用対策（3本柱）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3つのリスクに、それぞれ対策を設ける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240280"/>
            <a:ext cx="594360" cy="59436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2368296"/>
            <a:ext cx="338328" cy="3383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28800" y="2148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なりすまし・架空施設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828800" y="269748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マイナポータルに登録された正式な行政機関・施設のみメニュー掲載可。自治体コード・施設番号で紐づけ。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352044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3840480"/>
            <a:ext cx="594360" cy="59436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3968496"/>
            <a:ext cx="338328" cy="3383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828800" y="3749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身内取引・自作自演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828800" y="429768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当該施設の職員・親族は当該施設への寄付不可（事前ルール）。違反はインサイダー取引と同様の罪として扱う。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0080" y="512064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05840" y="5440680"/>
            <a:ext cx="594360" cy="59436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2E2E2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5568696"/>
            <a:ext cx="338328" cy="3383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828800" y="5349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予算の過小申告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828800" y="589788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上位自治体・国による予算申請額の事前審査。加えて115%キャップが二重の防波堤として機能する。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数字で見る：年収800万円の人に当てはめると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今回の提言を年収800万円の人に当てはめると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029200" cy="1280160"/>
          </a:xfrm>
          <a:prstGeom prst="roundRect">
            <a:avLst>
              <a:gd name="adj" fmla="val 428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現行の所得税額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約45.7万円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累進課税（実効税率約5.7%）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5029200" cy="1280160"/>
          </a:xfrm>
          <a:prstGeom prst="roundRect">
            <a:avLst>
              <a:gd name="adj" fmla="val 4286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474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現行の住民税額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840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約44.7万円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一律10%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1920240"/>
            <a:ext cx="5577840" cy="4160520"/>
          </a:xfrm>
          <a:prstGeom prst="roundRect">
            <a:avLst>
              <a:gd name="adj" fmla="val 1758"/>
            </a:avLst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194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005を最大限使うと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09360" y="274320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所得税の寄付枠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875520" y="27432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約23.6万円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321868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住民税の寄付枠（50%）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875520" y="32186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約22.4万円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3694176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うち地元へ（75%）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75520" y="369417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約16.8万円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4169664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うち自由指定（25%）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875520" y="416966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約5.6万円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464515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合計寄付可能額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875520" y="464515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約46万円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全国規模のマクロ試算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理論上の最大値と、現実的なシナリオ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国税庁「民間給与実態統計調査」（令和6年分）をベースに、4つの年収層の人数と寄付可能枠を掛け合わせた概算。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0" y="2331720"/>
            <a:ext cx="0" cy="365760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31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理論上の最大値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全員が上限まで使い切った場合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約4.7兆円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40080" y="3931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所得税枠＋住民税枠の合計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現実的な利用率シナリオ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788920"/>
            <a:ext cx="5303520" cy="731520"/>
          </a:xfrm>
          <a:prstGeom prst="roundRect">
            <a:avLst>
              <a:gd name="adj" fmla="val 625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788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 5%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0" y="2788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約2,370億円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17920" y="3611880"/>
            <a:ext cx="5303520" cy="731520"/>
          </a:xfrm>
          <a:prstGeom prst="roundRect">
            <a:avLst>
              <a:gd name="adj" fmla="val 625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611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 10%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0" y="3611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約4,739億円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4434840"/>
            <a:ext cx="5303520" cy="731520"/>
          </a:xfrm>
          <a:prstGeom prst="roundRect">
            <a:avLst>
              <a:gd name="adj" fmla="val 6250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4434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 30%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0" y="4434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約1兆4,217億円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1937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財源の考え方：提言001の消費税増収（+13兆円）の枠組みの中で吸収。利用率10%（約4,739億円）も利用率30%（約1.4兆円）も、いずれも13兆円の範囲内に収まる規模。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ふるさと納税との比較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005はふるさと納税の上位互換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ふるさと納税は005の導入と同時に即時廃止。返礼品文化も完全に廃止。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2743200" cy="621792"/>
          </a:xfrm>
          <a:prstGeom prst="rect">
            <a:avLst/>
          </a:prstGeom>
          <a:solidFill>
            <a:srgbClr val="2E2E2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8600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286000"/>
            <a:ext cx="3840480" cy="621792"/>
          </a:xfrm>
          <a:prstGeom prst="rect">
            <a:avLst/>
          </a:prstGeom>
          <a:solidFill>
            <a:srgbClr val="2E2E2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228600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ふるさと納税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06640" y="2286000"/>
            <a:ext cx="4297680" cy="621792"/>
          </a:xfrm>
          <a:prstGeom prst="rect">
            <a:avLst/>
          </a:prstGeom>
          <a:solidFill>
            <a:srgbClr val="2E2E2E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43800" y="228600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07792"/>
            <a:ext cx="2743200" cy="62179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907792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返礼品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474720" y="2907792"/>
            <a:ext cx="3840480" cy="62179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1880" y="290779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あり（寄付額の3割相当）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06640" y="2907792"/>
            <a:ext cx="4297680" cy="62179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43800" y="290779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なし（完全廃止）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529584"/>
            <a:ext cx="2743200" cy="62179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529584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対象税目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474720" y="3529584"/>
            <a:ext cx="3840480" cy="62179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11880" y="352958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主に住民税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406640" y="3529584"/>
            <a:ext cx="4297680" cy="62179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43800" y="352958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所得税・住民税・消費税の3税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151376"/>
            <a:ext cx="2743200" cy="62179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151376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寄付の動機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474720" y="4151376"/>
            <a:ext cx="3840480" cy="62179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11880" y="415137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返礼品目的の節税ツール化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406640" y="4151376"/>
            <a:ext cx="4297680" cy="62179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43800" y="415137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累進課税の重い分を社会課題に投資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773168"/>
            <a:ext cx="2743200" cy="62179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47731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指定の粒度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474720" y="4773168"/>
            <a:ext cx="3840480" cy="62179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11880" y="477316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自治体単位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406640" y="4773168"/>
            <a:ext cx="4297680" cy="62179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43800" y="47731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施設・部署単位まで指定可能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5394960"/>
            <a:ext cx="2743200" cy="62179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39496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透明性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3474720" y="5394960"/>
            <a:ext cx="3840480" cy="621792"/>
          </a:xfrm>
          <a:prstGeom prst="rect">
            <a:avLst/>
          </a:prstGeom>
          <a:solidFill>
            <a:srgbClr val="0A0A0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11880" y="53949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報告義務が緩い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7406640" y="5394960"/>
            <a:ext cx="4297680" cy="62179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43800" y="539496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四半期ごと報告、マイナポータルで公開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016752"/>
            <a:ext cx="2743200" cy="62179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6016752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自治体間の公平性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474720" y="6016752"/>
            <a:ext cx="3840480" cy="621792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11880" y="601675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都市部の税収流出が問題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7406640" y="6016752"/>
            <a:ext cx="4297680" cy="621792"/>
          </a:xfrm>
          <a:prstGeom prst="rect">
            <a:avLst/>
          </a:prstGeom>
          <a:solidFill>
            <a:srgbClr val="2A1414"/>
          </a:solidFill>
          <a:ln w="19050">
            <a:solidFill>
              <a:srgbClr val="D628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43800" y="601675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居住自治体に75%確保し流出を抑制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他の提言とのつながり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提言001・004・005は、同じ哲学でつながっている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1A3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8C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日本再起動プラン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383280"/>
            <a:ext cx="297180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639312"/>
            <a:ext cx="228600" cy="228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34440" y="3566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最低賃金2,000円で中央値に収束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4261104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34440" y="41879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消費税増収（+13兆円）が005の財源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407408" y="20116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1A1A3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681728" y="2286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8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提言004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681728" y="26974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相続税の不条理是正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681728" y="3383280"/>
            <a:ext cx="297180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016" y="363931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001768" y="3566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超富裕層にも「敬意ある税率」を</a:t>
            </a:r>
            <a:endParaRPr lang="en-US" sz="12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4261104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001768" y="41879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相続税収への依存を前提としない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174736" y="201168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2A1414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449056" y="2286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提言005</a:t>
            </a:r>
            <a:endParaRPr lang="en-US" sz="2000" dirty="0"/>
          </a:p>
        </p:txBody>
      </p:sp>
      <p:sp>
        <p:nvSpPr>
          <p:cNvPr id="24" name="Text 18"/>
          <p:cNvSpPr/>
          <p:nvPr/>
        </p:nvSpPr>
        <p:spPr>
          <a:xfrm>
            <a:off x="8449056" y="26974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用途指定寄付制度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8449056" y="3383280"/>
            <a:ext cx="297180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7344" y="3639312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769096" y="3566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所得税の基準が中央値（5%）</a:t>
            </a:r>
            <a:endParaRPr lang="en-US" sz="12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426110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769096" y="418795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001の消費税増収枠内で財源を確保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「頑張って働き、納税してきた人への、もう一つの選択肢。」それが提言005の核心です。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今後の検討課題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まだ詰めが必要な、5つの論点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92024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1920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所得税控除の基準（中央値の税率）を、何年ごとに見直すか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61488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761488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761488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消費税控除の対象「10万円超」の範囲（耐久消費財に限るか、サービス購入も含むか）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602736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602736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3602736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用途限定メニューの予算審査における、具体的な審査基準の設計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43984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443984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443984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マイナポータルでの成果報告公開の、具体的な表示フォーマット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285232"/>
            <a:ext cx="10881360" cy="749808"/>
          </a:xfrm>
          <a:prstGeom prst="roundRect">
            <a:avLst>
              <a:gd name="adj" fmla="val 6098"/>
            </a:avLst>
          </a:prstGeom>
          <a:solidFill>
            <a:srgbClr val="1A1A1A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285232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8760" y="5285232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ふるさと納税の即時廃止に伴う、自治体側の移行対応（返礼品事業者との契約整理等）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446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REBOOT JAPAN ── 提言005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税金を「取られる」のではなく、「託す」時代へ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累進課税で重くなった分は、困っている現場、応援したい施設へ直接届けられます。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ふるさと納税の「返礼品競争」を終わらせ、本物の「使い道を選ぶ」制度に作り変えます。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3474720"/>
            <a:ext cx="3657600" cy="0"/>
          </a:xfrm>
          <a:prstGeom prst="line">
            <a:avLst/>
          </a:prstGeom>
          <a:noFill/>
          <a:ln w="12700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70332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お金を「取られる」のではなく、「託す」。
</a:t>
            </a:r>
            <a:pPr indent="0" marL="0">
              <a:lnSpc>
                <a:spcPct val="140000"/>
              </a:lnSpc>
              <a:buNone/>
            </a:pPr>
            <a:r>
              <a:rPr lang="en-US" sz="22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どこに、何のために届けるかを、自分で選ぶ。
</a:t>
            </a:r>
            <a:pPr indent="0" marL="0">
              <a:lnSpc>
                <a:spcPct val="140000"/>
              </a:lnSpc>
              <a:buNone/>
            </a:pPr>
            <a:r>
              <a:rPr lang="en-US" sz="2200" b="1" dirty="0">
                <a:solidFill>
                  <a:srgbClr val="D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それが、新しい納税の形。</a:t>
            </a:r>
            <a:endParaRPr lang="en-US" sz="2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9601200" y="384048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提言005：公的機関への用途指定寄付制度</dc:title>
  <dc:subject>PptxGenJS Presentation</dc:subject>
  <dc:creator>REBOOT JAPAN</dc:creator>
  <cp:lastModifiedBy>REBOOT JAPAN</cp:lastModifiedBy>
  <cp:revision>1</cp:revision>
  <dcterms:created xsi:type="dcterms:W3CDTF">2026-06-22T11:45:13Z</dcterms:created>
  <dcterms:modified xsi:type="dcterms:W3CDTF">2026-06-22T11:45:13Z</dcterms:modified>
</cp:coreProperties>
</file>