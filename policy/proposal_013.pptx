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502920"/>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政策提言プラットフォーム ── 提言 013</a:t>
            </a:r>
            <a:endParaRPr lang="en-US" sz="1200" dirty="0"/>
          </a:p>
        </p:txBody>
      </p:sp>
      <p:sp>
        <p:nvSpPr>
          <p:cNvPr id="3" name="Text 1"/>
          <p:cNvSpPr/>
          <p:nvPr/>
        </p:nvSpPr>
        <p:spPr>
          <a:xfrm>
            <a:off x="548640" y="1554480"/>
            <a:ext cx="8046720" cy="1737360"/>
          </a:xfrm>
          <a:prstGeom prst="rect">
            <a:avLst/>
          </a:prstGeom>
          <a:noFill/>
          <a:ln/>
        </p:spPr>
        <p:txBody>
          <a:bodyPr wrap="square" lIns="0" tIns="0" rIns="0" bIns="0" rtlCol="0" anchor="t"/>
          <a:lstStyle/>
          <a:p>
            <a:pPr indent="0" marL="0">
              <a:lnSpc>
                <a:spcPct val="120000"/>
              </a:lnSpc>
              <a:buNone/>
            </a:pPr>
            <a:r>
              <a:rPr lang="en-US" sz="3200" b="1" dirty="0">
                <a:solidFill>
                  <a:srgbClr val="16181D"/>
                </a:solidFill>
                <a:latin typeface="BIZ UDPGothic" pitchFamily="34" charset="0"/>
                <a:ea typeface="BIZ UDPGothic" pitchFamily="34" charset="-122"/>
                <a:cs typeface="BIZ UDPGothic" pitchFamily="34" charset="-120"/>
              </a:rPr>
              <a:t>企業補助金の抜本改革と</a:t>
            </a:r>
            <a:endParaRPr lang="en-US" sz="3200" dirty="0"/>
          </a:p>
          <a:p>
            <a:pPr indent="0" marL="0">
              <a:lnSpc>
                <a:spcPct val="120000"/>
              </a:lnSpc>
              <a:buNone/>
            </a:pPr>
            <a:r>
              <a:rPr lang="en-US" sz="3200" b="1" dirty="0">
                <a:solidFill>
                  <a:srgbClr val="16181D"/>
                </a:solidFill>
                <a:latin typeface="BIZ UDPGothic" pitchFamily="34" charset="0"/>
                <a:ea typeface="BIZ UDPGothic" pitchFamily="34" charset="-122"/>
                <a:cs typeface="BIZ UDPGothic" pitchFamily="34" charset="-120"/>
              </a:rPr>
              <a:t>未来創出・文化継承への国家投資集中</a:t>
            </a:r>
            <a:endParaRPr lang="en-US" sz="3200" dirty="0"/>
          </a:p>
        </p:txBody>
      </p:sp>
      <p:sp>
        <p:nvSpPr>
          <p:cNvPr id="4" name="Text 2"/>
          <p:cNvSpPr/>
          <p:nvPr/>
        </p:nvSpPr>
        <p:spPr>
          <a:xfrm>
            <a:off x="548640" y="3429000"/>
            <a:ext cx="8046720" cy="457200"/>
          </a:xfrm>
          <a:prstGeom prst="rect">
            <a:avLst/>
          </a:prstGeom>
          <a:noFill/>
          <a:ln/>
        </p:spPr>
        <p:txBody>
          <a:bodyPr wrap="square" lIns="0" tIns="0" rIns="0" bIns="0" rtlCol="0" anchor="ctr"/>
          <a:lstStyle/>
          <a:p>
            <a:pPr indent="0" marL="0">
              <a:buNone/>
            </a:pPr>
            <a:r>
              <a:rPr lang="en-US" sz="1400" dirty="0">
                <a:solidFill>
                  <a:srgbClr val="16181D">
                    <a:alpha val="70000"/>
                  </a:srgbClr>
                </a:solidFill>
                <a:latin typeface="BIZ UDPGothic" pitchFamily="34" charset="0"/>
                <a:ea typeface="BIZ UDPGothic" pitchFamily="34" charset="-122"/>
                <a:cs typeface="BIZ UDPGothic" pitchFamily="34" charset="-120"/>
              </a:rPr>
              <a:t>〜バラマキ補助金をやめて、未来と伝統を守るお金に変える〜</a:t>
            </a:r>
            <a:endParaRPr lang="en-US" sz="1400" dirty="0"/>
          </a:p>
        </p:txBody>
      </p:sp>
      <p:sp>
        <p:nvSpPr>
          <p:cNvPr id="5" name="Text 3"/>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6" name="Text 4"/>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PROBLEM</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なぜ今、この問題なのか？</a:t>
            </a:r>
            <a:endParaRPr lang="en-US" sz="2600" dirty="0"/>
          </a:p>
        </p:txBody>
      </p:sp>
      <p:sp>
        <p:nvSpPr>
          <p:cNvPr id="4" name="Text 2"/>
          <p:cNvSpPr/>
          <p:nvPr/>
        </p:nvSpPr>
        <p:spPr>
          <a:xfrm>
            <a:off x="548640" y="141732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141732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バラマキ補助金が「延命」に使われている</a:t>
            </a:r>
            <a:endParaRPr lang="en-US" sz="1500" dirty="0"/>
          </a:p>
        </p:txBody>
      </p:sp>
      <p:sp>
        <p:nvSpPr>
          <p:cNvPr id="6" name="Text 4"/>
          <p:cNvSpPr/>
          <p:nvPr/>
        </p:nvSpPr>
        <p:spPr>
          <a:xfrm>
            <a:off x="1417320" y="176479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もう十分に大きくなった業界にも、毎年同じような補助金が配られ続けている。</a:t>
            </a:r>
            <a:endParaRPr lang="en-US" sz="1150" dirty="0"/>
          </a:p>
        </p:txBody>
      </p:sp>
      <p:sp>
        <p:nvSpPr>
          <p:cNvPr id="7" name="Text 5"/>
          <p:cNvSpPr/>
          <p:nvPr/>
        </p:nvSpPr>
        <p:spPr>
          <a:xfrm>
            <a:off x="548640" y="246888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8" name="Text 6"/>
          <p:cNvSpPr/>
          <p:nvPr/>
        </p:nvSpPr>
        <p:spPr>
          <a:xfrm>
            <a:off x="1417320" y="246888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「未来をつくる投資」への集中が足りない</a:t>
            </a:r>
            <a:endParaRPr lang="en-US" sz="1500" dirty="0"/>
          </a:p>
        </p:txBody>
      </p:sp>
      <p:sp>
        <p:nvSpPr>
          <p:cNvPr id="9" name="Text 7"/>
          <p:cNvSpPr/>
          <p:nvPr/>
        </p:nvSpPr>
        <p:spPr>
          <a:xfrm>
            <a:off x="1417320" y="281635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量子コンピュータや宇宙開発など、10年後の日本を左右する分野への投資はまだ小さい。</a:t>
            </a:r>
            <a:endParaRPr lang="en-US" sz="1150" dirty="0"/>
          </a:p>
        </p:txBody>
      </p:sp>
      <p:sp>
        <p:nvSpPr>
          <p:cNvPr id="10" name="Text 8"/>
          <p:cNvSpPr/>
          <p:nvPr/>
        </p:nvSpPr>
        <p:spPr>
          <a:xfrm>
            <a:off x="548640" y="352044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03</a:t>
            </a:r>
            <a:endParaRPr lang="en-US" sz="2200" dirty="0"/>
          </a:p>
        </p:txBody>
      </p:sp>
      <p:sp>
        <p:nvSpPr>
          <p:cNvPr id="11" name="Text 9"/>
          <p:cNvSpPr/>
          <p:nvPr/>
        </p:nvSpPr>
        <p:spPr>
          <a:xfrm>
            <a:off x="1417320" y="352044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補助金が人の「転職」を妨げている</a:t>
            </a:r>
            <a:endParaRPr lang="en-US" sz="1500" dirty="0"/>
          </a:p>
        </p:txBody>
      </p:sp>
      <p:sp>
        <p:nvSpPr>
          <p:cNvPr id="12" name="Text 10"/>
          <p:cNvSpPr/>
          <p:nvPr/>
        </p:nvSpPr>
        <p:spPr>
          <a:xfrm>
            <a:off x="1417320" y="386791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雇用を守るための補助金が、かえって成長分野への人の移動を止めてしまっている。</a:t>
            </a:r>
            <a:endParaRPr lang="en-US" sz="1150" dirty="0"/>
          </a:p>
        </p:txBody>
      </p:sp>
      <p:sp>
        <p:nvSpPr>
          <p:cNvPr id="13" name="Text 11"/>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4" name="Text 12"/>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BASICS</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そもそも「補助金」って何？</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国が、企業の活動を応援するために配る「返さなくていいお金」。財源は私たちの税金。</a:t>
            </a:r>
            <a:endParaRPr lang="en-US" sz="1350" dirty="0"/>
          </a:p>
        </p:txBody>
      </p:sp>
      <p:sp>
        <p:nvSpPr>
          <p:cNvPr id="5" name="Shape 3"/>
          <p:cNvSpPr/>
          <p:nvPr/>
        </p:nvSpPr>
        <p:spPr>
          <a:xfrm>
            <a:off x="548640" y="2057400"/>
            <a:ext cx="3886200" cy="2377440"/>
          </a:xfrm>
          <a:prstGeom prst="roundRect">
            <a:avLst>
              <a:gd name="adj" fmla="val 3077"/>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777240" y="2286000"/>
            <a:ext cx="91440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7" name="Text 5"/>
          <p:cNvSpPr/>
          <p:nvPr/>
        </p:nvSpPr>
        <p:spPr>
          <a:xfrm>
            <a:off x="777240" y="2880360"/>
            <a:ext cx="3474720" cy="32004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たとえば</a:t>
            </a:r>
            <a:endParaRPr lang="en-US" sz="1300" dirty="0"/>
          </a:p>
        </p:txBody>
      </p:sp>
      <p:sp>
        <p:nvSpPr>
          <p:cNvPr id="8" name="Text 6"/>
          <p:cNvSpPr/>
          <p:nvPr/>
        </p:nvSpPr>
        <p:spPr>
          <a:xfrm>
            <a:off x="777240" y="3200400"/>
            <a:ext cx="3474720" cy="1097280"/>
          </a:xfrm>
          <a:prstGeom prst="rect">
            <a:avLst/>
          </a:prstGeom>
          <a:noFill/>
          <a:ln/>
        </p:spPr>
        <p:txBody>
          <a:bodyPr wrap="square" lIns="0" tIns="0" rIns="0" bIns="0" rtlCol="0" anchor="ctr"/>
          <a:lstStyle/>
          <a:p>
            <a:pPr indent="0" marL="0">
              <a:lnSpc>
                <a:spcPct val="130000"/>
              </a:lnSpc>
              <a:buNone/>
            </a:pPr>
            <a:r>
              <a:rPr lang="en-US" sz="1200" dirty="0">
                <a:solidFill>
                  <a:srgbClr val="16181D">
                    <a:alpha val="90000"/>
                  </a:srgbClr>
                </a:solidFill>
                <a:latin typeface="BIZ UDPGothic" pitchFamily="34" charset="0"/>
                <a:ea typeface="BIZ UDPGothic" pitchFamily="34" charset="-122"/>
                <a:cs typeface="BIZ UDPGothic" pitchFamily="34" charset="-120"/>
              </a:rPr>
              <a:t>工場に新しい機械を入れるとき、費用の一部を国が肩代わりしてくれる制度。</a:t>
            </a:r>
            <a:endParaRPr lang="en-US" sz="1200" dirty="0"/>
          </a:p>
        </p:txBody>
      </p:sp>
      <p:sp>
        <p:nvSpPr>
          <p:cNvPr id="9" name="Shape 7"/>
          <p:cNvSpPr/>
          <p:nvPr/>
        </p:nvSpPr>
        <p:spPr>
          <a:xfrm>
            <a:off x="4663440" y="2057400"/>
            <a:ext cx="3931920" cy="2377440"/>
          </a:xfrm>
          <a:prstGeom prst="roundRect">
            <a:avLst>
              <a:gd name="adj" fmla="val 3077"/>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4892040" y="2286000"/>
            <a:ext cx="914400" cy="548640"/>
          </a:xfrm>
          <a:prstGeom prst="rect">
            <a:avLst/>
          </a:prstGeom>
          <a:noFill/>
          <a:ln/>
        </p:spPr>
        <p:txBody>
          <a:bodyPr wrap="square" lIns="0" tIns="0" rIns="0" bIns="0" rtlCol="0" anchor="ctr"/>
          <a:lstStyle/>
          <a:p>
            <a:pPr indent="0" marL="0">
              <a:buNone/>
            </a:pPr>
            <a:r>
              <a:rPr lang="en-US" sz="2800" dirty="0">
                <a:solidFill>
                  <a:srgbClr val="000000"/>
                </a:solidFill>
              </a:rPr>
              <a:t>⚠️</a:t>
            </a:r>
            <a:endParaRPr lang="en-US" sz="2800" dirty="0"/>
          </a:p>
        </p:txBody>
      </p:sp>
      <p:sp>
        <p:nvSpPr>
          <p:cNvPr id="11" name="Text 9"/>
          <p:cNvSpPr/>
          <p:nvPr/>
        </p:nvSpPr>
        <p:spPr>
          <a:xfrm>
            <a:off x="4892040" y="2880360"/>
            <a:ext cx="3520440" cy="32004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何が問題？</a:t>
            </a:r>
            <a:endParaRPr lang="en-US" sz="1300" dirty="0"/>
          </a:p>
        </p:txBody>
      </p:sp>
      <p:sp>
        <p:nvSpPr>
          <p:cNvPr id="12" name="Text 10"/>
          <p:cNvSpPr/>
          <p:nvPr/>
        </p:nvSpPr>
        <p:spPr>
          <a:xfrm>
            <a:off x="4892040" y="3200400"/>
            <a:ext cx="3520440" cy="1097280"/>
          </a:xfrm>
          <a:prstGeom prst="rect">
            <a:avLst/>
          </a:prstGeom>
          <a:noFill/>
          <a:ln/>
        </p:spPr>
        <p:txBody>
          <a:bodyPr wrap="square" lIns="0" tIns="0" rIns="0" bIns="0" rtlCol="0" anchor="ctr"/>
          <a:lstStyle/>
          <a:p>
            <a:pPr indent="0" marL="0">
              <a:lnSpc>
                <a:spcPct val="130000"/>
              </a:lnSpc>
              <a:buNone/>
            </a:pPr>
            <a:r>
              <a:rPr lang="en-US" sz="1200" dirty="0">
                <a:solidFill>
                  <a:srgbClr val="16181D">
                    <a:alpha val="90000"/>
                  </a:srgbClr>
                </a:solidFill>
                <a:latin typeface="BIZ UDPGothic" pitchFamily="34" charset="0"/>
                <a:ea typeface="BIZ UDPGothic" pitchFamily="34" charset="-122"/>
                <a:cs typeface="BIZ UDPGothic" pitchFamily="34" charset="-120"/>
              </a:rPr>
              <a:t>「なぜこの補助金を出すのか」が曖昧なまま配り続けると、本当に必要なところにお金が届かなくなる。</a:t>
            </a:r>
            <a:endParaRPr lang="en-US" sz="1200" dirty="0"/>
          </a:p>
        </p:txBody>
      </p:sp>
      <p:sp>
        <p:nvSpPr>
          <p:cNvPr id="13" name="Text 11"/>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4" name="Text 12"/>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OVERVIEW</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この提言の全体像：5つの柱</a:t>
            </a:r>
            <a:endParaRPr lang="en-US" sz="2600" dirty="0"/>
          </a:p>
        </p:txBody>
      </p:sp>
      <p:sp>
        <p:nvSpPr>
          <p:cNvPr id="4" name="Shape 2"/>
          <p:cNvSpPr/>
          <p:nvPr/>
        </p:nvSpPr>
        <p:spPr>
          <a:xfrm>
            <a:off x="548640" y="1417320"/>
            <a:ext cx="1448410" cy="2468880"/>
          </a:xfrm>
          <a:prstGeom prst="roundRect">
            <a:avLst>
              <a:gd name="adj" fmla="val 505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685800" y="1581912"/>
            <a:ext cx="117409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4"/>
          <p:cNvSpPr/>
          <p:nvPr/>
        </p:nvSpPr>
        <p:spPr>
          <a:xfrm>
            <a:off x="685800" y="2103120"/>
            <a:ext cx="1174090"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① 未来への</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集中投資</a:t>
            </a:r>
            <a:endParaRPr lang="en-US" sz="1250" dirty="0"/>
          </a:p>
        </p:txBody>
      </p:sp>
      <p:sp>
        <p:nvSpPr>
          <p:cNvPr id="7" name="Text 5"/>
          <p:cNvSpPr/>
          <p:nvPr/>
        </p:nvSpPr>
        <p:spPr>
          <a:xfrm>
            <a:off x="685800" y="2788920"/>
            <a:ext cx="1174090" cy="100584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量子・宇宙・海洋資源等に補助金を絞る</a:t>
            </a:r>
            <a:endParaRPr lang="en-US" sz="950" dirty="0"/>
          </a:p>
        </p:txBody>
      </p:sp>
      <p:sp>
        <p:nvSpPr>
          <p:cNvPr id="8" name="Shape 6"/>
          <p:cNvSpPr/>
          <p:nvPr/>
        </p:nvSpPr>
        <p:spPr>
          <a:xfrm>
            <a:off x="2198218" y="1417320"/>
            <a:ext cx="1448410" cy="2468880"/>
          </a:xfrm>
          <a:prstGeom prst="roundRect">
            <a:avLst>
              <a:gd name="adj" fmla="val 505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2335378" y="1581912"/>
            <a:ext cx="117409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8"/>
          <p:cNvSpPr/>
          <p:nvPr/>
        </p:nvSpPr>
        <p:spPr>
          <a:xfrm>
            <a:off x="2335378" y="2103120"/>
            <a:ext cx="1174090"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② 古い補助金</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の全廃</a:t>
            </a:r>
            <a:endParaRPr lang="en-US" sz="1250" dirty="0"/>
          </a:p>
        </p:txBody>
      </p:sp>
      <p:sp>
        <p:nvSpPr>
          <p:cNvPr id="11" name="Text 9"/>
          <p:cNvSpPr/>
          <p:nvPr/>
        </p:nvSpPr>
        <p:spPr>
          <a:xfrm>
            <a:off x="2335378" y="2788920"/>
            <a:ext cx="1174090" cy="100584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成熟業界向けの汎用プログラムをやめる</a:t>
            </a:r>
            <a:endParaRPr lang="en-US" sz="950" dirty="0"/>
          </a:p>
        </p:txBody>
      </p:sp>
      <p:sp>
        <p:nvSpPr>
          <p:cNvPr id="12" name="Shape 10"/>
          <p:cNvSpPr/>
          <p:nvPr/>
        </p:nvSpPr>
        <p:spPr>
          <a:xfrm>
            <a:off x="3847795" y="1417320"/>
            <a:ext cx="1448410" cy="2468880"/>
          </a:xfrm>
          <a:prstGeom prst="roundRect">
            <a:avLst>
              <a:gd name="adj" fmla="val 505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3984955" y="1581912"/>
            <a:ext cx="117409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2"/>
          <p:cNvSpPr/>
          <p:nvPr/>
        </p:nvSpPr>
        <p:spPr>
          <a:xfrm>
            <a:off x="3984955" y="2103120"/>
            <a:ext cx="1174090"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③ 伝統文化を</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恒久保護</a:t>
            </a:r>
            <a:endParaRPr lang="en-US" sz="1250" dirty="0"/>
          </a:p>
        </p:txBody>
      </p:sp>
      <p:sp>
        <p:nvSpPr>
          <p:cNvPr id="15" name="Text 13"/>
          <p:cNvSpPr/>
          <p:nvPr/>
        </p:nvSpPr>
        <p:spPr>
          <a:xfrm>
            <a:off x="3984955" y="2788920"/>
            <a:ext cx="1174090" cy="100584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工芸・神社仏閣・伝統芸能を守り抜く</a:t>
            </a:r>
            <a:endParaRPr lang="en-US" sz="950" dirty="0"/>
          </a:p>
        </p:txBody>
      </p:sp>
      <p:sp>
        <p:nvSpPr>
          <p:cNvPr id="16" name="Shape 14"/>
          <p:cNvSpPr/>
          <p:nvPr/>
        </p:nvSpPr>
        <p:spPr>
          <a:xfrm>
            <a:off x="5497373" y="1417320"/>
            <a:ext cx="1448410" cy="2468880"/>
          </a:xfrm>
          <a:prstGeom prst="roundRect">
            <a:avLst>
              <a:gd name="adj" fmla="val 505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5634533" y="1581912"/>
            <a:ext cx="117409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8" name="Text 16"/>
          <p:cNvSpPr/>
          <p:nvPr/>
        </p:nvSpPr>
        <p:spPr>
          <a:xfrm>
            <a:off x="5634533" y="2103120"/>
            <a:ext cx="1174090"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④ 3つの</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厳しいルール</a:t>
            </a:r>
            <a:endParaRPr lang="en-US" sz="1250" dirty="0"/>
          </a:p>
        </p:txBody>
      </p:sp>
      <p:sp>
        <p:nvSpPr>
          <p:cNvPr id="19" name="Text 17"/>
          <p:cNvSpPr/>
          <p:nvPr/>
        </p:nvSpPr>
        <p:spPr>
          <a:xfrm>
            <a:off x="5634533" y="2788920"/>
            <a:ext cx="1174090" cy="100584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調達・倒産回避・雇用支援に制約</a:t>
            </a:r>
            <a:endParaRPr lang="en-US" sz="950" dirty="0"/>
          </a:p>
        </p:txBody>
      </p:sp>
      <p:sp>
        <p:nvSpPr>
          <p:cNvPr id="20" name="Shape 18"/>
          <p:cNvSpPr/>
          <p:nvPr/>
        </p:nvSpPr>
        <p:spPr>
          <a:xfrm>
            <a:off x="7146950" y="1417320"/>
            <a:ext cx="1448410" cy="2468880"/>
          </a:xfrm>
          <a:prstGeom prst="roundRect">
            <a:avLst>
              <a:gd name="adj" fmla="val 505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7284110" y="1581912"/>
            <a:ext cx="1174090"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2" name="Text 20"/>
          <p:cNvSpPr/>
          <p:nvPr/>
        </p:nvSpPr>
        <p:spPr>
          <a:xfrm>
            <a:off x="7284110" y="2103120"/>
            <a:ext cx="1174090"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⑤ 再就職</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支援の新設</a:t>
            </a:r>
            <a:endParaRPr lang="en-US" sz="1250" dirty="0"/>
          </a:p>
        </p:txBody>
      </p:sp>
      <p:sp>
        <p:nvSpPr>
          <p:cNvPr id="23" name="Text 21"/>
          <p:cNvSpPr/>
          <p:nvPr/>
        </p:nvSpPr>
        <p:spPr>
          <a:xfrm>
            <a:off x="7284110" y="2788920"/>
            <a:ext cx="1174090" cy="100584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離職後の労働移動を国が支える</a:t>
            </a:r>
            <a:endParaRPr lang="en-US" sz="950" dirty="0"/>
          </a:p>
        </p:txBody>
      </p:sp>
      <p:sp>
        <p:nvSpPr>
          <p:cNvPr id="24" name="Text 22"/>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25" name="Text 23"/>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01</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未来をつくる投資に絞る</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研究や設備投資への補助金は、10年後の日本の競争力を決める分野だけに集中させる。</a:t>
            </a:r>
            <a:endParaRPr lang="en-US" sz="1350" dirty="0"/>
          </a:p>
        </p:txBody>
      </p:sp>
      <p:sp>
        <p:nvSpPr>
          <p:cNvPr id="5" name="Shape 3"/>
          <p:cNvSpPr/>
          <p:nvPr/>
        </p:nvSpPr>
        <p:spPr>
          <a:xfrm>
            <a:off x="548640" y="2103120"/>
            <a:ext cx="8046720" cy="2331720"/>
          </a:xfrm>
          <a:prstGeom prst="roundRect">
            <a:avLst>
              <a:gd name="adj" fmla="val 3137"/>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822960" y="2331720"/>
            <a:ext cx="914400" cy="640080"/>
          </a:xfrm>
          <a:prstGeom prst="rect">
            <a:avLst/>
          </a:prstGeom>
          <a:noFill/>
          <a:ln/>
        </p:spPr>
        <p:txBody>
          <a:bodyPr wrap="square" lIns="0" tIns="0" rIns="0" bIns="0" rtlCol="0" anchor="ctr"/>
          <a:lstStyle/>
          <a:p>
            <a:pPr indent="0" marL="0">
              <a:buNone/>
            </a:pPr>
            <a:r>
              <a:rPr lang="en-US" sz="3200" dirty="0">
                <a:solidFill>
                  <a:srgbClr val="000000"/>
                </a:solidFill>
              </a:rPr>
              <a:t>🏙️</a:t>
            </a:r>
            <a:endParaRPr lang="en-US" sz="3200" dirty="0"/>
          </a:p>
        </p:txBody>
      </p:sp>
      <p:sp>
        <p:nvSpPr>
          <p:cNvPr id="7" name="Text 5"/>
          <p:cNvSpPr/>
          <p:nvPr/>
        </p:nvSpPr>
        <p:spPr>
          <a:xfrm>
            <a:off x="1737360" y="2377440"/>
            <a:ext cx="6583680" cy="365760"/>
          </a:xfrm>
          <a:prstGeom prst="rect">
            <a:avLst/>
          </a:prstGeom>
          <a:noFill/>
          <a:ln/>
        </p:spPr>
        <p:txBody>
          <a:bodyPr wrap="square" lIns="0" tIns="0" rIns="0" bIns="0" rtlCol="0" anchor="ctr"/>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象徴的な例：トヨタ「ウーブン・シティ」</a:t>
            </a:r>
            <a:endParaRPr lang="en-US" sz="1500" dirty="0"/>
          </a:p>
        </p:txBody>
      </p:sp>
      <p:sp>
        <p:nvSpPr>
          <p:cNvPr id="8" name="Text 6"/>
          <p:cNvSpPr/>
          <p:nvPr/>
        </p:nvSpPr>
        <p:spPr>
          <a:xfrm>
            <a:off x="1737360" y="2788920"/>
            <a:ext cx="6583680" cy="1463040"/>
          </a:xfrm>
          <a:prstGeom prst="rect">
            <a:avLst/>
          </a:prstGeom>
          <a:noFill/>
          <a:ln/>
        </p:spPr>
        <p:txBody>
          <a:bodyPr wrap="square" lIns="0" tIns="0" rIns="0" bIns="0" rtlCol="0" anchor="ctr"/>
          <a:lstStyle/>
          <a:p>
            <a:pPr indent="0" marL="0">
              <a:lnSpc>
                <a:spcPct val="135000"/>
              </a:lnSpc>
              <a:buNone/>
            </a:pPr>
            <a:r>
              <a:rPr lang="en-US" sz="1250" dirty="0">
                <a:solidFill>
                  <a:srgbClr val="16181D">
                    <a:alpha val="90000"/>
                  </a:srgbClr>
                </a:solidFill>
                <a:latin typeface="BIZ UDPGothic" pitchFamily="34" charset="0"/>
                <a:ea typeface="BIZ UDPGothic" pitchFamily="34" charset="-122"/>
                <a:cs typeface="BIZ UDPGothic" pitchFamily="34" charset="-120"/>
              </a:rPr>
              <a:t>AI・ロボット・自動運転・水素エネルギーなどを一つの街でまとめて試す、実験都市プロジェクト。こうした「未来を実際につくってみる」大型プロジェクトに、国のお金を集中的に投じる。</a:t>
            </a:r>
            <a:endParaRPr lang="en-US" sz="1250" dirty="0"/>
          </a:p>
        </p:txBody>
      </p:sp>
      <p:sp>
        <p:nvSpPr>
          <p:cNvPr id="9" name="Text 7"/>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0" name="Text 8"/>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01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300" b="1" dirty="0">
                <a:solidFill>
                  <a:srgbClr val="16181D"/>
                </a:solidFill>
                <a:latin typeface="BIZ UDPGothic" pitchFamily="34" charset="0"/>
                <a:ea typeface="BIZ UDPGothic" pitchFamily="34" charset="-122"/>
                <a:cs typeface="BIZ UDPGothic" pitchFamily="34" charset="-120"/>
              </a:rPr>
              <a:t>対象になる4つの技術（やさしく解説）</a:t>
            </a:r>
            <a:endParaRPr lang="en-US" sz="2300" dirty="0"/>
          </a:p>
        </p:txBody>
      </p:sp>
      <p:sp>
        <p:nvSpPr>
          <p:cNvPr id="4" name="Shape 2"/>
          <p:cNvSpPr/>
          <p:nvPr/>
        </p:nvSpPr>
        <p:spPr>
          <a:xfrm>
            <a:off x="548640" y="1371600"/>
            <a:ext cx="1860804" cy="2606040"/>
          </a:xfrm>
          <a:prstGeom prst="roundRect">
            <a:avLst>
              <a:gd name="adj" fmla="val 393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685800" y="1536192"/>
            <a:ext cx="1586484"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4"/>
          <p:cNvSpPr/>
          <p:nvPr/>
        </p:nvSpPr>
        <p:spPr>
          <a:xfrm>
            <a:off x="685800" y="2057400"/>
            <a:ext cx="1586484"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海底レアアース</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・海洋資源</a:t>
            </a:r>
            <a:endParaRPr lang="en-US" sz="1250" dirty="0"/>
          </a:p>
        </p:txBody>
      </p:sp>
      <p:sp>
        <p:nvSpPr>
          <p:cNvPr id="7" name="Text 5"/>
          <p:cNvSpPr/>
          <p:nvPr/>
        </p:nvSpPr>
        <p:spPr>
          <a:xfrm>
            <a:off x="685800" y="2743200"/>
            <a:ext cx="1586484" cy="114300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スマホや電池に欠かせない金属を、海の底から自分の国で確保する</a:t>
            </a:r>
            <a:endParaRPr lang="en-US" sz="950" dirty="0"/>
          </a:p>
        </p:txBody>
      </p:sp>
      <p:sp>
        <p:nvSpPr>
          <p:cNvPr id="8" name="Shape 6"/>
          <p:cNvSpPr/>
          <p:nvPr/>
        </p:nvSpPr>
        <p:spPr>
          <a:xfrm>
            <a:off x="2610612" y="1371600"/>
            <a:ext cx="1860804" cy="2606040"/>
          </a:xfrm>
          <a:prstGeom prst="roundRect">
            <a:avLst>
              <a:gd name="adj" fmla="val 393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2747772" y="1536192"/>
            <a:ext cx="1586484"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8"/>
          <p:cNvSpPr/>
          <p:nvPr/>
        </p:nvSpPr>
        <p:spPr>
          <a:xfrm>
            <a:off x="2747772" y="2057400"/>
            <a:ext cx="1586484"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量子</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コンピュータ</a:t>
            </a:r>
            <a:endParaRPr lang="en-US" sz="1250" dirty="0"/>
          </a:p>
        </p:txBody>
      </p:sp>
      <p:sp>
        <p:nvSpPr>
          <p:cNvPr id="11" name="Text 9"/>
          <p:cNvSpPr/>
          <p:nvPr/>
        </p:nvSpPr>
        <p:spPr>
          <a:xfrm>
            <a:off x="2747772" y="2743200"/>
            <a:ext cx="1586484" cy="114300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今までのコンピュータよりずっと速く計算できる、次世代の計算機</a:t>
            </a:r>
            <a:endParaRPr lang="en-US" sz="950" dirty="0"/>
          </a:p>
        </p:txBody>
      </p:sp>
      <p:sp>
        <p:nvSpPr>
          <p:cNvPr id="12" name="Shape 10"/>
          <p:cNvSpPr/>
          <p:nvPr/>
        </p:nvSpPr>
        <p:spPr>
          <a:xfrm>
            <a:off x="4672584" y="1371600"/>
            <a:ext cx="1860804" cy="2606040"/>
          </a:xfrm>
          <a:prstGeom prst="roundRect">
            <a:avLst>
              <a:gd name="adj" fmla="val 393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4809744" y="1536192"/>
            <a:ext cx="1586484"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2"/>
          <p:cNvSpPr/>
          <p:nvPr/>
        </p:nvSpPr>
        <p:spPr>
          <a:xfrm>
            <a:off x="4809744" y="2057400"/>
            <a:ext cx="1586484"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宇宙開発</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・宇宙インフラ</a:t>
            </a:r>
            <a:endParaRPr lang="en-US" sz="1250" dirty="0"/>
          </a:p>
        </p:txBody>
      </p:sp>
      <p:sp>
        <p:nvSpPr>
          <p:cNvPr id="15" name="Text 13"/>
          <p:cNvSpPr/>
          <p:nvPr/>
        </p:nvSpPr>
        <p:spPr>
          <a:xfrm>
            <a:off x="4809744" y="2743200"/>
            <a:ext cx="1586484" cy="114300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ロケットや人工衛星など、宇宙で活動するための技術</a:t>
            </a:r>
            <a:endParaRPr lang="en-US" sz="950" dirty="0"/>
          </a:p>
        </p:txBody>
      </p:sp>
      <p:sp>
        <p:nvSpPr>
          <p:cNvPr id="16" name="Shape 14"/>
          <p:cNvSpPr/>
          <p:nvPr/>
        </p:nvSpPr>
        <p:spPr>
          <a:xfrm>
            <a:off x="6734556" y="1371600"/>
            <a:ext cx="1860804" cy="2606040"/>
          </a:xfrm>
          <a:prstGeom prst="roundRect">
            <a:avLst>
              <a:gd name="adj" fmla="val 393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7" name="Text 15"/>
          <p:cNvSpPr/>
          <p:nvPr/>
        </p:nvSpPr>
        <p:spPr>
          <a:xfrm>
            <a:off x="6871716" y="1536192"/>
            <a:ext cx="1586484"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8" name="Text 16"/>
          <p:cNvSpPr/>
          <p:nvPr/>
        </p:nvSpPr>
        <p:spPr>
          <a:xfrm>
            <a:off x="6871716" y="2057400"/>
            <a:ext cx="1586484"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フィジカルAI</a:t>
            </a:r>
            <a:endParaRPr lang="en-US" sz="1250" dirty="0"/>
          </a:p>
        </p:txBody>
      </p:sp>
      <p:sp>
        <p:nvSpPr>
          <p:cNvPr id="19" name="Text 17"/>
          <p:cNvSpPr/>
          <p:nvPr/>
        </p:nvSpPr>
        <p:spPr>
          <a:xfrm>
            <a:off x="6871716" y="2743200"/>
            <a:ext cx="1586484" cy="114300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工場や道路など、実際の世界で動くロボットの「頭脳」になるAI</a:t>
            </a:r>
            <a:endParaRPr lang="en-US" sz="950" dirty="0"/>
          </a:p>
        </p:txBody>
      </p:sp>
      <p:sp>
        <p:nvSpPr>
          <p:cNvPr id="20" name="Text 18"/>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21" name="Text 19"/>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01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審査は「会社」ではなく「プロジェクト」で</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「この会社はレガシーか未来か」ではなく、「この投資が対象の技術に当てはまるか」だけで判定する。</a:t>
            </a:r>
            <a:endParaRPr lang="en-US" sz="1350" dirty="0"/>
          </a:p>
        </p:txBody>
      </p:sp>
      <p:sp>
        <p:nvSpPr>
          <p:cNvPr id="5" name="Shape 3"/>
          <p:cNvSpPr/>
          <p:nvPr/>
        </p:nvSpPr>
        <p:spPr>
          <a:xfrm>
            <a:off x="548640" y="2194560"/>
            <a:ext cx="3886200" cy="2194560"/>
          </a:xfrm>
          <a:prstGeom prst="roundRect">
            <a:avLst>
              <a:gd name="adj" fmla="val 333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777240" y="2377440"/>
            <a:ext cx="3474720" cy="457200"/>
          </a:xfrm>
          <a:prstGeom prst="rect">
            <a:avLst/>
          </a:prstGeom>
          <a:noFill/>
          <a:ln/>
        </p:spPr>
        <p:txBody>
          <a:bodyPr wrap="square" lIns="0" tIns="0" rIns="0" bIns="0" rtlCol="0" anchor="ctr"/>
          <a:lstStyle/>
          <a:p>
            <a:pPr indent="0" marL="0">
              <a:buNone/>
            </a:pPr>
            <a:r>
              <a:rPr lang="en-US" sz="2200" dirty="0">
                <a:solidFill>
                  <a:srgbClr val="000000"/>
                </a:solidFill>
              </a:rPr>
              <a:t>🚕 → 🤖</a:t>
            </a:r>
            <a:endParaRPr lang="en-US" sz="2200" dirty="0"/>
          </a:p>
        </p:txBody>
      </p:sp>
      <p:sp>
        <p:nvSpPr>
          <p:cNvPr id="7" name="Text 5"/>
          <p:cNvSpPr/>
          <p:nvPr/>
        </p:nvSpPr>
        <p:spPr>
          <a:xfrm>
            <a:off x="777240" y="2880360"/>
            <a:ext cx="3474720" cy="320040"/>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タクシー会社が自動運転に投資</a:t>
            </a:r>
            <a:endParaRPr lang="en-US" sz="1300" dirty="0"/>
          </a:p>
        </p:txBody>
      </p:sp>
      <p:sp>
        <p:nvSpPr>
          <p:cNvPr id="8" name="Text 6"/>
          <p:cNvSpPr/>
          <p:nvPr/>
        </p:nvSpPr>
        <p:spPr>
          <a:xfrm>
            <a:off x="777240" y="3200400"/>
            <a:ext cx="3474720" cy="109728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業種は「レガシー」でも、プロジェクトがフィジカルAI領域に当てはまるので対象になる。</a:t>
            </a:r>
            <a:endParaRPr lang="en-US" sz="1150" dirty="0"/>
          </a:p>
        </p:txBody>
      </p:sp>
      <p:sp>
        <p:nvSpPr>
          <p:cNvPr id="9" name="Shape 7"/>
          <p:cNvSpPr/>
          <p:nvPr/>
        </p:nvSpPr>
        <p:spPr>
          <a:xfrm>
            <a:off x="4663440" y="2194560"/>
            <a:ext cx="3931920" cy="2194560"/>
          </a:xfrm>
          <a:prstGeom prst="roundRect">
            <a:avLst>
              <a:gd name="adj" fmla="val 333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4892040" y="2377440"/>
            <a:ext cx="3520440" cy="457200"/>
          </a:xfrm>
          <a:prstGeom prst="rect">
            <a:avLst/>
          </a:prstGeom>
          <a:noFill/>
          <a:ln/>
        </p:spPr>
        <p:txBody>
          <a:bodyPr wrap="square" lIns="0" tIns="0" rIns="0" bIns="0" rtlCol="0" anchor="ctr"/>
          <a:lstStyle/>
          <a:p>
            <a:pPr indent="0" marL="0">
              <a:buNone/>
            </a:pPr>
            <a:r>
              <a:rPr lang="en-US" sz="2200" dirty="0">
                <a:solidFill>
                  <a:srgbClr val="000000"/>
                </a:solidFill>
              </a:rPr>
              <a:t>🚗 → 🏭</a:t>
            </a:r>
            <a:endParaRPr lang="en-US" sz="2200" dirty="0"/>
          </a:p>
        </p:txBody>
      </p:sp>
      <p:sp>
        <p:nvSpPr>
          <p:cNvPr id="11" name="Text 9"/>
          <p:cNvSpPr/>
          <p:nvPr/>
        </p:nvSpPr>
        <p:spPr>
          <a:xfrm>
            <a:off x="4892040" y="2880360"/>
            <a:ext cx="3520440" cy="320040"/>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大企業が普通の工場を増設</a:t>
            </a:r>
            <a:endParaRPr lang="en-US" sz="1300" dirty="0"/>
          </a:p>
        </p:txBody>
      </p:sp>
      <p:sp>
        <p:nvSpPr>
          <p:cNvPr id="12" name="Text 10"/>
          <p:cNvSpPr/>
          <p:nvPr/>
        </p:nvSpPr>
        <p:spPr>
          <a:xfrm>
            <a:off x="4892040" y="3200400"/>
            <a:ext cx="3520440" cy="109728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会社としては有名でも、対象の技術領域に当てはまらないプロジェクトなら対象外になる。</a:t>
            </a:r>
            <a:endParaRPr lang="en-US" sz="1150" dirty="0"/>
          </a:p>
        </p:txBody>
      </p:sp>
      <p:sp>
        <p:nvSpPr>
          <p:cNvPr id="13" name="Text 11"/>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4" name="Text 12"/>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02</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古い業界向けの補助金はやめる</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「タクシー・鉄鋼・造船・化学が対象」ではなく、成熟した市場を延命させるプログラムそのものを一律で廃止する。</a:t>
            </a:r>
            <a:endParaRPr lang="en-US" sz="1350" dirty="0"/>
          </a:p>
        </p:txBody>
      </p:sp>
      <p:sp>
        <p:nvSpPr>
          <p:cNvPr id="5" name="Shape 3"/>
          <p:cNvSpPr/>
          <p:nvPr/>
        </p:nvSpPr>
        <p:spPr>
          <a:xfrm>
            <a:off x="548640" y="2148840"/>
            <a:ext cx="8046720" cy="2286000"/>
          </a:xfrm>
          <a:prstGeom prst="roundRect">
            <a:avLst>
              <a:gd name="adj" fmla="val 3200"/>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822960" y="2377440"/>
            <a:ext cx="914400" cy="640080"/>
          </a:xfrm>
          <a:prstGeom prst="rect">
            <a:avLst/>
          </a:prstGeom>
          <a:noFill/>
          <a:ln/>
        </p:spPr>
        <p:txBody>
          <a:bodyPr wrap="square" lIns="0" tIns="0" rIns="0" bIns="0" rtlCol="0" anchor="ctr"/>
          <a:lstStyle/>
          <a:p>
            <a:pPr indent="0" marL="0">
              <a:buNone/>
            </a:pPr>
            <a:r>
              <a:rPr lang="en-US" sz="3200" dirty="0">
                <a:solidFill>
                  <a:srgbClr val="000000"/>
                </a:solidFill>
              </a:rPr>
              <a:t>🗑️</a:t>
            </a:r>
            <a:endParaRPr lang="en-US" sz="3200" dirty="0"/>
          </a:p>
        </p:txBody>
      </p:sp>
      <p:sp>
        <p:nvSpPr>
          <p:cNvPr id="7" name="Text 5"/>
          <p:cNvSpPr/>
          <p:nvPr/>
        </p:nvSpPr>
        <p:spPr>
          <a:xfrm>
            <a:off x="1737360" y="2423160"/>
            <a:ext cx="6583680" cy="365760"/>
          </a:xfrm>
          <a:prstGeom prst="rect">
            <a:avLst/>
          </a:prstGeom>
          <a:noFill/>
          <a:ln/>
        </p:spPr>
        <p:txBody>
          <a:bodyPr wrap="square" lIns="0" tIns="0" rIns="0" bIns="0" rtlCol="0" anchor="ctr"/>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なぜやめるのか</a:t>
            </a:r>
            <a:endParaRPr lang="en-US" sz="1500" dirty="0"/>
          </a:p>
        </p:txBody>
      </p:sp>
      <p:sp>
        <p:nvSpPr>
          <p:cNvPr id="8" name="Text 6"/>
          <p:cNvSpPr/>
          <p:nvPr/>
        </p:nvSpPr>
        <p:spPr>
          <a:xfrm>
            <a:off x="1737360" y="2834640"/>
            <a:ext cx="6583680" cy="1463040"/>
          </a:xfrm>
          <a:prstGeom prst="rect">
            <a:avLst/>
          </a:prstGeom>
          <a:noFill/>
          <a:ln/>
        </p:spPr>
        <p:txBody>
          <a:bodyPr wrap="square" lIns="0" tIns="0" rIns="0" bIns="0" rtlCol="0" anchor="ctr"/>
          <a:lstStyle/>
          <a:p>
            <a:pPr indent="0" marL="0">
              <a:lnSpc>
                <a:spcPct val="135000"/>
              </a:lnSpc>
              <a:buNone/>
            </a:pPr>
            <a:r>
              <a:rPr lang="en-US" sz="1250" dirty="0">
                <a:solidFill>
                  <a:srgbClr val="16181D">
                    <a:alpha val="90000"/>
                  </a:srgbClr>
                </a:solidFill>
                <a:latin typeface="BIZ UDPGothic" pitchFamily="34" charset="0"/>
                <a:ea typeface="BIZ UDPGothic" pitchFamily="34" charset="-122"/>
                <a:cs typeface="BIZ UDPGothic" pitchFamily="34" charset="-120"/>
              </a:rPr>
              <a:t>すでに市場が確立している業界に国のお金を出し続けると、本来なら起きるはずの事業再編やM&amp;A、自力での構造改革が先送りされてしまう。自活すべき業界への国費投入はゼロにする。</a:t>
            </a:r>
            <a:endParaRPr lang="en-US" sz="1250" dirty="0"/>
          </a:p>
        </p:txBody>
      </p:sp>
      <p:sp>
        <p:nvSpPr>
          <p:cNvPr id="9" name="Text 7"/>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0" name="Text 8"/>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02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400" b="1" dirty="0">
                <a:solidFill>
                  <a:srgbClr val="16181D"/>
                </a:solidFill>
                <a:latin typeface="BIZ UDPGothic" pitchFamily="34" charset="0"/>
                <a:ea typeface="BIZ UDPGothic" pitchFamily="34" charset="-122"/>
                <a:cs typeface="BIZ UDPGothic" pitchFamily="34" charset="-120"/>
              </a:rPr>
              <a:t>具体的にやめる4つの制度</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914400"/>
        </p:xfrm>
        <a:graphic>
          <a:graphicData uri="http://schemas.openxmlformats.org/drawingml/2006/table">
            <a:tbl>
              <a:tblPr/>
              <a:tblGrid>
                <a:gridCol w="3291840"/>
                <a:gridCol w="2011680"/>
                <a:gridCol w="2743200"/>
              </a:tblGrid>
              <a:tr h="566928">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制度名</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現在の予算規模</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やめる理由</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r>
              <a:tr h="566928">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ものづくり・IT導入・持続化補助金</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3,400億円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成熟市場向けの汎用支援</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雇用調整助成金</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145億円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一般的な雇用維持は対象外に</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特定求職者雇用開発助成金（一般分）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486.7億円（上限）</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障害者雇用分のみ存続</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中小企業信用補完制度関連補助事業</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32億円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倒産回避目的の支援は廃止</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4572000"/>
            <a:ext cx="8046720" cy="32004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合計 約4,064億円 を④の柱（未来への投資）へ振り替える</a:t>
            </a:r>
            <a:endParaRPr lang="en-US" sz="1300" dirty="0"/>
          </a:p>
        </p:txBody>
      </p:sp>
      <p:sp>
        <p:nvSpPr>
          <p:cNvPr id="6" name="Text 3"/>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7" name="Text 4"/>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03</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伝統文化は特別に守る</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市場に任せると消えてしまう「日本だけの文化」は、削減対象にせず恒久的な国の約束として守る。</a:t>
            </a:r>
            <a:endParaRPr lang="en-US" sz="1350" dirty="0"/>
          </a:p>
        </p:txBody>
      </p:sp>
      <p:sp>
        <p:nvSpPr>
          <p:cNvPr id="5" name="Shape 3"/>
          <p:cNvSpPr/>
          <p:nvPr/>
        </p:nvSpPr>
        <p:spPr>
          <a:xfrm>
            <a:off x="548640" y="2148840"/>
            <a:ext cx="2548128" cy="2377440"/>
          </a:xfrm>
          <a:prstGeom prst="roundRect">
            <a:avLst>
              <a:gd name="adj" fmla="val 3077"/>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685800" y="2313432"/>
            <a:ext cx="2273808"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7" name="Text 5"/>
          <p:cNvSpPr/>
          <p:nvPr/>
        </p:nvSpPr>
        <p:spPr>
          <a:xfrm>
            <a:off x="685800" y="2834640"/>
            <a:ext cx="2273808"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伝統的工芸品</a:t>
            </a:r>
            <a:endParaRPr lang="en-US" sz="1250" dirty="0"/>
          </a:p>
        </p:txBody>
      </p:sp>
      <p:sp>
        <p:nvSpPr>
          <p:cNvPr id="8" name="Text 6"/>
          <p:cNvSpPr/>
          <p:nvPr/>
        </p:nvSpPr>
        <p:spPr>
          <a:xfrm>
            <a:off x="685800" y="3520440"/>
            <a:ext cx="2273808" cy="91440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後継者づくりと技術の継承を大幅に強化</a:t>
            </a:r>
            <a:endParaRPr lang="en-US" sz="950" dirty="0"/>
          </a:p>
        </p:txBody>
      </p:sp>
      <p:sp>
        <p:nvSpPr>
          <p:cNvPr id="9" name="Shape 7"/>
          <p:cNvSpPr/>
          <p:nvPr/>
        </p:nvSpPr>
        <p:spPr>
          <a:xfrm>
            <a:off x="3297936" y="2148840"/>
            <a:ext cx="2548128" cy="2377440"/>
          </a:xfrm>
          <a:prstGeom prst="roundRect">
            <a:avLst>
              <a:gd name="adj" fmla="val 3077"/>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3435096" y="2313432"/>
            <a:ext cx="2273808"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1" name="Text 9"/>
          <p:cNvSpPr/>
          <p:nvPr/>
        </p:nvSpPr>
        <p:spPr>
          <a:xfrm>
            <a:off x="3435096" y="2834640"/>
            <a:ext cx="2273808"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神社仏閣</a:t>
            </a:r>
            <a:endParaRPr lang="en-US" sz="1250" dirty="0"/>
          </a:p>
        </p:txBody>
      </p:sp>
      <p:sp>
        <p:nvSpPr>
          <p:cNvPr id="12" name="Text 10"/>
          <p:cNvSpPr/>
          <p:nvPr/>
        </p:nvSpPr>
        <p:spPr>
          <a:xfrm>
            <a:off x="3435096" y="3520440"/>
            <a:ext cx="2273808" cy="91440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国宝・重要文化財の修理予算を恒久財源に</a:t>
            </a:r>
            <a:endParaRPr lang="en-US" sz="950" dirty="0"/>
          </a:p>
        </p:txBody>
      </p:sp>
      <p:sp>
        <p:nvSpPr>
          <p:cNvPr id="13" name="Shape 11"/>
          <p:cNvSpPr/>
          <p:nvPr/>
        </p:nvSpPr>
        <p:spPr>
          <a:xfrm>
            <a:off x="6047232" y="2148840"/>
            <a:ext cx="2548128" cy="2377440"/>
          </a:xfrm>
          <a:prstGeom prst="roundRect">
            <a:avLst>
              <a:gd name="adj" fmla="val 3077"/>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4" name="Text 12"/>
          <p:cNvSpPr/>
          <p:nvPr/>
        </p:nvSpPr>
        <p:spPr>
          <a:xfrm>
            <a:off x="6184392" y="2313432"/>
            <a:ext cx="2273808"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5" name="Text 13"/>
          <p:cNvSpPr/>
          <p:nvPr/>
        </p:nvSpPr>
        <p:spPr>
          <a:xfrm>
            <a:off x="6184392" y="2834640"/>
            <a:ext cx="2273808"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伝統芸能</a:t>
            </a:r>
            <a:endParaRPr lang="en-US" sz="1250" dirty="0"/>
          </a:p>
        </p:txBody>
      </p:sp>
      <p:sp>
        <p:nvSpPr>
          <p:cNvPr id="16" name="Text 14"/>
          <p:cNvSpPr/>
          <p:nvPr/>
        </p:nvSpPr>
        <p:spPr>
          <a:xfrm>
            <a:off x="6184392" y="3520440"/>
            <a:ext cx="2273808" cy="91440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歌舞伎・能楽・文楽の運営費を恒久財源に</a:t>
            </a:r>
            <a:endParaRPr lang="en-US" sz="950" dirty="0"/>
          </a:p>
        </p:txBody>
      </p:sp>
      <p:sp>
        <p:nvSpPr>
          <p:cNvPr id="17" name="Text 15"/>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8" name="Text 16"/>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03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伝統的工芸品への支援を20倍に</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原材料の確保、若手後継者の育成、海外への販路開拓まで、まとめて手厚くする。</a:t>
            </a:r>
            <a:endParaRPr lang="en-US" sz="1350" dirty="0"/>
          </a:p>
        </p:txBody>
      </p:sp>
      <p:sp>
        <p:nvSpPr>
          <p:cNvPr id="5" name="Shape 3"/>
          <p:cNvSpPr/>
          <p:nvPr/>
        </p:nvSpPr>
        <p:spPr>
          <a:xfrm>
            <a:off x="548640" y="2148840"/>
            <a:ext cx="2651760" cy="2194560"/>
          </a:xfrm>
          <a:prstGeom prst="roundRect">
            <a:avLst>
              <a:gd name="adj" fmla="val 333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749808" y="2331720"/>
            <a:ext cx="2249424" cy="640080"/>
          </a:xfrm>
          <a:prstGeom prst="rect">
            <a:avLst/>
          </a:prstGeom>
          <a:noFill/>
          <a:ln/>
        </p:spPr>
        <p:txBody>
          <a:bodyPr wrap="square" lIns="0" tIns="0" rIns="0" bIns="0" rtlCol="0" anchor="t"/>
          <a:lstStyle/>
          <a:p>
            <a:pPr indent="0" marL="0">
              <a:buNone/>
            </a:pPr>
            <a:r>
              <a:rPr lang="en-US" sz="2400" b="1" dirty="0">
                <a:solidFill>
                  <a:srgbClr val="C8161D"/>
                </a:solidFill>
                <a:latin typeface="Arial" pitchFamily="34" charset="0"/>
                <a:ea typeface="BIZ UDPGothic" pitchFamily="34" charset="-122"/>
                <a:cs typeface="BIZ UDPGothic" pitchFamily="34" charset="-120"/>
              </a:rPr>
              <a:t>11億円</a:t>
            </a:r>
            <a:endParaRPr lang="en-US" sz="2400" dirty="0"/>
          </a:p>
        </p:txBody>
      </p:sp>
      <p:sp>
        <p:nvSpPr>
          <p:cNvPr id="7" name="Text 5"/>
          <p:cNvSpPr/>
          <p:nvPr/>
        </p:nvSpPr>
        <p:spPr>
          <a:xfrm>
            <a:off x="749808" y="2990088"/>
            <a:ext cx="2249424" cy="502920"/>
          </a:xfrm>
          <a:prstGeom prst="rect">
            <a:avLst/>
          </a:prstGeom>
          <a:noFill/>
          <a:ln/>
        </p:spPr>
        <p:txBody>
          <a:bodyPr wrap="square" lIns="0" tIns="0" rIns="0" bIns="0" rtlCol="0" anchor="t"/>
          <a:lstStyle/>
          <a:p>
            <a:pPr indent="0" marL="0">
              <a:lnSpc>
                <a:spcPct val="115000"/>
              </a:lnSpc>
              <a:buNone/>
            </a:pPr>
            <a:r>
              <a:rPr lang="en-US" sz="1150" b="1" dirty="0">
                <a:solidFill>
                  <a:srgbClr val="16181D"/>
                </a:solidFill>
                <a:latin typeface="BIZ UDPGothic" pitchFamily="34" charset="0"/>
                <a:ea typeface="BIZ UDPGothic" pitchFamily="34" charset="-122"/>
                <a:cs typeface="BIZ UDPGothic" pitchFamily="34" charset="-120"/>
              </a:rPr>
              <a:t>現在の予算</a:t>
            </a:r>
            <a:endParaRPr lang="en-US" sz="1150" dirty="0"/>
          </a:p>
        </p:txBody>
      </p:sp>
      <p:sp>
        <p:nvSpPr>
          <p:cNvPr id="8" name="Text 6"/>
          <p:cNvSpPr/>
          <p:nvPr/>
        </p:nvSpPr>
        <p:spPr>
          <a:xfrm>
            <a:off x="749808" y="3749040"/>
            <a:ext cx="2249424" cy="502920"/>
          </a:xfrm>
          <a:prstGeom prst="rect">
            <a:avLst/>
          </a:prstGeom>
          <a:noFill/>
          <a:ln/>
        </p:spPr>
        <p:txBody>
          <a:bodyPr wrap="square" lIns="0" tIns="0" rIns="0" bIns="0" rtlCol="0" anchor="t"/>
          <a:lstStyle/>
          <a:p>
            <a:pPr indent="0" marL="0">
              <a:lnSpc>
                <a:spcPct val="120000"/>
              </a:lnSpc>
              <a:buNone/>
            </a:pPr>
            <a:r>
              <a:rPr lang="en-US" sz="900" dirty="0">
                <a:solidFill>
                  <a:srgbClr val="16181D">
                    <a:alpha val="70000"/>
                  </a:srgbClr>
                </a:solidFill>
                <a:latin typeface="BIZ UDPGothic" pitchFamily="34" charset="0"/>
                <a:ea typeface="BIZ UDPGothic" pitchFamily="34" charset="-122"/>
                <a:cs typeface="BIZ UDPGothic" pitchFamily="34" charset="-120"/>
              </a:rPr>
              <a:t>伝統的工芸品産業支援補助金（令和8年度）</a:t>
            </a:r>
            <a:endParaRPr lang="en-US" sz="900" dirty="0"/>
          </a:p>
        </p:txBody>
      </p:sp>
      <p:sp>
        <p:nvSpPr>
          <p:cNvPr id="9" name="Text 7"/>
          <p:cNvSpPr/>
          <p:nvPr/>
        </p:nvSpPr>
        <p:spPr>
          <a:xfrm>
            <a:off x="3337560" y="2834640"/>
            <a:ext cx="822960" cy="914400"/>
          </a:xfrm>
          <a:prstGeom prst="rect">
            <a:avLst/>
          </a:prstGeom>
          <a:noFill/>
          <a:ln/>
        </p:spPr>
        <p:txBody>
          <a:bodyPr wrap="square" lIns="0" tIns="0" rIns="0" bIns="0" rtlCol="0" anchor="ctr"/>
          <a:lstStyle/>
          <a:p>
            <a:pPr algn="ctr" indent="0" marL="0">
              <a:buNone/>
            </a:pPr>
            <a:r>
              <a:rPr lang="en-US" sz="3200" dirty="0">
                <a:solidFill>
                  <a:srgbClr val="16181D"/>
                </a:solidFill>
              </a:rPr>
              <a:t>→</a:t>
            </a:r>
            <a:endParaRPr lang="en-US" sz="3200" dirty="0"/>
          </a:p>
        </p:txBody>
      </p:sp>
      <p:sp>
        <p:nvSpPr>
          <p:cNvPr id="10" name="Shape 8"/>
          <p:cNvSpPr/>
          <p:nvPr/>
        </p:nvSpPr>
        <p:spPr>
          <a:xfrm>
            <a:off x="4297680" y="2148840"/>
            <a:ext cx="2651760" cy="2194560"/>
          </a:xfrm>
          <a:prstGeom prst="roundRect">
            <a:avLst>
              <a:gd name="adj" fmla="val 333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1" name="Text 9"/>
          <p:cNvSpPr/>
          <p:nvPr/>
        </p:nvSpPr>
        <p:spPr>
          <a:xfrm>
            <a:off x="4498848" y="2331720"/>
            <a:ext cx="2249424" cy="640080"/>
          </a:xfrm>
          <a:prstGeom prst="rect">
            <a:avLst/>
          </a:prstGeom>
          <a:noFill/>
          <a:ln/>
        </p:spPr>
        <p:txBody>
          <a:bodyPr wrap="square" lIns="0" tIns="0" rIns="0" bIns="0" rtlCol="0" anchor="t"/>
          <a:lstStyle/>
          <a:p>
            <a:pPr indent="0" marL="0">
              <a:buNone/>
            </a:pPr>
            <a:r>
              <a:rPr lang="en-US" sz="2400" b="1" dirty="0">
                <a:solidFill>
                  <a:srgbClr val="C8161D"/>
                </a:solidFill>
                <a:latin typeface="Arial" pitchFamily="34" charset="0"/>
                <a:ea typeface="BIZ UDPGothic" pitchFamily="34" charset="-122"/>
                <a:cs typeface="BIZ UDPGothic" pitchFamily="34" charset="-120"/>
              </a:rPr>
              <a:t>220億円</a:t>
            </a:r>
            <a:endParaRPr lang="en-US" sz="2400" dirty="0"/>
          </a:p>
        </p:txBody>
      </p:sp>
      <p:sp>
        <p:nvSpPr>
          <p:cNvPr id="12" name="Text 10"/>
          <p:cNvSpPr/>
          <p:nvPr/>
        </p:nvSpPr>
        <p:spPr>
          <a:xfrm>
            <a:off x="4498848" y="2990088"/>
            <a:ext cx="2249424" cy="502920"/>
          </a:xfrm>
          <a:prstGeom prst="rect">
            <a:avLst/>
          </a:prstGeom>
          <a:noFill/>
          <a:ln/>
        </p:spPr>
        <p:txBody>
          <a:bodyPr wrap="square" lIns="0" tIns="0" rIns="0" bIns="0" rtlCol="0" anchor="t"/>
          <a:lstStyle/>
          <a:p>
            <a:pPr indent="0" marL="0">
              <a:lnSpc>
                <a:spcPct val="115000"/>
              </a:lnSpc>
              <a:buNone/>
            </a:pPr>
            <a:r>
              <a:rPr lang="en-US" sz="1150" b="1" dirty="0">
                <a:solidFill>
                  <a:srgbClr val="16181D"/>
                </a:solidFill>
                <a:latin typeface="BIZ UDPGothic" pitchFamily="34" charset="0"/>
                <a:ea typeface="BIZ UDPGothic" pitchFamily="34" charset="-122"/>
                <a:cs typeface="BIZ UDPGothic" pitchFamily="34" charset="-120"/>
              </a:rPr>
              <a:t>目標の予算</a:t>
            </a:r>
            <a:endParaRPr lang="en-US" sz="1150" dirty="0"/>
          </a:p>
        </p:txBody>
      </p:sp>
      <p:sp>
        <p:nvSpPr>
          <p:cNvPr id="13" name="Text 11"/>
          <p:cNvSpPr/>
          <p:nvPr/>
        </p:nvSpPr>
        <p:spPr>
          <a:xfrm>
            <a:off x="4498848" y="3749040"/>
            <a:ext cx="2249424" cy="502920"/>
          </a:xfrm>
          <a:prstGeom prst="rect">
            <a:avLst/>
          </a:prstGeom>
          <a:noFill/>
          <a:ln/>
        </p:spPr>
        <p:txBody>
          <a:bodyPr wrap="square" lIns="0" tIns="0" rIns="0" bIns="0" rtlCol="0" anchor="t"/>
          <a:lstStyle/>
          <a:p>
            <a:pPr indent="0" marL="0">
              <a:lnSpc>
                <a:spcPct val="120000"/>
              </a:lnSpc>
              <a:buNone/>
            </a:pPr>
            <a:r>
              <a:rPr lang="en-US" sz="900" dirty="0">
                <a:solidFill>
                  <a:srgbClr val="16181D">
                    <a:alpha val="70000"/>
                  </a:srgbClr>
                </a:solidFill>
                <a:latin typeface="BIZ UDPGothic" pitchFamily="34" charset="0"/>
                <a:ea typeface="BIZ UDPGothic" pitchFamily="34" charset="-122"/>
                <a:cs typeface="BIZ UDPGothic" pitchFamily="34" charset="-120"/>
              </a:rPr>
              <a:t>現行の約20倍。恒久財源として法的に位置づける</a:t>
            </a:r>
            <a:endParaRPr lang="en-US" sz="900" dirty="0"/>
          </a:p>
        </p:txBody>
      </p:sp>
      <p:sp>
        <p:nvSpPr>
          <p:cNvPr id="14" name="Shape 12"/>
          <p:cNvSpPr/>
          <p:nvPr/>
        </p:nvSpPr>
        <p:spPr>
          <a:xfrm>
            <a:off x="7086600" y="2148840"/>
            <a:ext cx="1508760" cy="2194560"/>
          </a:xfrm>
          <a:prstGeom prst="roundRect">
            <a:avLst>
              <a:gd name="adj" fmla="val 4848"/>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5" name="Text 13"/>
          <p:cNvSpPr/>
          <p:nvPr/>
        </p:nvSpPr>
        <p:spPr>
          <a:xfrm>
            <a:off x="7223760" y="2880360"/>
            <a:ext cx="1234440" cy="731520"/>
          </a:xfrm>
          <a:prstGeom prst="rect">
            <a:avLst/>
          </a:prstGeom>
          <a:noFill/>
          <a:ln/>
        </p:spPr>
        <p:txBody>
          <a:bodyPr wrap="square" lIns="0" tIns="0" rIns="0" bIns="0" rtlCol="0" anchor="ctr"/>
          <a:lstStyle/>
          <a:p>
            <a:pPr algn="ctr" indent="0" marL="0">
              <a:buNone/>
            </a:pPr>
            <a:r>
              <a:rPr lang="en-US" sz="1500" b="1" dirty="0">
                <a:solidFill>
                  <a:srgbClr val="C8161D"/>
                </a:solidFill>
                <a:latin typeface="Arial" pitchFamily="34" charset="0"/>
                <a:ea typeface="BIZ UDPGothic" pitchFamily="34" charset="-122"/>
                <a:cs typeface="BIZ UDPGothic" pitchFamily="34" charset="-120"/>
              </a:rPr>
              <a:t>+209億円</a:t>
            </a:r>
            <a:endParaRPr lang="en-US" sz="1500" dirty="0"/>
          </a:p>
        </p:txBody>
      </p:sp>
      <p:sp>
        <p:nvSpPr>
          <p:cNvPr id="16" name="Text 14"/>
          <p:cNvSpPr/>
          <p:nvPr/>
        </p:nvSpPr>
        <p:spPr>
          <a:xfrm>
            <a:off x="7223760" y="3337560"/>
            <a:ext cx="1234440" cy="365760"/>
          </a:xfrm>
          <a:prstGeom prst="rect">
            <a:avLst/>
          </a:prstGeom>
          <a:noFill/>
          <a:ln/>
        </p:spPr>
        <p:txBody>
          <a:bodyPr wrap="square" lIns="0" tIns="0" rIns="0" bIns="0" rtlCol="0" anchor="ctr"/>
          <a:lstStyle/>
          <a:p>
            <a:pPr algn="ctr" indent="0" marL="0">
              <a:buNone/>
            </a:pPr>
            <a:r>
              <a:rPr lang="en-US" sz="1000" dirty="0">
                <a:solidFill>
                  <a:srgbClr val="16181D">
                    <a:alpha val="80000"/>
                  </a:srgbClr>
                </a:solidFill>
                <a:latin typeface="BIZ UDPGothic" pitchFamily="34" charset="0"/>
                <a:ea typeface="BIZ UDPGothic" pitchFamily="34" charset="-122"/>
                <a:cs typeface="BIZ UDPGothic" pitchFamily="34" charset="-120"/>
              </a:rPr>
              <a:t>純増額</a:t>
            </a:r>
            <a:endParaRPr lang="en-US" sz="1000" dirty="0"/>
          </a:p>
        </p:txBody>
      </p:sp>
      <p:sp>
        <p:nvSpPr>
          <p:cNvPr id="17" name="Text 15"/>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8" name="Text 16"/>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03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300" b="1" dirty="0">
                <a:solidFill>
                  <a:srgbClr val="16181D"/>
                </a:solidFill>
                <a:latin typeface="BIZ UDPGothic" pitchFamily="34" charset="0"/>
                <a:ea typeface="BIZ UDPGothic" pitchFamily="34" charset="-122"/>
                <a:cs typeface="BIZ UDPGothic" pitchFamily="34" charset="-120"/>
              </a:rPr>
              <a:t>神社仏閣・伝統芸能も恒久的に守る</a:t>
            </a:r>
            <a:endParaRPr lang="en-US" sz="2300" dirty="0"/>
          </a:p>
        </p:txBody>
      </p:sp>
      <p:sp>
        <p:nvSpPr>
          <p:cNvPr id="4" name="Shape 2"/>
          <p:cNvSpPr/>
          <p:nvPr/>
        </p:nvSpPr>
        <p:spPr>
          <a:xfrm>
            <a:off x="548640" y="1508760"/>
            <a:ext cx="8046720" cy="1463040"/>
          </a:xfrm>
          <a:prstGeom prst="roundRect">
            <a:avLst>
              <a:gd name="adj" fmla="val 5000"/>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822960" y="1691640"/>
            <a:ext cx="7498080" cy="365760"/>
          </a:xfrm>
          <a:prstGeom prst="rect">
            <a:avLst/>
          </a:prstGeom>
          <a:noFill/>
          <a:ln/>
        </p:spPr>
        <p:txBody>
          <a:bodyPr wrap="square" lIns="0" tIns="0" rIns="0" bIns="0" rtlCol="0" anchor="ctr"/>
          <a:lstStyle/>
          <a:p>
            <a:pPr indent="0" marL="0">
              <a:buNone/>
            </a:pPr>
            <a:r>
              <a:rPr lang="en-US" sz="1350" b="1" dirty="0">
                <a:solidFill>
                  <a:srgbClr val="16181D"/>
                </a:solidFill>
                <a:latin typeface="BIZ UDPGothic" pitchFamily="34" charset="0"/>
                <a:ea typeface="BIZ UDPGothic" pitchFamily="34" charset="-122"/>
                <a:cs typeface="BIZ UDPGothic" pitchFamily="34" charset="-120"/>
              </a:rPr>
              <a:t>⛩️ 神社仏閣（国宝・重要文化財の建造物を中心に）</a:t>
            </a:r>
            <a:endParaRPr lang="en-US" sz="1350" dirty="0"/>
          </a:p>
        </p:txBody>
      </p:sp>
      <p:sp>
        <p:nvSpPr>
          <p:cNvPr id="6" name="Text 4"/>
          <p:cNvSpPr/>
          <p:nvPr/>
        </p:nvSpPr>
        <p:spPr>
          <a:xfrm>
            <a:off x="822960" y="2057400"/>
            <a:ext cx="7498080" cy="82296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現在すでに574億円規模の修理予算がある。金額を増やすことよりも、「毎年必ず出す」という恒久的な国の約束として法律に明記することが目的。</a:t>
            </a:r>
            <a:endParaRPr lang="en-US" sz="1150" dirty="0"/>
          </a:p>
        </p:txBody>
      </p:sp>
      <p:sp>
        <p:nvSpPr>
          <p:cNvPr id="7" name="Shape 5"/>
          <p:cNvSpPr/>
          <p:nvPr/>
        </p:nvSpPr>
        <p:spPr>
          <a:xfrm>
            <a:off x="548640" y="3154680"/>
            <a:ext cx="8046720" cy="1463040"/>
          </a:xfrm>
          <a:prstGeom prst="roundRect">
            <a:avLst>
              <a:gd name="adj" fmla="val 5000"/>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822960" y="3337560"/>
            <a:ext cx="7498080" cy="365760"/>
          </a:xfrm>
          <a:prstGeom prst="rect">
            <a:avLst/>
          </a:prstGeom>
          <a:noFill/>
          <a:ln/>
        </p:spPr>
        <p:txBody>
          <a:bodyPr wrap="square" lIns="0" tIns="0" rIns="0" bIns="0" rtlCol="0" anchor="ctr"/>
          <a:lstStyle/>
          <a:p>
            <a:pPr indent="0" marL="0">
              <a:buNone/>
            </a:pPr>
            <a:r>
              <a:rPr lang="en-US" sz="1350" b="1" dirty="0">
                <a:solidFill>
                  <a:srgbClr val="16181D"/>
                </a:solidFill>
                <a:latin typeface="BIZ UDPGothic" pitchFamily="34" charset="0"/>
                <a:ea typeface="BIZ UDPGothic" pitchFamily="34" charset="-122"/>
                <a:cs typeface="BIZ UDPGothic" pitchFamily="34" charset="-120"/>
              </a:rPr>
              <a:t>🎭 伝統芸能（歌舞伎・能楽・文楽など）</a:t>
            </a:r>
            <a:endParaRPr lang="en-US" sz="1350" dirty="0"/>
          </a:p>
        </p:txBody>
      </p:sp>
      <p:sp>
        <p:nvSpPr>
          <p:cNvPr id="9" name="Text 7"/>
          <p:cNvSpPr/>
          <p:nvPr/>
        </p:nvSpPr>
        <p:spPr>
          <a:xfrm>
            <a:off x="822960" y="3703320"/>
            <a:ext cx="7498080" cy="82296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複数の基金・補助金に予算が分かれていて、専用額を単独で示す公式統計がない。国立劇場等の運営費・後継者養成費を恒久財源として位置づけ、具体額は今後精査する。</a:t>
            </a:r>
            <a:endParaRPr lang="en-US" sz="1150" dirty="0"/>
          </a:p>
        </p:txBody>
      </p:sp>
      <p:sp>
        <p:nvSpPr>
          <p:cNvPr id="10" name="Text 8"/>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1" name="Text 9"/>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04</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補助金をもらうための3つの厳しいルール</a:t>
            </a:r>
            <a:endParaRPr lang="en-US" sz="2600" dirty="0"/>
          </a:p>
        </p:txBody>
      </p:sp>
      <p:sp>
        <p:nvSpPr>
          <p:cNvPr id="4" name="Shape 2"/>
          <p:cNvSpPr/>
          <p:nvPr/>
        </p:nvSpPr>
        <p:spPr>
          <a:xfrm>
            <a:off x="548640" y="1463040"/>
            <a:ext cx="2548128" cy="2514600"/>
          </a:xfrm>
          <a:prstGeom prst="roundRect">
            <a:avLst>
              <a:gd name="adj" fmla="val 290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685800" y="1627632"/>
            <a:ext cx="2273808"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6" name="Text 4"/>
          <p:cNvSpPr/>
          <p:nvPr/>
        </p:nvSpPr>
        <p:spPr>
          <a:xfrm>
            <a:off x="685800" y="2148840"/>
            <a:ext cx="2273808"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Made in Japan</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加点ルール</a:t>
            </a:r>
            <a:endParaRPr lang="en-US" sz="1250" dirty="0"/>
          </a:p>
        </p:txBody>
      </p:sp>
      <p:sp>
        <p:nvSpPr>
          <p:cNvPr id="7" name="Text 5"/>
          <p:cNvSpPr/>
          <p:nvPr/>
        </p:nvSpPr>
        <p:spPr>
          <a:xfrm>
            <a:off x="685800" y="2834640"/>
            <a:ext cx="2273808" cy="105156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日本製を使うほど補助率が上がる仕組みに（必須ではなく加点）</a:t>
            </a:r>
            <a:endParaRPr lang="en-US" sz="950" dirty="0"/>
          </a:p>
        </p:txBody>
      </p:sp>
      <p:sp>
        <p:nvSpPr>
          <p:cNvPr id="8" name="Shape 6"/>
          <p:cNvSpPr/>
          <p:nvPr/>
        </p:nvSpPr>
        <p:spPr>
          <a:xfrm>
            <a:off x="3297936" y="1463040"/>
            <a:ext cx="2548128" cy="2514600"/>
          </a:xfrm>
          <a:prstGeom prst="roundRect">
            <a:avLst>
              <a:gd name="adj" fmla="val 290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3435096" y="1627632"/>
            <a:ext cx="2273808"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0" name="Text 8"/>
          <p:cNvSpPr/>
          <p:nvPr/>
        </p:nvSpPr>
        <p:spPr>
          <a:xfrm>
            <a:off x="3435096" y="2148840"/>
            <a:ext cx="2273808"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倒産回避の</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補助金は廃止</a:t>
            </a:r>
            <a:endParaRPr lang="en-US" sz="1250" dirty="0"/>
          </a:p>
        </p:txBody>
      </p:sp>
      <p:sp>
        <p:nvSpPr>
          <p:cNvPr id="11" name="Text 9"/>
          <p:cNvSpPr/>
          <p:nvPr/>
        </p:nvSpPr>
        <p:spPr>
          <a:xfrm>
            <a:off x="3435096" y="2834640"/>
            <a:ext cx="2273808" cy="105156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経営破綻を避けるための救済目的の支援はやめる</a:t>
            </a:r>
            <a:endParaRPr lang="en-US" sz="950" dirty="0"/>
          </a:p>
        </p:txBody>
      </p:sp>
      <p:sp>
        <p:nvSpPr>
          <p:cNvPr id="12" name="Shape 10"/>
          <p:cNvSpPr/>
          <p:nvPr/>
        </p:nvSpPr>
        <p:spPr>
          <a:xfrm>
            <a:off x="6047232" y="1463040"/>
            <a:ext cx="2548128" cy="2514600"/>
          </a:xfrm>
          <a:prstGeom prst="roundRect">
            <a:avLst>
              <a:gd name="adj" fmla="val 2909"/>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6184392" y="1627632"/>
            <a:ext cx="2273808" cy="457200"/>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4" name="Text 12"/>
          <p:cNvSpPr/>
          <p:nvPr/>
        </p:nvSpPr>
        <p:spPr>
          <a:xfrm>
            <a:off x="6184392" y="2148840"/>
            <a:ext cx="2273808" cy="685800"/>
          </a:xfrm>
          <a:prstGeom prst="rect">
            <a:avLst/>
          </a:prstGeom>
          <a:noFill/>
          <a:ln/>
        </p:spPr>
        <p:txBody>
          <a:bodyPr wrap="square" lIns="0" tIns="0" rIns="0" bIns="0" rtlCol="0" anchor="t"/>
          <a:lstStyle/>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雇用支援は</a:t>
            </a:r>
            <a:endParaRPr lang="en-US" sz="1250" dirty="0"/>
          </a:p>
          <a:p>
            <a:pPr indent="0" marL="0">
              <a:lnSpc>
                <a:spcPct val="115000"/>
              </a:lnSpc>
              <a:buNone/>
            </a:pPr>
            <a:r>
              <a:rPr lang="en-US" sz="1250" b="1" dirty="0">
                <a:solidFill>
                  <a:srgbClr val="16181D"/>
                </a:solidFill>
                <a:latin typeface="BIZ UDPGothic" pitchFamily="34" charset="0"/>
                <a:ea typeface="BIZ UDPGothic" pitchFamily="34" charset="-122"/>
                <a:cs typeface="BIZ UDPGothic" pitchFamily="34" charset="-120"/>
              </a:rPr>
              <a:t>障害者雇用のみ</a:t>
            </a:r>
            <a:endParaRPr lang="en-US" sz="1250" dirty="0"/>
          </a:p>
        </p:txBody>
      </p:sp>
      <p:sp>
        <p:nvSpPr>
          <p:cNvPr id="15" name="Text 13"/>
          <p:cNvSpPr/>
          <p:nvPr/>
        </p:nvSpPr>
        <p:spPr>
          <a:xfrm>
            <a:off x="6184392" y="2834640"/>
            <a:ext cx="2273808" cy="1051560"/>
          </a:xfrm>
          <a:prstGeom prst="rect">
            <a:avLst/>
          </a:prstGeom>
          <a:noFill/>
          <a:ln/>
        </p:spPr>
        <p:txBody>
          <a:bodyPr wrap="square" lIns="0" tIns="0" rIns="0" bIns="0" rtlCol="0" anchor="t"/>
          <a:lstStyle/>
          <a:p>
            <a:pPr indent="0" marL="0">
              <a:lnSpc>
                <a:spcPct val="120000"/>
              </a:lnSpc>
              <a:buNone/>
            </a:pPr>
            <a:r>
              <a:rPr lang="en-US" sz="950" dirty="0">
                <a:solidFill>
                  <a:srgbClr val="16181D">
                    <a:alpha val="75000"/>
                  </a:srgbClr>
                </a:solidFill>
                <a:latin typeface="BIZ UDPGothic" pitchFamily="34" charset="0"/>
                <a:ea typeface="BIZ UDPGothic" pitchFamily="34" charset="-122"/>
                <a:cs typeface="BIZ UDPGothic" pitchFamily="34" charset="-120"/>
              </a:rPr>
              <a:t>一般的な雇用維持や外国人雇用の補助金は廃止</a:t>
            </a:r>
            <a:endParaRPr lang="en-US" sz="950" dirty="0"/>
          </a:p>
        </p:txBody>
      </p:sp>
      <p:sp>
        <p:nvSpPr>
          <p:cNvPr id="16" name="Text 14"/>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7" name="Text 15"/>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04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200" b="1" dirty="0">
                <a:solidFill>
                  <a:srgbClr val="16181D"/>
                </a:solidFill>
                <a:latin typeface="BIZ UDPGothic" pitchFamily="34" charset="0"/>
                <a:ea typeface="BIZ UDPGothic" pitchFamily="34" charset="-122"/>
                <a:cs typeface="BIZ UDPGothic" pitchFamily="34" charset="-120"/>
              </a:rPr>
              <a:t>「必須」にしない、賢いMade in Japanルール</a:t>
            </a:r>
            <a:endParaRPr lang="en-US" sz="2200" dirty="0"/>
          </a:p>
        </p:txBody>
      </p:sp>
      <p:sp>
        <p:nvSpPr>
          <p:cNvPr id="4" name="Shape 2"/>
          <p:cNvSpPr/>
          <p:nvPr/>
        </p:nvSpPr>
        <p:spPr>
          <a:xfrm>
            <a:off x="548640" y="1463040"/>
            <a:ext cx="8046720" cy="1554480"/>
          </a:xfrm>
          <a:prstGeom prst="roundRect">
            <a:avLst>
              <a:gd name="adj" fmla="val 3529"/>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822960" y="1664208"/>
            <a:ext cx="7498080" cy="411480"/>
          </a:xfrm>
          <a:prstGeom prst="rect">
            <a:avLst/>
          </a:prstGeom>
          <a:noFill/>
          <a:ln/>
        </p:spPr>
        <p:txBody>
          <a:bodyPr wrap="square" lIns="0" tIns="0" rIns="0" bIns="0" rtlCol="0" anchor="t"/>
          <a:lstStyle/>
          <a:p>
            <a:pPr indent="0" marL="0">
              <a:buNone/>
            </a:pPr>
            <a:r>
              <a:rPr lang="en-US" sz="1500" b="1" dirty="0">
                <a:solidFill>
                  <a:srgbClr val="C8161D"/>
                </a:solidFill>
                <a:latin typeface="BIZ UDPGothic" pitchFamily="34" charset="0"/>
                <a:ea typeface="BIZ UDPGothic" pitchFamily="34" charset="-122"/>
                <a:cs typeface="BIZ UDPGothic" pitchFamily="34" charset="-120"/>
              </a:rPr>
              <a:t>⚠️ なぜ「必須」にできないのか</a:t>
            </a:r>
            <a:endParaRPr lang="en-US" sz="1500" dirty="0"/>
          </a:p>
        </p:txBody>
      </p:sp>
      <p:sp>
        <p:nvSpPr>
          <p:cNvPr id="6" name="Text 4"/>
          <p:cNvSpPr/>
          <p:nvPr/>
        </p:nvSpPr>
        <p:spPr>
          <a:xfrm>
            <a:off x="822960" y="2148840"/>
            <a:ext cx="7498080" cy="640080"/>
          </a:xfrm>
          <a:prstGeom prst="rect">
            <a:avLst/>
          </a:prstGeom>
          <a:noFill/>
          <a:ln/>
        </p:spPr>
        <p:txBody>
          <a:bodyPr wrap="square" lIns="0" tIns="0" rIns="0" bIns="0" rtlCol="0" anchor="t"/>
          <a:lstStyle/>
          <a:p>
            <a:pPr marL="177800" indent="-177800">
              <a:lnSpc>
                <a:spcPct val="125000"/>
              </a:lnSpc>
              <a:spcAft>
                <a:spcPts val="800"/>
              </a:spcAft>
              <a:buSzPct val="100000"/>
              <a:buChar char="•"/>
            </a:pPr>
            <a:r>
              <a:rPr lang="en-US" sz="1200" dirty="0">
                <a:solidFill>
                  <a:srgbClr val="16181D">
                    <a:alpha val="90000"/>
                  </a:srgbClr>
                </a:solidFill>
                <a:latin typeface="BIZ UDPGothic" pitchFamily="34" charset="0"/>
                <a:ea typeface="BIZ UDPGothic" pitchFamily="34" charset="-122"/>
                <a:cs typeface="BIZ UDPGothic" pitchFamily="34" charset="-120"/>
              </a:rPr>
              <a:t>世界の貿易ルール（WTO補助金協定）は、「国産品を使うことを補助金の条件にする」ことをはっきり禁止している。</a:t>
            </a:r>
            <a:endParaRPr lang="en-US" sz="1200" dirty="0"/>
          </a:p>
          <a:p>
            <a:pPr marL="177800" indent="-177800">
              <a:lnSpc>
                <a:spcPct val="125000"/>
              </a:lnSpc>
              <a:spcAft>
                <a:spcPts val="800"/>
              </a:spcAft>
              <a:buSzPct val="100000"/>
              <a:buChar char="•"/>
            </a:pPr>
            <a:r>
              <a:rPr lang="en-US" sz="1200" dirty="0">
                <a:solidFill>
                  <a:srgbClr val="16181D">
                    <a:alpha val="90000"/>
                  </a:srgbClr>
                </a:solidFill>
                <a:latin typeface="BIZ UDPGothic" pitchFamily="34" charset="0"/>
                <a:ea typeface="BIZ UDPGothic" pitchFamily="34" charset="-122"/>
                <a:cs typeface="BIZ UDPGothic" pitchFamily="34" charset="-120"/>
              </a:rPr>
              <a:t>この条文をそのまま「必須」にすると、他の国から違反だと訴えられ、日本がほぼ確実に負けてしまう。</a:t>
            </a:r>
            <a:endParaRPr lang="en-US" sz="1200" dirty="0"/>
          </a:p>
        </p:txBody>
      </p:sp>
      <p:sp>
        <p:nvSpPr>
          <p:cNvPr id="7" name="Shape 5"/>
          <p:cNvSpPr/>
          <p:nvPr/>
        </p:nvSpPr>
        <p:spPr>
          <a:xfrm>
            <a:off x="548640" y="3200400"/>
            <a:ext cx="8046720" cy="1417320"/>
          </a:xfrm>
          <a:prstGeom prst="roundRect">
            <a:avLst>
              <a:gd name="adj" fmla="val 5161"/>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8" name="Text 6"/>
          <p:cNvSpPr/>
          <p:nvPr/>
        </p:nvSpPr>
        <p:spPr>
          <a:xfrm>
            <a:off x="822960" y="3383280"/>
            <a:ext cx="7498080" cy="365760"/>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 解決策：義務ではなく「加点」にする</a:t>
            </a:r>
            <a:endParaRPr lang="en-US" sz="1400" dirty="0"/>
          </a:p>
        </p:txBody>
      </p:sp>
      <p:sp>
        <p:nvSpPr>
          <p:cNvPr id="9" name="Text 7"/>
          <p:cNvSpPr/>
          <p:nvPr/>
        </p:nvSpPr>
        <p:spPr>
          <a:xfrm>
            <a:off x="822960" y="3749040"/>
            <a:ext cx="7498080" cy="82296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「日本製部品を必ず使うこと」ではなく、「国内調達の割合に応じて補助率を上乗せする」という、任意のボーナス方式に変える。国費の海外流出は防ぎつつ、世界のルール違反にならない設計にする。</a:t>
            </a:r>
            <a:endParaRPr lang="en-US" sz="1150" dirty="0"/>
          </a:p>
        </p:txBody>
      </p:sp>
      <p:sp>
        <p:nvSpPr>
          <p:cNvPr id="10" name="Text 8"/>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1" name="Text 9"/>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04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雇用の補助金は障害者雇用だけに絞る</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「雇用を守るための補助金」から「本当に支援が必要な人への補助金」へ切り替える。</a:t>
            </a:r>
            <a:endParaRPr lang="en-US" sz="1350" dirty="0"/>
          </a:p>
        </p:txBody>
      </p:sp>
      <p:sp>
        <p:nvSpPr>
          <p:cNvPr id="5" name="Shape 3"/>
          <p:cNvSpPr/>
          <p:nvPr/>
        </p:nvSpPr>
        <p:spPr>
          <a:xfrm>
            <a:off x="548640" y="2148840"/>
            <a:ext cx="3886200" cy="2194560"/>
          </a:xfrm>
          <a:prstGeom prst="roundRect">
            <a:avLst>
              <a:gd name="adj" fmla="val 3333"/>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777240" y="2331720"/>
            <a:ext cx="731520" cy="54864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7" name="Text 5"/>
          <p:cNvSpPr/>
          <p:nvPr/>
        </p:nvSpPr>
        <p:spPr>
          <a:xfrm>
            <a:off x="777240" y="2880360"/>
            <a:ext cx="3474720" cy="320040"/>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廃止するもの</a:t>
            </a:r>
            <a:endParaRPr lang="en-US" sz="1300" dirty="0"/>
          </a:p>
        </p:txBody>
      </p:sp>
      <p:sp>
        <p:nvSpPr>
          <p:cNvPr id="8" name="Text 6"/>
          <p:cNvSpPr/>
          <p:nvPr/>
        </p:nvSpPr>
        <p:spPr>
          <a:xfrm>
            <a:off x="777240" y="3200400"/>
            <a:ext cx="3474720" cy="109728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雇用調整助成金など、一般的な雇用維持のための補助金。外国人雇用の促進補助金も含む。</a:t>
            </a:r>
            <a:endParaRPr lang="en-US" sz="1150" dirty="0"/>
          </a:p>
        </p:txBody>
      </p:sp>
      <p:sp>
        <p:nvSpPr>
          <p:cNvPr id="9" name="Shape 7"/>
          <p:cNvSpPr/>
          <p:nvPr/>
        </p:nvSpPr>
        <p:spPr>
          <a:xfrm>
            <a:off x="4663440" y="2148840"/>
            <a:ext cx="3931920" cy="2194560"/>
          </a:xfrm>
          <a:prstGeom prst="roundRect">
            <a:avLst>
              <a:gd name="adj" fmla="val 3333"/>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4892040" y="2331720"/>
            <a:ext cx="731520" cy="54864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1" name="Text 9"/>
          <p:cNvSpPr/>
          <p:nvPr/>
        </p:nvSpPr>
        <p:spPr>
          <a:xfrm>
            <a:off x="4892040" y="2880360"/>
            <a:ext cx="3520440" cy="32004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存続させるもの</a:t>
            </a:r>
            <a:endParaRPr lang="en-US" sz="1300" dirty="0"/>
          </a:p>
        </p:txBody>
      </p:sp>
      <p:sp>
        <p:nvSpPr>
          <p:cNvPr id="12" name="Text 10"/>
          <p:cNvSpPr/>
          <p:nvPr/>
        </p:nvSpPr>
        <p:spPr>
          <a:xfrm>
            <a:off x="4892040" y="3200400"/>
            <a:ext cx="3520440" cy="1097280"/>
          </a:xfrm>
          <a:prstGeom prst="rect">
            <a:avLst/>
          </a:prstGeom>
          <a:noFill/>
          <a:ln/>
        </p:spPr>
        <p:txBody>
          <a:bodyPr wrap="square" lIns="0" tIns="0" rIns="0" bIns="0" rtlCol="0" anchor="ctr"/>
          <a:lstStyle/>
          <a:p>
            <a:pPr indent="0" marL="0">
              <a:lnSpc>
                <a:spcPct val="13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障害者雇用に対する支援だけは残す。特定求職者雇用開発助成金のうち、この分だけを存続させる。</a:t>
            </a:r>
            <a:endParaRPr lang="en-US" sz="1150" dirty="0"/>
          </a:p>
        </p:txBody>
      </p:sp>
      <p:sp>
        <p:nvSpPr>
          <p:cNvPr id="13" name="Text 11"/>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4" name="Text 12"/>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PILLAR 05</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辞めた人への再就職支援（新しい柱）</a:t>
            </a:r>
            <a:endParaRPr lang="en-US" sz="2600" dirty="0"/>
          </a:p>
        </p:txBody>
      </p:sp>
      <p:sp>
        <p:nvSpPr>
          <p:cNvPr id="4" name="Text 2"/>
          <p:cNvSpPr/>
          <p:nvPr/>
        </p:nvSpPr>
        <p:spPr>
          <a:xfrm>
            <a:off x="548640" y="141732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雇用を「固定する」補助金から、離職した人が次の仕事に移るのを支える仕組みへ。</a:t>
            </a:r>
            <a:endParaRPr lang="en-US" sz="1350" dirty="0"/>
          </a:p>
        </p:txBody>
      </p:sp>
      <p:sp>
        <p:nvSpPr>
          <p:cNvPr id="5" name="Shape 3"/>
          <p:cNvSpPr/>
          <p:nvPr/>
        </p:nvSpPr>
        <p:spPr>
          <a:xfrm>
            <a:off x="548640" y="2148840"/>
            <a:ext cx="8046720" cy="2331720"/>
          </a:xfrm>
          <a:prstGeom prst="roundRect">
            <a:avLst>
              <a:gd name="adj" fmla="val 3137"/>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822960" y="2377440"/>
            <a:ext cx="914400" cy="640080"/>
          </a:xfrm>
          <a:prstGeom prst="rect">
            <a:avLst/>
          </a:prstGeom>
          <a:noFill/>
          <a:ln/>
        </p:spPr>
        <p:txBody>
          <a:bodyPr wrap="square" lIns="0" tIns="0" rIns="0" bIns="0" rtlCol="0" anchor="ctr"/>
          <a:lstStyle/>
          <a:p>
            <a:pPr indent="0" marL="0">
              <a:buNone/>
            </a:pPr>
            <a:r>
              <a:rPr lang="en-US" sz="3200" dirty="0">
                <a:solidFill>
                  <a:srgbClr val="000000"/>
                </a:solidFill>
              </a:rPr>
              <a:t>🔁</a:t>
            </a:r>
            <a:endParaRPr lang="en-US" sz="3200" dirty="0"/>
          </a:p>
        </p:txBody>
      </p:sp>
      <p:sp>
        <p:nvSpPr>
          <p:cNvPr id="7" name="Text 5"/>
          <p:cNvSpPr/>
          <p:nvPr/>
        </p:nvSpPr>
        <p:spPr>
          <a:xfrm>
            <a:off x="1737360" y="2423160"/>
            <a:ext cx="6583680" cy="365760"/>
          </a:xfrm>
          <a:prstGeom prst="rect">
            <a:avLst/>
          </a:prstGeom>
          <a:noFill/>
          <a:ln/>
        </p:spPr>
        <p:txBody>
          <a:bodyPr wrap="square" lIns="0" tIns="0" rIns="0" bIns="0" rtlCol="0" anchor="ctr"/>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財源：大規模成長投資補助金を丸ごと転用</a:t>
            </a:r>
            <a:endParaRPr lang="en-US" sz="1500" dirty="0"/>
          </a:p>
        </p:txBody>
      </p:sp>
      <p:sp>
        <p:nvSpPr>
          <p:cNvPr id="8" name="Text 6"/>
          <p:cNvSpPr/>
          <p:nvPr/>
        </p:nvSpPr>
        <p:spPr>
          <a:xfrm>
            <a:off x="1737360" y="2834640"/>
            <a:ext cx="6583680" cy="1463040"/>
          </a:xfrm>
          <a:prstGeom prst="rect">
            <a:avLst/>
          </a:prstGeom>
          <a:noFill/>
          <a:ln/>
        </p:spPr>
        <p:txBody>
          <a:bodyPr wrap="square" lIns="0" tIns="0" rIns="0" bIns="0" rtlCol="0" anchor="ctr"/>
          <a:lstStyle/>
          <a:p>
            <a:pPr indent="0" marL="0">
              <a:lnSpc>
                <a:spcPct val="130000"/>
              </a:lnSpc>
              <a:buNone/>
            </a:pPr>
            <a:r>
              <a:rPr lang="en-US" sz="1200" dirty="0">
                <a:solidFill>
                  <a:srgbClr val="16181D">
                    <a:alpha val="90000"/>
                  </a:srgbClr>
                </a:solidFill>
                <a:latin typeface="BIZ UDPGothic" pitchFamily="34" charset="0"/>
                <a:ea typeface="BIZ UDPGothic" pitchFamily="34" charset="-122"/>
                <a:cs typeface="BIZ UDPGothic" pitchFamily="34" charset="-120"/>
              </a:rPr>
              <a:t>これまで「賃上げを条件に大規模な設備投資を支援する」制度だった大規模成長投資補助金（4,121億円）を廃止し、同額を離職後の再就職支援の財源にあてる。企業は人員整理をしやすくなる一方、辞めた人には手厚い再就職支援を用意する。財政的には収支ゼロの「付け替え」。</a:t>
            </a:r>
            <a:endParaRPr lang="en-US" sz="1200" dirty="0"/>
          </a:p>
        </p:txBody>
      </p:sp>
      <p:sp>
        <p:nvSpPr>
          <p:cNvPr id="9" name="Text 7"/>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0" name="Text 8"/>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EXTRA</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基礎研究は大学にまとめる</a:t>
            </a:r>
            <a:endParaRPr lang="en-US" sz="2600" dirty="0"/>
          </a:p>
        </p:txBody>
      </p:sp>
      <p:sp>
        <p:nvSpPr>
          <p:cNvPr id="4" name="Text 2"/>
          <p:cNvSpPr/>
          <p:nvPr/>
        </p:nvSpPr>
        <p:spPr>
          <a:xfrm>
            <a:off x="548640" y="141732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141732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企業向け基礎研究補助金は廃止</a:t>
            </a:r>
            <a:endParaRPr lang="en-US" sz="1500" dirty="0"/>
          </a:p>
        </p:txBody>
      </p:sp>
      <p:sp>
        <p:nvSpPr>
          <p:cNvPr id="6" name="Text 4"/>
          <p:cNvSpPr/>
          <p:nvPr/>
        </p:nvSpPr>
        <p:spPr>
          <a:xfrm>
            <a:off x="1417320" y="176479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会社の中だけで閉じた基礎研究への国の支援は打ち切る。</a:t>
            </a:r>
            <a:endParaRPr lang="en-US" sz="1150" dirty="0"/>
          </a:p>
        </p:txBody>
      </p:sp>
      <p:sp>
        <p:nvSpPr>
          <p:cNvPr id="7" name="Text 5"/>
          <p:cNvSpPr/>
          <p:nvPr/>
        </p:nvSpPr>
        <p:spPr>
          <a:xfrm>
            <a:off x="548640" y="246888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8" name="Text 6"/>
          <p:cNvSpPr/>
          <p:nvPr/>
        </p:nvSpPr>
        <p:spPr>
          <a:xfrm>
            <a:off x="1417320" y="246888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研究機能は大学に集約する</a:t>
            </a:r>
            <a:endParaRPr lang="en-US" sz="1500" dirty="0"/>
          </a:p>
        </p:txBody>
      </p:sp>
      <p:sp>
        <p:nvSpPr>
          <p:cNvPr id="9" name="Text 7"/>
          <p:cNvSpPr/>
          <p:nvPr/>
        </p:nvSpPr>
        <p:spPr>
          <a:xfrm>
            <a:off x="1417320" y="281635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企業が大学へ寄付や共同研究費を出しやすいよう、税制優遇を拡充する。</a:t>
            </a:r>
            <a:endParaRPr lang="en-US" sz="1150" dirty="0"/>
          </a:p>
        </p:txBody>
      </p:sp>
      <p:sp>
        <p:nvSpPr>
          <p:cNvPr id="10" name="Text 8"/>
          <p:cNvSpPr/>
          <p:nvPr/>
        </p:nvSpPr>
        <p:spPr>
          <a:xfrm>
            <a:off x="548640" y="352044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03</a:t>
            </a:r>
            <a:endParaRPr lang="en-US" sz="2200" dirty="0"/>
          </a:p>
        </p:txBody>
      </p:sp>
      <p:sp>
        <p:nvSpPr>
          <p:cNvPr id="11" name="Text 9"/>
          <p:cNvSpPr/>
          <p:nvPr/>
        </p:nvSpPr>
        <p:spPr>
          <a:xfrm>
            <a:off x="1417320" y="352044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実用化までの橋渡しも用意する</a:t>
            </a:r>
            <a:endParaRPr lang="en-US" sz="1500" dirty="0"/>
          </a:p>
        </p:txBody>
      </p:sp>
      <p:sp>
        <p:nvSpPr>
          <p:cNvPr id="12" name="Text 10"/>
          <p:cNvSpPr/>
          <p:nvPr/>
        </p:nvSpPr>
        <p:spPr>
          <a:xfrm>
            <a:off x="1417320" y="386791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大学と企業のスピードの差は、産学連携税制と①のフロンティア投資審査での優先採択で埋める。</a:t>
            </a:r>
            <a:endParaRPr lang="en-US" sz="1150" dirty="0"/>
          </a:p>
        </p:txBody>
      </p:sp>
      <p:sp>
        <p:nvSpPr>
          <p:cNvPr id="13" name="Text 11"/>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4" name="Text 12"/>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お金の流れ全体図</a:t>
            </a:r>
            <a:endParaRPr lang="en-US" sz="2600" dirty="0"/>
          </a:p>
        </p:txBody>
      </p:sp>
      <p:sp>
        <p:nvSpPr>
          <p:cNvPr id="4" name="Text 2"/>
          <p:cNvSpPr/>
          <p:nvPr/>
        </p:nvSpPr>
        <p:spPr>
          <a:xfrm>
            <a:off x="548640" y="1371600"/>
            <a:ext cx="8046720" cy="457200"/>
          </a:xfrm>
          <a:prstGeom prst="rect">
            <a:avLst/>
          </a:prstGeom>
          <a:noFill/>
          <a:ln/>
        </p:spPr>
        <p:txBody>
          <a:bodyPr wrap="square" lIns="0" tIns="0" rIns="0" bIns="0" rtlCol="0" anchor="t"/>
          <a:lstStyle/>
          <a:p>
            <a:pPr indent="0" marL="0">
              <a:lnSpc>
                <a:spcPct val="125000"/>
              </a:lnSpc>
              <a:buNone/>
            </a:pPr>
            <a:r>
              <a:rPr lang="en-US" sz="1350" dirty="0">
                <a:solidFill>
                  <a:srgbClr val="16181D">
                    <a:alpha val="90000"/>
                  </a:srgbClr>
                </a:solidFill>
                <a:latin typeface="BIZ UDPGothic" pitchFamily="34" charset="0"/>
                <a:ea typeface="BIZ UDPGothic" pitchFamily="34" charset="-122"/>
                <a:cs typeface="BIZ UDPGothic" pitchFamily="34" charset="-120"/>
              </a:rPr>
              <a:t>新しい増税はせず、既存の補助金予算を組み替えるだけで実現する。</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8046720" cy="914400"/>
        </p:xfrm>
        <a:graphic>
          <a:graphicData uri="http://schemas.openxmlformats.org/drawingml/2006/table">
            <a:tbl>
              <a:tblPr/>
              <a:tblGrid>
                <a:gridCol w="3291840"/>
                <a:gridCol w="2011680"/>
                <a:gridCol w="2743200"/>
              </a:tblGrid>
              <a:tr h="548640">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流れ</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金額</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移動先</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r>
              <a:tr h="548640">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① 古い補助金の全廃</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約4,064億円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④ 未来への投資へ</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② 大規模成長投資補助金の転用</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4,121億円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⑤ 再就職支援へ（収支中立）</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③ 伝統文化保護の純増</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+209億円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工芸支援の恒久財源として</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160520"/>
            <a:ext cx="8046720" cy="548640"/>
          </a:xfrm>
          <a:prstGeom prst="rect">
            <a:avLst/>
          </a:prstGeom>
          <a:noFill/>
          <a:ln/>
        </p:spPr>
        <p:txBody>
          <a:bodyPr wrap="square" lIns="0" tIns="0" rIns="0" bIns="0" rtlCol="0" anchor="ctr"/>
          <a:lstStyle/>
          <a:p>
            <a:pPr indent="0" marL="0">
              <a:lnSpc>
                <a:spcPct val="130000"/>
              </a:lnSpc>
              <a:buNone/>
            </a:pPr>
            <a:r>
              <a:rPr lang="en-US" sz="1250" dirty="0">
                <a:solidFill>
                  <a:srgbClr val="16181D">
                    <a:alpha val="90000"/>
                  </a:srgbClr>
                </a:solidFill>
                <a:latin typeface="BIZ UDPGothic" pitchFamily="34" charset="0"/>
                <a:ea typeface="BIZ UDPGothic" pitchFamily="34" charset="-122"/>
                <a:cs typeface="BIZ UDPGothic" pitchFamily="34" charset="-120"/>
              </a:rPr>
              <a:t>フロンティア投資は年間4,000億円規模の新規原資を獲得。国民負担の純増は数百億円規模にとどまる。</a:t>
            </a:r>
            <a:endParaRPr lang="en-US" sz="1250" dirty="0"/>
          </a:p>
        </p:txBody>
      </p:sp>
      <p:sp>
        <p:nvSpPr>
          <p:cNvPr id="7" name="Text 4"/>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8" name="Text 5"/>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500" b="1" dirty="0">
                <a:solidFill>
                  <a:srgbClr val="16181D"/>
                </a:solidFill>
                <a:latin typeface="BIZ UDPGothic" pitchFamily="34" charset="0"/>
                <a:ea typeface="BIZ UDPGothic" pitchFamily="34" charset="-122"/>
                <a:cs typeface="BIZ UDPGothic" pitchFamily="34" charset="-120"/>
              </a:rPr>
              <a:t>古い補助金をやめて浮くお金</a:t>
            </a:r>
            <a:endParaRPr lang="en-US" sz="2500" dirty="0"/>
          </a:p>
        </p:txBody>
      </p:sp>
      <p:sp>
        <p:nvSpPr>
          <p:cNvPr id="4" name="Shape 2"/>
          <p:cNvSpPr/>
          <p:nvPr/>
        </p:nvSpPr>
        <p:spPr>
          <a:xfrm>
            <a:off x="548640" y="1554480"/>
            <a:ext cx="3931920" cy="2286000"/>
          </a:xfrm>
          <a:prstGeom prst="roundRect">
            <a:avLst>
              <a:gd name="adj" fmla="val 3200"/>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49808" y="1737360"/>
            <a:ext cx="3529584" cy="640080"/>
          </a:xfrm>
          <a:prstGeom prst="rect">
            <a:avLst/>
          </a:prstGeom>
          <a:noFill/>
          <a:ln/>
        </p:spPr>
        <p:txBody>
          <a:bodyPr wrap="square" lIns="0" tIns="0" rIns="0" bIns="0" rtlCol="0" anchor="t"/>
          <a:lstStyle/>
          <a:p>
            <a:pPr indent="0" marL="0">
              <a:buNone/>
            </a:pPr>
            <a:r>
              <a:rPr lang="en-US" sz="2400" b="1" dirty="0">
                <a:solidFill>
                  <a:srgbClr val="C8161D"/>
                </a:solidFill>
                <a:latin typeface="Arial" pitchFamily="34" charset="0"/>
                <a:ea typeface="BIZ UDPGothic" pitchFamily="34" charset="-122"/>
                <a:cs typeface="BIZ UDPGothic" pitchFamily="34" charset="-120"/>
              </a:rPr>
              <a:t>約4,064億円</a:t>
            </a:r>
            <a:endParaRPr lang="en-US" sz="2400" dirty="0"/>
          </a:p>
        </p:txBody>
      </p:sp>
      <p:sp>
        <p:nvSpPr>
          <p:cNvPr id="6" name="Text 4"/>
          <p:cNvSpPr/>
          <p:nvPr/>
        </p:nvSpPr>
        <p:spPr>
          <a:xfrm>
            <a:off x="749808" y="2395728"/>
            <a:ext cx="3529584" cy="502920"/>
          </a:xfrm>
          <a:prstGeom prst="rect">
            <a:avLst/>
          </a:prstGeom>
          <a:noFill/>
          <a:ln/>
        </p:spPr>
        <p:txBody>
          <a:bodyPr wrap="square" lIns="0" tIns="0" rIns="0" bIns="0" rtlCol="0" anchor="t"/>
          <a:lstStyle/>
          <a:p>
            <a:pPr indent="0" marL="0">
              <a:lnSpc>
                <a:spcPct val="115000"/>
              </a:lnSpc>
              <a:buNone/>
            </a:pPr>
            <a:r>
              <a:rPr lang="en-US" sz="1150" b="1" dirty="0">
                <a:solidFill>
                  <a:srgbClr val="16181D"/>
                </a:solidFill>
                <a:latin typeface="BIZ UDPGothic" pitchFamily="34" charset="0"/>
                <a:ea typeface="BIZ UDPGothic" pitchFamily="34" charset="-122"/>
                <a:cs typeface="BIZ UDPGothic" pitchFamily="34" charset="-120"/>
              </a:rPr>
              <a:t>レガシー補助金の廃止額（合計）</a:t>
            </a:r>
            <a:endParaRPr lang="en-US" sz="1150" dirty="0"/>
          </a:p>
        </p:txBody>
      </p:sp>
      <p:sp>
        <p:nvSpPr>
          <p:cNvPr id="7" name="Text 5"/>
          <p:cNvSpPr/>
          <p:nvPr/>
        </p:nvSpPr>
        <p:spPr>
          <a:xfrm>
            <a:off x="749808" y="3246120"/>
            <a:ext cx="3529584" cy="502920"/>
          </a:xfrm>
          <a:prstGeom prst="rect">
            <a:avLst/>
          </a:prstGeom>
          <a:noFill/>
          <a:ln/>
        </p:spPr>
        <p:txBody>
          <a:bodyPr wrap="square" lIns="0" tIns="0" rIns="0" bIns="0" rtlCol="0" anchor="t"/>
          <a:lstStyle/>
          <a:p>
            <a:pPr indent="0" marL="0">
              <a:lnSpc>
                <a:spcPct val="120000"/>
              </a:lnSpc>
              <a:buNone/>
            </a:pPr>
            <a:r>
              <a:rPr lang="en-US" sz="900" dirty="0">
                <a:solidFill>
                  <a:srgbClr val="16181D">
                    <a:alpha val="70000"/>
                  </a:srgbClr>
                </a:solidFill>
                <a:latin typeface="BIZ UDPGothic" pitchFamily="34" charset="0"/>
                <a:ea typeface="BIZ UDPGothic" pitchFamily="34" charset="-122"/>
                <a:cs typeface="BIZ UDPGothic" pitchFamily="34" charset="-120"/>
              </a:rPr>
              <a:t>生産性革命推進事業・雇用調整助成金・特定求職者雇用開発助成金・信用補完事業の4制度</a:t>
            </a:r>
            <a:endParaRPr lang="en-US" sz="900" dirty="0"/>
          </a:p>
        </p:txBody>
      </p:sp>
      <p:sp>
        <p:nvSpPr>
          <p:cNvPr id="8" name="Shape 6"/>
          <p:cNvSpPr/>
          <p:nvPr/>
        </p:nvSpPr>
        <p:spPr>
          <a:xfrm>
            <a:off x="4754880" y="1554480"/>
            <a:ext cx="3840480" cy="2286000"/>
          </a:xfrm>
          <a:prstGeom prst="roundRect">
            <a:avLst>
              <a:gd name="adj" fmla="val 3200"/>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4983480" y="1737360"/>
            <a:ext cx="3383280" cy="365760"/>
          </a:xfrm>
          <a:prstGeom prst="rect">
            <a:avLst/>
          </a:prstGeom>
          <a:noFill/>
          <a:ln/>
        </p:spPr>
        <p:txBody>
          <a:bodyPr wrap="square" lIns="0" tIns="0" rIns="0" bIns="0" rtlCol="0" anchor="ctr"/>
          <a:lstStyle/>
          <a:p>
            <a:pPr indent="0" marL="0">
              <a:buNone/>
            </a:pPr>
            <a:r>
              <a:rPr lang="en-US" sz="1300" b="1" dirty="0">
                <a:solidFill>
                  <a:srgbClr val="16181D"/>
                </a:solidFill>
                <a:latin typeface="BIZ UDPGothic" pitchFamily="34" charset="0"/>
                <a:ea typeface="BIZ UDPGothic" pitchFamily="34" charset="-122"/>
                <a:cs typeface="BIZ UDPGothic" pitchFamily="34" charset="-120"/>
              </a:rPr>
              <a:t>この4,064億円は…</a:t>
            </a:r>
            <a:endParaRPr lang="en-US" sz="1300" dirty="0"/>
          </a:p>
        </p:txBody>
      </p:sp>
      <p:sp>
        <p:nvSpPr>
          <p:cNvPr id="10" name="Text 8"/>
          <p:cNvSpPr/>
          <p:nvPr/>
        </p:nvSpPr>
        <p:spPr>
          <a:xfrm>
            <a:off x="4983480" y="2148840"/>
            <a:ext cx="3383280" cy="1554480"/>
          </a:xfrm>
          <a:prstGeom prst="rect">
            <a:avLst/>
          </a:prstGeom>
          <a:noFill/>
          <a:ln/>
        </p:spPr>
        <p:txBody>
          <a:bodyPr wrap="square" lIns="0" tIns="0" rIns="0" bIns="0" rtlCol="0" anchor="ctr"/>
          <a:lstStyle/>
          <a:p>
            <a:pPr indent="0" marL="0">
              <a:lnSpc>
                <a:spcPct val="135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そのまま①フロンティア投資（量子・宇宙・海洋資源・フィジカルAI等）へ振り替えられる。事業再構築補助金（過去に最大1.1兆円規模）は年度変動が大きいため試算から除外し、制度改革の論点として別途扱う。</a:t>
            </a:r>
            <a:endParaRPr lang="en-US" sz="1150" dirty="0"/>
          </a:p>
        </p:txBody>
      </p:sp>
      <p:sp>
        <p:nvSpPr>
          <p:cNvPr id="11" name="Text 9"/>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2" name="Text 10"/>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400" b="1" dirty="0">
                <a:solidFill>
                  <a:srgbClr val="16181D"/>
                </a:solidFill>
                <a:latin typeface="BIZ UDPGothic" pitchFamily="34" charset="0"/>
                <a:ea typeface="BIZ UDPGothic" pitchFamily="34" charset="-122"/>
                <a:cs typeface="BIZ UDPGothic" pitchFamily="34" charset="-120"/>
              </a:rPr>
              <a:t>大規模成長投資補助金の付け替え</a:t>
            </a:r>
            <a:endParaRPr lang="en-US" sz="2400" dirty="0"/>
          </a:p>
        </p:txBody>
      </p:sp>
      <p:sp>
        <p:nvSpPr>
          <p:cNvPr id="4" name="Shape 2"/>
          <p:cNvSpPr/>
          <p:nvPr/>
        </p:nvSpPr>
        <p:spPr>
          <a:xfrm>
            <a:off x="548640" y="1554480"/>
            <a:ext cx="3931920" cy="2286000"/>
          </a:xfrm>
          <a:prstGeom prst="roundRect">
            <a:avLst>
              <a:gd name="adj" fmla="val 3200"/>
            </a:avLst>
          </a:prstGeom>
          <a:solidFill>
            <a:srgbClr val="FFFFFF"/>
          </a:solidFill>
          <a:ln w="12700">
            <a:solidFill>
              <a:srgbClr val="DDE0E6"/>
            </a:solidFill>
            <a:prstDash val="solid"/>
          </a:ln>
          <a:effectLst>
            <a:outerShdw sx="100000" sy="100000" kx="0" ky="0" algn="bl" rotWithShape="0" blurRad="101600" dist="38100" dir="2700000">
              <a:srgbClr val="000000">
                <a:alpha val="35000"/>
              </a:srgbClr>
            </a:outerShdw>
          </a:effectLst>
        </p:spPr>
      </p:sp>
      <p:sp>
        <p:nvSpPr>
          <p:cNvPr id="5" name="Text 3"/>
          <p:cNvSpPr/>
          <p:nvPr/>
        </p:nvSpPr>
        <p:spPr>
          <a:xfrm>
            <a:off x="749808" y="1737360"/>
            <a:ext cx="3529584" cy="640080"/>
          </a:xfrm>
          <a:prstGeom prst="rect">
            <a:avLst/>
          </a:prstGeom>
          <a:noFill/>
          <a:ln/>
        </p:spPr>
        <p:txBody>
          <a:bodyPr wrap="square" lIns="0" tIns="0" rIns="0" bIns="0" rtlCol="0" anchor="t"/>
          <a:lstStyle/>
          <a:p>
            <a:pPr indent="0" marL="0">
              <a:buNone/>
            </a:pPr>
            <a:r>
              <a:rPr lang="en-US" sz="2400" b="1" dirty="0">
                <a:solidFill>
                  <a:srgbClr val="C8161D"/>
                </a:solidFill>
                <a:latin typeface="Arial" pitchFamily="34" charset="0"/>
                <a:ea typeface="BIZ UDPGothic" pitchFamily="34" charset="-122"/>
                <a:cs typeface="BIZ UDPGothic" pitchFamily="34" charset="-120"/>
              </a:rPr>
              <a:t>4,121億円</a:t>
            </a:r>
            <a:endParaRPr lang="en-US" sz="2400" dirty="0"/>
          </a:p>
        </p:txBody>
      </p:sp>
      <p:sp>
        <p:nvSpPr>
          <p:cNvPr id="6" name="Text 4"/>
          <p:cNvSpPr/>
          <p:nvPr/>
        </p:nvSpPr>
        <p:spPr>
          <a:xfrm>
            <a:off x="749808" y="2395728"/>
            <a:ext cx="3529584" cy="502920"/>
          </a:xfrm>
          <a:prstGeom prst="rect">
            <a:avLst/>
          </a:prstGeom>
          <a:noFill/>
          <a:ln/>
        </p:spPr>
        <p:txBody>
          <a:bodyPr wrap="square" lIns="0" tIns="0" rIns="0" bIns="0" rtlCol="0" anchor="t"/>
          <a:lstStyle/>
          <a:p>
            <a:pPr indent="0" marL="0">
              <a:lnSpc>
                <a:spcPct val="115000"/>
              </a:lnSpc>
              <a:buNone/>
            </a:pPr>
            <a:r>
              <a:rPr lang="en-US" sz="1150" b="1" dirty="0">
                <a:solidFill>
                  <a:srgbClr val="16181D"/>
                </a:solidFill>
                <a:latin typeface="BIZ UDPGothic" pitchFamily="34" charset="0"/>
                <a:ea typeface="BIZ UDPGothic" pitchFamily="34" charset="-122"/>
                <a:cs typeface="BIZ UDPGothic" pitchFamily="34" charset="-120"/>
              </a:rPr>
              <a:t>大規模成長投資補助金（廃止）</a:t>
            </a:r>
            <a:endParaRPr lang="en-US" sz="1150" dirty="0"/>
          </a:p>
        </p:txBody>
      </p:sp>
      <p:sp>
        <p:nvSpPr>
          <p:cNvPr id="7" name="Text 5"/>
          <p:cNvSpPr/>
          <p:nvPr/>
        </p:nvSpPr>
        <p:spPr>
          <a:xfrm>
            <a:off x="749808" y="3246120"/>
            <a:ext cx="3529584" cy="502920"/>
          </a:xfrm>
          <a:prstGeom prst="rect">
            <a:avLst/>
          </a:prstGeom>
          <a:noFill/>
          <a:ln/>
        </p:spPr>
        <p:txBody>
          <a:bodyPr wrap="square" lIns="0" tIns="0" rIns="0" bIns="0" rtlCol="0" anchor="t"/>
          <a:lstStyle/>
          <a:p>
            <a:pPr indent="0" marL="0">
              <a:lnSpc>
                <a:spcPct val="120000"/>
              </a:lnSpc>
              <a:buNone/>
            </a:pPr>
            <a:r>
              <a:rPr lang="en-US" sz="900" dirty="0">
                <a:solidFill>
                  <a:srgbClr val="16181D">
                    <a:alpha val="70000"/>
                  </a:srgbClr>
                </a:solidFill>
                <a:latin typeface="BIZ UDPGothic" pitchFamily="34" charset="0"/>
                <a:ea typeface="BIZ UDPGothic" pitchFamily="34" charset="-122"/>
                <a:cs typeface="BIZ UDPGothic" pitchFamily="34" charset="-120"/>
              </a:rPr>
              <a:t>賃上げを条件に大規模設備投資を支援していた制度</a:t>
            </a:r>
            <a:endParaRPr lang="en-US" sz="900" dirty="0"/>
          </a:p>
        </p:txBody>
      </p:sp>
      <p:sp>
        <p:nvSpPr>
          <p:cNvPr id="8" name="Shape 6"/>
          <p:cNvSpPr/>
          <p:nvPr/>
        </p:nvSpPr>
        <p:spPr>
          <a:xfrm>
            <a:off x="4754880" y="1554480"/>
            <a:ext cx="3840480" cy="2286000"/>
          </a:xfrm>
          <a:prstGeom prst="roundRect">
            <a:avLst>
              <a:gd name="adj" fmla="val 3200"/>
            </a:avLst>
          </a:prstGeom>
          <a:solidFill>
            <a:srgbClr val="FFFFFF"/>
          </a:solidFill>
          <a:ln w="19050">
            <a:solidFill>
              <a:srgbClr val="C8161D"/>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4983480" y="1737360"/>
            <a:ext cx="3383280" cy="36576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収支は中立（ネット増減ゼロ）</a:t>
            </a:r>
            <a:endParaRPr lang="en-US" sz="1300" dirty="0"/>
          </a:p>
        </p:txBody>
      </p:sp>
      <p:sp>
        <p:nvSpPr>
          <p:cNvPr id="10" name="Text 8"/>
          <p:cNvSpPr/>
          <p:nvPr/>
        </p:nvSpPr>
        <p:spPr>
          <a:xfrm>
            <a:off x="4983480" y="2148840"/>
            <a:ext cx="3383280" cy="1554480"/>
          </a:xfrm>
          <a:prstGeom prst="rect">
            <a:avLst/>
          </a:prstGeom>
          <a:noFill/>
          <a:ln/>
        </p:spPr>
        <p:txBody>
          <a:bodyPr wrap="square" lIns="0" tIns="0" rIns="0" bIns="0" rtlCol="0" anchor="ctr"/>
          <a:lstStyle/>
          <a:p>
            <a:pPr indent="0" marL="0">
              <a:lnSpc>
                <a:spcPct val="135000"/>
              </a:lnSpc>
              <a:buNone/>
            </a:pPr>
            <a:r>
              <a:rPr lang="en-US" sz="1200" dirty="0">
                <a:solidFill>
                  <a:srgbClr val="16181D">
                    <a:alpha val="85000"/>
                  </a:srgbClr>
                </a:solidFill>
                <a:latin typeface="BIZ UDPGothic" pitchFamily="34" charset="0"/>
                <a:ea typeface="BIZ UDPGothic" pitchFamily="34" charset="-122"/>
                <a:cs typeface="BIZ UDPGothic" pitchFamily="34" charset="-120"/>
              </a:rPr>
              <a:t>廃止した金額をそのまま⑤離職後再就職支援の財源にあてるだけなので、新たな財源は必要ない。「雇用維持」から「労働移動支援」への使い道の転換そのものが目的。</a:t>
            </a:r>
            <a:endParaRPr lang="en-US" sz="1200" dirty="0"/>
          </a:p>
        </p:txBody>
      </p:sp>
      <p:sp>
        <p:nvSpPr>
          <p:cNvPr id="11" name="Text 9"/>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2" name="Text 10"/>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DETAIL</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300" b="1" dirty="0">
                <a:solidFill>
                  <a:srgbClr val="16181D"/>
                </a:solidFill>
                <a:latin typeface="BIZ UDPGothic" pitchFamily="34" charset="0"/>
                <a:ea typeface="BIZ UDPGothic" pitchFamily="34" charset="-122"/>
                <a:cs typeface="BIZ UDPGothic" pitchFamily="34" charset="-120"/>
              </a:rPr>
              <a:t>伝統文化を守るために増える予算</a:t>
            </a:r>
            <a:endParaRPr lang="en-US" sz="2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914400"/>
        </p:xfrm>
        <a:graphic>
          <a:graphicData uri="http://schemas.openxmlformats.org/drawingml/2006/table">
            <a:tbl>
              <a:tblPr/>
              <a:tblGrid>
                <a:gridCol w="3108960"/>
                <a:gridCol w="1737360"/>
                <a:gridCol w="2194560"/>
                <a:gridCol w="1005840"/>
              </a:tblGrid>
              <a:tr h="548640">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項目</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現状</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目標</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純増額</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r>
              <a:tr h="548640">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伝統的工芸品産業支援</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11億円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220億円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+209億円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神社仏閣保護（国宝・重文建造物）</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574億円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574億円（恒久財源化）</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±0</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48640">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伝統芸能（歌舞伎・能楽・文楽等）</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分散し単離困難</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運営費を恒久財源化</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精査中</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3977640"/>
            <a:ext cx="8046720" cy="457200"/>
          </a:xfrm>
          <a:prstGeom prst="rect">
            <a:avLst/>
          </a:prstGeom>
          <a:noFill/>
          <a:ln/>
        </p:spPr>
        <p:txBody>
          <a:bodyPr wrap="square" lIns="0" tIns="0" rIns="0" bIns="0" rtlCol="0" anchor="ctr"/>
          <a:lstStyle/>
          <a:p>
            <a:pPr indent="0" marL="0">
              <a:buNone/>
            </a:pPr>
            <a:r>
              <a:rPr lang="en-US" sz="1250" b="1" dirty="0">
                <a:solidFill>
                  <a:srgbClr val="C8161D"/>
                </a:solidFill>
                <a:latin typeface="BIZ UDPGothic" pitchFamily="34" charset="0"/>
                <a:ea typeface="BIZ UDPGothic" pitchFamily="34" charset="-122"/>
                <a:cs typeface="BIZ UDPGothic" pitchFamily="34" charset="-120"/>
              </a:rPr>
              <a:t>国民の新たな負担として確定しているのは、伝統的工芸品分の209億円のみ。</a:t>
            </a:r>
            <a:endParaRPr lang="en-US" sz="1250" dirty="0"/>
          </a:p>
        </p:txBody>
      </p:sp>
      <p:sp>
        <p:nvSpPr>
          <p:cNvPr id="6" name="Text 3"/>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7" name="Text 4"/>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FINANCE — SCENARIO</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保守的シナリオ・楽観的シナリオ</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914400"/>
        </p:xfrm>
        <a:graphic>
          <a:graphicData uri="http://schemas.openxmlformats.org/drawingml/2006/table">
            <a:tbl>
              <a:tblPr/>
              <a:tblGrid>
                <a:gridCol w="2377440"/>
                <a:gridCol w="2834640"/>
                <a:gridCol w="2834640"/>
              </a:tblGrid>
              <a:tr h="566928">
                <a:tc>
                  <a:txBody>
                    <a:bodyPr/>
                    <a:lstStyle/>
                    <a:p>
                      <a:pPr algn="ctr" indent="0" marL="0">
                        <a:buNone/>
                      </a:pP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保守的シナリオ</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c>
                  <a:txBody>
                    <a:bodyPr/>
                    <a:lstStyle/>
                    <a:p>
                      <a:pPr algn="ctr" indent="0" marL="0">
                        <a:buNone/>
                      </a:pPr>
                      <a:r>
                        <a:rPr lang="en-US" sz="1200" b="1" dirty="0">
                          <a:solidFill>
                            <a:srgbClr val="FFFFFF"/>
                          </a:solidFill>
                          <a:latin typeface="BIZ UDPGothic" pitchFamily="34" charset="0"/>
                          <a:ea typeface="BIZ UDPGothic" pitchFamily="34" charset="-122"/>
                          <a:cs typeface="BIZ UDPGothic" pitchFamily="34" charset="-120"/>
                        </a:rPr>
                        <a:t>楽観的シナリオ</a:t>
                      </a:r>
                      <a:endParaRPr lang="en-US" sz="120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C8161D"/>
                    </a:solidFill>
                  </a:tcPr>
                </a:tc>
              </a:tr>
              <a:tr h="566928">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レガシー廃止による原資</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約3,800億円</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約4,064億円（上限値）</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フロンティア投資への追加投入額</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約3,800億円/年</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約4,064億円/年</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r h="566928">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財政負担の純増</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209億円（工芸分のみ）</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6181D"/>
                          </a:solidFill>
                          <a:latin typeface="BIZ UDPGothic" pitchFamily="34" charset="0"/>
                          <a:ea typeface="BIZ UDPGothic" pitchFamily="34" charset="-122"/>
                          <a:cs typeface="BIZ UDPGothic" pitchFamily="34" charset="-120"/>
                        </a:rPr>
                        <a:t>209億円＋伝統芸能分（精査後確定）</a:t>
                      </a:r>
                      <a:endParaRPr lang="en-US" sz="1150" dirty="0">
                        <a:latin typeface="BIZ UDPGothic" charset="0"/>
                        <a:ea typeface="BIZ UDPGothic" charset="0"/>
                        <a:cs typeface="BIZ UDPGothic" charset="0"/>
                      </a:endParaRPr>
                    </a:p>
                  </a:txBody>
                  <a:tcPr marL="101600" marR="101600" marT="50800" marB="50800" anchor="ctr">
                    <a:lnL w="6350" cap="flat" cmpd="sng" algn="ctr">
                      <a:solidFill>
                        <a:srgbClr val="DDE0E6"/>
                      </a:solidFill>
                      <a:prstDash val="solid"/>
                      <a:round/>
                      <a:headEnd type="none" w="med" len="med"/>
                      <a:tailEnd type="none" w="med" len="med"/>
                    </a:lnL>
                    <a:lnR w="6350" cap="flat" cmpd="sng" algn="ctr">
                      <a:solidFill>
                        <a:srgbClr val="DDE0E6"/>
                      </a:solidFill>
                      <a:prstDash val="solid"/>
                      <a:round/>
                      <a:headEnd type="none" w="med" len="med"/>
                      <a:tailEnd type="none" w="med" len="med"/>
                    </a:lnR>
                    <a:lnT w="6350" cap="flat" cmpd="sng" algn="ctr">
                      <a:solidFill>
                        <a:srgbClr val="DDE0E6"/>
                      </a:solidFill>
                      <a:prstDash val="solid"/>
                      <a:round/>
                      <a:headEnd type="none" w="med" len="med"/>
                      <a:tailEnd type="none" w="med" len="med"/>
                    </a:lnT>
                    <a:lnB w="6350" cap="flat" cmpd="sng" algn="ctr">
                      <a:solidFill>
                        <a:srgbClr val="DDE0E6"/>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3977640"/>
            <a:ext cx="8046720" cy="640080"/>
          </a:xfrm>
          <a:prstGeom prst="rect">
            <a:avLst/>
          </a:prstGeom>
          <a:noFill/>
          <a:ln/>
        </p:spPr>
        <p:txBody>
          <a:bodyPr wrap="square" lIns="0" tIns="0" rIns="0" bIns="0" rtlCol="0" anchor="ctr"/>
          <a:lstStyle/>
          <a:p>
            <a:pPr indent="0" marL="0">
              <a:lnSpc>
                <a:spcPct val="130000"/>
              </a:lnSpc>
              <a:buNone/>
            </a:pPr>
            <a:r>
              <a:rPr lang="en-US" sz="1200" dirty="0">
                <a:solidFill>
                  <a:srgbClr val="16181D">
                    <a:alpha val="90000"/>
                  </a:srgbClr>
                </a:solidFill>
                <a:latin typeface="BIZ UDPGothic" pitchFamily="34" charset="0"/>
                <a:ea typeface="BIZ UDPGothic" pitchFamily="34" charset="-122"/>
                <a:cs typeface="BIZ UDPGothic" pitchFamily="34" charset="-120"/>
              </a:rPr>
              <a:t>いずれのシナリオでも、フロンティア投資は年4,000億円規模の新規原資を得る一方、国民負担の純増は数百億円規模に収まる。</a:t>
            </a:r>
            <a:endParaRPr lang="en-US" sz="1200" dirty="0"/>
          </a:p>
        </p:txBody>
      </p:sp>
      <p:sp>
        <p:nvSpPr>
          <p:cNvPr id="6" name="Text 3"/>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7" name="Text 4"/>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22</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ROADMAP</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実行ロードマップ：1年目</a:t>
            </a:r>
            <a:endParaRPr lang="en-US" sz="2600" dirty="0"/>
          </a:p>
        </p:txBody>
      </p:sp>
      <p:sp>
        <p:nvSpPr>
          <p:cNvPr id="4" name="Text 2"/>
          <p:cNvSpPr/>
          <p:nvPr/>
        </p:nvSpPr>
        <p:spPr>
          <a:xfrm>
            <a:off x="548640" y="1463040"/>
            <a:ext cx="777240" cy="118872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146304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既存補助金制度の全廃・棚卸し</a:t>
            </a:r>
            <a:endParaRPr lang="en-US" sz="1500" dirty="0"/>
          </a:p>
        </p:txBody>
      </p:sp>
      <p:sp>
        <p:nvSpPr>
          <p:cNvPr id="6" name="Text 4"/>
          <p:cNvSpPr/>
          <p:nvPr/>
        </p:nvSpPr>
        <p:spPr>
          <a:xfrm>
            <a:off x="1417320" y="1810512"/>
            <a:ext cx="7178040" cy="84124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成熟産業支援・倒産回避目的・一般雇用助成金を一括廃止する法改正を行う。</a:t>
            </a:r>
            <a:endParaRPr lang="en-US" sz="1150" dirty="0"/>
          </a:p>
        </p:txBody>
      </p:sp>
      <p:sp>
        <p:nvSpPr>
          <p:cNvPr id="7" name="Text 5"/>
          <p:cNvSpPr/>
          <p:nvPr/>
        </p:nvSpPr>
        <p:spPr>
          <a:xfrm>
            <a:off x="548640" y="2651760"/>
            <a:ext cx="777240" cy="118872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8" name="Text 6"/>
          <p:cNvSpPr/>
          <p:nvPr/>
        </p:nvSpPr>
        <p:spPr>
          <a:xfrm>
            <a:off x="1417320" y="265176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大規模成長投資補助金の転用を制度設計</a:t>
            </a:r>
            <a:endParaRPr lang="en-US" sz="1500" dirty="0"/>
          </a:p>
        </p:txBody>
      </p:sp>
      <p:sp>
        <p:nvSpPr>
          <p:cNvPr id="9" name="Text 7"/>
          <p:cNvSpPr/>
          <p:nvPr/>
        </p:nvSpPr>
        <p:spPr>
          <a:xfrm>
            <a:off x="1417320" y="2999232"/>
            <a:ext cx="7178040" cy="84124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離職後再就職支援へ切り替えるための具体的な制度づくりを開始する。</a:t>
            </a:r>
            <a:endParaRPr lang="en-US" sz="1150" dirty="0"/>
          </a:p>
        </p:txBody>
      </p:sp>
      <p:sp>
        <p:nvSpPr>
          <p:cNvPr id="10" name="Text 8"/>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1" name="Text 9"/>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ROADMAP</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実行ロードマップ：2年目</a:t>
            </a:r>
            <a:endParaRPr lang="en-US" sz="2600" dirty="0"/>
          </a:p>
        </p:txBody>
      </p:sp>
      <p:sp>
        <p:nvSpPr>
          <p:cNvPr id="4" name="Text 2"/>
          <p:cNvSpPr/>
          <p:nvPr/>
        </p:nvSpPr>
        <p:spPr>
          <a:xfrm>
            <a:off x="548640" y="1463040"/>
            <a:ext cx="777240" cy="118872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146304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「伝統文化保護特別枠」の創設</a:t>
            </a:r>
            <a:endParaRPr lang="en-US" sz="1500" dirty="0"/>
          </a:p>
        </p:txBody>
      </p:sp>
      <p:sp>
        <p:nvSpPr>
          <p:cNvPr id="6" name="Text 4"/>
          <p:cNvSpPr/>
          <p:nvPr/>
        </p:nvSpPr>
        <p:spPr>
          <a:xfrm>
            <a:off x="1417320" y="1810512"/>
            <a:ext cx="7178040" cy="84124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伝統的工芸品220億円への拡充と、神社仏閣・伝統芸能の予算を恒久財源として法律に明記する。</a:t>
            </a:r>
            <a:endParaRPr lang="en-US" sz="1150" dirty="0"/>
          </a:p>
        </p:txBody>
      </p:sp>
      <p:sp>
        <p:nvSpPr>
          <p:cNvPr id="7" name="Text 5"/>
          <p:cNvSpPr/>
          <p:nvPr/>
        </p:nvSpPr>
        <p:spPr>
          <a:xfrm>
            <a:off x="548640" y="2651760"/>
            <a:ext cx="777240" cy="118872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8" name="Text 6"/>
          <p:cNvSpPr/>
          <p:nvPr/>
        </p:nvSpPr>
        <p:spPr>
          <a:xfrm>
            <a:off x="1417320" y="265176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「プロジェクト単位審査基準」の策定</a:t>
            </a:r>
            <a:endParaRPr lang="en-US" sz="1500" dirty="0"/>
          </a:p>
        </p:txBody>
      </p:sp>
      <p:sp>
        <p:nvSpPr>
          <p:cNvPr id="9" name="Text 7"/>
          <p:cNvSpPr/>
          <p:nvPr/>
        </p:nvSpPr>
        <p:spPr>
          <a:xfrm>
            <a:off x="1417320" y="2999232"/>
            <a:ext cx="7178040" cy="84124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フロンティア投資の対象技術領域リストと、業種を問わない審査ルールをつくる。大学寄付の税制優遇も拡充する。</a:t>
            </a:r>
            <a:endParaRPr lang="en-US" sz="1150" dirty="0"/>
          </a:p>
        </p:txBody>
      </p:sp>
      <p:sp>
        <p:nvSpPr>
          <p:cNvPr id="10" name="Text 8"/>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1" name="Text 9"/>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ROADMAP</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実行ロードマップ：3年目以降</a:t>
            </a:r>
            <a:endParaRPr lang="en-US" sz="2600" dirty="0"/>
          </a:p>
        </p:txBody>
      </p:sp>
      <p:sp>
        <p:nvSpPr>
          <p:cNvPr id="4" name="Text 2"/>
          <p:cNvSpPr/>
          <p:nvPr/>
        </p:nvSpPr>
        <p:spPr>
          <a:xfrm>
            <a:off x="548640" y="1463040"/>
            <a:ext cx="777240" cy="118872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146304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「10年後未来創出ファンド」の本格運用</a:t>
            </a:r>
            <a:endParaRPr lang="en-US" sz="1500" dirty="0"/>
          </a:p>
        </p:txBody>
      </p:sp>
      <p:sp>
        <p:nvSpPr>
          <p:cNvPr id="6" name="Text 4"/>
          <p:cNvSpPr/>
          <p:nvPr/>
        </p:nvSpPr>
        <p:spPr>
          <a:xfrm>
            <a:off x="1417320" y="1810512"/>
            <a:ext cx="7178040" cy="84124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未来都市・フィジカルAI・海洋資源等の対象プロジェクトを選定し、投資を開始する。</a:t>
            </a:r>
            <a:endParaRPr lang="en-US" sz="1150" dirty="0"/>
          </a:p>
        </p:txBody>
      </p:sp>
      <p:sp>
        <p:nvSpPr>
          <p:cNvPr id="7" name="Text 5"/>
          <p:cNvSpPr/>
          <p:nvPr/>
        </p:nvSpPr>
        <p:spPr>
          <a:xfrm>
            <a:off x="548640" y="2651760"/>
            <a:ext cx="777240" cy="118872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8" name="Text 6"/>
          <p:cNvSpPr/>
          <p:nvPr/>
        </p:nvSpPr>
        <p:spPr>
          <a:xfrm>
            <a:off x="1417320" y="265176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Made in Japan加点審査・再就職支援の稼働</a:t>
            </a:r>
            <a:endParaRPr lang="en-US" sz="1500" dirty="0"/>
          </a:p>
        </p:txBody>
      </p:sp>
      <p:sp>
        <p:nvSpPr>
          <p:cNvPr id="9" name="Text 7"/>
          <p:cNvSpPr/>
          <p:nvPr/>
        </p:nvSpPr>
        <p:spPr>
          <a:xfrm>
            <a:off x="1417320" y="2999232"/>
            <a:ext cx="7178040" cy="84124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国内調達比率に応じた加点審査と、離職後再就職支援の実施体制を本格始動させる。</a:t>
            </a:r>
            <a:endParaRPr lang="en-US" sz="1150" dirty="0"/>
          </a:p>
        </p:txBody>
      </p:sp>
      <p:sp>
        <p:nvSpPr>
          <p:cNvPr id="10" name="Text 8"/>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1" name="Text 9"/>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25</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OUTCOME</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この提言で何が変わるか</a:t>
            </a:r>
            <a:endParaRPr lang="en-US" sz="2600" dirty="0"/>
          </a:p>
        </p:txBody>
      </p:sp>
      <p:sp>
        <p:nvSpPr>
          <p:cNvPr id="4" name="Text 2"/>
          <p:cNvSpPr/>
          <p:nvPr/>
        </p:nvSpPr>
        <p:spPr>
          <a:xfrm>
            <a:off x="548640" y="146304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146304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毎年4,000億円規模のお金が「未来」に向かう</a:t>
            </a:r>
            <a:endParaRPr lang="en-US" sz="1500" dirty="0"/>
          </a:p>
        </p:txBody>
      </p:sp>
      <p:sp>
        <p:nvSpPr>
          <p:cNvPr id="6" name="Text 4"/>
          <p:cNvSpPr/>
          <p:nvPr/>
        </p:nvSpPr>
        <p:spPr>
          <a:xfrm>
            <a:off x="1417320" y="181051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延命のための補助金ではなく、量子・宇宙・海洋資源等への投資に変わる。</a:t>
            </a:r>
            <a:endParaRPr lang="en-US" sz="1150" dirty="0"/>
          </a:p>
        </p:txBody>
      </p:sp>
      <p:sp>
        <p:nvSpPr>
          <p:cNvPr id="7" name="Text 5"/>
          <p:cNvSpPr/>
          <p:nvPr/>
        </p:nvSpPr>
        <p:spPr>
          <a:xfrm>
            <a:off x="548640" y="251460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8" name="Text 6"/>
          <p:cNvSpPr/>
          <p:nvPr/>
        </p:nvSpPr>
        <p:spPr>
          <a:xfrm>
            <a:off x="1417320" y="251460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会社ではなく「挑戦」が評価される</a:t>
            </a:r>
            <a:endParaRPr lang="en-US" sz="1500" dirty="0"/>
          </a:p>
        </p:txBody>
      </p:sp>
      <p:sp>
        <p:nvSpPr>
          <p:cNvPr id="9" name="Text 7"/>
          <p:cNvSpPr/>
          <p:nvPr/>
        </p:nvSpPr>
        <p:spPr>
          <a:xfrm>
            <a:off x="1417320" y="286207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業種に関係なく、フロンティア技術に挑むプロジェクトなら誰でも対象になる。</a:t>
            </a:r>
            <a:endParaRPr lang="en-US" sz="1150" dirty="0"/>
          </a:p>
        </p:txBody>
      </p:sp>
      <p:sp>
        <p:nvSpPr>
          <p:cNvPr id="10" name="Text 8"/>
          <p:cNvSpPr/>
          <p:nvPr/>
        </p:nvSpPr>
        <p:spPr>
          <a:xfrm>
            <a:off x="548640" y="356616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03</a:t>
            </a:r>
            <a:endParaRPr lang="en-US" sz="2200" dirty="0"/>
          </a:p>
        </p:txBody>
      </p:sp>
      <p:sp>
        <p:nvSpPr>
          <p:cNvPr id="11" name="Text 9"/>
          <p:cNvSpPr/>
          <p:nvPr/>
        </p:nvSpPr>
        <p:spPr>
          <a:xfrm>
            <a:off x="1417320" y="356616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伝統文化は恒久的に守られる</a:t>
            </a:r>
            <a:endParaRPr lang="en-US" sz="1500" dirty="0"/>
          </a:p>
        </p:txBody>
      </p:sp>
      <p:sp>
        <p:nvSpPr>
          <p:cNvPr id="12" name="Text 10"/>
          <p:cNvSpPr/>
          <p:nvPr/>
        </p:nvSpPr>
        <p:spPr>
          <a:xfrm>
            <a:off x="1417320" y="391363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工芸・神社仏閣・伝統芸能への支援が、毎年の予算争いから切り離される。</a:t>
            </a:r>
            <a:endParaRPr lang="en-US" sz="1150" dirty="0"/>
          </a:p>
        </p:txBody>
      </p:sp>
      <p:sp>
        <p:nvSpPr>
          <p:cNvPr id="13" name="Text 11"/>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4" name="Text 12"/>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292608"/>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REMAINING ISSUES</a:t>
            </a:r>
            <a:endParaRPr lang="en-US" sz="1200" dirty="0"/>
          </a:p>
        </p:txBody>
      </p:sp>
      <p:sp>
        <p:nvSpPr>
          <p:cNvPr id="3" name="Text 1"/>
          <p:cNvSpPr/>
          <p:nvPr/>
        </p:nvSpPr>
        <p:spPr>
          <a:xfrm>
            <a:off x="548640" y="594360"/>
            <a:ext cx="8046720" cy="731520"/>
          </a:xfrm>
          <a:prstGeom prst="rect">
            <a:avLst/>
          </a:prstGeom>
          <a:noFill/>
          <a:ln/>
        </p:spPr>
        <p:txBody>
          <a:bodyPr wrap="square" lIns="0" tIns="0" rIns="0" bIns="0" rtlCol="0" anchor="t"/>
          <a:lstStyle/>
          <a:p>
            <a:pPr indent="0" marL="0">
              <a:lnSpc>
                <a:spcPct val="112000"/>
              </a:lnSpc>
              <a:buNone/>
            </a:pPr>
            <a:r>
              <a:rPr lang="en-US" sz="2600" b="1" dirty="0">
                <a:solidFill>
                  <a:srgbClr val="16181D"/>
                </a:solidFill>
                <a:latin typeface="BIZ UDPGothic" pitchFamily="34" charset="0"/>
                <a:ea typeface="BIZ UDPGothic" pitchFamily="34" charset="-122"/>
                <a:cs typeface="BIZ UDPGothic" pitchFamily="34" charset="-120"/>
              </a:rPr>
              <a:t>これから詰める課題</a:t>
            </a:r>
            <a:endParaRPr lang="en-US" sz="2600" dirty="0"/>
          </a:p>
        </p:txBody>
      </p:sp>
      <p:sp>
        <p:nvSpPr>
          <p:cNvPr id="4" name="Text 2"/>
          <p:cNvSpPr/>
          <p:nvPr/>
        </p:nvSpPr>
        <p:spPr>
          <a:xfrm>
            <a:off x="548640" y="146304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146304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伝統芸能予算の具体額の精査</a:t>
            </a:r>
            <a:endParaRPr lang="en-US" sz="1500" dirty="0"/>
          </a:p>
        </p:txBody>
      </p:sp>
      <p:sp>
        <p:nvSpPr>
          <p:cNvPr id="6" name="Text 4"/>
          <p:cNvSpPr/>
          <p:nvPr/>
        </p:nvSpPr>
        <p:spPr>
          <a:xfrm>
            <a:off x="1417320" y="181051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現状は複数制度に分散しており、恒久財源化する具体的な金額をこれから積み上げる必要がある。</a:t>
            </a:r>
            <a:endParaRPr lang="en-US" sz="1150" dirty="0"/>
          </a:p>
        </p:txBody>
      </p:sp>
      <p:sp>
        <p:nvSpPr>
          <p:cNvPr id="7" name="Text 5"/>
          <p:cNvSpPr/>
          <p:nvPr/>
        </p:nvSpPr>
        <p:spPr>
          <a:xfrm>
            <a:off x="548640" y="251460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8" name="Text 6"/>
          <p:cNvSpPr/>
          <p:nvPr/>
        </p:nvSpPr>
        <p:spPr>
          <a:xfrm>
            <a:off x="1417320" y="251460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特定求職者雇用開発助成金の内訳精査</a:t>
            </a:r>
            <a:endParaRPr lang="en-US" sz="1500" dirty="0"/>
          </a:p>
        </p:txBody>
      </p:sp>
      <p:sp>
        <p:nvSpPr>
          <p:cNvPr id="9" name="Text 7"/>
          <p:cNvSpPr/>
          <p:nvPr/>
        </p:nvSpPr>
        <p:spPr>
          <a:xfrm>
            <a:off x="1417320" y="286207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障害者雇用分と一般雇用分の公式な内訳データがなく、正確な削減額の確定が必要。</a:t>
            </a:r>
            <a:endParaRPr lang="en-US" sz="1150" dirty="0"/>
          </a:p>
        </p:txBody>
      </p:sp>
      <p:sp>
        <p:nvSpPr>
          <p:cNvPr id="10" name="Text 8"/>
          <p:cNvSpPr/>
          <p:nvPr/>
        </p:nvSpPr>
        <p:spPr>
          <a:xfrm>
            <a:off x="548640" y="3566160"/>
            <a:ext cx="777240" cy="1051560"/>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03</a:t>
            </a:r>
            <a:endParaRPr lang="en-US" sz="2200" dirty="0"/>
          </a:p>
        </p:txBody>
      </p:sp>
      <p:sp>
        <p:nvSpPr>
          <p:cNvPr id="11" name="Text 9"/>
          <p:cNvSpPr/>
          <p:nvPr/>
        </p:nvSpPr>
        <p:spPr>
          <a:xfrm>
            <a:off x="1417320" y="356616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Made in Japan加点方式の補助率設計</a:t>
            </a:r>
            <a:endParaRPr lang="en-US" sz="1500" dirty="0"/>
          </a:p>
        </p:txBody>
      </p:sp>
      <p:sp>
        <p:nvSpPr>
          <p:cNvPr id="12" name="Text 10"/>
          <p:cNvSpPr/>
          <p:nvPr/>
        </p:nvSpPr>
        <p:spPr>
          <a:xfrm>
            <a:off x="1417320" y="3913632"/>
            <a:ext cx="7178040" cy="704088"/>
          </a:xfrm>
          <a:prstGeom prst="rect">
            <a:avLst/>
          </a:prstGeom>
          <a:noFill/>
          <a:ln/>
        </p:spPr>
        <p:txBody>
          <a:bodyPr wrap="square" lIns="0" tIns="0" rIns="0" bIns="0" rtlCol="0" anchor="t"/>
          <a:lstStyle/>
          <a:p>
            <a:pPr indent="0" marL="0">
              <a:lnSpc>
                <a:spcPct val="120000"/>
              </a:lnSpc>
              <a:buNone/>
            </a:pPr>
            <a:r>
              <a:rPr lang="en-US" sz="1150" dirty="0">
                <a:solidFill>
                  <a:srgbClr val="16181D">
                    <a:alpha val="85000"/>
                  </a:srgbClr>
                </a:solidFill>
                <a:latin typeface="BIZ UDPGothic" pitchFamily="34" charset="0"/>
                <a:ea typeface="BIZ UDPGothic" pitchFamily="34" charset="-122"/>
                <a:cs typeface="BIZ UDPGothic" pitchFamily="34" charset="-120"/>
              </a:rPr>
              <a:t>国内調達比率と補助率上乗せ幅の具体的な数式をこれから設計する。</a:t>
            </a:r>
            <a:endParaRPr lang="en-US" sz="1150" dirty="0"/>
          </a:p>
        </p:txBody>
      </p:sp>
      <p:sp>
        <p:nvSpPr>
          <p:cNvPr id="13" name="Text 11"/>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4" name="Text 12"/>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548640" y="411480"/>
            <a:ext cx="8046720" cy="320040"/>
          </a:xfrm>
          <a:prstGeom prst="rect">
            <a:avLst/>
          </a:prstGeom>
          <a:noFill/>
          <a:ln/>
        </p:spPr>
        <p:txBody>
          <a:bodyPr wrap="square" lIns="0" tIns="0" rIns="0" bIns="0" rtlCol="0" anchor="ctr"/>
          <a:lstStyle/>
          <a:p>
            <a:pPr indent="0" marL="0">
              <a:buNone/>
            </a:pPr>
            <a:r>
              <a:rPr lang="en-US" sz="1200" b="1" spc="200" kern="0" dirty="0">
                <a:solidFill>
                  <a:srgbClr val="C8161D"/>
                </a:solidFill>
                <a:latin typeface="Arial" pitchFamily="34" charset="0"/>
                <a:ea typeface="BIZ UDPGothic" pitchFamily="34" charset="-122"/>
                <a:cs typeface="BIZ UDPGothic" pitchFamily="34" charset="-120"/>
              </a:rPr>
              <a:t>REBOOT JAPAN ── 提言013　まとめ</a:t>
            </a:r>
            <a:endParaRPr lang="en-US" sz="1200" dirty="0"/>
          </a:p>
        </p:txBody>
      </p:sp>
      <p:sp>
        <p:nvSpPr>
          <p:cNvPr id="3" name="Text 1"/>
          <p:cNvSpPr/>
          <p:nvPr/>
        </p:nvSpPr>
        <p:spPr>
          <a:xfrm>
            <a:off x="548640" y="914400"/>
            <a:ext cx="8046720" cy="1920240"/>
          </a:xfrm>
          <a:prstGeom prst="rect">
            <a:avLst/>
          </a:prstGeom>
          <a:noFill/>
          <a:ln/>
        </p:spPr>
        <p:txBody>
          <a:bodyPr wrap="square" lIns="0" tIns="0" rIns="0" bIns="0" rtlCol="0" anchor="t"/>
          <a:lstStyle/>
          <a:p>
            <a:pPr indent="0" marL="0">
              <a:lnSpc>
                <a:spcPct val="120000"/>
              </a:lnSpc>
              <a:buNone/>
            </a:pPr>
            <a:r>
              <a:rPr lang="en-US" sz="3000" b="1" dirty="0">
                <a:solidFill>
                  <a:srgbClr val="16181D"/>
                </a:solidFill>
                <a:latin typeface="BIZ UDPGothic" pitchFamily="34" charset="0"/>
                <a:ea typeface="BIZ UDPGothic" pitchFamily="34" charset="-122"/>
                <a:cs typeface="BIZ UDPGothic" pitchFamily="34" charset="-120"/>
              </a:rPr>
              <a:t>補助金を、</a:t>
            </a:r>
            <a:endParaRPr lang="en-US" sz="3000" dirty="0"/>
          </a:p>
          <a:p>
            <a:pPr indent="0" marL="0">
              <a:lnSpc>
                <a:spcPct val="120000"/>
              </a:lnSpc>
              <a:buNone/>
            </a:pPr>
            <a:r>
              <a:rPr lang="en-US" sz="3000" b="1" dirty="0">
                <a:solidFill>
                  <a:srgbClr val="16181D"/>
                </a:solidFill>
                <a:latin typeface="BIZ UDPGothic" pitchFamily="34" charset="0"/>
                <a:ea typeface="BIZ UDPGothic" pitchFamily="34" charset="-122"/>
                <a:cs typeface="BIZ UDPGothic" pitchFamily="34" charset="-120"/>
              </a:rPr>
              <a:t>「過去の救済」から</a:t>
            </a:r>
            <a:endParaRPr lang="en-US" sz="3000" dirty="0"/>
          </a:p>
          <a:p>
            <a:pPr indent="0" marL="0">
              <a:lnSpc>
                <a:spcPct val="120000"/>
              </a:lnSpc>
              <a:buNone/>
            </a:pPr>
            <a:r>
              <a:rPr lang="en-US" sz="3000" b="1" dirty="0">
                <a:solidFill>
                  <a:srgbClr val="16181D"/>
                </a:solidFill>
                <a:latin typeface="BIZ UDPGothic" pitchFamily="34" charset="0"/>
                <a:ea typeface="BIZ UDPGothic" pitchFamily="34" charset="-122"/>
                <a:cs typeface="BIZ UDPGothic" pitchFamily="34" charset="-120"/>
              </a:rPr>
              <a:t>「未来への投資」へ。</a:t>
            </a:r>
            <a:endParaRPr lang="en-US" sz="3000" dirty="0"/>
          </a:p>
        </p:txBody>
      </p:sp>
      <p:sp>
        <p:nvSpPr>
          <p:cNvPr id="4" name="Text 2"/>
          <p:cNvSpPr/>
          <p:nvPr/>
        </p:nvSpPr>
        <p:spPr>
          <a:xfrm>
            <a:off x="548640" y="2880360"/>
            <a:ext cx="777240" cy="621792"/>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01</a:t>
            </a:r>
            <a:endParaRPr lang="en-US" sz="2200" dirty="0"/>
          </a:p>
        </p:txBody>
      </p:sp>
      <p:sp>
        <p:nvSpPr>
          <p:cNvPr id="5" name="Text 3"/>
          <p:cNvSpPr/>
          <p:nvPr/>
        </p:nvSpPr>
        <p:spPr>
          <a:xfrm>
            <a:off x="1417320" y="2880360"/>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レガシー補助金は全廃し、浮いた約4,000億円は未来への投資へ</a:t>
            </a:r>
            <a:endParaRPr lang="en-US" sz="1500" dirty="0"/>
          </a:p>
        </p:txBody>
      </p:sp>
      <p:sp>
        <p:nvSpPr>
          <p:cNvPr id="6" name="Text 4"/>
          <p:cNvSpPr/>
          <p:nvPr/>
        </p:nvSpPr>
        <p:spPr>
          <a:xfrm>
            <a:off x="548640" y="3502152"/>
            <a:ext cx="777240" cy="621792"/>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02</a:t>
            </a:r>
            <a:endParaRPr lang="en-US" sz="2200" dirty="0"/>
          </a:p>
        </p:txBody>
      </p:sp>
      <p:sp>
        <p:nvSpPr>
          <p:cNvPr id="7" name="Text 5"/>
          <p:cNvSpPr/>
          <p:nvPr/>
        </p:nvSpPr>
        <p:spPr>
          <a:xfrm>
            <a:off x="1417320" y="3502152"/>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賃上げ紐づけの成長投資補助金は、離職後の再就職支援に転換</a:t>
            </a:r>
            <a:endParaRPr lang="en-US" sz="1500" dirty="0"/>
          </a:p>
        </p:txBody>
      </p:sp>
      <p:sp>
        <p:nvSpPr>
          <p:cNvPr id="8" name="Text 6"/>
          <p:cNvSpPr/>
          <p:nvPr/>
        </p:nvSpPr>
        <p:spPr>
          <a:xfrm>
            <a:off x="548640" y="4123944"/>
            <a:ext cx="777240" cy="621792"/>
          </a:xfrm>
          <a:prstGeom prst="rect">
            <a:avLst/>
          </a:prstGeom>
          <a:noFill/>
          <a:ln/>
        </p:spPr>
        <p:txBody>
          <a:bodyPr wrap="square" lIns="0" tIns="0" rIns="0" bIns="0" rtlCol="0" anchor="t"/>
          <a:lstStyle/>
          <a:p>
            <a:pPr indent="0" marL="0">
              <a:buNone/>
            </a:pPr>
            <a:r>
              <a:rPr lang="en-US" sz="2200" b="1" dirty="0">
                <a:solidFill>
                  <a:srgbClr val="C8161D"/>
                </a:solidFill>
                <a:latin typeface="Arial" pitchFamily="34" charset="0"/>
                <a:ea typeface="BIZ UDPGothic" pitchFamily="34" charset="-122"/>
                <a:cs typeface="BIZ UDPGothic" pitchFamily="34" charset="-120"/>
              </a:rPr>
              <a:t>03</a:t>
            </a:r>
            <a:endParaRPr lang="en-US" sz="2200" dirty="0"/>
          </a:p>
        </p:txBody>
      </p:sp>
      <p:sp>
        <p:nvSpPr>
          <p:cNvPr id="9" name="Text 7"/>
          <p:cNvSpPr/>
          <p:nvPr/>
        </p:nvSpPr>
        <p:spPr>
          <a:xfrm>
            <a:off x="1417320" y="4123944"/>
            <a:ext cx="7178040" cy="365760"/>
          </a:xfrm>
          <a:prstGeom prst="rect">
            <a:avLst/>
          </a:prstGeom>
          <a:noFill/>
          <a:ln/>
        </p:spPr>
        <p:txBody>
          <a:bodyPr wrap="square" lIns="0" tIns="0" rIns="0" bIns="0" rtlCol="0" anchor="t"/>
          <a:lstStyle/>
          <a:p>
            <a:pPr indent="0" marL="0">
              <a:buNone/>
            </a:pPr>
            <a:r>
              <a:rPr lang="en-US" sz="1500" b="1" dirty="0">
                <a:solidFill>
                  <a:srgbClr val="16181D"/>
                </a:solidFill>
                <a:latin typeface="BIZ UDPGothic" pitchFamily="34" charset="0"/>
                <a:ea typeface="BIZ UDPGothic" pitchFamily="34" charset="-122"/>
                <a:cs typeface="BIZ UDPGothic" pitchFamily="34" charset="-120"/>
              </a:rPr>
              <a:t>伝統文化には恒久財源を保証し、国民負担の純増は209億円にとどめる</a:t>
            </a:r>
            <a:endParaRPr lang="en-US" sz="1500" dirty="0"/>
          </a:p>
        </p:txBody>
      </p:sp>
      <p:sp>
        <p:nvSpPr>
          <p:cNvPr id="10" name="Text 8"/>
          <p:cNvSpPr/>
          <p:nvPr/>
        </p:nvSpPr>
        <p:spPr>
          <a:xfrm>
            <a:off x="548640" y="4892040"/>
            <a:ext cx="5486400" cy="228600"/>
          </a:xfrm>
          <a:prstGeom prst="rect">
            <a:avLst/>
          </a:prstGeom>
          <a:noFill/>
          <a:ln/>
        </p:spPr>
        <p:txBody>
          <a:bodyPr wrap="square" lIns="0" tIns="0" rIns="0" bIns="0" rtlCol="0" anchor="ctr"/>
          <a:lstStyle/>
          <a:p>
            <a:pPr indent="0" marL="0">
              <a:buNone/>
            </a:pPr>
            <a:r>
              <a:rPr lang="en-US" sz="800" dirty="0">
                <a:solidFill>
                  <a:srgbClr val="16181D">
                    <a:alpha val="40000"/>
                  </a:srgbClr>
                </a:solidFill>
                <a:latin typeface="Arial" pitchFamily="34" charset="0"/>
                <a:ea typeface="BIZ UDPGothic" pitchFamily="34" charset="-122"/>
                <a:cs typeface="BIZ UDPGothic" pitchFamily="34" charset="-120"/>
              </a:rPr>
              <a:t>REBOOT JAPAN ── 政策提言プラットフォーム</a:t>
            </a:r>
            <a:endParaRPr lang="en-US" sz="800" dirty="0"/>
          </a:p>
        </p:txBody>
      </p:sp>
      <p:sp>
        <p:nvSpPr>
          <p:cNvPr id="11" name="Text 9"/>
          <p:cNvSpPr/>
          <p:nvPr/>
        </p:nvSpPr>
        <p:spPr>
          <a:xfrm>
            <a:off x="8229600" y="4892040"/>
            <a:ext cx="365760" cy="228600"/>
          </a:xfrm>
          <a:prstGeom prst="rect">
            <a:avLst/>
          </a:prstGeom>
          <a:noFill/>
          <a:ln/>
        </p:spPr>
        <p:txBody>
          <a:bodyPr wrap="square" lIns="0" tIns="0" rIns="0" bIns="0" rtlCol="0" anchor="ctr"/>
          <a:lstStyle/>
          <a:p>
            <a:pPr algn="r" indent="0" marL="0">
              <a:buNone/>
            </a:pPr>
            <a:r>
              <a:rPr lang="en-US" sz="800" dirty="0">
                <a:solidFill>
                  <a:srgbClr val="16181D">
                    <a:alpha val="40000"/>
                  </a:srgbClr>
                </a:solidFill>
                <a:latin typeface="Arial" pitchFamily="34" charset="0"/>
                <a:ea typeface="BIZ UDPGothic" pitchFamily="34" charset="-122"/>
                <a:cs typeface="BIZ UDPGothic" pitchFamily="34" charset="-120"/>
              </a:rPr>
              <a:t>28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2026-08-11T06:36:02Z</dcterms:created>
  <dcterms:modified xsi:type="dcterms:W3CDTF">2026-08-11T06:36:02Z</dcterms:modified>
</cp:coreProperties>
</file>