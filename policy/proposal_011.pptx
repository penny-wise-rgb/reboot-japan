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640080" y="1371600"/>
            <a:ext cx="7863840" cy="365760"/>
          </a:xfrm>
          <a:prstGeom prst="rect">
            <a:avLst/>
          </a:prstGeom>
          <a:noFill/>
          <a:ln/>
        </p:spPr>
        <p:txBody>
          <a:bodyPr wrap="square" lIns="0" tIns="0" rIns="0" bIns="0" rtlCol="0" anchor="ctr"/>
          <a:lstStyle/>
          <a:p>
            <a:pPr indent="0" marL="0">
              <a:buNone/>
            </a:pPr>
            <a:r>
              <a:rPr lang="en-US" sz="1300" b="1" spc="200" kern="0" dirty="0">
                <a:solidFill>
                  <a:srgbClr val="C8161D"/>
                </a:solidFill>
                <a:latin typeface="BIZ UDPGothic" pitchFamily="34" charset="0"/>
                <a:ea typeface="BIZ UDPGothic" pitchFamily="34" charset="-122"/>
                <a:cs typeface="BIZ UDPGothic" pitchFamily="34" charset="-120"/>
              </a:rPr>
              <a:t>政策提言プラットフォーム ── 提言011</a:t>
            </a:r>
            <a:endParaRPr lang="en-US" sz="1300" dirty="0"/>
          </a:p>
        </p:txBody>
      </p:sp>
      <p:sp>
        <p:nvSpPr>
          <p:cNvPr id="3" name="Text 1"/>
          <p:cNvSpPr/>
          <p:nvPr/>
        </p:nvSpPr>
        <p:spPr>
          <a:xfrm>
            <a:off x="640080" y="1783080"/>
            <a:ext cx="7863840" cy="1554480"/>
          </a:xfrm>
          <a:prstGeom prst="rect">
            <a:avLst/>
          </a:prstGeom>
          <a:noFill/>
          <a:ln/>
        </p:spPr>
        <p:txBody>
          <a:bodyPr wrap="square" lIns="0" tIns="0" rIns="0" bIns="0" rtlCol="0" anchor="ctr"/>
          <a:lstStyle/>
          <a:p>
            <a:pPr indent="0" marL="0">
              <a:lnSpc>
                <a:spcPct val="115000"/>
              </a:lnSpc>
              <a:buNone/>
            </a:pPr>
            <a:r>
              <a:rPr lang="en-US" sz="3400" b="1" dirty="0">
                <a:solidFill>
                  <a:srgbClr val="16181D"/>
                </a:solidFill>
                <a:latin typeface="BIZ UDPGothic" pitchFamily="34" charset="0"/>
                <a:ea typeface="BIZ UDPGothic" pitchFamily="34" charset="-122"/>
                <a:cs typeface="BIZ UDPGothic" pitchFamily="34" charset="-120"/>
              </a:rPr>
              <a:t>自動運転・無人物流特区</a:t>
            </a:r>
            <a:endParaRPr lang="en-US" sz="3400" dirty="0"/>
          </a:p>
          <a:p>
            <a:pPr indent="0" marL="0">
              <a:lnSpc>
                <a:spcPct val="115000"/>
              </a:lnSpc>
              <a:buNone/>
            </a:pPr>
            <a:r>
              <a:rPr lang="en-US" sz="3400" b="1" dirty="0">
                <a:solidFill>
                  <a:srgbClr val="16181D"/>
                </a:solidFill>
                <a:latin typeface="BIZ UDPGothic" pitchFamily="34" charset="0"/>
                <a:ea typeface="BIZ UDPGothic" pitchFamily="34" charset="-122"/>
                <a:cs typeface="BIZ UDPGothic" pitchFamily="34" charset="-120"/>
              </a:rPr>
              <a:t>による地域インフラ変革戦略</a:t>
            </a:r>
            <a:endParaRPr lang="en-US" sz="3400" dirty="0"/>
          </a:p>
        </p:txBody>
      </p:sp>
      <p:sp>
        <p:nvSpPr>
          <p:cNvPr id="4" name="Text 2"/>
          <p:cNvSpPr/>
          <p:nvPr/>
        </p:nvSpPr>
        <p:spPr>
          <a:xfrm>
            <a:off x="640080" y="3383280"/>
            <a:ext cx="7589520" cy="640080"/>
          </a:xfrm>
          <a:prstGeom prst="rect">
            <a:avLst/>
          </a:prstGeom>
          <a:noFill/>
          <a:ln/>
        </p:spPr>
        <p:txBody>
          <a:bodyPr wrap="square" lIns="0" tIns="0" rIns="0" bIns="0" rtlCol="0" anchor="ctr"/>
          <a:lstStyle/>
          <a:p>
            <a:pPr indent="0" marL="0">
              <a:buNone/>
            </a:pPr>
            <a:r>
              <a:rPr lang="en-US" sz="1350" dirty="0">
                <a:solidFill>
                  <a:srgbClr val="16181D">
                    <a:alpha val="85000"/>
                  </a:srgbClr>
                </a:solidFill>
                <a:latin typeface="BIZ UDPGothic" pitchFamily="34" charset="0"/>
                <a:ea typeface="BIZ UDPGothic" pitchFamily="34" charset="-122"/>
                <a:cs typeface="BIZ UDPGothic" pitchFamily="34" charset="-120"/>
              </a:rPr>
              <a:t>～業界団体の延命補助金を全廃し、業態転換に挑む民間企業への直接投資と規制緩和を断行せよ～</a:t>
            </a:r>
            <a:endParaRPr lang="en-US" sz="1350" dirty="0"/>
          </a:p>
        </p:txBody>
      </p:sp>
      <p:sp>
        <p:nvSpPr>
          <p:cNvPr id="5" name="Text 3"/>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6" name="Text 4"/>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PROBLEM</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600" b="1" dirty="0">
                <a:solidFill>
                  <a:srgbClr val="16181D"/>
                </a:solidFill>
                <a:latin typeface="BIZ UDPGothic" pitchFamily="34" charset="0"/>
                <a:ea typeface="BIZ UDPGothic" pitchFamily="34" charset="-122"/>
                <a:cs typeface="BIZ UDPGothic" pitchFamily="34" charset="-120"/>
              </a:rPr>
              <a:t>なぜ今、この問題なのか？</a:t>
            </a:r>
            <a:endParaRPr lang="en-US" sz="2600" dirty="0"/>
          </a:p>
        </p:txBody>
      </p:sp>
      <p:sp>
        <p:nvSpPr>
          <p:cNvPr id="4" name="Text 2"/>
          <p:cNvSpPr/>
          <p:nvPr/>
        </p:nvSpPr>
        <p:spPr>
          <a:xfrm>
            <a:off x="548640" y="1234440"/>
            <a:ext cx="8046720" cy="365760"/>
          </a:xfrm>
          <a:prstGeom prst="rect">
            <a:avLst/>
          </a:prstGeom>
          <a:noFill/>
          <a:ln/>
        </p:spPr>
        <p:txBody>
          <a:bodyPr wrap="square" lIns="0" tIns="0" rIns="0" bIns="0" rtlCol="0" anchor="ctr"/>
          <a:lstStyle/>
          <a:p>
            <a:pPr indent="0" marL="0">
              <a:buNone/>
            </a:pPr>
            <a:r>
              <a:rPr lang="en-US" sz="1350" dirty="0">
                <a:solidFill>
                  <a:srgbClr val="16181D">
                    <a:alpha val="90000"/>
                  </a:srgbClr>
                </a:solidFill>
                <a:latin typeface="BIZ UDPGothic" pitchFamily="34" charset="0"/>
                <a:ea typeface="BIZ UDPGothic" pitchFamily="34" charset="-122"/>
                <a:cs typeface="BIZ UDPGothic" pitchFamily="34" charset="-120"/>
              </a:rPr>
              <a:t>地方の交通・物流は、既存の枠組みのままでは支えきれない段階に来ている。</a:t>
            </a:r>
            <a:endParaRPr lang="en-US" sz="1350" dirty="0"/>
          </a:p>
        </p:txBody>
      </p:sp>
      <p:sp>
        <p:nvSpPr>
          <p:cNvPr id="5" name="Text 3"/>
          <p:cNvSpPr/>
          <p:nvPr/>
        </p:nvSpPr>
        <p:spPr>
          <a:xfrm>
            <a:off x="548640" y="1691640"/>
            <a:ext cx="822960" cy="960120"/>
          </a:xfrm>
          <a:prstGeom prst="rect">
            <a:avLst/>
          </a:prstGeom>
          <a:noFill/>
          <a:ln/>
        </p:spPr>
        <p:txBody>
          <a:bodyPr wrap="square" lIns="0" tIns="0" rIns="0" bIns="0" rtlCol="0" anchor="t"/>
          <a:lstStyle/>
          <a:p>
            <a:pPr indent="0" marL="0">
              <a:buNone/>
            </a:pPr>
            <a:r>
              <a:rPr lang="en-US" sz="2600" b="1" dirty="0">
                <a:solidFill>
                  <a:srgbClr val="C8161D"/>
                </a:solidFill>
                <a:latin typeface="Arial" pitchFamily="34" charset="0"/>
                <a:ea typeface="BIZ UDPGothic" pitchFamily="34" charset="-122"/>
                <a:cs typeface="BIZ UDPGothic" pitchFamily="34" charset="-120"/>
              </a:rPr>
              <a:t>01</a:t>
            </a:r>
            <a:endParaRPr lang="en-US" sz="2600" dirty="0"/>
          </a:p>
        </p:txBody>
      </p:sp>
      <p:sp>
        <p:nvSpPr>
          <p:cNvPr id="6" name="Text 4"/>
          <p:cNvSpPr/>
          <p:nvPr/>
        </p:nvSpPr>
        <p:spPr>
          <a:xfrm>
            <a:off x="1371600" y="1691640"/>
            <a:ext cx="722376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公共交通の崩壊</a:t>
            </a:r>
            <a:endParaRPr lang="en-US" sz="1500" dirty="0"/>
          </a:p>
        </p:txBody>
      </p:sp>
      <p:sp>
        <p:nvSpPr>
          <p:cNvPr id="7" name="Text 5"/>
          <p:cNvSpPr/>
          <p:nvPr/>
        </p:nvSpPr>
        <p:spPr>
          <a:xfrm>
            <a:off x="1371600" y="2039112"/>
            <a:ext cx="7223760" cy="612648"/>
          </a:xfrm>
          <a:prstGeom prst="rect">
            <a:avLst/>
          </a:prstGeom>
          <a:noFill/>
          <a:ln/>
        </p:spPr>
        <p:txBody>
          <a:bodyPr wrap="square" lIns="0" tIns="0" rIns="0" bIns="0" rtlCol="0" anchor="t"/>
          <a:lstStyle/>
          <a:p>
            <a:pPr indent="0" marL="0">
              <a:lnSpc>
                <a:spcPct val="125000"/>
              </a:lnSpc>
              <a:buNone/>
            </a:pPr>
            <a:r>
              <a:rPr lang="en-US" sz="1250" dirty="0">
                <a:solidFill>
                  <a:srgbClr val="16181D">
                    <a:alpha val="92000"/>
                  </a:srgbClr>
                </a:solidFill>
                <a:latin typeface="BIZ UDPGothic" pitchFamily="34" charset="0"/>
                <a:ea typeface="BIZ UDPGothic" pitchFamily="34" charset="-122"/>
                <a:cs typeface="BIZ UDPGothic" pitchFamily="34" charset="-120"/>
              </a:rPr>
              <a:t>地方のバス路線・タクシー事業者は運転手不足と赤字体質から廃線・減便が相次いでいる。高齢者の移動手段が失われつつある</a:t>
            </a:r>
            <a:endParaRPr lang="en-US" sz="1250" dirty="0"/>
          </a:p>
        </p:txBody>
      </p:sp>
      <p:sp>
        <p:nvSpPr>
          <p:cNvPr id="8" name="Text 6"/>
          <p:cNvSpPr/>
          <p:nvPr/>
        </p:nvSpPr>
        <p:spPr>
          <a:xfrm>
            <a:off x="548640" y="2788920"/>
            <a:ext cx="822960" cy="960120"/>
          </a:xfrm>
          <a:prstGeom prst="rect">
            <a:avLst/>
          </a:prstGeom>
          <a:noFill/>
          <a:ln/>
        </p:spPr>
        <p:txBody>
          <a:bodyPr wrap="square" lIns="0" tIns="0" rIns="0" bIns="0" rtlCol="0" anchor="t"/>
          <a:lstStyle/>
          <a:p>
            <a:pPr indent="0" marL="0">
              <a:buNone/>
            </a:pPr>
            <a:r>
              <a:rPr lang="en-US" sz="2600" b="1" dirty="0">
                <a:solidFill>
                  <a:srgbClr val="C8161D"/>
                </a:solidFill>
                <a:latin typeface="Arial" pitchFamily="34" charset="0"/>
                <a:ea typeface="BIZ UDPGothic" pitchFamily="34" charset="-122"/>
                <a:cs typeface="BIZ UDPGothic" pitchFamily="34" charset="-120"/>
              </a:rPr>
              <a:t>02</a:t>
            </a:r>
            <a:endParaRPr lang="en-US" sz="2600" dirty="0"/>
          </a:p>
        </p:txBody>
      </p:sp>
      <p:sp>
        <p:nvSpPr>
          <p:cNvPr id="9" name="Text 7"/>
          <p:cNvSpPr/>
          <p:nvPr/>
        </p:nvSpPr>
        <p:spPr>
          <a:xfrm>
            <a:off x="1371600" y="2788920"/>
            <a:ext cx="722376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物流の24時間化圧力</a:t>
            </a:r>
            <a:endParaRPr lang="en-US" sz="1500" dirty="0"/>
          </a:p>
        </p:txBody>
      </p:sp>
      <p:sp>
        <p:nvSpPr>
          <p:cNvPr id="10" name="Text 8"/>
          <p:cNvSpPr/>
          <p:nvPr/>
        </p:nvSpPr>
        <p:spPr>
          <a:xfrm>
            <a:off x="1371600" y="3136392"/>
            <a:ext cx="7223760" cy="612648"/>
          </a:xfrm>
          <a:prstGeom prst="rect">
            <a:avLst/>
          </a:prstGeom>
          <a:noFill/>
          <a:ln/>
        </p:spPr>
        <p:txBody>
          <a:bodyPr wrap="square" lIns="0" tIns="0" rIns="0" bIns="0" rtlCol="0" anchor="t"/>
          <a:lstStyle/>
          <a:p>
            <a:pPr indent="0" marL="0">
              <a:lnSpc>
                <a:spcPct val="125000"/>
              </a:lnSpc>
              <a:buNone/>
            </a:pPr>
            <a:r>
              <a:rPr lang="en-US" sz="1250" dirty="0">
                <a:solidFill>
                  <a:srgbClr val="16181D">
                    <a:alpha val="92000"/>
                  </a:srgbClr>
                </a:solidFill>
                <a:latin typeface="BIZ UDPGothic" pitchFamily="34" charset="0"/>
                <a:ea typeface="BIZ UDPGothic" pitchFamily="34" charset="-122"/>
                <a:cs typeface="BIZ UDPGothic" pitchFamily="34" charset="-120"/>
              </a:rPr>
              <a:t>ドライバー不足と時間外労働規制により、夜間輸送・過疎地配送の担い手が構造的に不足している</a:t>
            </a:r>
            <a:endParaRPr lang="en-US" sz="1250" dirty="0"/>
          </a:p>
        </p:txBody>
      </p:sp>
      <p:sp>
        <p:nvSpPr>
          <p:cNvPr id="11" name="Text 9"/>
          <p:cNvSpPr/>
          <p:nvPr/>
        </p:nvSpPr>
        <p:spPr>
          <a:xfrm>
            <a:off x="548640" y="3886200"/>
            <a:ext cx="822960" cy="960120"/>
          </a:xfrm>
          <a:prstGeom prst="rect">
            <a:avLst/>
          </a:prstGeom>
          <a:noFill/>
          <a:ln/>
        </p:spPr>
        <p:txBody>
          <a:bodyPr wrap="square" lIns="0" tIns="0" rIns="0" bIns="0" rtlCol="0" anchor="t"/>
          <a:lstStyle/>
          <a:p>
            <a:pPr indent="0" marL="0">
              <a:buNone/>
            </a:pPr>
            <a:r>
              <a:rPr lang="en-US" sz="2600" b="1" dirty="0">
                <a:solidFill>
                  <a:srgbClr val="C8161D"/>
                </a:solidFill>
                <a:latin typeface="Arial" pitchFamily="34" charset="0"/>
                <a:ea typeface="BIZ UDPGothic" pitchFamily="34" charset="-122"/>
                <a:cs typeface="BIZ UDPGothic" pitchFamily="34" charset="-120"/>
              </a:rPr>
              <a:t>03</a:t>
            </a:r>
            <a:endParaRPr lang="en-US" sz="2600" dirty="0"/>
          </a:p>
        </p:txBody>
      </p:sp>
      <p:sp>
        <p:nvSpPr>
          <p:cNvPr id="12" name="Text 10"/>
          <p:cNvSpPr/>
          <p:nvPr/>
        </p:nvSpPr>
        <p:spPr>
          <a:xfrm>
            <a:off x="1371600" y="3886200"/>
            <a:ext cx="722376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「裁量型」特区の限界</a:t>
            </a:r>
            <a:endParaRPr lang="en-US" sz="1500" dirty="0"/>
          </a:p>
        </p:txBody>
      </p:sp>
      <p:sp>
        <p:nvSpPr>
          <p:cNvPr id="13" name="Text 11"/>
          <p:cNvSpPr/>
          <p:nvPr/>
        </p:nvSpPr>
        <p:spPr>
          <a:xfrm>
            <a:off x="1371600" y="4233672"/>
            <a:ext cx="7223760" cy="612648"/>
          </a:xfrm>
          <a:prstGeom prst="rect">
            <a:avLst/>
          </a:prstGeom>
          <a:noFill/>
          <a:ln/>
        </p:spPr>
        <p:txBody>
          <a:bodyPr wrap="square" lIns="0" tIns="0" rIns="0" bIns="0" rtlCol="0" anchor="t"/>
          <a:lstStyle/>
          <a:p>
            <a:pPr indent="0" marL="0">
              <a:lnSpc>
                <a:spcPct val="125000"/>
              </a:lnSpc>
              <a:buNone/>
            </a:pPr>
            <a:r>
              <a:rPr lang="en-US" sz="1250" dirty="0">
                <a:solidFill>
                  <a:srgbClr val="16181D">
                    <a:alpha val="92000"/>
                  </a:srgbClr>
                </a:solidFill>
                <a:latin typeface="BIZ UDPGothic" pitchFamily="34" charset="0"/>
                <a:ea typeface="BIZ UDPGothic" pitchFamily="34" charset="-122"/>
                <a:cs typeface="BIZ UDPGothic" pitchFamily="34" charset="-120"/>
              </a:rPr>
              <a:t>国が個別に審査する現行の特区制度は時間がかかり、深刻な地域ほど後回しになりやすい</a:t>
            </a:r>
            <a:endParaRPr lang="en-US" sz="1250" dirty="0"/>
          </a:p>
        </p:txBody>
      </p:sp>
      <p:sp>
        <p:nvSpPr>
          <p:cNvPr id="14" name="Text 12"/>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15" name="Text 13"/>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OVERVIEW</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600" b="1" dirty="0">
                <a:solidFill>
                  <a:srgbClr val="16181D"/>
                </a:solidFill>
                <a:latin typeface="BIZ UDPGothic" pitchFamily="34" charset="0"/>
                <a:ea typeface="BIZ UDPGothic" pitchFamily="34" charset="-122"/>
                <a:cs typeface="BIZ UDPGothic" pitchFamily="34" charset="-120"/>
              </a:rPr>
              <a:t>この提言の全体像：4つの柱</a:t>
            </a:r>
            <a:endParaRPr lang="en-US" sz="2600" dirty="0"/>
          </a:p>
        </p:txBody>
      </p:sp>
      <p:sp>
        <p:nvSpPr>
          <p:cNvPr id="4" name="Shape 2"/>
          <p:cNvSpPr/>
          <p:nvPr/>
        </p:nvSpPr>
        <p:spPr>
          <a:xfrm>
            <a:off x="548640" y="1645920"/>
            <a:ext cx="1771650" cy="2880360"/>
          </a:xfrm>
          <a:prstGeom prst="roundRect">
            <a:avLst>
              <a:gd name="adj" fmla="val 4129"/>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731520" y="1828800"/>
            <a:ext cx="731520" cy="54864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BIZ UDPGothic" pitchFamily="34" charset="-122"/>
                <a:cs typeface="BIZ UDPGothic" pitchFamily="34" charset="-120"/>
              </a:rPr>
              <a:t>⚖️</a:t>
            </a:r>
            <a:endParaRPr lang="en-US" sz="2800" dirty="0"/>
          </a:p>
        </p:txBody>
      </p:sp>
      <p:sp>
        <p:nvSpPr>
          <p:cNvPr id="6" name="Text 4"/>
          <p:cNvSpPr/>
          <p:nvPr/>
        </p:nvSpPr>
        <p:spPr>
          <a:xfrm>
            <a:off x="749808" y="2423160"/>
            <a:ext cx="1369314" cy="640080"/>
          </a:xfrm>
          <a:prstGeom prst="rect">
            <a:avLst/>
          </a:prstGeom>
          <a:noFill/>
          <a:ln/>
        </p:spPr>
        <p:txBody>
          <a:bodyPr wrap="square" lIns="0" tIns="0" rIns="0" bIns="0" rtlCol="0" anchor="t"/>
          <a:lstStyle/>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① オープンエントリー制</a:t>
            </a:r>
            <a:endParaRPr lang="en-US" sz="1250" dirty="0"/>
          </a:p>
        </p:txBody>
      </p:sp>
      <p:sp>
        <p:nvSpPr>
          <p:cNvPr id="7" name="Text 5"/>
          <p:cNvSpPr/>
          <p:nvPr/>
        </p:nvSpPr>
        <p:spPr>
          <a:xfrm>
            <a:off x="749808" y="3063240"/>
            <a:ext cx="1369314" cy="1280160"/>
          </a:xfrm>
          <a:prstGeom prst="rect">
            <a:avLst/>
          </a:prstGeom>
          <a:noFill/>
          <a:ln/>
        </p:spPr>
        <p:txBody>
          <a:bodyPr wrap="square" lIns="0" tIns="0" rIns="0" bIns="0" rtlCol="0" anchor="t"/>
          <a:lstStyle/>
          <a:p>
            <a:pPr indent="0" marL="0">
              <a:lnSpc>
                <a:spcPct val="120000"/>
              </a:lnSpc>
              <a:buNone/>
            </a:pPr>
            <a:r>
              <a:rPr lang="en-US" sz="1050" dirty="0">
                <a:solidFill>
                  <a:srgbClr val="16181D"/>
                </a:solidFill>
                <a:latin typeface="BIZ UDPGothic" pitchFamily="34" charset="0"/>
                <a:ea typeface="BIZ UDPGothic" pitchFamily="34" charset="-122"/>
                <a:cs typeface="BIZ UDPGothic" pitchFamily="34" charset="-120"/>
              </a:rPr>
              <a:t>客観的基準で即日認定される特区選定</a:t>
            </a:r>
            <a:endParaRPr lang="en-US" sz="1050" dirty="0"/>
          </a:p>
        </p:txBody>
      </p:sp>
      <p:sp>
        <p:nvSpPr>
          <p:cNvPr id="8" name="Shape 6"/>
          <p:cNvSpPr/>
          <p:nvPr/>
        </p:nvSpPr>
        <p:spPr>
          <a:xfrm>
            <a:off x="2640330" y="1645920"/>
            <a:ext cx="1771650" cy="2880360"/>
          </a:xfrm>
          <a:prstGeom prst="roundRect">
            <a:avLst>
              <a:gd name="adj" fmla="val 4129"/>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9" name="Text 7"/>
          <p:cNvSpPr/>
          <p:nvPr/>
        </p:nvSpPr>
        <p:spPr>
          <a:xfrm>
            <a:off x="2823210" y="1828800"/>
            <a:ext cx="731520" cy="54864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BIZ UDPGothic" pitchFamily="34" charset="-122"/>
                <a:cs typeface="BIZ UDPGothic" pitchFamily="34" charset="-120"/>
              </a:rPr>
              <a:t>💰</a:t>
            </a:r>
            <a:endParaRPr lang="en-US" sz="2800" dirty="0"/>
          </a:p>
        </p:txBody>
      </p:sp>
      <p:sp>
        <p:nvSpPr>
          <p:cNvPr id="10" name="Text 8"/>
          <p:cNvSpPr/>
          <p:nvPr/>
        </p:nvSpPr>
        <p:spPr>
          <a:xfrm>
            <a:off x="2841498" y="2423160"/>
            <a:ext cx="1369314" cy="640080"/>
          </a:xfrm>
          <a:prstGeom prst="rect">
            <a:avLst/>
          </a:prstGeom>
          <a:noFill/>
          <a:ln/>
        </p:spPr>
        <p:txBody>
          <a:bodyPr wrap="square" lIns="0" tIns="0" rIns="0" bIns="0" rtlCol="0" anchor="t"/>
          <a:lstStyle/>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② 補助金から直接投資へ</a:t>
            </a:r>
            <a:endParaRPr lang="en-US" sz="1250" dirty="0"/>
          </a:p>
        </p:txBody>
      </p:sp>
      <p:sp>
        <p:nvSpPr>
          <p:cNvPr id="11" name="Text 9"/>
          <p:cNvSpPr/>
          <p:nvPr/>
        </p:nvSpPr>
        <p:spPr>
          <a:xfrm>
            <a:off x="2841498" y="3063240"/>
            <a:ext cx="1369314" cy="1280160"/>
          </a:xfrm>
          <a:prstGeom prst="rect">
            <a:avLst/>
          </a:prstGeom>
          <a:noFill/>
          <a:ln/>
        </p:spPr>
        <p:txBody>
          <a:bodyPr wrap="square" lIns="0" tIns="0" rIns="0" bIns="0" rtlCol="0" anchor="t"/>
          <a:lstStyle/>
          <a:p>
            <a:pPr indent="0" marL="0">
              <a:lnSpc>
                <a:spcPct val="120000"/>
              </a:lnSpc>
              <a:buNone/>
            </a:pPr>
            <a:r>
              <a:rPr lang="en-US" sz="1050" dirty="0">
                <a:solidFill>
                  <a:srgbClr val="16181D"/>
                </a:solidFill>
                <a:latin typeface="BIZ UDPGothic" pitchFamily="34" charset="0"/>
                <a:ea typeface="BIZ UDPGothic" pitchFamily="34" charset="-122"/>
                <a:cs typeface="BIZ UDPGothic" pitchFamily="34" charset="-120"/>
              </a:rPr>
              <a:t>業界延命ではなく企業の業態転換を支援</a:t>
            </a:r>
            <a:endParaRPr lang="en-US" sz="1050" dirty="0"/>
          </a:p>
        </p:txBody>
      </p:sp>
      <p:sp>
        <p:nvSpPr>
          <p:cNvPr id="12" name="Shape 10"/>
          <p:cNvSpPr/>
          <p:nvPr/>
        </p:nvSpPr>
        <p:spPr>
          <a:xfrm>
            <a:off x="4732020" y="1645920"/>
            <a:ext cx="1771650" cy="2880360"/>
          </a:xfrm>
          <a:prstGeom prst="roundRect">
            <a:avLst>
              <a:gd name="adj" fmla="val 4129"/>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13" name="Text 11"/>
          <p:cNvSpPr/>
          <p:nvPr/>
        </p:nvSpPr>
        <p:spPr>
          <a:xfrm>
            <a:off x="4914900" y="1828800"/>
            <a:ext cx="731520" cy="54864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BIZ UDPGothic" pitchFamily="34" charset="-122"/>
                <a:cs typeface="BIZ UDPGothic" pitchFamily="34" charset="-120"/>
              </a:rPr>
              <a:t>📋</a:t>
            </a:r>
            <a:endParaRPr lang="en-US" sz="2800" dirty="0"/>
          </a:p>
        </p:txBody>
      </p:sp>
      <p:sp>
        <p:nvSpPr>
          <p:cNvPr id="14" name="Text 12"/>
          <p:cNvSpPr/>
          <p:nvPr/>
        </p:nvSpPr>
        <p:spPr>
          <a:xfrm>
            <a:off x="4933188" y="2423160"/>
            <a:ext cx="1369314" cy="640080"/>
          </a:xfrm>
          <a:prstGeom prst="rect">
            <a:avLst/>
          </a:prstGeom>
          <a:noFill/>
          <a:ln/>
        </p:spPr>
        <p:txBody>
          <a:bodyPr wrap="square" lIns="0" tIns="0" rIns="0" bIns="0" rtlCol="0" anchor="t"/>
          <a:lstStyle/>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③ 企業単位のガバナンス</a:t>
            </a:r>
            <a:endParaRPr lang="en-US" sz="1250" dirty="0"/>
          </a:p>
        </p:txBody>
      </p:sp>
      <p:sp>
        <p:nvSpPr>
          <p:cNvPr id="15" name="Text 13"/>
          <p:cNvSpPr/>
          <p:nvPr/>
        </p:nvSpPr>
        <p:spPr>
          <a:xfrm>
            <a:off x="4933188" y="3063240"/>
            <a:ext cx="1369314" cy="1280160"/>
          </a:xfrm>
          <a:prstGeom prst="rect">
            <a:avLst/>
          </a:prstGeom>
          <a:noFill/>
          <a:ln/>
        </p:spPr>
        <p:txBody>
          <a:bodyPr wrap="square" lIns="0" tIns="0" rIns="0" bIns="0" rtlCol="0" anchor="t"/>
          <a:lstStyle/>
          <a:p>
            <a:pPr indent="0" marL="0">
              <a:lnSpc>
                <a:spcPct val="120000"/>
              </a:lnSpc>
              <a:buNone/>
            </a:pPr>
            <a:r>
              <a:rPr lang="en-US" sz="1050" dirty="0">
                <a:solidFill>
                  <a:srgbClr val="16181D"/>
                </a:solidFill>
                <a:latin typeface="BIZ UDPGothic" pitchFamily="34" charset="0"/>
                <a:ea typeface="BIZ UDPGothic" pitchFamily="34" charset="-122"/>
                <a:cs typeface="BIZ UDPGothic" pitchFamily="34" charset="-120"/>
              </a:rPr>
              <a:t>達成率連動の減額カーブと不正即時剥奪</a:t>
            </a:r>
            <a:endParaRPr lang="en-US" sz="1050" dirty="0"/>
          </a:p>
        </p:txBody>
      </p:sp>
      <p:sp>
        <p:nvSpPr>
          <p:cNvPr id="16" name="Shape 14"/>
          <p:cNvSpPr/>
          <p:nvPr/>
        </p:nvSpPr>
        <p:spPr>
          <a:xfrm>
            <a:off x="6823710" y="1645920"/>
            <a:ext cx="1771650" cy="2880360"/>
          </a:xfrm>
          <a:prstGeom prst="roundRect">
            <a:avLst>
              <a:gd name="adj" fmla="val 4129"/>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17" name="Text 15"/>
          <p:cNvSpPr/>
          <p:nvPr/>
        </p:nvSpPr>
        <p:spPr>
          <a:xfrm>
            <a:off x="7006590" y="1828800"/>
            <a:ext cx="731520" cy="54864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BIZ UDPGothic" pitchFamily="34" charset="-122"/>
                <a:cs typeface="BIZ UDPGothic" pitchFamily="34" charset="-120"/>
              </a:rPr>
              <a:t>🛣️</a:t>
            </a:r>
            <a:endParaRPr lang="en-US" sz="2800" dirty="0"/>
          </a:p>
        </p:txBody>
      </p:sp>
      <p:sp>
        <p:nvSpPr>
          <p:cNvPr id="18" name="Text 16"/>
          <p:cNvSpPr/>
          <p:nvPr/>
        </p:nvSpPr>
        <p:spPr>
          <a:xfrm>
            <a:off x="7024878" y="2423160"/>
            <a:ext cx="1369314" cy="640080"/>
          </a:xfrm>
          <a:prstGeom prst="rect">
            <a:avLst/>
          </a:prstGeom>
          <a:noFill/>
          <a:ln/>
        </p:spPr>
        <p:txBody>
          <a:bodyPr wrap="square" lIns="0" tIns="0" rIns="0" bIns="0" rtlCol="0" anchor="t"/>
          <a:lstStyle/>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④ 3つの規制緩和</a:t>
            </a:r>
            <a:endParaRPr lang="en-US" sz="1250" dirty="0"/>
          </a:p>
        </p:txBody>
      </p:sp>
      <p:sp>
        <p:nvSpPr>
          <p:cNvPr id="19" name="Text 17"/>
          <p:cNvSpPr/>
          <p:nvPr/>
        </p:nvSpPr>
        <p:spPr>
          <a:xfrm>
            <a:off x="7024878" y="3063240"/>
            <a:ext cx="1369314" cy="1280160"/>
          </a:xfrm>
          <a:prstGeom prst="rect">
            <a:avLst/>
          </a:prstGeom>
          <a:noFill/>
          <a:ln/>
        </p:spPr>
        <p:txBody>
          <a:bodyPr wrap="square" lIns="0" tIns="0" rIns="0" bIns="0" rtlCol="0" anchor="t"/>
          <a:lstStyle/>
          <a:p>
            <a:pPr indent="0" marL="0">
              <a:lnSpc>
                <a:spcPct val="120000"/>
              </a:lnSpc>
              <a:buNone/>
            </a:pPr>
            <a:r>
              <a:rPr lang="en-US" sz="1050" dirty="0">
                <a:solidFill>
                  <a:srgbClr val="16181D"/>
                </a:solidFill>
                <a:latin typeface="BIZ UDPGothic" pitchFamily="34" charset="0"/>
                <a:ea typeface="BIZ UDPGothic" pitchFamily="34" charset="-122"/>
                <a:cs typeface="BIZ UDPGothic" pitchFamily="34" charset="-120"/>
              </a:rPr>
              <a:t>専用レーン・シームレス走行・マルチマニング</a:t>
            </a:r>
            <a:endParaRPr lang="en-US" sz="1050" dirty="0"/>
          </a:p>
        </p:txBody>
      </p:sp>
      <p:sp>
        <p:nvSpPr>
          <p:cNvPr id="20" name="Text 18"/>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21" name="Text 19"/>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RULE 01</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400" b="1" dirty="0">
                <a:solidFill>
                  <a:srgbClr val="16181D"/>
                </a:solidFill>
                <a:latin typeface="BIZ UDPGothic" pitchFamily="34" charset="0"/>
                <a:ea typeface="BIZ UDPGothic" pitchFamily="34" charset="-122"/>
                <a:cs typeface="BIZ UDPGothic" pitchFamily="34" charset="-120"/>
              </a:rPr>
              <a:t>「退路を断つ」条例が特区の申請条件</a:t>
            </a:r>
            <a:endParaRPr lang="en-US" sz="2400" dirty="0"/>
          </a:p>
        </p:txBody>
      </p:sp>
      <p:sp>
        <p:nvSpPr>
          <p:cNvPr id="4" name="Text 2"/>
          <p:cNvSpPr/>
          <p:nvPr/>
        </p:nvSpPr>
        <p:spPr>
          <a:xfrm>
            <a:off x="548640" y="1600200"/>
            <a:ext cx="822960" cy="640080"/>
          </a:xfrm>
          <a:prstGeom prst="rect">
            <a:avLst/>
          </a:prstGeom>
          <a:noFill/>
          <a:ln/>
        </p:spPr>
        <p:txBody>
          <a:bodyPr wrap="square" lIns="0" tIns="0" rIns="0" bIns="0" rtlCol="0" anchor="ctr"/>
          <a:lstStyle/>
          <a:p>
            <a:pPr indent="0" marL="0">
              <a:buNone/>
            </a:pPr>
            <a:r>
              <a:rPr lang="en-US" sz="4000" dirty="0">
                <a:solidFill>
                  <a:srgbClr val="000000"/>
                </a:solidFill>
                <a:latin typeface="Arial" pitchFamily="34" charset="0"/>
                <a:ea typeface="BIZ UDPGothic" pitchFamily="34" charset="-122"/>
                <a:cs typeface="BIZ UDPGothic" pitchFamily="34" charset="-120"/>
              </a:rPr>
              <a:t>📜</a:t>
            </a:r>
            <a:endParaRPr lang="en-US" sz="4000" dirty="0"/>
          </a:p>
        </p:txBody>
      </p:sp>
      <p:sp>
        <p:nvSpPr>
          <p:cNvPr id="5" name="Text 3"/>
          <p:cNvSpPr/>
          <p:nvPr/>
        </p:nvSpPr>
        <p:spPr>
          <a:xfrm>
            <a:off x="1371600" y="1645920"/>
            <a:ext cx="7223760" cy="914400"/>
          </a:xfrm>
          <a:prstGeom prst="rect">
            <a:avLst/>
          </a:prstGeom>
          <a:noFill/>
          <a:ln/>
        </p:spPr>
        <p:txBody>
          <a:bodyPr wrap="square" lIns="0" tIns="0" rIns="0" bIns="0" rtlCol="0" anchor="t"/>
          <a:lstStyle/>
          <a:p>
            <a:pPr indent="0" marL="0">
              <a:buNone/>
            </a:pPr>
            <a:r>
              <a:rPr lang="en-US" sz="1600" b="1" dirty="0">
                <a:solidFill>
                  <a:srgbClr val="16181D"/>
                </a:solidFill>
                <a:latin typeface="BIZ UDPGothic" pitchFamily="34" charset="0"/>
                <a:ea typeface="BIZ UDPGothic" pitchFamily="34" charset="-122"/>
                <a:cs typeface="BIZ UDPGothic" pitchFamily="34" charset="-120"/>
              </a:rPr>
              <a:t>特区の申請には、都道府県議会での「既得権益全廃・業態転換条例」の同時可決を必須とする</a:t>
            </a:r>
            <a:endParaRPr lang="en-US" sz="1600" dirty="0"/>
          </a:p>
        </p:txBody>
      </p:sp>
      <p:sp>
        <p:nvSpPr>
          <p:cNvPr id="6" name="Shape 4"/>
          <p:cNvSpPr/>
          <p:nvPr/>
        </p:nvSpPr>
        <p:spPr>
          <a:xfrm>
            <a:off x="548640" y="2743200"/>
            <a:ext cx="8046720" cy="1783080"/>
          </a:xfrm>
          <a:prstGeom prst="roundRect">
            <a:avLst>
              <a:gd name="adj" fmla="val 4103"/>
            </a:avLst>
          </a:prstGeom>
          <a:solidFill>
            <a:srgbClr val="FFFFFF"/>
          </a:solidFill>
          <a:ln/>
          <a:effectLst>
            <a:outerShdw sx="100000" sy="100000" kx="0" ky="0" algn="bl" rotWithShape="0" blurRad="101600" dist="38100" dir="2700000">
              <a:srgbClr val="000000">
                <a:alpha val="35000"/>
              </a:srgbClr>
            </a:outerShdw>
          </a:effectLst>
        </p:spPr>
      </p:sp>
      <p:sp>
        <p:nvSpPr>
          <p:cNvPr id="7" name="Text 5"/>
          <p:cNvSpPr/>
          <p:nvPr/>
        </p:nvSpPr>
        <p:spPr>
          <a:xfrm>
            <a:off x="822960" y="2926080"/>
            <a:ext cx="7498080" cy="1463040"/>
          </a:xfrm>
          <a:prstGeom prst="rect">
            <a:avLst/>
          </a:prstGeom>
          <a:noFill/>
          <a:ln/>
        </p:spPr>
        <p:txBody>
          <a:bodyPr wrap="square" lIns="0" tIns="0" rIns="0" bIns="0" rtlCol="0" anchor="t"/>
          <a:lstStyle/>
          <a:p>
            <a:pPr indent="0" marL="0">
              <a:lnSpc>
                <a:spcPct val="130000"/>
              </a:lnSpc>
              <a:buNone/>
            </a:pPr>
            <a:r>
              <a:rPr lang="en-US" sz="1300" b="1" dirty="0">
                <a:solidFill>
                  <a:srgbClr val="C8161D"/>
                </a:solidFill>
                <a:latin typeface="BIZ UDPGothic" pitchFamily="34" charset="0"/>
                <a:ea typeface="BIZ UDPGothic" pitchFamily="34" charset="-122"/>
                <a:cs typeface="BIZ UDPGothic" pitchFamily="34" charset="-120"/>
              </a:rPr>
              <a:t>条例には何を書くか</a:t>
            </a:r>
            <a:endParaRPr lang="en-US" sz="1300" dirty="0"/>
          </a:p>
          <a:p>
            <a:pPr indent="0" marL="0">
              <a:lnSpc>
                <a:spcPct val="130000"/>
              </a:lnSpc>
              <a:buNone/>
            </a:pPr>
            <a:r>
              <a:rPr lang="en-US" sz="1400" dirty="0">
                <a:solidFill>
                  <a:srgbClr val="16181D"/>
                </a:solidFill>
                <a:latin typeface="BIZ UDPGothic" pitchFamily="34" charset="0"/>
                <a:ea typeface="BIZ UDPGothic" pitchFamily="34" charset="-122"/>
                <a:cs typeface="BIZ UDPGothic" pitchFamily="34" charset="-120"/>
              </a:rPr>
              <a:t>特区認定と同時に、既存のタクシー・バス協会への延命補助金（燃料費補助・事務局経費等）を</a:t>
            </a:r>
            <a:endParaRPr lang="en-US" sz="1300" dirty="0"/>
          </a:p>
          <a:p>
            <a:pPr indent="0" marL="0">
              <a:lnSpc>
                <a:spcPct val="130000"/>
              </a:lnSpc>
              <a:buNone/>
            </a:pPr>
            <a:r>
              <a:rPr lang="en-US" sz="1400" b="1" dirty="0">
                <a:solidFill>
                  <a:srgbClr val="C8161D"/>
                </a:solidFill>
                <a:latin typeface="BIZ UDPGothic" pitchFamily="34" charset="0"/>
                <a:ea typeface="BIZ UDPGothic" pitchFamily="34" charset="-122"/>
                <a:cs typeface="BIZ UDPGothic" pitchFamily="34" charset="-120"/>
              </a:rPr>
              <a:t>即時に全廃し、無人運行への転換原資に100%充てることを明記する</a:t>
            </a:r>
            <a:endParaRPr lang="en-US" sz="1300" dirty="0"/>
          </a:p>
        </p:txBody>
      </p:sp>
      <p:sp>
        <p:nvSpPr>
          <p:cNvPr id="8" name="Text 6"/>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9" name="Text 7"/>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RULE 01 — DETAIL</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400" b="1" dirty="0">
                <a:solidFill>
                  <a:srgbClr val="16181D"/>
                </a:solidFill>
                <a:latin typeface="BIZ UDPGothic" pitchFamily="34" charset="0"/>
                <a:ea typeface="BIZ UDPGothic" pitchFamily="34" charset="-122"/>
                <a:cs typeface="BIZ UDPGothic" pitchFamily="34" charset="-120"/>
              </a:rPr>
              <a:t>深刻な地域ほど最優先で認定する</a:t>
            </a:r>
            <a:endParaRPr lang="en-US" sz="2400" dirty="0"/>
          </a:p>
        </p:txBody>
      </p:sp>
      <p:sp>
        <p:nvSpPr>
          <p:cNvPr id="4" name="Text 2"/>
          <p:cNvSpPr/>
          <p:nvPr/>
        </p:nvSpPr>
        <p:spPr>
          <a:xfrm>
            <a:off x="548640" y="1371600"/>
            <a:ext cx="8046720" cy="457200"/>
          </a:xfrm>
          <a:prstGeom prst="rect">
            <a:avLst/>
          </a:prstGeom>
          <a:noFill/>
          <a:ln/>
        </p:spPr>
        <p:txBody>
          <a:bodyPr wrap="square" lIns="0" tIns="0" rIns="0" bIns="0" rtlCol="0" anchor="ctr"/>
          <a:lstStyle/>
          <a:p>
            <a:pPr indent="0" marL="0">
              <a:buNone/>
            </a:pPr>
            <a:r>
              <a:rPr lang="en-US" sz="1600" b="1" dirty="0">
                <a:solidFill>
                  <a:srgbClr val="16181D"/>
                </a:solidFill>
                <a:latin typeface="BIZ UDPGothic" pitchFamily="34" charset="0"/>
                <a:ea typeface="BIZ UDPGothic" pitchFamily="34" charset="-122"/>
                <a:cs typeface="BIZ UDPGothic" pitchFamily="34" charset="-120"/>
              </a:rPr>
              <a:t>🧠 客観的な統計データからAIが自動でスコア算出</a:t>
            </a:r>
            <a:endParaRPr lang="en-US" sz="1600" dirty="0"/>
          </a:p>
        </p:txBody>
      </p:sp>
      <p:sp>
        <p:nvSpPr>
          <p:cNvPr id="5" name="Text 3"/>
          <p:cNvSpPr/>
          <p:nvPr/>
        </p:nvSpPr>
        <p:spPr>
          <a:xfrm>
            <a:off x="548640" y="1965960"/>
            <a:ext cx="822960" cy="621792"/>
          </a:xfrm>
          <a:prstGeom prst="rect">
            <a:avLst/>
          </a:prstGeom>
          <a:noFill/>
          <a:ln/>
        </p:spPr>
        <p:txBody>
          <a:bodyPr wrap="square" lIns="0" tIns="0" rIns="0" bIns="0" rtlCol="0" anchor="t"/>
          <a:lstStyle/>
          <a:p>
            <a:pPr indent="0" marL="0">
              <a:buNone/>
            </a:pPr>
            <a:r>
              <a:rPr lang="en-US" sz="2600" b="1" dirty="0">
                <a:solidFill>
                  <a:srgbClr val="C8161D"/>
                </a:solidFill>
                <a:latin typeface="Arial" pitchFamily="34" charset="0"/>
                <a:ea typeface="BIZ UDPGothic" pitchFamily="34" charset="-122"/>
                <a:cs typeface="BIZ UDPGothic" pitchFamily="34" charset="-120"/>
              </a:rPr>
              <a:t>01</a:t>
            </a:r>
            <a:endParaRPr lang="en-US" sz="2600" dirty="0"/>
          </a:p>
        </p:txBody>
      </p:sp>
      <p:sp>
        <p:nvSpPr>
          <p:cNvPr id="6" name="Text 4"/>
          <p:cNvSpPr/>
          <p:nvPr/>
        </p:nvSpPr>
        <p:spPr>
          <a:xfrm>
            <a:off x="1371600" y="1965960"/>
            <a:ext cx="722376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公共交通機関の廃線・減便率（過去5年）</a:t>
            </a:r>
            <a:endParaRPr lang="en-US" sz="1500" dirty="0"/>
          </a:p>
        </p:txBody>
      </p:sp>
      <p:sp>
        <p:nvSpPr>
          <p:cNvPr id="7" name="Text 5"/>
          <p:cNvSpPr/>
          <p:nvPr/>
        </p:nvSpPr>
        <p:spPr>
          <a:xfrm>
            <a:off x="1371600" y="2313432"/>
            <a:ext cx="7223760" cy="274320"/>
          </a:xfrm>
          <a:prstGeom prst="rect">
            <a:avLst/>
          </a:prstGeom>
          <a:noFill/>
          <a:ln/>
        </p:spPr>
        <p:txBody>
          <a:bodyPr wrap="square" lIns="0" tIns="0" rIns="0" bIns="0" rtlCol="0" anchor="t"/>
          <a:lstStyle/>
          <a:p>
            <a:pPr indent="0" marL="0">
              <a:lnSpc>
                <a:spcPct val="125000"/>
              </a:lnSpc>
              <a:buNone/>
            </a:pPr>
            <a:endParaRPr lang="en-US" sz="1250" dirty="0"/>
          </a:p>
        </p:txBody>
      </p:sp>
      <p:sp>
        <p:nvSpPr>
          <p:cNvPr id="8" name="Text 6"/>
          <p:cNvSpPr/>
          <p:nvPr/>
        </p:nvSpPr>
        <p:spPr>
          <a:xfrm>
            <a:off x="548640" y="2724912"/>
            <a:ext cx="822960" cy="621792"/>
          </a:xfrm>
          <a:prstGeom prst="rect">
            <a:avLst/>
          </a:prstGeom>
          <a:noFill/>
          <a:ln/>
        </p:spPr>
        <p:txBody>
          <a:bodyPr wrap="square" lIns="0" tIns="0" rIns="0" bIns="0" rtlCol="0" anchor="t"/>
          <a:lstStyle/>
          <a:p>
            <a:pPr indent="0" marL="0">
              <a:buNone/>
            </a:pPr>
            <a:r>
              <a:rPr lang="en-US" sz="2600" b="1" dirty="0">
                <a:solidFill>
                  <a:srgbClr val="C8161D"/>
                </a:solidFill>
                <a:latin typeface="Arial" pitchFamily="34" charset="0"/>
                <a:ea typeface="BIZ UDPGothic" pitchFamily="34" charset="-122"/>
                <a:cs typeface="BIZ UDPGothic" pitchFamily="34" charset="-120"/>
              </a:rPr>
              <a:t>02</a:t>
            </a:r>
            <a:endParaRPr lang="en-US" sz="2600" dirty="0"/>
          </a:p>
        </p:txBody>
      </p:sp>
      <p:sp>
        <p:nvSpPr>
          <p:cNvPr id="9" name="Text 7"/>
          <p:cNvSpPr/>
          <p:nvPr/>
        </p:nvSpPr>
        <p:spPr>
          <a:xfrm>
            <a:off x="1371600" y="2724912"/>
            <a:ext cx="722376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地域の高齢化率</a:t>
            </a:r>
            <a:endParaRPr lang="en-US" sz="1500" dirty="0"/>
          </a:p>
        </p:txBody>
      </p:sp>
      <p:sp>
        <p:nvSpPr>
          <p:cNvPr id="10" name="Text 8"/>
          <p:cNvSpPr/>
          <p:nvPr/>
        </p:nvSpPr>
        <p:spPr>
          <a:xfrm>
            <a:off x="1371600" y="3072384"/>
            <a:ext cx="7223760" cy="274320"/>
          </a:xfrm>
          <a:prstGeom prst="rect">
            <a:avLst/>
          </a:prstGeom>
          <a:noFill/>
          <a:ln/>
        </p:spPr>
        <p:txBody>
          <a:bodyPr wrap="square" lIns="0" tIns="0" rIns="0" bIns="0" rtlCol="0" anchor="t"/>
          <a:lstStyle/>
          <a:p>
            <a:pPr indent="0" marL="0">
              <a:lnSpc>
                <a:spcPct val="125000"/>
              </a:lnSpc>
              <a:buNone/>
            </a:pPr>
            <a:endParaRPr lang="en-US" sz="1250" dirty="0"/>
          </a:p>
        </p:txBody>
      </p:sp>
      <p:sp>
        <p:nvSpPr>
          <p:cNvPr id="11" name="Text 9"/>
          <p:cNvSpPr/>
          <p:nvPr/>
        </p:nvSpPr>
        <p:spPr>
          <a:xfrm>
            <a:off x="548640" y="3483864"/>
            <a:ext cx="822960" cy="621792"/>
          </a:xfrm>
          <a:prstGeom prst="rect">
            <a:avLst/>
          </a:prstGeom>
          <a:noFill/>
          <a:ln/>
        </p:spPr>
        <p:txBody>
          <a:bodyPr wrap="square" lIns="0" tIns="0" rIns="0" bIns="0" rtlCol="0" anchor="t"/>
          <a:lstStyle/>
          <a:p>
            <a:pPr indent="0" marL="0">
              <a:buNone/>
            </a:pPr>
            <a:r>
              <a:rPr lang="en-US" sz="2600" b="1" dirty="0">
                <a:solidFill>
                  <a:srgbClr val="C8161D"/>
                </a:solidFill>
                <a:latin typeface="Arial" pitchFamily="34" charset="0"/>
                <a:ea typeface="BIZ UDPGothic" pitchFamily="34" charset="-122"/>
                <a:cs typeface="BIZ UDPGothic" pitchFamily="34" charset="-120"/>
              </a:rPr>
              <a:t>03</a:t>
            </a:r>
            <a:endParaRPr lang="en-US" sz="2600" dirty="0"/>
          </a:p>
        </p:txBody>
      </p:sp>
      <p:sp>
        <p:nvSpPr>
          <p:cNvPr id="12" name="Text 10"/>
          <p:cNvSpPr/>
          <p:nvPr/>
        </p:nvSpPr>
        <p:spPr>
          <a:xfrm>
            <a:off x="1371600" y="3483864"/>
            <a:ext cx="722376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物流ドライバーの不足率</a:t>
            </a:r>
            <a:endParaRPr lang="en-US" sz="1500" dirty="0"/>
          </a:p>
        </p:txBody>
      </p:sp>
      <p:sp>
        <p:nvSpPr>
          <p:cNvPr id="13" name="Text 11"/>
          <p:cNvSpPr/>
          <p:nvPr/>
        </p:nvSpPr>
        <p:spPr>
          <a:xfrm>
            <a:off x="1371600" y="3831336"/>
            <a:ext cx="7223760" cy="274320"/>
          </a:xfrm>
          <a:prstGeom prst="rect">
            <a:avLst/>
          </a:prstGeom>
          <a:noFill/>
          <a:ln/>
        </p:spPr>
        <p:txBody>
          <a:bodyPr wrap="square" lIns="0" tIns="0" rIns="0" bIns="0" rtlCol="0" anchor="t"/>
          <a:lstStyle/>
          <a:p>
            <a:pPr indent="0" marL="0">
              <a:lnSpc>
                <a:spcPct val="125000"/>
              </a:lnSpc>
              <a:buNone/>
            </a:pPr>
            <a:endParaRPr lang="en-US" sz="1250" dirty="0"/>
          </a:p>
        </p:txBody>
      </p:sp>
      <p:sp>
        <p:nvSpPr>
          <p:cNvPr id="14" name="Text 12"/>
          <p:cNvSpPr/>
          <p:nvPr/>
        </p:nvSpPr>
        <p:spPr>
          <a:xfrm>
            <a:off x="548640" y="4434840"/>
            <a:ext cx="8046720" cy="365760"/>
          </a:xfrm>
          <a:prstGeom prst="rect">
            <a:avLst/>
          </a:prstGeom>
          <a:noFill/>
          <a:ln/>
        </p:spPr>
        <p:txBody>
          <a:bodyPr wrap="square" lIns="0" tIns="0" rIns="0" bIns="0" rtlCol="0" anchor="ctr"/>
          <a:lstStyle/>
          <a:p>
            <a:pPr indent="0" marL="0">
              <a:buNone/>
            </a:pPr>
            <a:r>
              <a:rPr lang="en-US" sz="1200" dirty="0">
                <a:solidFill>
                  <a:srgbClr val="16181D">
                    <a:alpha val="80000"/>
                  </a:srgbClr>
                </a:solidFill>
                <a:latin typeface="BIZ UDPGothic" pitchFamily="34" charset="0"/>
                <a:ea typeface="BIZ UDPGothic" pitchFamily="34" charset="-122"/>
                <a:cs typeface="BIZ UDPGothic" pitchFamily="34" charset="-120"/>
              </a:rPr>
              <a:t>認定期間は一律3年間の有期限。以降の扱いは第3の柱（企業単位のガバナンス）で詳述する。</a:t>
            </a:r>
            <a:endParaRPr lang="en-US" sz="1200" dirty="0"/>
          </a:p>
        </p:txBody>
      </p:sp>
      <p:sp>
        <p:nvSpPr>
          <p:cNvPr id="15" name="Text 13"/>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16" name="Text 14"/>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RULE 02</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600" b="1" dirty="0">
                <a:solidFill>
                  <a:srgbClr val="16181D"/>
                </a:solidFill>
                <a:latin typeface="BIZ UDPGothic" pitchFamily="34" charset="0"/>
                <a:ea typeface="BIZ UDPGothic" pitchFamily="34" charset="-122"/>
                <a:cs typeface="BIZ UDPGothic" pitchFamily="34" charset="-120"/>
              </a:rPr>
              <a:t>既存業界への補助金は即時全廃</a:t>
            </a:r>
            <a:endParaRPr lang="en-US" sz="2600" dirty="0"/>
          </a:p>
        </p:txBody>
      </p:sp>
      <p:sp>
        <p:nvSpPr>
          <p:cNvPr id="4" name="Shape 2"/>
          <p:cNvSpPr/>
          <p:nvPr/>
        </p:nvSpPr>
        <p:spPr>
          <a:xfrm>
            <a:off x="548640" y="1645920"/>
            <a:ext cx="3794760" cy="2880360"/>
          </a:xfrm>
          <a:prstGeom prst="roundRect">
            <a:avLst>
              <a:gd name="adj" fmla="val 2540"/>
            </a:avLst>
          </a:prstGeom>
          <a:solidFill>
            <a:srgbClr val="DDE0E6"/>
          </a:solidFill>
          <a:ln/>
          <a:effectLst>
            <a:outerShdw sx="100000" sy="100000" kx="0" ky="0" algn="bl" rotWithShape="0" blurRad="101600" dist="38100" dir="2700000">
              <a:srgbClr val="000000">
                <a:alpha val="35000"/>
              </a:srgbClr>
            </a:outerShdw>
          </a:effectLst>
        </p:spPr>
      </p:sp>
      <p:sp>
        <p:nvSpPr>
          <p:cNvPr id="5" name="Text 3"/>
          <p:cNvSpPr/>
          <p:nvPr/>
        </p:nvSpPr>
        <p:spPr>
          <a:xfrm>
            <a:off x="822960" y="1874520"/>
            <a:ext cx="731520" cy="548640"/>
          </a:xfrm>
          <a:prstGeom prst="rect">
            <a:avLst/>
          </a:prstGeom>
          <a:noFill/>
          <a:ln/>
        </p:spPr>
        <p:txBody>
          <a:bodyPr wrap="square" lIns="0" tIns="0" rIns="0" bIns="0" rtlCol="0" anchor="ctr"/>
          <a:lstStyle/>
          <a:p>
            <a:pPr indent="0" marL="0">
              <a:buNone/>
            </a:pPr>
            <a:r>
              <a:rPr lang="en-US" sz="3200" dirty="0">
                <a:solidFill>
                  <a:srgbClr val="000000"/>
                </a:solidFill>
                <a:latin typeface="Arial" pitchFamily="34" charset="0"/>
                <a:ea typeface="BIZ UDPGothic" pitchFamily="34" charset="-122"/>
                <a:cs typeface="BIZ UDPGothic" pitchFamily="34" charset="-120"/>
              </a:rPr>
              <a:t>⚠️</a:t>
            </a:r>
            <a:endParaRPr lang="en-US" sz="3200" dirty="0"/>
          </a:p>
        </p:txBody>
      </p:sp>
      <p:sp>
        <p:nvSpPr>
          <p:cNvPr id="6" name="Text 4"/>
          <p:cNvSpPr/>
          <p:nvPr/>
        </p:nvSpPr>
        <p:spPr>
          <a:xfrm>
            <a:off x="822960" y="2423160"/>
            <a:ext cx="3200400" cy="365760"/>
          </a:xfrm>
          <a:prstGeom prst="rect">
            <a:avLst/>
          </a:prstGeom>
          <a:noFill/>
          <a:ln/>
        </p:spPr>
        <p:txBody>
          <a:bodyPr wrap="square" lIns="0" tIns="0" rIns="0" bIns="0" rtlCol="0" anchor="ctr"/>
          <a:lstStyle/>
          <a:p>
            <a:pPr indent="0" marL="0">
              <a:buNone/>
            </a:pPr>
            <a:r>
              <a:rPr lang="en-US" sz="1400" b="1" dirty="0">
                <a:solidFill>
                  <a:srgbClr val="16181D">
                    <a:alpha val="70000"/>
                  </a:srgbClr>
                </a:solidFill>
                <a:latin typeface="BIZ UDPGothic" pitchFamily="34" charset="0"/>
                <a:ea typeface="BIZ UDPGothic" pitchFamily="34" charset="-122"/>
                <a:cs typeface="BIZ UDPGothic" pitchFamily="34" charset="-120"/>
              </a:rPr>
              <a:t>これまで</a:t>
            </a:r>
            <a:endParaRPr lang="en-US" sz="1400" dirty="0"/>
          </a:p>
        </p:txBody>
      </p:sp>
      <p:sp>
        <p:nvSpPr>
          <p:cNvPr id="7" name="Text 5"/>
          <p:cNvSpPr/>
          <p:nvPr/>
        </p:nvSpPr>
        <p:spPr>
          <a:xfrm>
            <a:off x="822960" y="2788920"/>
            <a:ext cx="3200400" cy="1554480"/>
          </a:xfrm>
          <a:prstGeom prst="rect">
            <a:avLst/>
          </a:prstGeom>
          <a:noFill/>
          <a:ln/>
        </p:spPr>
        <p:txBody>
          <a:bodyPr wrap="square" lIns="0" tIns="0" rIns="0" bIns="0" rtlCol="0" anchor="t"/>
          <a:lstStyle/>
          <a:p>
            <a:pPr indent="0" marL="0">
              <a:lnSpc>
                <a:spcPct val="130000"/>
              </a:lnSpc>
              <a:buNone/>
            </a:pPr>
            <a:r>
              <a:rPr lang="en-US" sz="1400" dirty="0">
                <a:solidFill>
                  <a:srgbClr val="16181D"/>
                </a:solidFill>
                <a:latin typeface="BIZ UDPGothic" pitchFamily="34" charset="0"/>
                <a:ea typeface="BIZ UDPGothic" pitchFamily="34" charset="-122"/>
                <a:cs typeface="BIZ UDPGothic" pitchFamily="34" charset="-120"/>
              </a:rPr>
              <a:t>タクシー・バス協会への</a:t>
            </a:r>
            <a:endParaRPr lang="en-US" sz="1400" dirty="0"/>
          </a:p>
          <a:p>
            <a:pPr indent="0" marL="0">
              <a:lnSpc>
                <a:spcPct val="130000"/>
              </a:lnSpc>
              <a:buNone/>
            </a:pPr>
            <a:r>
              <a:rPr lang="en-US" sz="1400" dirty="0">
                <a:solidFill>
                  <a:srgbClr val="16181D"/>
                </a:solidFill>
                <a:latin typeface="BIZ UDPGothic" pitchFamily="34" charset="0"/>
                <a:ea typeface="BIZ UDPGothic" pitchFamily="34" charset="-122"/>
                <a:cs typeface="BIZ UDPGothic" pitchFamily="34" charset="-120"/>
              </a:rPr>
              <a:t>燃料費補助・事務局経費など</a:t>
            </a:r>
            <a:endParaRPr lang="en-US" sz="1400" dirty="0"/>
          </a:p>
          <a:p>
            <a:pPr indent="0" marL="0">
              <a:lnSpc>
                <a:spcPct val="130000"/>
              </a:lnSpc>
              <a:buNone/>
            </a:pPr>
            <a:r>
              <a:rPr lang="en-US" sz="1400" dirty="0">
                <a:solidFill>
                  <a:srgbClr val="16181D"/>
                </a:solidFill>
                <a:latin typeface="BIZ UDPGothic" pitchFamily="34" charset="0"/>
                <a:ea typeface="BIZ UDPGothic" pitchFamily="34" charset="-122"/>
                <a:cs typeface="BIZ UDPGothic" pitchFamily="34" charset="-120"/>
              </a:rPr>
              <a:t>「延命」のための補助金</a:t>
            </a:r>
            <a:endParaRPr lang="en-US" sz="1400" dirty="0"/>
          </a:p>
        </p:txBody>
      </p:sp>
      <p:sp>
        <p:nvSpPr>
          <p:cNvPr id="8" name="Text 6"/>
          <p:cNvSpPr/>
          <p:nvPr/>
        </p:nvSpPr>
        <p:spPr>
          <a:xfrm>
            <a:off x="4480560" y="2880360"/>
            <a:ext cx="457200" cy="457200"/>
          </a:xfrm>
          <a:prstGeom prst="rect">
            <a:avLst/>
          </a:prstGeom>
          <a:noFill/>
          <a:ln/>
        </p:spPr>
        <p:txBody>
          <a:bodyPr wrap="square" lIns="0" tIns="0" rIns="0" bIns="0" rtlCol="0" anchor="ctr"/>
          <a:lstStyle/>
          <a:p>
            <a:pPr indent="0" marL="0">
              <a:buNone/>
            </a:pPr>
            <a:r>
              <a:rPr lang="en-US" sz="2600" dirty="0">
                <a:solidFill>
                  <a:srgbClr val="16181D"/>
                </a:solidFill>
                <a:latin typeface="Arial" pitchFamily="34" charset="0"/>
                <a:ea typeface="BIZ UDPGothic" pitchFamily="34" charset="-122"/>
                <a:cs typeface="BIZ UDPGothic" pitchFamily="34" charset="-120"/>
              </a:rPr>
              <a:t>→</a:t>
            </a:r>
            <a:endParaRPr lang="en-US" sz="2600" dirty="0"/>
          </a:p>
        </p:txBody>
      </p:sp>
      <p:sp>
        <p:nvSpPr>
          <p:cNvPr id="9" name="Shape 7"/>
          <p:cNvSpPr/>
          <p:nvPr/>
        </p:nvSpPr>
        <p:spPr>
          <a:xfrm>
            <a:off x="5074920" y="1645920"/>
            <a:ext cx="3520440" cy="2880360"/>
          </a:xfrm>
          <a:prstGeom prst="roundRect">
            <a:avLst>
              <a:gd name="adj" fmla="val 2540"/>
            </a:avLst>
          </a:prstGeom>
          <a:solidFill>
            <a:srgbClr val="FFFFFF"/>
          </a:solidFill>
          <a:ln w="19050">
            <a:solidFill>
              <a:srgbClr val="C8161D"/>
            </a:solidFill>
            <a:prstDash val="solid"/>
          </a:ln>
          <a:effectLst>
            <a:outerShdw sx="100000" sy="100000" kx="0" ky="0" algn="bl" rotWithShape="0" blurRad="101600" dist="38100" dir="2700000">
              <a:srgbClr val="000000">
                <a:alpha val="35000"/>
              </a:srgbClr>
            </a:outerShdw>
          </a:effectLst>
        </p:spPr>
      </p:sp>
      <p:sp>
        <p:nvSpPr>
          <p:cNvPr id="10" name="Text 8"/>
          <p:cNvSpPr/>
          <p:nvPr/>
        </p:nvSpPr>
        <p:spPr>
          <a:xfrm>
            <a:off x="5349240" y="1874520"/>
            <a:ext cx="731520" cy="548640"/>
          </a:xfrm>
          <a:prstGeom prst="rect">
            <a:avLst/>
          </a:prstGeom>
          <a:noFill/>
          <a:ln/>
        </p:spPr>
        <p:txBody>
          <a:bodyPr wrap="square" lIns="0" tIns="0" rIns="0" bIns="0" rtlCol="0" anchor="ctr"/>
          <a:lstStyle/>
          <a:p>
            <a:pPr indent="0" marL="0">
              <a:buNone/>
            </a:pPr>
            <a:r>
              <a:rPr lang="en-US" sz="3200" dirty="0">
                <a:solidFill>
                  <a:srgbClr val="000000"/>
                </a:solidFill>
                <a:latin typeface="Arial" pitchFamily="34" charset="0"/>
                <a:ea typeface="BIZ UDPGothic" pitchFamily="34" charset="-122"/>
                <a:cs typeface="BIZ UDPGothic" pitchFamily="34" charset="-120"/>
              </a:rPr>
              <a:t>✅</a:t>
            </a:r>
            <a:endParaRPr lang="en-US" sz="3200" dirty="0"/>
          </a:p>
        </p:txBody>
      </p:sp>
      <p:sp>
        <p:nvSpPr>
          <p:cNvPr id="11" name="Text 9"/>
          <p:cNvSpPr/>
          <p:nvPr/>
        </p:nvSpPr>
        <p:spPr>
          <a:xfrm>
            <a:off x="5349240" y="2423160"/>
            <a:ext cx="2926080" cy="365760"/>
          </a:xfrm>
          <a:prstGeom prst="rect">
            <a:avLst/>
          </a:prstGeom>
          <a:noFill/>
          <a:ln/>
        </p:spPr>
        <p:txBody>
          <a:bodyPr wrap="square" lIns="0" tIns="0" rIns="0" bIns="0" rtlCol="0" anchor="ctr"/>
          <a:lstStyle/>
          <a:p>
            <a:pPr indent="0" marL="0">
              <a:buNone/>
            </a:pPr>
            <a:r>
              <a:rPr lang="en-US" sz="1400" b="1" dirty="0">
                <a:solidFill>
                  <a:srgbClr val="C8161D"/>
                </a:solidFill>
                <a:latin typeface="BIZ UDPGothic" pitchFamily="34" charset="0"/>
                <a:ea typeface="BIZ UDPGothic" pitchFamily="34" charset="-122"/>
                <a:cs typeface="BIZ UDPGothic" pitchFamily="34" charset="-120"/>
              </a:rPr>
              <a:t>これから</a:t>
            </a:r>
            <a:endParaRPr lang="en-US" sz="1400" dirty="0"/>
          </a:p>
        </p:txBody>
      </p:sp>
      <p:sp>
        <p:nvSpPr>
          <p:cNvPr id="12" name="Text 10"/>
          <p:cNvSpPr/>
          <p:nvPr/>
        </p:nvSpPr>
        <p:spPr>
          <a:xfrm>
            <a:off x="5349240" y="2788920"/>
            <a:ext cx="2926080" cy="1554480"/>
          </a:xfrm>
          <a:prstGeom prst="rect">
            <a:avLst/>
          </a:prstGeom>
          <a:noFill/>
          <a:ln/>
        </p:spPr>
        <p:txBody>
          <a:bodyPr wrap="square" lIns="0" tIns="0" rIns="0" bIns="0" rtlCol="0" anchor="t"/>
          <a:lstStyle/>
          <a:p>
            <a:pPr indent="0" marL="0">
              <a:lnSpc>
                <a:spcPct val="130000"/>
              </a:lnSpc>
              <a:buNone/>
            </a:pPr>
            <a:r>
              <a:rPr lang="en-US" sz="1400" dirty="0">
                <a:solidFill>
                  <a:srgbClr val="16181D"/>
                </a:solidFill>
                <a:latin typeface="BIZ UDPGothic" pitchFamily="34" charset="0"/>
                <a:ea typeface="BIZ UDPGothic" pitchFamily="34" charset="-122"/>
                <a:cs typeface="BIZ UDPGothic" pitchFamily="34" charset="-120"/>
              </a:rPr>
              <a:t>自動運転・無人物流への</a:t>
            </a:r>
            <a:endParaRPr lang="en-US" sz="1400" dirty="0"/>
          </a:p>
          <a:p>
            <a:pPr indent="0" marL="0">
              <a:lnSpc>
                <a:spcPct val="130000"/>
              </a:lnSpc>
              <a:buNone/>
            </a:pPr>
            <a:r>
              <a:rPr lang="en-US" sz="1400" dirty="0">
                <a:solidFill>
                  <a:srgbClr val="16181D"/>
                </a:solidFill>
                <a:latin typeface="BIZ UDPGothic" pitchFamily="34" charset="0"/>
                <a:ea typeface="BIZ UDPGothic" pitchFamily="34" charset="-122"/>
                <a:cs typeface="BIZ UDPGothic" pitchFamily="34" charset="-120"/>
              </a:rPr>
              <a:t>業態転換に挑む「企業」への</a:t>
            </a:r>
            <a:endParaRPr lang="en-US" sz="1400" dirty="0"/>
          </a:p>
          <a:p>
            <a:pPr indent="0" marL="0">
              <a:lnSpc>
                <a:spcPct val="130000"/>
              </a:lnSpc>
              <a:buNone/>
            </a:pPr>
            <a:r>
              <a:rPr lang="en-US" sz="1400" dirty="0">
                <a:solidFill>
                  <a:srgbClr val="16181D"/>
                </a:solidFill>
                <a:latin typeface="BIZ UDPGothic" pitchFamily="34" charset="0"/>
                <a:ea typeface="BIZ UDPGothic" pitchFamily="34" charset="-122"/>
                <a:cs typeface="BIZ UDPGothic" pitchFamily="34" charset="-120"/>
              </a:rPr>
              <a:t>直接投資に100%振り替え</a:t>
            </a:r>
            <a:endParaRPr lang="en-US" sz="1400" dirty="0"/>
          </a:p>
        </p:txBody>
      </p:sp>
      <p:sp>
        <p:nvSpPr>
          <p:cNvPr id="13" name="Text 11"/>
          <p:cNvSpPr/>
          <p:nvPr/>
        </p:nvSpPr>
        <p:spPr>
          <a:xfrm>
            <a:off x="548640" y="4572000"/>
            <a:ext cx="8046720" cy="320040"/>
          </a:xfrm>
          <a:prstGeom prst="rect">
            <a:avLst/>
          </a:prstGeom>
          <a:noFill/>
          <a:ln/>
        </p:spPr>
        <p:txBody>
          <a:bodyPr wrap="square" lIns="0" tIns="0" rIns="0" bIns="0" rtlCol="0" anchor="ctr"/>
          <a:lstStyle/>
          <a:p>
            <a:pPr indent="0" marL="0">
              <a:buNone/>
            </a:pPr>
            <a:r>
              <a:rPr lang="en-US" sz="1200" dirty="0">
                <a:solidFill>
                  <a:srgbClr val="16181D">
                    <a:alpha val="80000"/>
                  </a:srgbClr>
                </a:solidFill>
                <a:latin typeface="BIZ UDPGothic" pitchFamily="34" charset="0"/>
                <a:ea typeface="BIZ UDPGothic" pitchFamily="34" charset="-122"/>
                <a:cs typeface="BIZ UDPGothic" pitchFamily="34" charset="-120"/>
              </a:rPr>
              <a:t>特区認定と同時に即時全廃。段階的な経過措置は設けない。</a:t>
            </a:r>
            <a:endParaRPr lang="en-US" sz="1200" dirty="0"/>
          </a:p>
        </p:txBody>
      </p:sp>
      <p:sp>
        <p:nvSpPr>
          <p:cNvPr id="14" name="Text 12"/>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15" name="Text 13"/>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RULE 02 — DETAIL</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600" b="1" dirty="0">
                <a:solidFill>
                  <a:srgbClr val="16181D"/>
                </a:solidFill>
                <a:latin typeface="BIZ UDPGothic" pitchFamily="34" charset="0"/>
                <a:ea typeface="BIZ UDPGothic" pitchFamily="34" charset="-122"/>
                <a:cs typeface="BIZ UDPGothic" pitchFamily="34" charset="-120"/>
              </a:rPr>
              <a:t>運転手個人はどうなるのか</a:t>
            </a:r>
            <a:endParaRPr lang="en-US" sz="2600" dirty="0"/>
          </a:p>
        </p:txBody>
      </p:sp>
      <p:sp>
        <p:nvSpPr>
          <p:cNvPr id="4" name="Text 2"/>
          <p:cNvSpPr/>
          <p:nvPr/>
        </p:nvSpPr>
        <p:spPr>
          <a:xfrm>
            <a:off x="548640" y="1645920"/>
            <a:ext cx="731520" cy="548640"/>
          </a:xfrm>
          <a:prstGeom prst="rect">
            <a:avLst/>
          </a:prstGeom>
          <a:noFill/>
          <a:ln/>
        </p:spPr>
        <p:txBody>
          <a:bodyPr wrap="square" lIns="0" tIns="0" rIns="0" bIns="0" rtlCol="0" anchor="ctr"/>
          <a:lstStyle/>
          <a:p>
            <a:pPr indent="0" marL="0">
              <a:buNone/>
            </a:pPr>
            <a:r>
              <a:rPr lang="en-US" sz="3200" dirty="0">
                <a:solidFill>
                  <a:srgbClr val="000000"/>
                </a:solidFill>
                <a:latin typeface="Arial" pitchFamily="34" charset="0"/>
                <a:ea typeface="BIZ UDPGothic" pitchFamily="34" charset="-122"/>
                <a:cs typeface="BIZ UDPGothic" pitchFamily="34" charset="-120"/>
              </a:rPr>
              <a:t>👥</a:t>
            </a:r>
            <a:endParaRPr lang="en-US" sz="3200" dirty="0"/>
          </a:p>
        </p:txBody>
      </p:sp>
      <p:sp>
        <p:nvSpPr>
          <p:cNvPr id="5" name="Text 3"/>
          <p:cNvSpPr/>
          <p:nvPr/>
        </p:nvSpPr>
        <p:spPr>
          <a:xfrm>
            <a:off x="1371600" y="1645920"/>
            <a:ext cx="7223760" cy="822960"/>
          </a:xfrm>
          <a:prstGeom prst="rect">
            <a:avLst/>
          </a:prstGeom>
          <a:noFill/>
          <a:ln/>
        </p:spPr>
        <p:txBody>
          <a:bodyPr wrap="square" lIns="0" tIns="0" rIns="0" bIns="0" rtlCol="0" anchor="t"/>
          <a:lstStyle/>
          <a:p>
            <a:pPr indent="0" marL="0">
              <a:buNone/>
            </a:pPr>
            <a:r>
              <a:rPr lang="en-US" sz="1600" b="1" dirty="0">
                <a:solidFill>
                  <a:srgbClr val="16181D"/>
                </a:solidFill>
                <a:latin typeface="BIZ UDPGothic" pitchFamily="34" charset="0"/>
                <a:ea typeface="BIZ UDPGothic" pitchFamily="34" charset="-122"/>
                <a:cs typeface="BIZ UDPGothic" pitchFamily="34" charset="-120"/>
              </a:rPr>
              <a:t>補助金は「会社」への支援であり、運転手個人の雇用そのものを政府が保証していたわけではない</a:t>
            </a:r>
            <a:endParaRPr lang="en-US" sz="1600" dirty="0"/>
          </a:p>
        </p:txBody>
      </p:sp>
      <p:sp>
        <p:nvSpPr>
          <p:cNvPr id="6" name="Shape 4"/>
          <p:cNvSpPr/>
          <p:nvPr/>
        </p:nvSpPr>
        <p:spPr>
          <a:xfrm>
            <a:off x="548640" y="2697480"/>
            <a:ext cx="8046720" cy="1874520"/>
          </a:xfrm>
          <a:prstGeom prst="roundRect">
            <a:avLst>
              <a:gd name="adj" fmla="val 3902"/>
            </a:avLst>
          </a:prstGeom>
          <a:solidFill>
            <a:srgbClr val="FFFFFF"/>
          </a:solidFill>
          <a:ln/>
          <a:effectLst>
            <a:outerShdw sx="100000" sy="100000" kx="0" ky="0" algn="bl" rotWithShape="0" blurRad="101600" dist="38100" dir="2700000">
              <a:srgbClr val="000000">
                <a:alpha val="35000"/>
              </a:srgbClr>
            </a:outerShdw>
          </a:effectLst>
        </p:spPr>
      </p:sp>
      <p:sp>
        <p:nvSpPr>
          <p:cNvPr id="7" name="Text 5"/>
          <p:cNvSpPr/>
          <p:nvPr/>
        </p:nvSpPr>
        <p:spPr>
          <a:xfrm>
            <a:off x="822960" y="2880360"/>
            <a:ext cx="7498080" cy="1554480"/>
          </a:xfrm>
          <a:prstGeom prst="rect">
            <a:avLst/>
          </a:prstGeom>
          <a:noFill/>
          <a:ln/>
        </p:spPr>
        <p:txBody>
          <a:bodyPr wrap="square" lIns="0" tIns="0" rIns="0" bIns="0" rtlCol="0" anchor="t"/>
          <a:lstStyle/>
          <a:p>
            <a:pPr indent="0" marL="0">
              <a:lnSpc>
                <a:spcPct val="135000"/>
              </a:lnSpc>
              <a:buNone/>
            </a:pPr>
            <a:r>
              <a:rPr lang="en-US" sz="1500" b="1" dirty="0">
                <a:solidFill>
                  <a:srgbClr val="C8161D"/>
                </a:solidFill>
                <a:latin typeface="BIZ UDPGothic" pitchFamily="34" charset="0"/>
                <a:ea typeface="BIZ UDPGothic" pitchFamily="34" charset="-122"/>
                <a:cs typeface="BIZ UDPGothic" pitchFamily="34" charset="-120"/>
              </a:rPr>
              <a:t>補助金カット後の雇用継続・配置転換・解雇は、すべて会社側の経営判断・労働法上の責任の範囲</a:t>
            </a:r>
            <a:endParaRPr lang="en-US" sz="1500" dirty="0"/>
          </a:p>
          <a:p>
            <a:pPr indent="0" marL="0">
              <a:lnSpc>
                <a:spcPct val="135000"/>
              </a:lnSpc>
              <a:buNone/>
            </a:pPr>
            <a:r>
              <a:rPr lang="en-US" sz="1350" dirty="0">
                <a:solidFill>
                  <a:srgbClr val="16181D"/>
                </a:solidFill>
                <a:latin typeface="BIZ UDPGothic" pitchFamily="34" charset="0"/>
                <a:ea typeface="BIZ UDPGothic" pitchFamily="34" charset="-122"/>
                <a:cs typeface="BIZ UDPGothic" pitchFamily="34" charset="-120"/>
              </a:rPr>
              <a:t>会社は補助金がなくなったから即解雇していいわけではなく、労働契約法・労働基準法に基づく通常の解雇規制の下で会社が判断する</a:t>
            </a:r>
            <a:endParaRPr lang="en-US" sz="1500" dirty="0"/>
          </a:p>
          <a:p>
            <a:pPr indent="0" marL="0">
              <a:lnSpc>
                <a:spcPct val="135000"/>
              </a:lnSpc>
              <a:buNone/>
            </a:pPr>
            <a:r>
              <a:rPr lang="en-US" sz="1350" dirty="0">
                <a:solidFill>
                  <a:srgbClr val="16181D"/>
                </a:solidFill>
                <a:latin typeface="BIZ UDPGothic" pitchFamily="34" charset="0"/>
                <a:ea typeface="BIZ UDPGothic" pitchFamily="34" charset="-122"/>
                <a:cs typeface="BIZ UDPGothic" pitchFamily="34" charset="-120"/>
              </a:rPr>
              <a:t>本提言は運転手個人向けの特別な移行支援策を独自には設計しない</a:t>
            </a:r>
            <a:endParaRPr lang="en-US" sz="1500" dirty="0"/>
          </a:p>
        </p:txBody>
      </p:sp>
      <p:sp>
        <p:nvSpPr>
          <p:cNvPr id="8" name="Text 6"/>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9" name="Text 7"/>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RULE 02 — DETAIL</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600" b="1" dirty="0">
                <a:solidFill>
                  <a:srgbClr val="16181D"/>
                </a:solidFill>
                <a:latin typeface="BIZ UDPGothic" pitchFamily="34" charset="0"/>
                <a:ea typeface="BIZ UDPGothic" pitchFamily="34" charset="-122"/>
                <a:cs typeface="BIZ UDPGothic" pitchFamily="34" charset="-120"/>
              </a:rPr>
              <a:t>個別企業への「資産購入補助」</a:t>
            </a:r>
            <a:endParaRPr lang="en-US" sz="2600" dirty="0"/>
          </a:p>
        </p:txBody>
      </p:sp>
      <p:sp>
        <p:nvSpPr>
          <p:cNvPr id="4" name="Shape 2"/>
          <p:cNvSpPr/>
          <p:nvPr/>
        </p:nvSpPr>
        <p:spPr>
          <a:xfrm>
            <a:off x="548640" y="1645920"/>
            <a:ext cx="2468880" cy="2788920"/>
          </a:xfrm>
          <a:prstGeom prst="roundRect">
            <a:avLst>
              <a:gd name="adj" fmla="val 2963"/>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731520" y="1828800"/>
            <a:ext cx="731520" cy="54864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BIZ UDPGothic" pitchFamily="34" charset="-122"/>
                <a:cs typeface="BIZ UDPGothic" pitchFamily="34" charset="-120"/>
              </a:rPr>
              <a:t>🤖</a:t>
            </a:r>
            <a:endParaRPr lang="en-US" sz="2800" dirty="0"/>
          </a:p>
        </p:txBody>
      </p:sp>
      <p:sp>
        <p:nvSpPr>
          <p:cNvPr id="6" name="Text 4"/>
          <p:cNvSpPr/>
          <p:nvPr/>
        </p:nvSpPr>
        <p:spPr>
          <a:xfrm>
            <a:off x="749808" y="2423160"/>
            <a:ext cx="2066544" cy="640080"/>
          </a:xfrm>
          <a:prstGeom prst="rect">
            <a:avLst/>
          </a:prstGeom>
          <a:noFill/>
          <a:ln/>
        </p:spPr>
        <p:txBody>
          <a:bodyPr wrap="square" lIns="0" tIns="0" rIns="0" bIns="0" rtlCol="0" anchor="t"/>
          <a:lstStyle/>
          <a:p>
            <a:pPr indent="0" marL="0">
              <a:lnSpc>
                <a:spcPct val="115000"/>
              </a:lnSpc>
              <a:buNone/>
            </a:pPr>
            <a:r>
              <a:rPr lang="en-US" sz="1400" b="1" dirty="0">
                <a:solidFill>
                  <a:srgbClr val="16181D"/>
                </a:solidFill>
                <a:latin typeface="BIZ UDPGothic" pitchFamily="34" charset="0"/>
                <a:ea typeface="BIZ UDPGothic" pitchFamily="34" charset="-122"/>
                <a:cs typeface="BIZ UDPGothic" pitchFamily="34" charset="-120"/>
              </a:rPr>
              <a:t>完全無人車両（レベル4）</a:t>
            </a:r>
            <a:endParaRPr lang="en-US" sz="1400" dirty="0"/>
          </a:p>
        </p:txBody>
      </p:sp>
      <p:sp>
        <p:nvSpPr>
          <p:cNvPr id="7" name="Text 5"/>
          <p:cNvSpPr/>
          <p:nvPr/>
        </p:nvSpPr>
        <p:spPr>
          <a:xfrm>
            <a:off x="749808" y="3063240"/>
            <a:ext cx="2066544" cy="1188720"/>
          </a:xfrm>
          <a:prstGeom prst="rect">
            <a:avLst/>
          </a:prstGeom>
          <a:noFill/>
          <a:ln/>
        </p:spPr>
        <p:txBody>
          <a:bodyPr wrap="square" lIns="0" tIns="0" rIns="0" bIns="0" rtlCol="0" anchor="t"/>
          <a:lstStyle/>
          <a:p>
            <a:pPr indent="0" marL="0">
              <a:lnSpc>
                <a:spcPct val="120000"/>
              </a:lnSpc>
              <a:buNone/>
            </a:pPr>
            <a:r>
              <a:rPr lang="en-US" sz="1150" dirty="0">
                <a:solidFill>
                  <a:srgbClr val="16181D"/>
                </a:solidFill>
                <a:latin typeface="BIZ UDPGothic" pitchFamily="34" charset="0"/>
                <a:ea typeface="BIZ UDPGothic" pitchFamily="34" charset="-122"/>
                <a:cs typeface="BIZ UDPGothic" pitchFamily="34" charset="-120"/>
              </a:rPr>
              <a:t>自動運転バス・シャトル等の車両購入・改造費</a:t>
            </a:r>
            <a:endParaRPr lang="en-US" sz="1150" dirty="0"/>
          </a:p>
        </p:txBody>
      </p:sp>
      <p:sp>
        <p:nvSpPr>
          <p:cNvPr id="8" name="Shape 6"/>
          <p:cNvSpPr/>
          <p:nvPr/>
        </p:nvSpPr>
        <p:spPr>
          <a:xfrm>
            <a:off x="3337560" y="1645920"/>
            <a:ext cx="2468880" cy="2788920"/>
          </a:xfrm>
          <a:prstGeom prst="roundRect">
            <a:avLst>
              <a:gd name="adj" fmla="val 2963"/>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9" name="Text 7"/>
          <p:cNvSpPr/>
          <p:nvPr/>
        </p:nvSpPr>
        <p:spPr>
          <a:xfrm>
            <a:off x="3520440" y="1828800"/>
            <a:ext cx="731520" cy="54864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BIZ UDPGothic" pitchFamily="34" charset="-122"/>
                <a:cs typeface="BIZ UDPGothic" pitchFamily="34" charset="-120"/>
              </a:rPr>
              <a:t>🚚</a:t>
            </a:r>
            <a:endParaRPr lang="en-US" sz="2800" dirty="0"/>
          </a:p>
        </p:txBody>
      </p:sp>
      <p:sp>
        <p:nvSpPr>
          <p:cNvPr id="10" name="Text 8"/>
          <p:cNvSpPr/>
          <p:nvPr/>
        </p:nvSpPr>
        <p:spPr>
          <a:xfrm>
            <a:off x="3538728" y="2423160"/>
            <a:ext cx="2066544" cy="640080"/>
          </a:xfrm>
          <a:prstGeom prst="rect">
            <a:avLst/>
          </a:prstGeom>
          <a:noFill/>
          <a:ln/>
        </p:spPr>
        <p:txBody>
          <a:bodyPr wrap="square" lIns="0" tIns="0" rIns="0" bIns="0" rtlCol="0" anchor="t"/>
          <a:lstStyle/>
          <a:p>
            <a:pPr indent="0" marL="0">
              <a:lnSpc>
                <a:spcPct val="115000"/>
              </a:lnSpc>
              <a:buNone/>
            </a:pPr>
            <a:r>
              <a:rPr lang="en-US" sz="1400" b="1" dirty="0">
                <a:solidFill>
                  <a:srgbClr val="16181D"/>
                </a:solidFill>
                <a:latin typeface="BIZ UDPGothic" pitchFamily="34" charset="0"/>
                <a:ea typeface="BIZ UDPGothic" pitchFamily="34" charset="-122"/>
                <a:cs typeface="BIZ UDPGothic" pitchFamily="34" charset="-120"/>
              </a:rPr>
              <a:t>EVトラック</a:t>
            </a:r>
            <a:endParaRPr lang="en-US" sz="1400" dirty="0"/>
          </a:p>
        </p:txBody>
      </p:sp>
      <p:sp>
        <p:nvSpPr>
          <p:cNvPr id="11" name="Text 9"/>
          <p:cNvSpPr/>
          <p:nvPr/>
        </p:nvSpPr>
        <p:spPr>
          <a:xfrm>
            <a:off x="3538728" y="3063240"/>
            <a:ext cx="2066544" cy="1188720"/>
          </a:xfrm>
          <a:prstGeom prst="rect">
            <a:avLst/>
          </a:prstGeom>
          <a:noFill/>
          <a:ln/>
        </p:spPr>
        <p:txBody>
          <a:bodyPr wrap="square" lIns="0" tIns="0" rIns="0" bIns="0" rtlCol="0" anchor="t"/>
          <a:lstStyle/>
          <a:p>
            <a:pPr indent="0" marL="0">
              <a:lnSpc>
                <a:spcPct val="120000"/>
              </a:lnSpc>
              <a:buNone/>
            </a:pPr>
            <a:r>
              <a:rPr lang="en-US" sz="1150" dirty="0">
                <a:solidFill>
                  <a:srgbClr val="16181D"/>
                </a:solidFill>
                <a:latin typeface="BIZ UDPGothic" pitchFamily="34" charset="0"/>
                <a:ea typeface="BIZ UDPGothic" pitchFamily="34" charset="-122"/>
                <a:cs typeface="BIZ UDPGothic" pitchFamily="34" charset="-120"/>
              </a:rPr>
              <a:t>無人物流の幹線輸送を担う車両</a:t>
            </a:r>
            <a:endParaRPr lang="en-US" sz="1150" dirty="0"/>
          </a:p>
        </p:txBody>
      </p:sp>
      <p:sp>
        <p:nvSpPr>
          <p:cNvPr id="12" name="Shape 10"/>
          <p:cNvSpPr/>
          <p:nvPr/>
        </p:nvSpPr>
        <p:spPr>
          <a:xfrm>
            <a:off x="6126480" y="1645920"/>
            <a:ext cx="2468880" cy="2788920"/>
          </a:xfrm>
          <a:prstGeom prst="roundRect">
            <a:avLst>
              <a:gd name="adj" fmla="val 2963"/>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13" name="Text 11"/>
          <p:cNvSpPr/>
          <p:nvPr/>
        </p:nvSpPr>
        <p:spPr>
          <a:xfrm>
            <a:off x="6309360" y="1828800"/>
            <a:ext cx="731520" cy="54864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BIZ UDPGothic" pitchFamily="34" charset="-122"/>
                <a:cs typeface="BIZ UDPGothic" pitchFamily="34" charset="-120"/>
              </a:rPr>
              <a:t>🚜</a:t>
            </a:r>
            <a:endParaRPr lang="en-US" sz="2800" dirty="0"/>
          </a:p>
        </p:txBody>
      </p:sp>
      <p:sp>
        <p:nvSpPr>
          <p:cNvPr id="14" name="Text 12"/>
          <p:cNvSpPr/>
          <p:nvPr/>
        </p:nvSpPr>
        <p:spPr>
          <a:xfrm>
            <a:off x="6327648" y="2423160"/>
            <a:ext cx="2066544" cy="640080"/>
          </a:xfrm>
          <a:prstGeom prst="rect">
            <a:avLst/>
          </a:prstGeom>
          <a:noFill/>
          <a:ln/>
        </p:spPr>
        <p:txBody>
          <a:bodyPr wrap="square" lIns="0" tIns="0" rIns="0" bIns="0" rtlCol="0" anchor="t"/>
          <a:lstStyle/>
          <a:p>
            <a:pPr indent="0" marL="0">
              <a:lnSpc>
                <a:spcPct val="115000"/>
              </a:lnSpc>
              <a:buNone/>
            </a:pPr>
            <a:r>
              <a:rPr lang="en-US" sz="1400" b="1" dirty="0">
                <a:solidFill>
                  <a:srgbClr val="16181D"/>
                </a:solidFill>
                <a:latin typeface="BIZ UDPGothic" pitchFamily="34" charset="0"/>
                <a:ea typeface="BIZ UDPGothic" pitchFamily="34" charset="-122"/>
                <a:cs typeface="BIZ UDPGothic" pitchFamily="34" charset="-120"/>
              </a:rPr>
              <a:t>スマート農業機械</a:t>
            </a:r>
            <a:endParaRPr lang="en-US" sz="1400" dirty="0"/>
          </a:p>
        </p:txBody>
      </p:sp>
      <p:sp>
        <p:nvSpPr>
          <p:cNvPr id="15" name="Text 13"/>
          <p:cNvSpPr/>
          <p:nvPr/>
        </p:nvSpPr>
        <p:spPr>
          <a:xfrm>
            <a:off x="6327648" y="3063240"/>
            <a:ext cx="2066544" cy="1188720"/>
          </a:xfrm>
          <a:prstGeom prst="rect">
            <a:avLst/>
          </a:prstGeom>
          <a:noFill/>
          <a:ln/>
        </p:spPr>
        <p:txBody>
          <a:bodyPr wrap="square" lIns="0" tIns="0" rIns="0" bIns="0" rtlCol="0" anchor="t"/>
          <a:lstStyle/>
          <a:p>
            <a:pPr indent="0" marL="0">
              <a:lnSpc>
                <a:spcPct val="120000"/>
              </a:lnSpc>
              <a:buNone/>
            </a:pPr>
            <a:r>
              <a:rPr lang="en-US" sz="1150" dirty="0">
                <a:solidFill>
                  <a:srgbClr val="16181D"/>
                </a:solidFill>
                <a:latin typeface="BIZ UDPGothic" pitchFamily="34" charset="0"/>
                <a:ea typeface="BIZ UDPGothic" pitchFamily="34" charset="-122"/>
                <a:cs typeface="BIZ UDPGothic" pitchFamily="34" charset="-120"/>
              </a:rPr>
              <a:t>農地間の遠隔・自動走行に対応する機械</a:t>
            </a:r>
            <a:endParaRPr lang="en-US" sz="1150" dirty="0"/>
          </a:p>
        </p:txBody>
      </p:sp>
      <p:sp>
        <p:nvSpPr>
          <p:cNvPr id="16" name="Text 14"/>
          <p:cNvSpPr/>
          <p:nvPr/>
        </p:nvSpPr>
        <p:spPr>
          <a:xfrm>
            <a:off x="548640" y="4572000"/>
            <a:ext cx="8046720" cy="320040"/>
          </a:xfrm>
          <a:prstGeom prst="rect">
            <a:avLst/>
          </a:prstGeom>
          <a:noFill/>
          <a:ln/>
        </p:spPr>
        <p:txBody>
          <a:bodyPr wrap="square" lIns="0" tIns="0" rIns="0" bIns="0" rtlCol="0" anchor="ctr"/>
          <a:lstStyle/>
          <a:p>
            <a:pPr indent="0" marL="0">
              <a:buNone/>
            </a:pPr>
            <a:r>
              <a:rPr lang="en-US" sz="1200" dirty="0">
                <a:solidFill>
                  <a:srgbClr val="16181D">
                    <a:alpha val="80000"/>
                  </a:srgbClr>
                </a:solidFill>
                <a:latin typeface="BIZ UDPGothic" pitchFamily="34" charset="0"/>
                <a:ea typeface="BIZ UDPGothic" pitchFamily="34" charset="-122"/>
                <a:cs typeface="BIZ UDPGothic" pitchFamily="34" charset="-120"/>
              </a:rPr>
              <a:t>補助対象は「初期資産購入費用」および「運行システムの構築費用」に100%限定する</a:t>
            </a:r>
            <a:endParaRPr lang="en-US" sz="1200" dirty="0"/>
          </a:p>
        </p:txBody>
      </p:sp>
      <p:sp>
        <p:nvSpPr>
          <p:cNvPr id="17" name="Text 15"/>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18" name="Text 16"/>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RULE 02 — DETAIL</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300" b="1" dirty="0">
                <a:solidFill>
                  <a:srgbClr val="16181D"/>
                </a:solidFill>
                <a:latin typeface="BIZ UDPGothic" pitchFamily="34" charset="0"/>
                <a:ea typeface="BIZ UDPGothic" pitchFamily="34" charset="-122"/>
                <a:cs typeface="BIZ UDPGothic" pitchFamily="34" charset="-120"/>
              </a:rPr>
              <a:t>企業にとっての強力なインセンティブ</a:t>
            </a:r>
            <a:endParaRPr lang="en-US" sz="2300" dirty="0"/>
          </a:p>
        </p:txBody>
      </p:sp>
      <p:sp>
        <p:nvSpPr>
          <p:cNvPr id="4" name="Shape 2"/>
          <p:cNvSpPr/>
          <p:nvPr/>
        </p:nvSpPr>
        <p:spPr>
          <a:xfrm>
            <a:off x="548640" y="1691640"/>
            <a:ext cx="8046720" cy="2651760"/>
          </a:xfrm>
          <a:prstGeom prst="roundRect">
            <a:avLst>
              <a:gd name="adj" fmla="val 2759"/>
            </a:avLst>
          </a:prstGeom>
          <a:solidFill>
            <a:srgbClr val="FFFFFF"/>
          </a:solidFill>
          <a:ln/>
          <a:effectLst>
            <a:outerShdw sx="100000" sy="100000" kx="0" ky="0" algn="bl" rotWithShape="0" blurRad="101600" dist="38100" dir="2700000">
              <a:srgbClr val="000000">
                <a:alpha val="35000"/>
              </a:srgbClr>
            </a:outerShdw>
          </a:effectLst>
        </p:spPr>
      </p:sp>
      <p:sp>
        <p:nvSpPr>
          <p:cNvPr id="5" name="Text 3"/>
          <p:cNvSpPr/>
          <p:nvPr/>
        </p:nvSpPr>
        <p:spPr>
          <a:xfrm>
            <a:off x="914400" y="1965960"/>
            <a:ext cx="7315200" cy="1188720"/>
          </a:xfrm>
          <a:prstGeom prst="rect">
            <a:avLst/>
          </a:prstGeom>
          <a:noFill/>
          <a:ln/>
        </p:spPr>
        <p:txBody>
          <a:bodyPr wrap="square" lIns="0" tIns="0" rIns="0" bIns="0" rtlCol="0" anchor="t"/>
          <a:lstStyle/>
          <a:p>
            <a:pPr indent="0" marL="0">
              <a:lnSpc>
                <a:spcPct val="140000"/>
              </a:lnSpc>
              <a:buNone/>
            </a:pPr>
            <a:r>
              <a:rPr lang="en-US" sz="1900" b="1" dirty="0">
                <a:solidFill>
                  <a:srgbClr val="C8161D"/>
                </a:solidFill>
                <a:latin typeface="BIZ UDPGothic" pitchFamily="34" charset="0"/>
                <a:ea typeface="BIZ UDPGothic" pitchFamily="34" charset="-122"/>
                <a:cs typeface="BIZ UDPGothic" pitchFamily="34" charset="-120"/>
              </a:rPr>
              <a:t>「古い業態にしがみつくより、最速で特区のルールに賛成して参入したほうが、</a:t>
            </a:r>
            <a:endParaRPr lang="en-US" sz="1900" dirty="0"/>
          </a:p>
          <a:p>
            <a:pPr indent="0" marL="0">
              <a:lnSpc>
                <a:spcPct val="140000"/>
              </a:lnSpc>
              <a:buNone/>
            </a:pPr>
            <a:r>
              <a:rPr lang="en-US" sz="1900" b="1" dirty="0">
                <a:solidFill>
                  <a:srgbClr val="C8161D"/>
                </a:solidFill>
                <a:latin typeface="BIZ UDPGothic" pitchFamily="34" charset="0"/>
                <a:ea typeface="BIZ UDPGothic" pitchFamily="34" charset="-122"/>
                <a:cs typeface="BIZ UDPGothic" pitchFamily="34" charset="-120"/>
              </a:rPr>
              <a:t>後の市場競争で圧倒的に優位に立てる」</a:t>
            </a:r>
            <a:endParaRPr lang="en-US" sz="1900" dirty="0"/>
          </a:p>
        </p:txBody>
      </p:sp>
      <p:sp>
        <p:nvSpPr>
          <p:cNvPr id="6" name="Text 4"/>
          <p:cNvSpPr/>
          <p:nvPr/>
        </p:nvSpPr>
        <p:spPr>
          <a:xfrm>
            <a:off x="914400" y="3246120"/>
            <a:ext cx="7315200" cy="1005840"/>
          </a:xfrm>
          <a:prstGeom prst="rect">
            <a:avLst/>
          </a:prstGeom>
          <a:noFill/>
          <a:ln/>
        </p:spPr>
        <p:txBody>
          <a:bodyPr wrap="square" lIns="0" tIns="0" rIns="0" bIns="0" rtlCol="0" anchor="t"/>
          <a:lstStyle/>
          <a:p>
            <a:pPr indent="0" marL="0">
              <a:lnSpc>
                <a:spcPct val="130000"/>
              </a:lnSpc>
              <a:buNone/>
            </a:pPr>
            <a:r>
              <a:rPr lang="en-US" sz="1350" dirty="0">
                <a:solidFill>
                  <a:srgbClr val="16181D"/>
                </a:solidFill>
                <a:latin typeface="BIZ UDPGothic" pitchFamily="34" charset="0"/>
                <a:ea typeface="BIZ UDPGothic" pitchFamily="34" charset="-122"/>
                <a:cs typeface="BIZ UDPGothic" pitchFamily="34" charset="-120"/>
              </a:rPr>
              <a:t>初期コストが最大の障壁となる次世代資産（自動運転車両・EVトラック等）を、公費が大幅にカバーする。これにより、参入企業は投資回収の負担なく新業態への転換を進められる。</a:t>
            </a:r>
            <a:endParaRPr lang="en-US" sz="1350" dirty="0"/>
          </a:p>
        </p:txBody>
      </p:sp>
      <p:sp>
        <p:nvSpPr>
          <p:cNvPr id="7" name="Text 5"/>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8" name="Text 6"/>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RULE 03</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300" b="1" dirty="0">
                <a:solidFill>
                  <a:srgbClr val="16181D"/>
                </a:solidFill>
                <a:latin typeface="BIZ UDPGothic" pitchFamily="34" charset="0"/>
                <a:ea typeface="BIZ UDPGothic" pitchFamily="34" charset="-122"/>
                <a:cs typeface="BIZ UDPGothic" pitchFamily="34" charset="-120"/>
              </a:rPr>
              <a:t>特区は都道府県単位、判定は企業単位</a:t>
            </a:r>
            <a:endParaRPr lang="en-US" sz="2300" dirty="0"/>
          </a:p>
        </p:txBody>
      </p:sp>
      <p:sp>
        <p:nvSpPr>
          <p:cNvPr id="4" name="Text 2"/>
          <p:cNvSpPr/>
          <p:nvPr/>
        </p:nvSpPr>
        <p:spPr>
          <a:xfrm>
            <a:off x="548640" y="1554480"/>
            <a:ext cx="8046720" cy="822960"/>
          </a:xfrm>
          <a:prstGeom prst="rect">
            <a:avLst/>
          </a:prstGeom>
          <a:noFill/>
          <a:ln/>
        </p:spPr>
        <p:txBody>
          <a:bodyPr wrap="square" lIns="0" tIns="0" rIns="0" bIns="0" rtlCol="0" anchor="t"/>
          <a:lstStyle/>
          <a:p>
            <a:pPr indent="0" marL="0">
              <a:lnSpc>
                <a:spcPct val="130000"/>
              </a:lnSpc>
              <a:buNone/>
            </a:pPr>
            <a:r>
              <a:rPr lang="en-US" sz="1500" dirty="0">
                <a:solidFill>
                  <a:srgbClr val="16181D"/>
                </a:solidFill>
                <a:latin typeface="BIZ UDPGothic" pitchFamily="34" charset="0"/>
                <a:ea typeface="BIZ UDPGothic" pitchFamily="34" charset="-122"/>
                <a:cs typeface="BIZ UDPGothic" pitchFamily="34" charset="-120"/>
              </a:rPr>
              <a:t>特区の認定は都道府県単位だが、実際に恩恵を受けるのは個別企業。剥奪・継続の判定は都道府県単位ではなく企業単位で独立して行う。</a:t>
            </a:r>
            <a:endParaRPr lang="en-US" sz="1500" dirty="0"/>
          </a:p>
        </p:txBody>
      </p:sp>
      <p:sp>
        <p:nvSpPr>
          <p:cNvPr id="5" name="Shape 3"/>
          <p:cNvSpPr/>
          <p:nvPr/>
        </p:nvSpPr>
        <p:spPr>
          <a:xfrm>
            <a:off x="548640" y="2651760"/>
            <a:ext cx="3840480" cy="1920240"/>
          </a:xfrm>
          <a:prstGeom prst="roundRect">
            <a:avLst>
              <a:gd name="adj" fmla="val 3810"/>
            </a:avLst>
          </a:prstGeom>
          <a:solidFill>
            <a:srgbClr val="DDE0E6"/>
          </a:solidFill>
          <a:ln/>
          <a:effectLst>
            <a:outerShdw sx="100000" sy="100000" kx="0" ky="0" algn="bl" rotWithShape="0" blurRad="101600" dist="38100" dir="2700000">
              <a:srgbClr val="000000">
                <a:alpha val="35000"/>
              </a:srgbClr>
            </a:outerShdw>
          </a:effectLst>
        </p:spPr>
      </p:sp>
      <p:sp>
        <p:nvSpPr>
          <p:cNvPr id="6" name="Text 4"/>
          <p:cNvSpPr/>
          <p:nvPr/>
        </p:nvSpPr>
        <p:spPr>
          <a:xfrm>
            <a:off x="822960" y="2834640"/>
            <a:ext cx="640080" cy="502920"/>
          </a:xfrm>
          <a:prstGeom prst="rect">
            <a:avLst/>
          </a:prstGeom>
          <a:noFill/>
          <a:ln/>
        </p:spPr>
        <p:txBody>
          <a:bodyPr wrap="square" lIns="0" tIns="0" rIns="0" bIns="0" rtlCol="0" anchor="ctr"/>
          <a:lstStyle/>
          <a:p>
            <a:pPr indent="0" marL="0">
              <a:buNone/>
            </a:pPr>
            <a:r>
              <a:rPr lang="en-US" sz="2600" dirty="0">
                <a:solidFill>
                  <a:srgbClr val="000000"/>
                </a:solidFill>
                <a:latin typeface="Arial" pitchFamily="34" charset="0"/>
                <a:ea typeface="BIZ UDPGothic" pitchFamily="34" charset="-122"/>
                <a:cs typeface="BIZ UDPGothic" pitchFamily="34" charset="-120"/>
              </a:rPr>
              <a:t>🏛️</a:t>
            </a:r>
            <a:endParaRPr lang="en-US" sz="2600" dirty="0"/>
          </a:p>
        </p:txBody>
      </p:sp>
      <p:sp>
        <p:nvSpPr>
          <p:cNvPr id="7" name="Text 5"/>
          <p:cNvSpPr/>
          <p:nvPr/>
        </p:nvSpPr>
        <p:spPr>
          <a:xfrm>
            <a:off x="822960" y="3383280"/>
            <a:ext cx="3291840" cy="365760"/>
          </a:xfrm>
          <a:prstGeom prst="rect">
            <a:avLst/>
          </a:prstGeom>
          <a:noFill/>
          <a:ln/>
        </p:spPr>
        <p:txBody>
          <a:bodyPr wrap="square" lIns="0" tIns="0" rIns="0" bIns="0" rtlCol="0" anchor="ctr"/>
          <a:lstStyle/>
          <a:p>
            <a:pPr indent="0" marL="0">
              <a:buNone/>
            </a:pPr>
            <a:r>
              <a:rPr lang="en-US" sz="1400" b="1" dirty="0">
                <a:solidFill>
                  <a:srgbClr val="16181D"/>
                </a:solidFill>
                <a:latin typeface="BIZ UDPGothic" pitchFamily="34" charset="0"/>
                <a:ea typeface="BIZ UDPGothic" pitchFamily="34" charset="-122"/>
                <a:cs typeface="BIZ UDPGothic" pitchFamily="34" charset="-120"/>
              </a:rPr>
              <a:t>都道府県（特区）</a:t>
            </a:r>
            <a:endParaRPr lang="en-US" sz="1400" dirty="0"/>
          </a:p>
        </p:txBody>
      </p:sp>
      <p:sp>
        <p:nvSpPr>
          <p:cNvPr id="8" name="Text 6"/>
          <p:cNvSpPr/>
          <p:nvPr/>
        </p:nvSpPr>
        <p:spPr>
          <a:xfrm>
            <a:off x="822960" y="3749040"/>
            <a:ext cx="3291840" cy="640080"/>
          </a:xfrm>
          <a:prstGeom prst="rect">
            <a:avLst/>
          </a:prstGeom>
          <a:noFill/>
          <a:ln/>
        </p:spPr>
        <p:txBody>
          <a:bodyPr wrap="square" lIns="0" tIns="0" rIns="0" bIns="0" rtlCol="0" anchor="ctr"/>
          <a:lstStyle/>
          <a:p>
            <a:pPr indent="0" marL="0">
              <a:buNone/>
            </a:pPr>
            <a:r>
              <a:rPr lang="en-US" sz="1250" dirty="0">
                <a:solidFill>
                  <a:srgbClr val="16181D">
                    <a:alpha val="85000"/>
                  </a:srgbClr>
                </a:solidFill>
                <a:latin typeface="BIZ UDPGothic" pitchFamily="34" charset="0"/>
                <a:ea typeface="BIZ UDPGothic" pitchFamily="34" charset="-122"/>
                <a:cs typeface="BIZ UDPGothic" pitchFamily="34" charset="-120"/>
              </a:rPr>
              <a:t>特区自体が一括で評価されるのではない</a:t>
            </a:r>
            <a:endParaRPr lang="en-US" sz="1250" dirty="0"/>
          </a:p>
        </p:txBody>
      </p:sp>
      <p:sp>
        <p:nvSpPr>
          <p:cNvPr id="9" name="Shape 7"/>
          <p:cNvSpPr/>
          <p:nvPr/>
        </p:nvSpPr>
        <p:spPr>
          <a:xfrm>
            <a:off x="4754880" y="2651760"/>
            <a:ext cx="3840480" cy="1920240"/>
          </a:xfrm>
          <a:prstGeom prst="roundRect">
            <a:avLst>
              <a:gd name="adj" fmla="val 3810"/>
            </a:avLst>
          </a:prstGeom>
          <a:solidFill>
            <a:srgbClr val="FFFFFF"/>
          </a:solidFill>
          <a:ln w="19050">
            <a:solidFill>
              <a:srgbClr val="C8161D"/>
            </a:solidFill>
            <a:prstDash val="solid"/>
          </a:ln>
          <a:effectLst>
            <a:outerShdw sx="100000" sy="100000" kx="0" ky="0" algn="bl" rotWithShape="0" blurRad="101600" dist="38100" dir="2700000">
              <a:srgbClr val="000000">
                <a:alpha val="35000"/>
              </a:srgbClr>
            </a:outerShdw>
          </a:effectLst>
        </p:spPr>
      </p:sp>
      <p:sp>
        <p:nvSpPr>
          <p:cNvPr id="10" name="Text 8"/>
          <p:cNvSpPr/>
          <p:nvPr/>
        </p:nvSpPr>
        <p:spPr>
          <a:xfrm>
            <a:off x="5029200" y="2834640"/>
            <a:ext cx="640080" cy="502920"/>
          </a:xfrm>
          <a:prstGeom prst="rect">
            <a:avLst/>
          </a:prstGeom>
          <a:noFill/>
          <a:ln/>
        </p:spPr>
        <p:txBody>
          <a:bodyPr wrap="square" lIns="0" tIns="0" rIns="0" bIns="0" rtlCol="0" anchor="ctr"/>
          <a:lstStyle/>
          <a:p>
            <a:pPr indent="0" marL="0">
              <a:buNone/>
            </a:pPr>
            <a:r>
              <a:rPr lang="en-US" sz="2600" dirty="0">
                <a:solidFill>
                  <a:srgbClr val="000000"/>
                </a:solidFill>
                <a:latin typeface="Arial" pitchFamily="34" charset="0"/>
                <a:ea typeface="BIZ UDPGothic" pitchFamily="34" charset="-122"/>
                <a:cs typeface="BIZ UDPGothic" pitchFamily="34" charset="-120"/>
              </a:rPr>
              <a:t>🤖</a:t>
            </a:r>
            <a:endParaRPr lang="en-US" sz="2600" dirty="0"/>
          </a:p>
        </p:txBody>
      </p:sp>
      <p:sp>
        <p:nvSpPr>
          <p:cNvPr id="11" name="Text 9"/>
          <p:cNvSpPr/>
          <p:nvPr/>
        </p:nvSpPr>
        <p:spPr>
          <a:xfrm>
            <a:off x="5029200" y="3383280"/>
            <a:ext cx="3291840" cy="365760"/>
          </a:xfrm>
          <a:prstGeom prst="rect">
            <a:avLst/>
          </a:prstGeom>
          <a:noFill/>
          <a:ln/>
        </p:spPr>
        <p:txBody>
          <a:bodyPr wrap="square" lIns="0" tIns="0" rIns="0" bIns="0" rtlCol="0" anchor="ctr"/>
          <a:lstStyle/>
          <a:p>
            <a:pPr indent="0" marL="0">
              <a:buNone/>
            </a:pPr>
            <a:r>
              <a:rPr lang="en-US" sz="1400" b="1" dirty="0">
                <a:solidFill>
                  <a:srgbClr val="C8161D"/>
                </a:solidFill>
                <a:latin typeface="BIZ UDPGothic" pitchFamily="34" charset="0"/>
                <a:ea typeface="BIZ UDPGothic" pitchFamily="34" charset="-122"/>
                <a:cs typeface="BIZ UDPGothic" pitchFamily="34" charset="-120"/>
              </a:rPr>
              <a:t>個別企業</a:t>
            </a:r>
            <a:endParaRPr lang="en-US" sz="1400" dirty="0"/>
          </a:p>
        </p:txBody>
      </p:sp>
      <p:sp>
        <p:nvSpPr>
          <p:cNvPr id="12" name="Text 10"/>
          <p:cNvSpPr/>
          <p:nvPr/>
        </p:nvSpPr>
        <p:spPr>
          <a:xfrm>
            <a:off x="5029200" y="3749040"/>
            <a:ext cx="3291840" cy="640080"/>
          </a:xfrm>
          <a:prstGeom prst="rect">
            <a:avLst/>
          </a:prstGeom>
          <a:noFill/>
          <a:ln/>
        </p:spPr>
        <p:txBody>
          <a:bodyPr wrap="square" lIns="0" tIns="0" rIns="0" bIns="0" rtlCol="0" anchor="ctr"/>
          <a:lstStyle/>
          <a:p>
            <a:pPr indent="0" marL="0">
              <a:buNone/>
            </a:pPr>
            <a:r>
              <a:rPr lang="en-US" sz="1250" dirty="0">
                <a:solidFill>
                  <a:srgbClr val="16181D"/>
                </a:solidFill>
                <a:latin typeface="BIZ UDPGothic" pitchFamily="34" charset="0"/>
                <a:ea typeface="BIZ UDPGothic" pitchFamily="34" charset="-122"/>
                <a:cs typeface="BIZ UDPGothic" pitchFamily="34" charset="-120"/>
              </a:rPr>
              <a:t>達成状況を個別に評価。他社の不振に巻き添えを受けない</a:t>
            </a:r>
            <a:endParaRPr lang="en-US" sz="1250" dirty="0"/>
          </a:p>
        </p:txBody>
      </p:sp>
      <p:sp>
        <p:nvSpPr>
          <p:cNvPr id="13" name="Text 11"/>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14" name="Text 12"/>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RULE 03 — DETAIL</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300" b="1" dirty="0">
                <a:solidFill>
                  <a:srgbClr val="16181D"/>
                </a:solidFill>
                <a:latin typeface="BIZ UDPGothic" pitchFamily="34" charset="0"/>
                <a:ea typeface="BIZ UDPGothic" pitchFamily="34" charset="-122"/>
                <a:cs typeface="BIZ UDPGothic" pitchFamily="34" charset="-120"/>
              </a:rPr>
              <a:t>達成率に応じた段階的な補助金カーブ</a:t>
            </a:r>
            <a:endParaRPr lang="en-US" sz="2300" dirty="0"/>
          </a:p>
        </p:txBody>
      </p:sp>
      <p:sp>
        <p:nvSpPr>
          <p:cNvPr id="4" name="Shape 2"/>
          <p:cNvSpPr/>
          <p:nvPr/>
        </p:nvSpPr>
        <p:spPr>
          <a:xfrm>
            <a:off x="548640" y="2286000"/>
            <a:ext cx="1805940" cy="73152"/>
          </a:xfrm>
          <a:prstGeom prst="rect">
            <a:avLst/>
          </a:prstGeom>
          <a:solidFill>
            <a:srgbClr val="DDE0E6"/>
          </a:solidFill>
          <a:ln/>
        </p:spPr>
      </p:sp>
      <p:sp>
        <p:nvSpPr>
          <p:cNvPr id="5" name="Shape 3"/>
          <p:cNvSpPr/>
          <p:nvPr/>
        </p:nvSpPr>
        <p:spPr>
          <a:xfrm>
            <a:off x="1341882" y="2103120"/>
            <a:ext cx="219456" cy="219456"/>
          </a:xfrm>
          <a:prstGeom prst="ellipse">
            <a:avLst/>
          </a:prstGeom>
          <a:solidFill>
            <a:srgbClr val="C8161D"/>
          </a:solidFill>
          <a:ln/>
        </p:spPr>
      </p:sp>
      <p:sp>
        <p:nvSpPr>
          <p:cNvPr id="6" name="Text 4"/>
          <p:cNvSpPr/>
          <p:nvPr/>
        </p:nvSpPr>
        <p:spPr>
          <a:xfrm>
            <a:off x="548640" y="1645920"/>
            <a:ext cx="1805940" cy="365760"/>
          </a:xfrm>
          <a:prstGeom prst="rect">
            <a:avLst/>
          </a:prstGeom>
          <a:noFill/>
          <a:ln/>
        </p:spPr>
        <p:txBody>
          <a:bodyPr wrap="square" lIns="0" tIns="0" rIns="0" bIns="0" rtlCol="0" anchor="ctr"/>
          <a:lstStyle/>
          <a:p>
            <a:pPr algn="ctr" indent="0" marL="0">
              <a:buNone/>
            </a:pPr>
            <a:r>
              <a:rPr lang="en-US" sz="1300" b="1" dirty="0">
                <a:solidFill>
                  <a:srgbClr val="C8161D"/>
                </a:solidFill>
                <a:latin typeface="BIZ UDPGothic" pitchFamily="34" charset="0"/>
                <a:ea typeface="BIZ UDPGothic" pitchFamily="34" charset="-122"/>
                <a:cs typeface="BIZ UDPGothic" pitchFamily="34" charset="-120"/>
              </a:rPr>
              <a:t>0〜3年目</a:t>
            </a:r>
            <a:endParaRPr lang="en-US" sz="1300" dirty="0"/>
          </a:p>
        </p:txBody>
      </p:sp>
      <p:sp>
        <p:nvSpPr>
          <p:cNvPr id="7" name="Shape 5"/>
          <p:cNvSpPr/>
          <p:nvPr/>
        </p:nvSpPr>
        <p:spPr>
          <a:xfrm>
            <a:off x="548640" y="2514600"/>
            <a:ext cx="1805940" cy="1783080"/>
          </a:xfrm>
          <a:prstGeom prst="roundRect">
            <a:avLst>
              <a:gd name="adj" fmla="val 4103"/>
            </a:avLst>
          </a:prstGeom>
          <a:solidFill>
            <a:srgbClr val="FFFFFF"/>
          </a:solidFill>
          <a:ln/>
          <a:effectLst>
            <a:outerShdw sx="100000" sy="100000" kx="0" ky="0" algn="bl" rotWithShape="0" blurRad="101600" dist="38100" dir="2700000">
              <a:srgbClr val="000000">
                <a:alpha val="35000"/>
              </a:srgbClr>
            </a:outerShdw>
          </a:effectLst>
        </p:spPr>
      </p:sp>
      <p:sp>
        <p:nvSpPr>
          <p:cNvPr id="8" name="Text 6"/>
          <p:cNvSpPr/>
          <p:nvPr/>
        </p:nvSpPr>
        <p:spPr>
          <a:xfrm>
            <a:off x="685800" y="2651760"/>
            <a:ext cx="1531620" cy="365760"/>
          </a:xfrm>
          <a:prstGeom prst="rect">
            <a:avLst/>
          </a:prstGeom>
          <a:noFill/>
          <a:ln/>
        </p:spPr>
        <p:txBody>
          <a:bodyPr wrap="square" lIns="0" tIns="0" rIns="0" bIns="0" rtlCol="0" anchor="ctr"/>
          <a:lstStyle/>
          <a:p>
            <a:pPr indent="0" marL="0">
              <a:buNone/>
            </a:pPr>
            <a:r>
              <a:rPr lang="en-US" sz="1400" b="1" dirty="0">
                <a:solidFill>
                  <a:srgbClr val="16181D"/>
                </a:solidFill>
                <a:latin typeface="BIZ UDPGothic" pitchFamily="34" charset="0"/>
                <a:ea typeface="BIZ UDPGothic" pitchFamily="34" charset="-122"/>
                <a:cs typeface="BIZ UDPGothic" pitchFamily="34" charset="-120"/>
              </a:rPr>
              <a:t>フル支援</a:t>
            </a:r>
            <a:endParaRPr lang="en-US" sz="1400" dirty="0"/>
          </a:p>
        </p:txBody>
      </p:sp>
      <p:sp>
        <p:nvSpPr>
          <p:cNvPr id="9" name="Text 7"/>
          <p:cNvSpPr/>
          <p:nvPr/>
        </p:nvSpPr>
        <p:spPr>
          <a:xfrm>
            <a:off x="685800" y="3017520"/>
            <a:ext cx="1531620" cy="1188720"/>
          </a:xfrm>
          <a:prstGeom prst="rect">
            <a:avLst/>
          </a:prstGeom>
          <a:noFill/>
          <a:ln/>
        </p:spPr>
        <p:txBody>
          <a:bodyPr wrap="square" lIns="0" tIns="0" rIns="0" bIns="0" rtlCol="0" anchor="t"/>
          <a:lstStyle/>
          <a:p>
            <a:pPr indent="0" marL="0">
              <a:lnSpc>
                <a:spcPct val="120000"/>
              </a:lnSpc>
              <a:buNone/>
            </a:pPr>
            <a:r>
              <a:rPr lang="en-US" sz="1100" dirty="0">
                <a:solidFill>
                  <a:srgbClr val="16181D"/>
                </a:solidFill>
                <a:latin typeface="BIZ UDPGothic" pitchFamily="34" charset="0"/>
                <a:ea typeface="BIZ UDPGothic" pitchFamily="34" charset="-122"/>
                <a:cs typeface="BIZ UDPGothic" pitchFamily="34" charset="-120"/>
              </a:rPr>
              <a:t>事業計画・数値目標を提出。企業ごとに達成状況を評価</a:t>
            </a:r>
            <a:endParaRPr lang="en-US" sz="1100" dirty="0"/>
          </a:p>
        </p:txBody>
      </p:sp>
      <p:sp>
        <p:nvSpPr>
          <p:cNvPr id="10" name="Shape 8"/>
          <p:cNvSpPr/>
          <p:nvPr/>
        </p:nvSpPr>
        <p:spPr>
          <a:xfrm>
            <a:off x="2628900" y="2286000"/>
            <a:ext cx="1805940" cy="73152"/>
          </a:xfrm>
          <a:prstGeom prst="rect">
            <a:avLst/>
          </a:prstGeom>
          <a:solidFill>
            <a:srgbClr val="DDE0E6"/>
          </a:solidFill>
          <a:ln/>
        </p:spPr>
      </p:sp>
      <p:sp>
        <p:nvSpPr>
          <p:cNvPr id="11" name="Shape 9"/>
          <p:cNvSpPr/>
          <p:nvPr/>
        </p:nvSpPr>
        <p:spPr>
          <a:xfrm>
            <a:off x="3422142" y="2103120"/>
            <a:ext cx="219456" cy="219456"/>
          </a:xfrm>
          <a:prstGeom prst="ellipse">
            <a:avLst/>
          </a:prstGeom>
          <a:solidFill>
            <a:srgbClr val="C8161D"/>
          </a:solidFill>
          <a:ln/>
        </p:spPr>
      </p:sp>
      <p:sp>
        <p:nvSpPr>
          <p:cNvPr id="12" name="Text 10"/>
          <p:cNvSpPr/>
          <p:nvPr/>
        </p:nvSpPr>
        <p:spPr>
          <a:xfrm>
            <a:off x="2628900" y="1645920"/>
            <a:ext cx="1805940" cy="365760"/>
          </a:xfrm>
          <a:prstGeom prst="rect">
            <a:avLst/>
          </a:prstGeom>
          <a:noFill/>
          <a:ln/>
        </p:spPr>
        <p:txBody>
          <a:bodyPr wrap="square" lIns="0" tIns="0" rIns="0" bIns="0" rtlCol="0" anchor="ctr"/>
          <a:lstStyle/>
          <a:p>
            <a:pPr algn="ctr" indent="0" marL="0">
              <a:buNone/>
            </a:pPr>
            <a:r>
              <a:rPr lang="en-US" sz="1300" b="1" dirty="0">
                <a:solidFill>
                  <a:srgbClr val="C8161D"/>
                </a:solidFill>
                <a:latin typeface="BIZ UDPGothic" pitchFamily="34" charset="0"/>
                <a:ea typeface="BIZ UDPGothic" pitchFamily="34" charset="-122"/>
                <a:cs typeface="BIZ UDPGothic" pitchFamily="34" charset="-120"/>
              </a:rPr>
              <a:t>3〜7年目</a:t>
            </a:r>
            <a:endParaRPr lang="en-US" sz="1300" dirty="0"/>
          </a:p>
        </p:txBody>
      </p:sp>
      <p:sp>
        <p:nvSpPr>
          <p:cNvPr id="13" name="Shape 11"/>
          <p:cNvSpPr/>
          <p:nvPr/>
        </p:nvSpPr>
        <p:spPr>
          <a:xfrm>
            <a:off x="2628900" y="2514600"/>
            <a:ext cx="1805940" cy="1783080"/>
          </a:xfrm>
          <a:prstGeom prst="roundRect">
            <a:avLst>
              <a:gd name="adj" fmla="val 4103"/>
            </a:avLst>
          </a:prstGeom>
          <a:solidFill>
            <a:srgbClr val="FFFFFF"/>
          </a:solidFill>
          <a:ln/>
          <a:effectLst>
            <a:outerShdw sx="100000" sy="100000" kx="0" ky="0" algn="bl" rotWithShape="0" blurRad="101600" dist="38100" dir="2700000">
              <a:srgbClr val="000000">
                <a:alpha val="35000"/>
              </a:srgbClr>
            </a:outerShdw>
          </a:effectLst>
        </p:spPr>
      </p:sp>
      <p:sp>
        <p:nvSpPr>
          <p:cNvPr id="14" name="Text 12"/>
          <p:cNvSpPr/>
          <p:nvPr/>
        </p:nvSpPr>
        <p:spPr>
          <a:xfrm>
            <a:off x="2766060" y="2651760"/>
            <a:ext cx="1531620" cy="365760"/>
          </a:xfrm>
          <a:prstGeom prst="rect">
            <a:avLst/>
          </a:prstGeom>
          <a:noFill/>
          <a:ln/>
        </p:spPr>
        <p:txBody>
          <a:bodyPr wrap="square" lIns="0" tIns="0" rIns="0" bIns="0" rtlCol="0" anchor="ctr"/>
          <a:lstStyle/>
          <a:p>
            <a:pPr indent="0" marL="0">
              <a:buNone/>
            </a:pPr>
            <a:r>
              <a:rPr lang="en-US" sz="1400" b="1" dirty="0">
                <a:solidFill>
                  <a:srgbClr val="16181D"/>
                </a:solidFill>
                <a:latin typeface="BIZ UDPGothic" pitchFamily="34" charset="0"/>
                <a:ea typeface="BIZ UDPGothic" pitchFamily="34" charset="-122"/>
                <a:cs typeface="BIZ UDPGothic" pitchFamily="34" charset="-120"/>
              </a:rPr>
              <a:t>段階的に減額</a:t>
            </a:r>
            <a:endParaRPr lang="en-US" sz="1400" dirty="0"/>
          </a:p>
        </p:txBody>
      </p:sp>
      <p:sp>
        <p:nvSpPr>
          <p:cNvPr id="15" name="Text 13"/>
          <p:cNvSpPr/>
          <p:nvPr/>
        </p:nvSpPr>
        <p:spPr>
          <a:xfrm>
            <a:off x="2766060" y="3017520"/>
            <a:ext cx="1531620" cy="1188720"/>
          </a:xfrm>
          <a:prstGeom prst="rect">
            <a:avLst/>
          </a:prstGeom>
          <a:noFill/>
          <a:ln/>
        </p:spPr>
        <p:txBody>
          <a:bodyPr wrap="square" lIns="0" tIns="0" rIns="0" bIns="0" rtlCol="0" anchor="t"/>
          <a:lstStyle/>
          <a:p>
            <a:pPr indent="0" marL="0">
              <a:lnSpc>
                <a:spcPct val="120000"/>
              </a:lnSpc>
              <a:buNone/>
            </a:pPr>
            <a:r>
              <a:rPr lang="en-US" sz="1100" dirty="0">
                <a:solidFill>
                  <a:srgbClr val="16181D"/>
                </a:solidFill>
                <a:latin typeface="BIZ UDPGothic" pitchFamily="34" charset="0"/>
                <a:ea typeface="BIZ UDPGothic" pitchFamily="34" charset="-122"/>
                <a:cs typeface="BIZ UDPGothic" pitchFamily="34" charset="-120"/>
              </a:rPr>
              <a:t>達成率が高いほど緩やか、低いほど急に減額</a:t>
            </a:r>
            <a:endParaRPr lang="en-US" sz="1100" dirty="0"/>
          </a:p>
        </p:txBody>
      </p:sp>
      <p:sp>
        <p:nvSpPr>
          <p:cNvPr id="16" name="Shape 14"/>
          <p:cNvSpPr/>
          <p:nvPr/>
        </p:nvSpPr>
        <p:spPr>
          <a:xfrm>
            <a:off x="4709160" y="2286000"/>
            <a:ext cx="1805940" cy="73152"/>
          </a:xfrm>
          <a:prstGeom prst="rect">
            <a:avLst/>
          </a:prstGeom>
          <a:solidFill>
            <a:srgbClr val="DDE0E6"/>
          </a:solidFill>
          <a:ln/>
        </p:spPr>
      </p:sp>
      <p:sp>
        <p:nvSpPr>
          <p:cNvPr id="17" name="Shape 15"/>
          <p:cNvSpPr/>
          <p:nvPr/>
        </p:nvSpPr>
        <p:spPr>
          <a:xfrm>
            <a:off x="5502402" y="2103120"/>
            <a:ext cx="219456" cy="219456"/>
          </a:xfrm>
          <a:prstGeom prst="ellipse">
            <a:avLst/>
          </a:prstGeom>
          <a:solidFill>
            <a:srgbClr val="C8161D"/>
          </a:solidFill>
          <a:ln/>
        </p:spPr>
      </p:sp>
      <p:sp>
        <p:nvSpPr>
          <p:cNvPr id="18" name="Text 16"/>
          <p:cNvSpPr/>
          <p:nvPr/>
        </p:nvSpPr>
        <p:spPr>
          <a:xfrm>
            <a:off x="4709160" y="1645920"/>
            <a:ext cx="1805940" cy="365760"/>
          </a:xfrm>
          <a:prstGeom prst="rect">
            <a:avLst/>
          </a:prstGeom>
          <a:noFill/>
          <a:ln/>
        </p:spPr>
        <p:txBody>
          <a:bodyPr wrap="square" lIns="0" tIns="0" rIns="0" bIns="0" rtlCol="0" anchor="ctr"/>
          <a:lstStyle/>
          <a:p>
            <a:pPr algn="ctr" indent="0" marL="0">
              <a:buNone/>
            </a:pPr>
            <a:r>
              <a:rPr lang="en-US" sz="1300" b="1" dirty="0">
                <a:solidFill>
                  <a:srgbClr val="C8161D"/>
                </a:solidFill>
                <a:latin typeface="BIZ UDPGothic" pitchFamily="34" charset="0"/>
                <a:ea typeface="BIZ UDPGothic" pitchFamily="34" charset="-122"/>
                <a:cs typeface="BIZ UDPGothic" pitchFamily="34" charset="-120"/>
              </a:rPr>
              <a:t>7年目</a:t>
            </a:r>
            <a:endParaRPr lang="en-US" sz="1300" dirty="0"/>
          </a:p>
        </p:txBody>
      </p:sp>
      <p:sp>
        <p:nvSpPr>
          <p:cNvPr id="19" name="Shape 17"/>
          <p:cNvSpPr/>
          <p:nvPr/>
        </p:nvSpPr>
        <p:spPr>
          <a:xfrm>
            <a:off x="4709160" y="2514600"/>
            <a:ext cx="1805940" cy="1783080"/>
          </a:xfrm>
          <a:prstGeom prst="roundRect">
            <a:avLst>
              <a:gd name="adj" fmla="val 4103"/>
            </a:avLst>
          </a:prstGeom>
          <a:solidFill>
            <a:srgbClr val="FFFFFF"/>
          </a:solidFill>
          <a:ln/>
          <a:effectLst>
            <a:outerShdw sx="100000" sy="100000" kx="0" ky="0" algn="bl" rotWithShape="0" blurRad="101600" dist="38100" dir="2700000">
              <a:srgbClr val="000000">
                <a:alpha val="35000"/>
              </a:srgbClr>
            </a:outerShdw>
          </a:effectLst>
        </p:spPr>
      </p:sp>
      <p:sp>
        <p:nvSpPr>
          <p:cNvPr id="20" name="Text 18"/>
          <p:cNvSpPr/>
          <p:nvPr/>
        </p:nvSpPr>
        <p:spPr>
          <a:xfrm>
            <a:off x="4846320" y="2651760"/>
            <a:ext cx="1531620" cy="365760"/>
          </a:xfrm>
          <a:prstGeom prst="rect">
            <a:avLst/>
          </a:prstGeom>
          <a:noFill/>
          <a:ln/>
        </p:spPr>
        <p:txBody>
          <a:bodyPr wrap="square" lIns="0" tIns="0" rIns="0" bIns="0" rtlCol="0" anchor="ctr"/>
          <a:lstStyle/>
          <a:p>
            <a:pPr indent="0" marL="0">
              <a:buNone/>
            </a:pPr>
            <a:r>
              <a:rPr lang="en-US" sz="1400" b="1" dirty="0">
                <a:solidFill>
                  <a:srgbClr val="16181D"/>
                </a:solidFill>
                <a:latin typeface="BIZ UDPGothic" pitchFamily="34" charset="0"/>
                <a:ea typeface="BIZ UDPGothic" pitchFamily="34" charset="-122"/>
                <a:cs typeface="BIZ UDPGothic" pitchFamily="34" charset="-120"/>
              </a:rPr>
              <a:t>プログラム終了</a:t>
            </a:r>
            <a:endParaRPr lang="en-US" sz="1400" dirty="0"/>
          </a:p>
        </p:txBody>
      </p:sp>
      <p:sp>
        <p:nvSpPr>
          <p:cNvPr id="21" name="Text 19"/>
          <p:cNvSpPr/>
          <p:nvPr/>
        </p:nvSpPr>
        <p:spPr>
          <a:xfrm>
            <a:off x="4846320" y="3017520"/>
            <a:ext cx="1531620" cy="1188720"/>
          </a:xfrm>
          <a:prstGeom prst="rect">
            <a:avLst/>
          </a:prstGeom>
          <a:noFill/>
          <a:ln/>
        </p:spPr>
        <p:txBody>
          <a:bodyPr wrap="square" lIns="0" tIns="0" rIns="0" bIns="0" rtlCol="0" anchor="t"/>
          <a:lstStyle/>
          <a:p>
            <a:pPr indent="0" marL="0">
              <a:lnSpc>
                <a:spcPct val="120000"/>
              </a:lnSpc>
              <a:buNone/>
            </a:pPr>
            <a:r>
              <a:rPr lang="en-US" sz="1100" dirty="0">
                <a:solidFill>
                  <a:srgbClr val="16181D"/>
                </a:solidFill>
                <a:latin typeface="BIZ UDPGothic" pitchFamily="34" charset="0"/>
                <a:ea typeface="BIZ UDPGothic" pitchFamily="34" charset="-122"/>
                <a:cs typeface="BIZ UDPGothic" pitchFamily="34" charset="-120"/>
              </a:rPr>
              <a:t>補助金プログラム自体が終了する</a:t>
            </a:r>
            <a:endParaRPr lang="en-US" sz="1100" dirty="0"/>
          </a:p>
        </p:txBody>
      </p:sp>
      <p:sp>
        <p:nvSpPr>
          <p:cNvPr id="22" name="Shape 20"/>
          <p:cNvSpPr/>
          <p:nvPr/>
        </p:nvSpPr>
        <p:spPr>
          <a:xfrm>
            <a:off x="6789420" y="2286000"/>
            <a:ext cx="1805940" cy="73152"/>
          </a:xfrm>
          <a:prstGeom prst="rect">
            <a:avLst/>
          </a:prstGeom>
          <a:solidFill>
            <a:srgbClr val="C8161D"/>
          </a:solidFill>
          <a:ln/>
        </p:spPr>
      </p:sp>
      <p:sp>
        <p:nvSpPr>
          <p:cNvPr id="23" name="Shape 21"/>
          <p:cNvSpPr/>
          <p:nvPr/>
        </p:nvSpPr>
        <p:spPr>
          <a:xfrm>
            <a:off x="7582662" y="2103120"/>
            <a:ext cx="219456" cy="219456"/>
          </a:xfrm>
          <a:prstGeom prst="ellipse">
            <a:avLst/>
          </a:prstGeom>
          <a:solidFill>
            <a:srgbClr val="C8161D"/>
          </a:solidFill>
          <a:ln/>
        </p:spPr>
      </p:sp>
      <p:sp>
        <p:nvSpPr>
          <p:cNvPr id="24" name="Text 22"/>
          <p:cNvSpPr/>
          <p:nvPr/>
        </p:nvSpPr>
        <p:spPr>
          <a:xfrm>
            <a:off x="6789420" y="1645920"/>
            <a:ext cx="1805940" cy="365760"/>
          </a:xfrm>
          <a:prstGeom prst="rect">
            <a:avLst/>
          </a:prstGeom>
          <a:noFill/>
          <a:ln/>
        </p:spPr>
        <p:txBody>
          <a:bodyPr wrap="square" lIns="0" tIns="0" rIns="0" bIns="0" rtlCol="0" anchor="ctr"/>
          <a:lstStyle/>
          <a:p>
            <a:pPr algn="ctr" indent="0" marL="0">
              <a:buNone/>
            </a:pPr>
            <a:r>
              <a:rPr lang="en-US" sz="1300" b="1" dirty="0">
                <a:solidFill>
                  <a:srgbClr val="C8161D"/>
                </a:solidFill>
                <a:latin typeface="BIZ UDPGothic" pitchFamily="34" charset="0"/>
                <a:ea typeface="BIZ UDPGothic" pitchFamily="34" charset="-122"/>
                <a:cs typeface="BIZ UDPGothic" pitchFamily="34" charset="-120"/>
              </a:rPr>
              <a:t>8年目〜</a:t>
            </a:r>
            <a:endParaRPr lang="en-US" sz="1300" dirty="0"/>
          </a:p>
        </p:txBody>
      </p:sp>
      <p:sp>
        <p:nvSpPr>
          <p:cNvPr id="25" name="Shape 23"/>
          <p:cNvSpPr/>
          <p:nvPr/>
        </p:nvSpPr>
        <p:spPr>
          <a:xfrm>
            <a:off x="6789420" y="2514600"/>
            <a:ext cx="1805940" cy="1783080"/>
          </a:xfrm>
          <a:prstGeom prst="roundRect">
            <a:avLst>
              <a:gd name="adj" fmla="val 4103"/>
            </a:avLst>
          </a:prstGeom>
          <a:solidFill>
            <a:srgbClr val="FFFFFF"/>
          </a:solidFill>
          <a:ln/>
          <a:effectLst>
            <a:outerShdw sx="100000" sy="100000" kx="0" ky="0" algn="bl" rotWithShape="0" blurRad="101600" dist="38100" dir="2700000">
              <a:srgbClr val="000000">
                <a:alpha val="35000"/>
              </a:srgbClr>
            </a:outerShdw>
          </a:effectLst>
        </p:spPr>
      </p:sp>
      <p:sp>
        <p:nvSpPr>
          <p:cNvPr id="26" name="Text 24"/>
          <p:cNvSpPr/>
          <p:nvPr/>
        </p:nvSpPr>
        <p:spPr>
          <a:xfrm>
            <a:off x="6926580" y="2651760"/>
            <a:ext cx="1531620" cy="365760"/>
          </a:xfrm>
          <a:prstGeom prst="rect">
            <a:avLst/>
          </a:prstGeom>
          <a:noFill/>
          <a:ln/>
        </p:spPr>
        <p:txBody>
          <a:bodyPr wrap="square" lIns="0" tIns="0" rIns="0" bIns="0" rtlCol="0" anchor="ctr"/>
          <a:lstStyle/>
          <a:p>
            <a:pPr indent="0" marL="0">
              <a:buNone/>
            </a:pPr>
            <a:r>
              <a:rPr lang="en-US" sz="1400" b="1" dirty="0">
                <a:solidFill>
                  <a:srgbClr val="16181D"/>
                </a:solidFill>
                <a:latin typeface="BIZ UDPGothic" pitchFamily="34" charset="0"/>
                <a:ea typeface="BIZ UDPGothic" pitchFamily="34" charset="-122"/>
                <a:cs typeface="BIZ UDPGothic" pitchFamily="34" charset="-120"/>
              </a:rPr>
              <a:t>完全ゼロ</a:t>
            </a:r>
            <a:endParaRPr lang="en-US" sz="1400" dirty="0"/>
          </a:p>
        </p:txBody>
      </p:sp>
      <p:sp>
        <p:nvSpPr>
          <p:cNvPr id="27" name="Text 25"/>
          <p:cNvSpPr/>
          <p:nvPr/>
        </p:nvSpPr>
        <p:spPr>
          <a:xfrm>
            <a:off x="6926580" y="3017520"/>
            <a:ext cx="1531620" cy="1188720"/>
          </a:xfrm>
          <a:prstGeom prst="rect">
            <a:avLst/>
          </a:prstGeom>
          <a:noFill/>
          <a:ln/>
        </p:spPr>
        <p:txBody>
          <a:bodyPr wrap="square" lIns="0" tIns="0" rIns="0" bIns="0" rtlCol="0" anchor="t"/>
          <a:lstStyle/>
          <a:p>
            <a:pPr indent="0" marL="0">
              <a:lnSpc>
                <a:spcPct val="120000"/>
              </a:lnSpc>
              <a:buNone/>
            </a:pPr>
            <a:r>
              <a:rPr lang="en-US" sz="1100" dirty="0">
                <a:solidFill>
                  <a:srgbClr val="16181D"/>
                </a:solidFill>
                <a:latin typeface="BIZ UDPGothic" pitchFamily="34" charset="0"/>
                <a:ea typeface="BIZ UDPGothic" pitchFamily="34" charset="-122"/>
                <a:cs typeface="BIZ UDPGothic" pitchFamily="34" charset="-120"/>
              </a:rPr>
              <a:t>全企業一律で補助金ゼロ、完全自走へ</a:t>
            </a:r>
            <a:endParaRPr lang="en-US" sz="1100" dirty="0"/>
          </a:p>
        </p:txBody>
      </p:sp>
      <p:sp>
        <p:nvSpPr>
          <p:cNvPr id="28" name="Text 26"/>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29" name="Text 27"/>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RULE 03 — MONITORING</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100" b="1" dirty="0">
                <a:solidFill>
                  <a:srgbClr val="16181D"/>
                </a:solidFill>
                <a:latin typeface="BIZ UDPGothic" pitchFamily="34" charset="0"/>
                <a:ea typeface="BIZ UDPGothic" pitchFamily="34" charset="-122"/>
                <a:cs typeface="BIZ UDPGothic" pitchFamily="34" charset="-120"/>
              </a:rPr>
              <a:t>不正やごまかしは、達成率に関係なく即アウト</a:t>
            </a:r>
            <a:endParaRPr lang="en-US" sz="2100" dirty="0"/>
          </a:p>
        </p:txBody>
      </p:sp>
      <p:sp>
        <p:nvSpPr>
          <p:cNvPr id="4" name="Shape 2"/>
          <p:cNvSpPr/>
          <p:nvPr/>
        </p:nvSpPr>
        <p:spPr>
          <a:xfrm>
            <a:off x="548640" y="1600200"/>
            <a:ext cx="8046720" cy="2514600"/>
          </a:xfrm>
          <a:prstGeom prst="roundRect">
            <a:avLst>
              <a:gd name="adj" fmla="val 2909"/>
            </a:avLst>
          </a:prstGeom>
          <a:solidFill>
            <a:srgbClr val="FFFFFF"/>
          </a:solidFill>
          <a:ln w="19050">
            <a:solidFill>
              <a:srgbClr val="C8161D"/>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914400" y="1828800"/>
            <a:ext cx="731520" cy="548640"/>
          </a:xfrm>
          <a:prstGeom prst="rect">
            <a:avLst/>
          </a:prstGeom>
          <a:noFill/>
          <a:ln/>
        </p:spPr>
        <p:txBody>
          <a:bodyPr wrap="square" lIns="0" tIns="0" rIns="0" bIns="0" rtlCol="0" anchor="ctr"/>
          <a:lstStyle/>
          <a:p>
            <a:pPr indent="0" marL="0">
              <a:buNone/>
            </a:pPr>
            <a:r>
              <a:rPr lang="en-US" sz="3200" dirty="0">
                <a:solidFill>
                  <a:srgbClr val="000000"/>
                </a:solidFill>
                <a:latin typeface="Arial" pitchFamily="34" charset="0"/>
                <a:ea typeface="BIZ UDPGothic" pitchFamily="34" charset="-122"/>
                <a:cs typeface="BIZ UDPGothic" pitchFamily="34" charset="-120"/>
              </a:rPr>
              <a:t>⚠️</a:t>
            </a:r>
            <a:endParaRPr lang="en-US" sz="3200" dirty="0"/>
          </a:p>
        </p:txBody>
      </p:sp>
      <p:sp>
        <p:nvSpPr>
          <p:cNvPr id="6" name="Text 4"/>
          <p:cNvSpPr/>
          <p:nvPr/>
        </p:nvSpPr>
        <p:spPr>
          <a:xfrm>
            <a:off x="1645920" y="1874520"/>
            <a:ext cx="6766560" cy="548640"/>
          </a:xfrm>
          <a:prstGeom prst="rect">
            <a:avLst/>
          </a:prstGeom>
          <a:noFill/>
          <a:ln/>
        </p:spPr>
        <p:txBody>
          <a:bodyPr wrap="square" lIns="0" tIns="0" rIns="0" bIns="0" rtlCol="0" anchor="ctr"/>
          <a:lstStyle/>
          <a:p>
            <a:pPr indent="0" marL="0">
              <a:buNone/>
            </a:pPr>
            <a:r>
              <a:rPr lang="en-US" sz="1600" b="1" dirty="0">
                <a:solidFill>
                  <a:srgbClr val="C8161D"/>
                </a:solidFill>
                <a:latin typeface="BIZ UDPGothic" pitchFamily="34" charset="0"/>
                <a:ea typeface="BIZ UDPGothic" pitchFamily="34" charset="-122"/>
                <a:cs typeface="BIZ UDPGothic" pitchFamily="34" charset="-120"/>
              </a:rPr>
              <a:t>達成率連動モデルとは別軸で、即時剥奪の対象とする</a:t>
            </a:r>
            <a:endParaRPr lang="en-US" sz="1600" dirty="0"/>
          </a:p>
        </p:txBody>
      </p:sp>
      <p:sp>
        <p:nvSpPr>
          <p:cNvPr id="7" name="Text 5"/>
          <p:cNvSpPr/>
          <p:nvPr/>
        </p:nvSpPr>
        <p:spPr>
          <a:xfrm>
            <a:off x="914400" y="2697480"/>
            <a:ext cx="7315200" cy="1097280"/>
          </a:xfrm>
          <a:prstGeom prst="rect">
            <a:avLst/>
          </a:prstGeom>
          <a:noFill/>
          <a:ln/>
        </p:spPr>
        <p:txBody>
          <a:bodyPr wrap="square" lIns="0" tIns="0" rIns="0" bIns="0" rtlCol="0" anchor="ctr"/>
          <a:lstStyle/>
          <a:p>
            <a:pPr marL="342900" indent="-342900">
              <a:lnSpc>
                <a:spcPct val="140000"/>
              </a:lnSpc>
              <a:buSzPct val="100000"/>
              <a:buChar char="•"/>
            </a:pPr>
            <a:r>
              <a:rPr lang="en-US" sz="1400" dirty="0">
                <a:solidFill>
                  <a:srgbClr val="16181D"/>
                </a:solidFill>
                <a:latin typeface="BIZ UDPGothic" pitchFamily="34" charset="0"/>
                <a:ea typeface="BIZ UDPGothic" pitchFamily="34" charset="-122"/>
                <a:cs typeface="BIZ UDPGothic" pitchFamily="34" charset="-120"/>
              </a:rPr>
              <a:t>予算の不透明な流用・目的外使用が発覚した場合</a:t>
            </a:r>
            <a:endParaRPr lang="en-US" sz="1400" dirty="0"/>
          </a:p>
          <a:p>
            <a:pPr marL="342900" indent="-342900">
              <a:lnSpc>
                <a:spcPct val="140000"/>
              </a:lnSpc>
              <a:buSzPct val="100000"/>
              <a:buChar char="•"/>
            </a:pPr>
            <a:r>
              <a:rPr lang="en-US" sz="1400" dirty="0">
                <a:solidFill>
                  <a:srgbClr val="16181D"/>
                </a:solidFill>
                <a:latin typeface="BIZ UDPGothic" pitchFamily="34" charset="0"/>
                <a:ea typeface="BIZ UDPGothic" pitchFamily="34" charset="-122"/>
                <a:cs typeface="BIZ UDPGothic" pitchFamily="34" charset="-120"/>
              </a:rPr>
              <a:t>重大事故（安全基準を著しく下回る事故）を起こした場合</a:t>
            </a:r>
            <a:endParaRPr lang="en-US" sz="1400" dirty="0"/>
          </a:p>
        </p:txBody>
      </p:sp>
      <p:sp>
        <p:nvSpPr>
          <p:cNvPr id="8" name="Text 6"/>
          <p:cNvSpPr/>
          <p:nvPr/>
        </p:nvSpPr>
        <p:spPr>
          <a:xfrm>
            <a:off x="548640" y="4251960"/>
            <a:ext cx="8046720" cy="548640"/>
          </a:xfrm>
          <a:prstGeom prst="rect">
            <a:avLst/>
          </a:prstGeom>
          <a:noFill/>
          <a:ln/>
        </p:spPr>
        <p:txBody>
          <a:bodyPr wrap="square" lIns="0" tIns="0" rIns="0" bIns="0" rtlCol="0" anchor="ctr"/>
          <a:lstStyle/>
          <a:p>
            <a:pPr indent="0" marL="0">
              <a:buNone/>
            </a:pPr>
            <a:r>
              <a:rPr lang="en-US" sz="1200" dirty="0">
                <a:solidFill>
                  <a:srgbClr val="16181D">
                    <a:alpha val="80000"/>
                  </a:srgbClr>
                </a:solidFill>
                <a:latin typeface="BIZ UDPGothic" pitchFamily="34" charset="0"/>
                <a:ea typeface="BIZ UDPGothic" pitchFamily="34" charset="-122"/>
                <a:cs typeface="BIZ UDPGothic" pitchFamily="34" charset="-120"/>
              </a:rPr>
              <a:t>達成率評価は「頑張りの度合い」を測るもの。不正・重大事故は頑張りとは無関係に即退場させるべきレッドラインとして明確に切り分ける。</a:t>
            </a:r>
            <a:endParaRPr lang="en-US" sz="1200" dirty="0"/>
          </a:p>
        </p:txBody>
      </p:sp>
      <p:sp>
        <p:nvSpPr>
          <p:cNvPr id="9" name="Text 7"/>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10" name="Text 8"/>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RULE 03 — DETAIL</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400" b="1" dirty="0">
                <a:solidFill>
                  <a:srgbClr val="16181D"/>
                </a:solidFill>
                <a:latin typeface="BIZ UDPGothic" pitchFamily="34" charset="0"/>
                <a:ea typeface="BIZ UDPGothic" pitchFamily="34" charset="-122"/>
                <a:cs typeface="BIZ UDPGothic" pitchFamily="34" charset="-120"/>
              </a:rPr>
              <a:t>資金の使い道はすべて見える化</a:t>
            </a:r>
            <a:endParaRPr lang="en-US" sz="2400" dirty="0"/>
          </a:p>
        </p:txBody>
      </p:sp>
      <p:sp>
        <p:nvSpPr>
          <p:cNvPr id="4" name="Shape 2"/>
          <p:cNvSpPr/>
          <p:nvPr/>
        </p:nvSpPr>
        <p:spPr>
          <a:xfrm>
            <a:off x="548640" y="1691640"/>
            <a:ext cx="3863340" cy="2834640"/>
          </a:xfrm>
          <a:prstGeom prst="roundRect">
            <a:avLst>
              <a:gd name="adj" fmla="val 2581"/>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731520" y="1874520"/>
            <a:ext cx="731520" cy="54864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BIZ UDPGothic" pitchFamily="34" charset="-122"/>
                <a:cs typeface="BIZ UDPGothic" pitchFamily="34" charset="-120"/>
              </a:rPr>
              <a:t>🔍</a:t>
            </a:r>
            <a:endParaRPr lang="en-US" sz="2800" dirty="0"/>
          </a:p>
        </p:txBody>
      </p:sp>
      <p:sp>
        <p:nvSpPr>
          <p:cNvPr id="6" name="Text 4"/>
          <p:cNvSpPr/>
          <p:nvPr/>
        </p:nvSpPr>
        <p:spPr>
          <a:xfrm>
            <a:off x="749808" y="2468880"/>
            <a:ext cx="3461004" cy="640080"/>
          </a:xfrm>
          <a:prstGeom prst="rect">
            <a:avLst/>
          </a:prstGeom>
          <a:noFill/>
          <a:ln/>
        </p:spPr>
        <p:txBody>
          <a:bodyPr wrap="square" lIns="0" tIns="0" rIns="0" bIns="0" rtlCol="0" anchor="t"/>
          <a:lstStyle/>
          <a:p>
            <a:pPr indent="0" marL="0">
              <a:lnSpc>
                <a:spcPct val="115000"/>
              </a:lnSpc>
              <a:buNone/>
            </a:pPr>
            <a:r>
              <a:rPr lang="en-US" sz="1400" b="1" dirty="0">
                <a:solidFill>
                  <a:srgbClr val="16181D"/>
                </a:solidFill>
                <a:latin typeface="BIZ UDPGothic" pitchFamily="34" charset="0"/>
                <a:ea typeface="BIZ UDPGothic" pitchFamily="34" charset="-122"/>
                <a:cs typeface="BIZ UDPGothic" pitchFamily="34" charset="-120"/>
              </a:rPr>
              <a:t>資金使途ダッシュボード</a:t>
            </a:r>
            <a:endParaRPr lang="en-US" sz="1400" dirty="0"/>
          </a:p>
        </p:txBody>
      </p:sp>
      <p:sp>
        <p:nvSpPr>
          <p:cNvPr id="7" name="Text 5"/>
          <p:cNvSpPr/>
          <p:nvPr/>
        </p:nvSpPr>
        <p:spPr>
          <a:xfrm>
            <a:off x="749808" y="3108960"/>
            <a:ext cx="3461004" cy="1234440"/>
          </a:xfrm>
          <a:prstGeom prst="rect">
            <a:avLst/>
          </a:prstGeom>
          <a:noFill/>
          <a:ln/>
        </p:spPr>
        <p:txBody>
          <a:bodyPr wrap="square" lIns="0" tIns="0" rIns="0" bIns="0" rtlCol="0" anchor="t"/>
          <a:lstStyle/>
          <a:p>
            <a:pPr indent="0" marL="0">
              <a:lnSpc>
                <a:spcPct val="120000"/>
              </a:lnSpc>
              <a:buNone/>
            </a:pPr>
            <a:r>
              <a:rPr lang="en-US" sz="1150" dirty="0">
                <a:solidFill>
                  <a:srgbClr val="16181D"/>
                </a:solidFill>
                <a:latin typeface="BIZ UDPGothic" pitchFamily="34" charset="0"/>
                <a:ea typeface="BIZ UDPGothic" pitchFamily="34" charset="-122"/>
                <a:cs typeface="BIZ UDPGothic" pitchFamily="34" charset="-120"/>
              </a:rPr>
              <a:t>補助金がどのベンダー・車両調達に使われたか、全契約・領収書をオンラインでリアルタイム公開</a:t>
            </a:r>
            <a:endParaRPr lang="en-US" sz="1150" dirty="0"/>
          </a:p>
        </p:txBody>
      </p:sp>
      <p:sp>
        <p:nvSpPr>
          <p:cNvPr id="8" name="Shape 6"/>
          <p:cNvSpPr/>
          <p:nvPr/>
        </p:nvSpPr>
        <p:spPr>
          <a:xfrm>
            <a:off x="4732020" y="1691640"/>
            <a:ext cx="3863340" cy="2834640"/>
          </a:xfrm>
          <a:prstGeom prst="roundRect">
            <a:avLst>
              <a:gd name="adj" fmla="val 2581"/>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9" name="Text 7"/>
          <p:cNvSpPr/>
          <p:nvPr/>
        </p:nvSpPr>
        <p:spPr>
          <a:xfrm>
            <a:off x="4914900" y="1874520"/>
            <a:ext cx="731520" cy="54864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BIZ UDPGothic" pitchFamily="34" charset="-122"/>
                <a:cs typeface="BIZ UDPGothic" pitchFamily="34" charset="-120"/>
              </a:rPr>
              <a:t>📋</a:t>
            </a:r>
            <a:endParaRPr lang="en-US" sz="2800" dirty="0"/>
          </a:p>
        </p:txBody>
      </p:sp>
      <p:sp>
        <p:nvSpPr>
          <p:cNvPr id="10" name="Text 8"/>
          <p:cNvSpPr/>
          <p:nvPr/>
        </p:nvSpPr>
        <p:spPr>
          <a:xfrm>
            <a:off x="4933188" y="2468880"/>
            <a:ext cx="3461004" cy="640080"/>
          </a:xfrm>
          <a:prstGeom prst="rect">
            <a:avLst/>
          </a:prstGeom>
          <a:noFill/>
          <a:ln/>
        </p:spPr>
        <p:txBody>
          <a:bodyPr wrap="square" lIns="0" tIns="0" rIns="0" bIns="0" rtlCol="0" anchor="t"/>
          <a:lstStyle/>
          <a:p>
            <a:pPr indent="0" marL="0">
              <a:lnSpc>
                <a:spcPct val="115000"/>
              </a:lnSpc>
              <a:buNone/>
            </a:pPr>
            <a:r>
              <a:rPr lang="en-US" sz="1400" b="1" dirty="0">
                <a:solidFill>
                  <a:srgbClr val="16181D"/>
                </a:solidFill>
                <a:latin typeface="BIZ UDPGothic" pitchFamily="34" charset="0"/>
                <a:ea typeface="BIZ UDPGothic" pitchFamily="34" charset="-122"/>
                <a:cs typeface="BIZ UDPGothic" pitchFamily="34" charset="-120"/>
              </a:rPr>
              <a:t>事前の厳密な審査</a:t>
            </a:r>
            <a:endParaRPr lang="en-US" sz="1400" dirty="0"/>
          </a:p>
        </p:txBody>
      </p:sp>
      <p:sp>
        <p:nvSpPr>
          <p:cNvPr id="11" name="Text 9"/>
          <p:cNvSpPr/>
          <p:nvPr/>
        </p:nvSpPr>
        <p:spPr>
          <a:xfrm>
            <a:off x="4933188" y="3108960"/>
            <a:ext cx="3461004" cy="1234440"/>
          </a:xfrm>
          <a:prstGeom prst="rect">
            <a:avLst/>
          </a:prstGeom>
          <a:noFill/>
          <a:ln/>
        </p:spPr>
        <p:txBody>
          <a:bodyPr wrap="square" lIns="0" tIns="0" rIns="0" bIns="0" rtlCol="0" anchor="t"/>
          <a:lstStyle/>
          <a:p>
            <a:pPr indent="0" marL="0">
              <a:lnSpc>
                <a:spcPct val="120000"/>
              </a:lnSpc>
              <a:buNone/>
            </a:pPr>
            <a:r>
              <a:rPr lang="en-US" sz="1150" dirty="0">
                <a:solidFill>
                  <a:srgbClr val="16181D"/>
                </a:solidFill>
                <a:latin typeface="BIZ UDPGothic" pitchFamily="34" charset="0"/>
                <a:ea typeface="BIZ UDPGothic" pitchFamily="34" charset="-122"/>
                <a:cs typeface="BIZ UDPGothic" pitchFamily="34" charset="-120"/>
              </a:rPr>
              <a:t>「〇年までに〇割を完全無人化」という具体的な事業計画と数値目標の提出を義務付け</a:t>
            </a:r>
            <a:endParaRPr lang="en-US" sz="1150" dirty="0"/>
          </a:p>
        </p:txBody>
      </p:sp>
      <p:sp>
        <p:nvSpPr>
          <p:cNvPr id="12" name="Text 10"/>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13" name="Text 11"/>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RULE 04</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400" b="1" dirty="0">
                <a:solidFill>
                  <a:srgbClr val="16181D"/>
                </a:solidFill>
                <a:latin typeface="BIZ UDPGothic" pitchFamily="34" charset="0"/>
                <a:ea typeface="BIZ UDPGothic" pitchFamily="34" charset="-122"/>
                <a:cs typeface="BIZ UDPGothic" pitchFamily="34" charset="-120"/>
              </a:rPr>
              <a:t>特区限定で突破する3つの規制緩和</a:t>
            </a:r>
            <a:endParaRPr lang="en-US" sz="2400" dirty="0"/>
          </a:p>
        </p:txBody>
      </p:sp>
      <p:sp>
        <p:nvSpPr>
          <p:cNvPr id="4" name="Shape 2"/>
          <p:cNvSpPr/>
          <p:nvPr/>
        </p:nvSpPr>
        <p:spPr>
          <a:xfrm>
            <a:off x="548640" y="1691640"/>
            <a:ext cx="2468880" cy="2834640"/>
          </a:xfrm>
          <a:prstGeom prst="roundRect">
            <a:avLst>
              <a:gd name="adj" fmla="val 2963"/>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731520" y="1874520"/>
            <a:ext cx="731520" cy="54864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BIZ UDPGothic" pitchFamily="34" charset="-122"/>
                <a:cs typeface="BIZ UDPGothic" pitchFamily="34" charset="-120"/>
              </a:rPr>
              <a:t>🛣️</a:t>
            </a:r>
            <a:endParaRPr lang="en-US" sz="2800" dirty="0"/>
          </a:p>
        </p:txBody>
      </p:sp>
      <p:sp>
        <p:nvSpPr>
          <p:cNvPr id="6" name="Text 4"/>
          <p:cNvSpPr/>
          <p:nvPr/>
        </p:nvSpPr>
        <p:spPr>
          <a:xfrm>
            <a:off x="749808" y="2468880"/>
            <a:ext cx="2066544" cy="640080"/>
          </a:xfrm>
          <a:prstGeom prst="rect">
            <a:avLst/>
          </a:prstGeom>
          <a:noFill/>
          <a:ln/>
        </p:spPr>
        <p:txBody>
          <a:bodyPr wrap="square" lIns="0" tIns="0" rIns="0" bIns="0" rtlCol="0" anchor="t"/>
          <a:lstStyle/>
          <a:p>
            <a:pPr indent="0" marL="0">
              <a:lnSpc>
                <a:spcPct val="115000"/>
              </a:lnSpc>
              <a:buNone/>
            </a:pPr>
            <a:r>
              <a:rPr lang="en-US" sz="1400" b="1" dirty="0">
                <a:solidFill>
                  <a:srgbClr val="16181D"/>
                </a:solidFill>
                <a:latin typeface="BIZ UDPGothic" pitchFamily="34" charset="0"/>
                <a:ea typeface="BIZ UDPGothic" pitchFamily="34" charset="-122"/>
                <a:cs typeface="BIZ UDPGothic" pitchFamily="34" charset="-120"/>
              </a:rPr>
              <a:t>① 深夜専用レーン</a:t>
            </a:r>
            <a:endParaRPr lang="en-US" sz="1400" dirty="0"/>
          </a:p>
        </p:txBody>
      </p:sp>
      <p:sp>
        <p:nvSpPr>
          <p:cNvPr id="7" name="Text 5"/>
          <p:cNvSpPr/>
          <p:nvPr/>
        </p:nvSpPr>
        <p:spPr>
          <a:xfrm>
            <a:off x="749808" y="3108960"/>
            <a:ext cx="2066544" cy="1234440"/>
          </a:xfrm>
          <a:prstGeom prst="rect">
            <a:avLst/>
          </a:prstGeom>
          <a:noFill/>
          <a:ln/>
        </p:spPr>
        <p:txBody>
          <a:bodyPr wrap="square" lIns="0" tIns="0" rIns="0" bIns="0" rtlCol="0" anchor="t"/>
          <a:lstStyle/>
          <a:p>
            <a:pPr indent="0" marL="0">
              <a:lnSpc>
                <a:spcPct val="120000"/>
              </a:lnSpc>
              <a:buNone/>
            </a:pPr>
            <a:r>
              <a:rPr lang="en-US" sz="1150" dirty="0">
                <a:solidFill>
                  <a:srgbClr val="16181D"/>
                </a:solidFill>
                <a:latin typeface="BIZ UDPGothic" pitchFamily="34" charset="0"/>
                <a:ea typeface="BIZ UDPGothic" pitchFamily="34" charset="-122"/>
                <a:cs typeface="BIZ UDPGothic" pitchFamily="34" charset="-120"/>
              </a:rPr>
              <a:t>無人トラック・配送ロボ専用の走行空間</a:t>
            </a:r>
            <a:endParaRPr lang="en-US" sz="1150" dirty="0"/>
          </a:p>
        </p:txBody>
      </p:sp>
      <p:sp>
        <p:nvSpPr>
          <p:cNvPr id="8" name="Shape 6"/>
          <p:cNvSpPr/>
          <p:nvPr/>
        </p:nvSpPr>
        <p:spPr>
          <a:xfrm>
            <a:off x="3337560" y="1691640"/>
            <a:ext cx="2468880" cy="2834640"/>
          </a:xfrm>
          <a:prstGeom prst="roundRect">
            <a:avLst>
              <a:gd name="adj" fmla="val 2963"/>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9" name="Text 7"/>
          <p:cNvSpPr/>
          <p:nvPr/>
        </p:nvSpPr>
        <p:spPr>
          <a:xfrm>
            <a:off x="3520440" y="1874520"/>
            <a:ext cx="731520" cy="54864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BIZ UDPGothic" pitchFamily="34" charset="-122"/>
                <a:cs typeface="BIZ UDPGothic" pitchFamily="34" charset="-120"/>
              </a:rPr>
              <a:t>🚜</a:t>
            </a:r>
            <a:endParaRPr lang="en-US" sz="2800" dirty="0"/>
          </a:p>
        </p:txBody>
      </p:sp>
      <p:sp>
        <p:nvSpPr>
          <p:cNvPr id="10" name="Text 8"/>
          <p:cNvSpPr/>
          <p:nvPr/>
        </p:nvSpPr>
        <p:spPr>
          <a:xfrm>
            <a:off x="3538728" y="2468880"/>
            <a:ext cx="2066544" cy="640080"/>
          </a:xfrm>
          <a:prstGeom prst="rect">
            <a:avLst/>
          </a:prstGeom>
          <a:noFill/>
          <a:ln/>
        </p:spPr>
        <p:txBody>
          <a:bodyPr wrap="square" lIns="0" tIns="0" rIns="0" bIns="0" rtlCol="0" anchor="t"/>
          <a:lstStyle/>
          <a:p>
            <a:pPr indent="0" marL="0">
              <a:lnSpc>
                <a:spcPct val="115000"/>
              </a:lnSpc>
              <a:buNone/>
            </a:pPr>
            <a:r>
              <a:rPr lang="en-US" sz="1400" b="1" dirty="0">
                <a:solidFill>
                  <a:srgbClr val="16181D"/>
                </a:solidFill>
                <a:latin typeface="BIZ UDPGothic" pitchFamily="34" charset="0"/>
                <a:ea typeface="BIZ UDPGothic" pitchFamily="34" charset="-122"/>
                <a:cs typeface="BIZ UDPGothic" pitchFamily="34" charset="-120"/>
              </a:rPr>
              <a:t>② シームレス走行</a:t>
            </a:r>
            <a:endParaRPr lang="en-US" sz="1400" dirty="0"/>
          </a:p>
        </p:txBody>
      </p:sp>
      <p:sp>
        <p:nvSpPr>
          <p:cNvPr id="11" name="Text 9"/>
          <p:cNvSpPr/>
          <p:nvPr/>
        </p:nvSpPr>
        <p:spPr>
          <a:xfrm>
            <a:off x="3538728" y="3108960"/>
            <a:ext cx="2066544" cy="1234440"/>
          </a:xfrm>
          <a:prstGeom prst="rect">
            <a:avLst/>
          </a:prstGeom>
          <a:noFill/>
          <a:ln/>
        </p:spPr>
        <p:txBody>
          <a:bodyPr wrap="square" lIns="0" tIns="0" rIns="0" bIns="0" rtlCol="0" anchor="t"/>
          <a:lstStyle/>
          <a:p>
            <a:pPr indent="0" marL="0">
              <a:lnSpc>
                <a:spcPct val="120000"/>
              </a:lnSpc>
              <a:buNone/>
            </a:pPr>
            <a:r>
              <a:rPr lang="en-US" sz="1150" dirty="0">
                <a:solidFill>
                  <a:srgbClr val="16181D"/>
                </a:solidFill>
                <a:latin typeface="BIZ UDPGothic" pitchFamily="34" charset="0"/>
                <a:ea typeface="BIZ UDPGothic" pitchFamily="34" charset="-122"/>
                <a:cs typeface="BIZ UDPGothic" pitchFamily="34" charset="-120"/>
              </a:rPr>
              <a:t>農地間の公道移動をナンバー・運転手不要に</a:t>
            </a:r>
            <a:endParaRPr lang="en-US" sz="1150" dirty="0"/>
          </a:p>
        </p:txBody>
      </p:sp>
      <p:sp>
        <p:nvSpPr>
          <p:cNvPr id="12" name="Shape 10"/>
          <p:cNvSpPr/>
          <p:nvPr/>
        </p:nvSpPr>
        <p:spPr>
          <a:xfrm>
            <a:off x="6126480" y="1691640"/>
            <a:ext cx="2468880" cy="2834640"/>
          </a:xfrm>
          <a:prstGeom prst="roundRect">
            <a:avLst>
              <a:gd name="adj" fmla="val 2963"/>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13" name="Text 11"/>
          <p:cNvSpPr/>
          <p:nvPr/>
        </p:nvSpPr>
        <p:spPr>
          <a:xfrm>
            <a:off x="6309360" y="1874520"/>
            <a:ext cx="731520" cy="54864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BIZ UDPGothic" pitchFamily="34" charset="-122"/>
                <a:cs typeface="BIZ UDPGothic" pitchFamily="34" charset="-120"/>
              </a:rPr>
              <a:t>📡</a:t>
            </a:r>
            <a:endParaRPr lang="en-US" sz="2800" dirty="0"/>
          </a:p>
        </p:txBody>
      </p:sp>
      <p:sp>
        <p:nvSpPr>
          <p:cNvPr id="14" name="Text 12"/>
          <p:cNvSpPr/>
          <p:nvPr/>
        </p:nvSpPr>
        <p:spPr>
          <a:xfrm>
            <a:off x="6327648" y="2468880"/>
            <a:ext cx="2066544" cy="640080"/>
          </a:xfrm>
          <a:prstGeom prst="rect">
            <a:avLst/>
          </a:prstGeom>
          <a:noFill/>
          <a:ln/>
        </p:spPr>
        <p:txBody>
          <a:bodyPr wrap="square" lIns="0" tIns="0" rIns="0" bIns="0" rtlCol="0" anchor="t"/>
          <a:lstStyle/>
          <a:p>
            <a:pPr indent="0" marL="0">
              <a:lnSpc>
                <a:spcPct val="115000"/>
              </a:lnSpc>
              <a:buNone/>
            </a:pPr>
            <a:r>
              <a:rPr lang="en-US" sz="1400" b="1" dirty="0">
                <a:solidFill>
                  <a:srgbClr val="16181D"/>
                </a:solidFill>
                <a:latin typeface="BIZ UDPGothic" pitchFamily="34" charset="0"/>
                <a:ea typeface="BIZ UDPGothic" pitchFamily="34" charset="-122"/>
                <a:cs typeface="BIZ UDPGothic" pitchFamily="34" charset="-120"/>
              </a:rPr>
              <a:t>③ マルチマニング</a:t>
            </a:r>
            <a:endParaRPr lang="en-US" sz="1400" dirty="0"/>
          </a:p>
        </p:txBody>
      </p:sp>
      <p:sp>
        <p:nvSpPr>
          <p:cNvPr id="15" name="Text 13"/>
          <p:cNvSpPr/>
          <p:nvPr/>
        </p:nvSpPr>
        <p:spPr>
          <a:xfrm>
            <a:off x="6327648" y="3108960"/>
            <a:ext cx="2066544" cy="1234440"/>
          </a:xfrm>
          <a:prstGeom prst="rect">
            <a:avLst/>
          </a:prstGeom>
          <a:noFill/>
          <a:ln/>
        </p:spPr>
        <p:txBody>
          <a:bodyPr wrap="square" lIns="0" tIns="0" rIns="0" bIns="0" rtlCol="0" anchor="t"/>
          <a:lstStyle/>
          <a:p>
            <a:pPr indent="0" marL="0">
              <a:lnSpc>
                <a:spcPct val="120000"/>
              </a:lnSpc>
              <a:buNone/>
            </a:pPr>
            <a:r>
              <a:rPr lang="en-US" sz="1150" dirty="0">
                <a:solidFill>
                  <a:srgbClr val="16181D"/>
                </a:solidFill>
                <a:latin typeface="BIZ UDPGothic" pitchFamily="34" charset="0"/>
                <a:ea typeface="BIZ UDPGothic" pitchFamily="34" charset="-122"/>
                <a:cs typeface="BIZ UDPGothic" pitchFamily="34" charset="-120"/>
              </a:rPr>
              <a:t>監視者1人で最大20台を管理</a:t>
            </a:r>
            <a:endParaRPr lang="en-US" sz="1150" dirty="0"/>
          </a:p>
        </p:txBody>
      </p:sp>
      <p:sp>
        <p:nvSpPr>
          <p:cNvPr id="16" name="Text 14"/>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17" name="Text 15"/>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RULE 04 — DETAIL</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500" b="1" dirty="0">
                <a:solidFill>
                  <a:srgbClr val="16181D"/>
                </a:solidFill>
                <a:latin typeface="BIZ UDPGothic" pitchFamily="34" charset="0"/>
                <a:ea typeface="BIZ UDPGothic" pitchFamily="34" charset="-122"/>
                <a:cs typeface="BIZ UDPGothic" pitchFamily="34" charset="-120"/>
              </a:rPr>
              <a:t>深夜の自動運転専用レーン</a:t>
            </a:r>
            <a:endParaRPr lang="en-US" sz="2500" dirty="0"/>
          </a:p>
        </p:txBody>
      </p:sp>
      <p:sp>
        <p:nvSpPr>
          <p:cNvPr id="4" name="Text 2"/>
          <p:cNvSpPr/>
          <p:nvPr/>
        </p:nvSpPr>
        <p:spPr>
          <a:xfrm>
            <a:off x="548640" y="1691640"/>
            <a:ext cx="731520" cy="548640"/>
          </a:xfrm>
          <a:prstGeom prst="rect">
            <a:avLst/>
          </a:prstGeom>
          <a:noFill/>
          <a:ln/>
        </p:spPr>
        <p:txBody>
          <a:bodyPr wrap="square" lIns="0" tIns="0" rIns="0" bIns="0" rtlCol="0" anchor="ctr"/>
          <a:lstStyle/>
          <a:p>
            <a:pPr indent="0" marL="0">
              <a:buNone/>
            </a:pPr>
            <a:r>
              <a:rPr lang="en-US" sz="3400" dirty="0">
                <a:solidFill>
                  <a:srgbClr val="000000"/>
                </a:solidFill>
                <a:latin typeface="Arial" pitchFamily="34" charset="0"/>
                <a:ea typeface="BIZ UDPGothic" pitchFamily="34" charset="-122"/>
                <a:cs typeface="BIZ UDPGothic" pitchFamily="34" charset="-120"/>
              </a:rPr>
              <a:t>🛣️</a:t>
            </a:r>
            <a:endParaRPr lang="en-US" sz="3400" dirty="0"/>
          </a:p>
        </p:txBody>
      </p:sp>
      <p:sp>
        <p:nvSpPr>
          <p:cNvPr id="5" name="Text 3"/>
          <p:cNvSpPr/>
          <p:nvPr/>
        </p:nvSpPr>
        <p:spPr>
          <a:xfrm>
            <a:off x="1371600" y="1737360"/>
            <a:ext cx="7223760" cy="914400"/>
          </a:xfrm>
          <a:prstGeom prst="rect">
            <a:avLst/>
          </a:prstGeom>
          <a:noFill/>
          <a:ln/>
        </p:spPr>
        <p:txBody>
          <a:bodyPr wrap="square" lIns="0" tIns="0" rIns="0" bIns="0" rtlCol="0" anchor="t"/>
          <a:lstStyle/>
          <a:p>
            <a:pPr indent="0" marL="0">
              <a:buNone/>
            </a:pPr>
            <a:r>
              <a:rPr lang="en-US" sz="1550" b="1" dirty="0">
                <a:solidFill>
                  <a:srgbClr val="16181D"/>
                </a:solidFill>
                <a:latin typeface="BIZ UDPGothic" pitchFamily="34" charset="0"/>
                <a:ea typeface="BIZ UDPGothic" pitchFamily="34" charset="-122"/>
                <a:cs typeface="BIZ UDPGothic" pitchFamily="34" charset="-120"/>
              </a:rPr>
              <a:t>深夜22時〜翌5時、港湾や工場から高速ICを結ぶ特定幹線道路の1レーンを一般車進入禁止とする</a:t>
            </a:r>
            <a:endParaRPr lang="en-US" sz="1550" dirty="0"/>
          </a:p>
        </p:txBody>
      </p:sp>
      <p:sp>
        <p:nvSpPr>
          <p:cNvPr id="6" name="Shape 4"/>
          <p:cNvSpPr/>
          <p:nvPr/>
        </p:nvSpPr>
        <p:spPr>
          <a:xfrm>
            <a:off x="548640" y="2834640"/>
            <a:ext cx="8046720" cy="1645920"/>
          </a:xfrm>
          <a:prstGeom prst="roundRect">
            <a:avLst>
              <a:gd name="adj" fmla="val 4444"/>
            </a:avLst>
          </a:prstGeom>
          <a:solidFill>
            <a:srgbClr val="FFFFFF"/>
          </a:solidFill>
          <a:ln/>
          <a:effectLst>
            <a:outerShdw sx="100000" sy="100000" kx="0" ky="0" algn="bl" rotWithShape="0" blurRad="101600" dist="38100" dir="2700000">
              <a:srgbClr val="000000">
                <a:alpha val="35000"/>
              </a:srgbClr>
            </a:outerShdw>
          </a:effectLst>
        </p:spPr>
      </p:sp>
      <p:sp>
        <p:nvSpPr>
          <p:cNvPr id="7" name="Text 5"/>
          <p:cNvSpPr/>
          <p:nvPr/>
        </p:nvSpPr>
        <p:spPr>
          <a:xfrm>
            <a:off x="868680" y="3017520"/>
            <a:ext cx="7406640" cy="1280160"/>
          </a:xfrm>
          <a:prstGeom prst="rect">
            <a:avLst/>
          </a:prstGeom>
          <a:noFill/>
          <a:ln/>
        </p:spPr>
        <p:txBody>
          <a:bodyPr wrap="square" lIns="0" tIns="0" rIns="0" bIns="0" rtlCol="0" anchor="t"/>
          <a:lstStyle/>
          <a:p>
            <a:pPr indent="0" marL="0">
              <a:lnSpc>
                <a:spcPct val="135000"/>
              </a:lnSpc>
              <a:buNone/>
            </a:pPr>
            <a:r>
              <a:rPr lang="en-US" sz="1350" dirty="0">
                <a:solidFill>
                  <a:srgbClr val="16181D"/>
                </a:solidFill>
                <a:latin typeface="BIZ UDPGothic" pitchFamily="34" charset="0"/>
                <a:ea typeface="BIZ UDPGothic" pitchFamily="34" charset="-122"/>
                <a:cs typeface="BIZ UDPGothic" pitchFamily="34" charset="-120"/>
              </a:rPr>
              <a:t>完全無人トラック・配送ロボ専用レーンとする権限を都道府県に付与する。人通りの少ない深夜帯に限定することで、安全性を確保しながら無人物流を最速で実装する。</a:t>
            </a:r>
            <a:endParaRPr lang="en-US" sz="1350" dirty="0"/>
          </a:p>
        </p:txBody>
      </p:sp>
      <p:sp>
        <p:nvSpPr>
          <p:cNvPr id="8" name="Text 6"/>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9" name="Text 7"/>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RULE 04 — DETAIL</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500" b="1" dirty="0">
                <a:solidFill>
                  <a:srgbClr val="16181D"/>
                </a:solidFill>
                <a:latin typeface="BIZ UDPGothic" pitchFamily="34" charset="0"/>
                <a:ea typeface="BIZ UDPGothic" pitchFamily="34" charset="-122"/>
                <a:cs typeface="BIZ UDPGothic" pitchFamily="34" charset="-120"/>
              </a:rPr>
              <a:t>スマート農業のシームレス走行</a:t>
            </a:r>
            <a:endParaRPr lang="en-US" sz="2500" dirty="0"/>
          </a:p>
        </p:txBody>
      </p:sp>
      <p:sp>
        <p:nvSpPr>
          <p:cNvPr id="4" name="Text 2"/>
          <p:cNvSpPr/>
          <p:nvPr/>
        </p:nvSpPr>
        <p:spPr>
          <a:xfrm>
            <a:off x="548640" y="1691640"/>
            <a:ext cx="731520" cy="548640"/>
          </a:xfrm>
          <a:prstGeom prst="rect">
            <a:avLst/>
          </a:prstGeom>
          <a:noFill/>
          <a:ln/>
        </p:spPr>
        <p:txBody>
          <a:bodyPr wrap="square" lIns="0" tIns="0" rIns="0" bIns="0" rtlCol="0" anchor="ctr"/>
          <a:lstStyle/>
          <a:p>
            <a:pPr indent="0" marL="0">
              <a:buNone/>
            </a:pPr>
            <a:r>
              <a:rPr lang="en-US" sz="3400" dirty="0">
                <a:solidFill>
                  <a:srgbClr val="000000"/>
                </a:solidFill>
                <a:latin typeface="Arial" pitchFamily="34" charset="0"/>
                <a:ea typeface="BIZ UDPGothic" pitchFamily="34" charset="-122"/>
                <a:cs typeface="BIZ UDPGothic" pitchFamily="34" charset="-120"/>
              </a:rPr>
              <a:t>🚜</a:t>
            </a:r>
            <a:endParaRPr lang="en-US" sz="3400" dirty="0"/>
          </a:p>
        </p:txBody>
      </p:sp>
      <p:sp>
        <p:nvSpPr>
          <p:cNvPr id="5" name="Text 3"/>
          <p:cNvSpPr/>
          <p:nvPr/>
        </p:nvSpPr>
        <p:spPr>
          <a:xfrm>
            <a:off x="1371600" y="1737360"/>
            <a:ext cx="7223760" cy="914400"/>
          </a:xfrm>
          <a:prstGeom prst="rect">
            <a:avLst/>
          </a:prstGeom>
          <a:noFill/>
          <a:ln/>
        </p:spPr>
        <p:txBody>
          <a:bodyPr wrap="square" lIns="0" tIns="0" rIns="0" bIns="0" rtlCol="0" anchor="t"/>
          <a:lstStyle/>
          <a:p>
            <a:pPr indent="0" marL="0">
              <a:buNone/>
            </a:pPr>
            <a:r>
              <a:rPr lang="en-US" sz="1550" b="1" dirty="0">
                <a:solidFill>
                  <a:srgbClr val="16181D"/>
                </a:solidFill>
                <a:latin typeface="BIZ UDPGothic" pitchFamily="34" charset="0"/>
                <a:ea typeface="BIZ UDPGothic" pitchFamily="34" charset="-122"/>
                <a:cs typeface="BIZ UDPGothic" pitchFamily="34" charset="-120"/>
              </a:rPr>
              <a:t>農地間のわずかな公道移動において、ナンバー取得や運転手配置の義務を免除する</a:t>
            </a:r>
            <a:endParaRPr lang="en-US" sz="1550" dirty="0"/>
          </a:p>
        </p:txBody>
      </p:sp>
      <p:sp>
        <p:nvSpPr>
          <p:cNvPr id="6" name="Shape 4"/>
          <p:cNvSpPr/>
          <p:nvPr/>
        </p:nvSpPr>
        <p:spPr>
          <a:xfrm>
            <a:off x="548640" y="2834640"/>
            <a:ext cx="8046720" cy="1645920"/>
          </a:xfrm>
          <a:prstGeom prst="roundRect">
            <a:avLst>
              <a:gd name="adj" fmla="val 4444"/>
            </a:avLst>
          </a:prstGeom>
          <a:solidFill>
            <a:srgbClr val="FFFFFF"/>
          </a:solidFill>
          <a:ln/>
          <a:effectLst>
            <a:outerShdw sx="100000" sy="100000" kx="0" ky="0" algn="bl" rotWithShape="0" blurRad="101600" dist="38100" dir="2700000">
              <a:srgbClr val="000000">
                <a:alpha val="35000"/>
              </a:srgbClr>
            </a:outerShdw>
          </a:effectLst>
        </p:spPr>
      </p:sp>
      <p:sp>
        <p:nvSpPr>
          <p:cNvPr id="7" name="Text 5"/>
          <p:cNvSpPr/>
          <p:nvPr/>
        </p:nvSpPr>
        <p:spPr>
          <a:xfrm>
            <a:off x="868680" y="3017520"/>
            <a:ext cx="7406640" cy="1280160"/>
          </a:xfrm>
          <a:prstGeom prst="rect">
            <a:avLst/>
          </a:prstGeom>
          <a:noFill/>
          <a:ln/>
        </p:spPr>
        <p:txBody>
          <a:bodyPr wrap="square" lIns="0" tIns="0" rIns="0" bIns="0" rtlCol="0" anchor="t"/>
          <a:lstStyle/>
          <a:p>
            <a:pPr indent="0" marL="0">
              <a:lnSpc>
                <a:spcPct val="135000"/>
              </a:lnSpc>
              <a:buNone/>
            </a:pPr>
            <a:r>
              <a:rPr lang="en-US" sz="1350" dirty="0">
                <a:solidFill>
                  <a:srgbClr val="16181D"/>
                </a:solidFill>
                <a:latin typeface="BIZ UDPGothic" pitchFamily="34" charset="0"/>
                <a:ea typeface="BIZ UDPGothic" pitchFamily="34" charset="-122"/>
                <a:cs typeface="BIZ UDPGothic" pitchFamily="34" charset="-120"/>
              </a:rPr>
              <a:t>低速（時速10km以下など）の遠隔監視のみで、農地から農地へシームレスに横断・走行可能とする。人手不足が深刻なスマート農業の現場負担を大幅に軽減する。</a:t>
            </a:r>
            <a:endParaRPr lang="en-US" sz="1350" dirty="0"/>
          </a:p>
        </p:txBody>
      </p:sp>
      <p:sp>
        <p:nvSpPr>
          <p:cNvPr id="8" name="Text 6"/>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9" name="Text 7"/>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RULE 04 — DETAIL</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500" b="1" dirty="0">
                <a:solidFill>
                  <a:srgbClr val="16181D"/>
                </a:solidFill>
                <a:latin typeface="BIZ UDPGothic" pitchFamily="34" charset="0"/>
                <a:ea typeface="BIZ UDPGothic" pitchFamily="34" charset="-122"/>
                <a:cs typeface="BIZ UDPGothic" pitchFamily="34" charset="-120"/>
              </a:rPr>
              <a:t>遠隔監視の「1対20」を完全自由化</a:t>
            </a:r>
            <a:endParaRPr lang="en-US" sz="2500" dirty="0"/>
          </a:p>
        </p:txBody>
      </p:sp>
      <p:sp>
        <p:nvSpPr>
          <p:cNvPr id="4" name="Text 2"/>
          <p:cNvSpPr/>
          <p:nvPr/>
        </p:nvSpPr>
        <p:spPr>
          <a:xfrm>
            <a:off x="548640" y="1691640"/>
            <a:ext cx="731520" cy="548640"/>
          </a:xfrm>
          <a:prstGeom prst="rect">
            <a:avLst/>
          </a:prstGeom>
          <a:noFill/>
          <a:ln/>
        </p:spPr>
        <p:txBody>
          <a:bodyPr wrap="square" lIns="0" tIns="0" rIns="0" bIns="0" rtlCol="0" anchor="ctr"/>
          <a:lstStyle/>
          <a:p>
            <a:pPr indent="0" marL="0">
              <a:buNone/>
            </a:pPr>
            <a:r>
              <a:rPr lang="en-US" sz="3400" dirty="0">
                <a:solidFill>
                  <a:srgbClr val="000000"/>
                </a:solidFill>
                <a:latin typeface="Arial" pitchFamily="34" charset="0"/>
                <a:ea typeface="BIZ UDPGothic" pitchFamily="34" charset="-122"/>
                <a:cs typeface="BIZ UDPGothic" pitchFamily="34" charset="-120"/>
              </a:rPr>
              <a:t>📡</a:t>
            </a:r>
            <a:endParaRPr lang="en-US" sz="3400" dirty="0"/>
          </a:p>
        </p:txBody>
      </p:sp>
      <p:sp>
        <p:nvSpPr>
          <p:cNvPr id="5" name="Text 3"/>
          <p:cNvSpPr/>
          <p:nvPr/>
        </p:nvSpPr>
        <p:spPr>
          <a:xfrm>
            <a:off x="1371600" y="1737360"/>
            <a:ext cx="7223760" cy="914400"/>
          </a:xfrm>
          <a:prstGeom prst="rect">
            <a:avLst/>
          </a:prstGeom>
          <a:noFill/>
          <a:ln/>
        </p:spPr>
        <p:txBody>
          <a:bodyPr wrap="square" lIns="0" tIns="0" rIns="0" bIns="0" rtlCol="0" anchor="t"/>
          <a:lstStyle/>
          <a:p>
            <a:pPr indent="0" marL="0">
              <a:buNone/>
            </a:pPr>
            <a:r>
              <a:rPr lang="en-US" sz="1550" b="1" dirty="0">
                <a:solidFill>
                  <a:srgbClr val="16181D"/>
                </a:solidFill>
                <a:latin typeface="BIZ UDPGothic" pitchFamily="34" charset="0"/>
                <a:ea typeface="BIZ UDPGothic" pitchFamily="34" charset="-122"/>
                <a:cs typeface="BIZ UDPGothic" pitchFamily="34" charset="-120"/>
              </a:rPr>
              <a:t>1人の遠隔監視者が同時に最大20台の自動運転車両を管理してよい</a:t>
            </a:r>
            <a:endParaRPr lang="en-US" sz="1550" dirty="0"/>
          </a:p>
        </p:txBody>
      </p:sp>
      <p:sp>
        <p:nvSpPr>
          <p:cNvPr id="6" name="Shape 4"/>
          <p:cNvSpPr/>
          <p:nvPr/>
        </p:nvSpPr>
        <p:spPr>
          <a:xfrm>
            <a:off x="548640" y="2834640"/>
            <a:ext cx="8046720" cy="1645920"/>
          </a:xfrm>
          <a:prstGeom prst="roundRect">
            <a:avLst>
              <a:gd name="adj" fmla="val 4444"/>
            </a:avLst>
          </a:prstGeom>
          <a:solidFill>
            <a:srgbClr val="FFFFFF"/>
          </a:solidFill>
          <a:ln/>
          <a:effectLst>
            <a:outerShdw sx="100000" sy="100000" kx="0" ky="0" algn="bl" rotWithShape="0" blurRad="101600" dist="38100" dir="2700000">
              <a:srgbClr val="000000">
                <a:alpha val="35000"/>
              </a:srgbClr>
            </a:outerShdw>
          </a:effectLst>
        </p:spPr>
      </p:sp>
      <p:sp>
        <p:nvSpPr>
          <p:cNvPr id="7" name="Text 5"/>
          <p:cNvSpPr/>
          <p:nvPr/>
        </p:nvSpPr>
        <p:spPr>
          <a:xfrm>
            <a:off x="868680" y="3017520"/>
            <a:ext cx="7406640" cy="1280160"/>
          </a:xfrm>
          <a:prstGeom prst="rect">
            <a:avLst/>
          </a:prstGeom>
          <a:noFill/>
          <a:ln/>
        </p:spPr>
        <p:txBody>
          <a:bodyPr wrap="square" lIns="0" tIns="0" rIns="0" bIns="0" rtlCol="0" anchor="t"/>
          <a:lstStyle/>
          <a:p>
            <a:pPr indent="0" marL="0">
              <a:lnSpc>
                <a:spcPct val="135000"/>
              </a:lnSpc>
              <a:buNone/>
            </a:pPr>
            <a:r>
              <a:rPr lang="en-US" sz="1350" dirty="0">
                <a:solidFill>
                  <a:srgbClr val="16181D"/>
                </a:solidFill>
                <a:latin typeface="BIZ UDPGothic" pitchFamily="34" charset="0"/>
                <a:ea typeface="BIZ UDPGothic" pitchFamily="34" charset="-122"/>
                <a:cs typeface="BIZ UDPGothic" pitchFamily="34" charset="-120"/>
              </a:rPr>
              <a:t>無人運行のコストを有人時代の数分の1へと引き下げる。ただし、この自由化は次章で定める安全性・責任分担の設計とセットで運用される。</a:t>
            </a:r>
            <a:endParaRPr lang="en-US" sz="1350" dirty="0"/>
          </a:p>
        </p:txBody>
      </p:sp>
      <p:sp>
        <p:nvSpPr>
          <p:cNvPr id="8" name="Text 6"/>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9" name="Text 7"/>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SAFETY</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100" b="1" dirty="0">
                <a:solidFill>
                  <a:srgbClr val="16181D"/>
                </a:solidFill>
                <a:latin typeface="BIZ UDPGothic" pitchFamily="34" charset="0"/>
                <a:ea typeface="BIZ UDPGothic" pitchFamily="34" charset="-122"/>
                <a:cs typeface="BIZ UDPGothic" pitchFamily="34" charset="-120"/>
              </a:rPr>
              <a:t>「無人だから誰も責任を取らない」を作らない</a:t>
            </a:r>
            <a:endParaRPr lang="en-US" sz="2100" dirty="0"/>
          </a:p>
        </p:txBody>
      </p:sp>
      <p:sp>
        <p:nvSpPr>
          <p:cNvPr id="4" name="Shape 2"/>
          <p:cNvSpPr/>
          <p:nvPr/>
        </p:nvSpPr>
        <p:spPr>
          <a:xfrm>
            <a:off x="548640" y="1783080"/>
            <a:ext cx="8046720" cy="2377440"/>
          </a:xfrm>
          <a:prstGeom prst="roundRect">
            <a:avLst>
              <a:gd name="adj" fmla="val 3077"/>
            </a:avLst>
          </a:prstGeom>
          <a:solidFill>
            <a:srgbClr val="FFFFFF"/>
          </a:solidFill>
          <a:ln/>
          <a:effectLst>
            <a:outerShdw sx="100000" sy="100000" kx="0" ky="0" algn="bl" rotWithShape="0" blurRad="101600" dist="38100" dir="2700000">
              <a:srgbClr val="000000">
                <a:alpha val="35000"/>
              </a:srgbClr>
            </a:outerShdw>
          </a:effectLst>
        </p:spPr>
      </p:sp>
      <p:sp>
        <p:nvSpPr>
          <p:cNvPr id="5" name="Text 3"/>
          <p:cNvSpPr/>
          <p:nvPr/>
        </p:nvSpPr>
        <p:spPr>
          <a:xfrm>
            <a:off x="914400" y="2103120"/>
            <a:ext cx="731520" cy="548640"/>
          </a:xfrm>
          <a:prstGeom prst="rect">
            <a:avLst/>
          </a:prstGeom>
          <a:noFill/>
          <a:ln/>
        </p:spPr>
        <p:txBody>
          <a:bodyPr wrap="square" lIns="0" tIns="0" rIns="0" bIns="0" rtlCol="0" anchor="ctr"/>
          <a:lstStyle/>
          <a:p>
            <a:pPr indent="0" marL="0">
              <a:buNone/>
            </a:pPr>
            <a:r>
              <a:rPr lang="en-US" sz="3200" dirty="0">
                <a:solidFill>
                  <a:srgbClr val="000000"/>
                </a:solidFill>
                <a:latin typeface="Arial" pitchFamily="34" charset="0"/>
                <a:ea typeface="BIZ UDPGothic" pitchFamily="34" charset="-122"/>
                <a:cs typeface="BIZ UDPGothic" pitchFamily="34" charset="-120"/>
              </a:rPr>
              <a:t>🛡️</a:t>
            </a:r>
            <a:endParaRPr lang="en-US" sz="3200" dirty="0"/>
          </a:p>
        </p:txBody>
      </p:sp>
      <p:sp>
        <p:nvSpPr>
          <p:cNvPr id="6" name="Text 4"/>
          <p:cNvSpPr/>
          <p:nvPr/>
        </p:nvSpPr>
        <p:spPr>
          <a:xfrm>
            <a:off x="1737360" y="2103120"/>
            <a:ext cx="6675120" cy="640080"/>
          </a:xfrm>
          <a:prstGeom prst="rect">
            <a:avLst/>
          </a:prstGeom>
          <a:noFill/>
          <a:ln/>
        </p:spPr>
        <p:txBody>
          <a:bodyPr wrap="square" lIns="0" tIns="0" rIns="0" bIns="0" rtlCol="0" anchor="ctr"/>
          <a:lstStyle/>
          <a:p>
            <a:pPr indent="0" marL="0">
              <a:buNone/>
            </a:pPr>
            <a:r>
              <a:rPr lang="en-US" sz="1650" b="1" dirty="0">
                <a:solidFill>
                  <a:srgbClr val="C8161D"/>
                </a:solidFill>
                <a:latin typeface="BIZ UDPGothic" pitchFamily="34" charset="0"/>
                <a:ea typeface="BIZ UDPGothic" pitchFamily="34" charset="-122"/>
                <a:cs typeface="BIZ UDPGothic" pitchFamily="34" charset="-120"/>
              </a:rPr>
              <a:t>規制緩和を野放図に進めるのではなく、責任の所在を明確に設計する</a:t>
            </a:r>
            <a:endParaRPr lang="en-US" sz="1650" dirty="0"/>
          </a:p>
        </p:txBody>
      </p:sp>
      <p:sp>
        <p:nvSpPr>
          <p:cNvPr id="7" name="Text 5"/>
          <p:cNvSpPr/>
          <p:nvPr/>
        </p:nvSpPr>
        <p:spPr>
          <a:xfrm>
            <a:off x="914400" y="2971800"/>
            <a:ext cx="7132320" cy="914400"/>
          </a:xfrm>
          <a:prstGeom prst="rect">
            <a:avLst/>
          </a:prstGeom>
          <a:noFill/>
          <a:ln/>
        </p:spPr>
        <p:txBody>
          <a:bodyPr wrap="square" lIns="0" tIns="0" rIns="0" bIns="0" rtlCol="0" anchor="t"/>
          <a:lstStyle/>
          <a:p>
            <a:pPr indent="0" marL="0">
              <a:lnSpc>
                <a:spcPct val="130000"/>
              </a:lnSpc>
              <a:buNone/>
            </a:pPr>
            <a:r>
              <a:rPr lang="en-US" sz="1450" dirty="0">
                <a:solidFill>
                  <a:srgbClr val="16181D"/>
                </a:solidFill>
                <a:latin typeface="BIZ UDPGothic" pitchFamily="34" charset="0"/>
                <a:ea typeface="BIZ UDPGothic" pitchFamily="34" charset="-122"/>
                <a:cs typeface="BIZ UDPGothic" pitchFamily="34" charset="-120"/>
              </a:rPr>
              <a:t>事故の責任分担・被害者への仮払い・原因判定の主体・責任の拡張——4つの観点から設計する。</a:t>
            </a:r>
            <a:endParaRPr lang="en-US" sz="1450" dirty="0"/>
          </a:p>
        </p:txBody>
      </p:sp>
      <p:sp>
        <p:nvSpPr>
          <p:cNvPr id="8" name="Text 6"/>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9" name="Text 7"/>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SAFETY — DETAIL</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500" b="1" dirty="0">
                <a:solidFill>
                  <a:srgbClr val="16181D"/>
                </a:solidFill>
                <a:latin typeface="BIZ UDPGothic" pitchFamily="34" charset="0"/>
                <a:ea typeface="BIZ UDPGothic" pitchFamily="34" charset="-122"/>
                <a:cs typeface="BIZ UDPGothic" pitchFamily="34" charset="-120"/>
              </a:rPr>
              <a:t>事故が起きたら誰の責任？</a:t>
            </a:r>
            <a:endParaRPr lang="en-US" sz="2500" dirty="0"/>
          </a:p>
        </p:txBody>
      </p:sp>
      <p:sp>
        <p:nvSpPr>
          <p:cNvPr id="4" name="Text 2"/>
          <p:cNvSpPr/>
          <p:nvPr/>
        </p:nvSpPr>
        <p:spPr>
          <a:xfrm>
            <a:off x="548640" y="1600200"/>
            <a:ext cx="8046720" cy="640080"/>
          </a:xfrm>
          <a:prstGeom prst="rect">
            <a:avLst/>
          </a:prstGeom>
          <a:noFill/>
          <a:ln/>
        </p:spPr>
        <p:txBody>
          <a:bodyPr wrap="square" lIns="0" tIns="0" rIns="0" bIns="0" rtlCol="0" anchor="t"/>
          <a:lstStyle/>
          <a:p>
            <a:pPr indent="0" marL="0">
              <a:buNone/>
            </a:pPr>
            <a:r>
              <a:rPr lang="en-US" sz="1450" b="1" dirty="0">
                <a:solidFill>
                  <a:srgbClr val="16181D"/>
                </a:solidFill>
                <a:latin typeface="BIZ UDPGothic" pitchFamily="34" charset="0"/>
                <a:ea typeface="BIZ UDPGothic" pitchFamily="34" charset="-122"/>
                <a:cs typeface="BIZ UDPGothic" pitchFamily="34" charset="-120"/>
              </a:rPr>
              <a:t>無人運行中の事故の一次的な責任は、事故原因に応じてシステム・車両メーカーと運行企業で分担する</a:t>
            </a:r>
            <a:endParaRPr lang="en-US" sz="1450" dirty="0"/>
          </a:p>
        </p:txBody>
      </p:sp>
      <p:sp>
        <p:nvSpPr>
          <p:cNvPr id="5" name="Shape 3"/>
          <p:cNvSpPr/>
          <p:nvPr/>
        </p:nvSpPr>
        <p:spPr>
          <a:xfrm>
            <a:off x="548640" y="2377440"/>
            <a:ext cx="8046720" cy="640080"/>
          </a:xfrm>
          <a:prstGeom prst="roundRect">
            <a:avLst>
              <a:gd name="adj" fmla="val 8571"/>
            </a:avLst>
          </a:prstGeom>
          <a:solidFill>
            <a:srgbClr val="FFFFFF"/>
          </a:solidFill>
          <a:ln/>
          <a:effectLst>
            <a:outerShdw sx="100000" sy="100000" kx="0" ky="0" algn="bl" rotWithShape="0" blurRad="101600" dist="38100" dir="2700000">
              <a:srgbClr val="000000">
                <a:alpha val="35000"/>
              </a:srgbClr>
            </a:outerShdw>
          </a:effectLst>
        </p:spPr>
      </p:sp>
      <p:sp>
        <p:nvSpPr>
          <p:cNvPr id="6" name="Text 4"/>
          <p:cNvSpPr/>
          <p:nvPr/>
        </p:nvSpPr>
        <p:spPr>
          <a:xfrm>
            <a:off x="731520" y="2377440"/>
            <a:ext cx="548640" cy="640080"/>
          </a:xfrm>
          <a:prstGeom prst="rect">
            <a:avLst/>
          </a:prstGeom>
          <a:noFill/>
          <a:ln/>
        </p:spPr>
        <p:txBody>
          <a:bodyPr wrap="square" lIns="0" tIns="0" rIns="0" bIns="0" rtlCol="0" anchor="ctr"/>
          <a:lstStyle/>
          <a:p>
            <a:pPr indent="0" marL="0">
              <a:buNone/>
            </a:pPr>
            <a:r>
              <a:rPr lang="en-US" sz="2200" dirty="0">
                <a:solidFill>
                  <a:srgbClr val="000000"/>
                </a:solidFill>
                <a:latin typeface="Arial" pitchFamily="34" charset="0"/>
                <a:ea typeface="BIZ UDPGothic" pitchFamily="34" charset="-122"/>
                <a:cs typeface="BIZ UDPGothic" pitchFamily="34" charset="-120"/>
              </a:rPr>
              <a:t>💻</a:t>
            </a:r>
            <a:endParaRPr lang="en-US" sz="2200" dirty="0"/>
          </a:p>
        </p:txBody>
      </p:sp>
      <p:sp>
        <p:nvSpPr>
          <p:cNvPr id="7" name="Text 5"/>
          <p:cNvSpPr/>
          <p:nvPr/>
        </p:nvSpPr>
        <p:spPr>
          <a:xfrm>
            <a:off x="1371600" y="2377440"/>
            <a:ext cx="4114800" cy="640080"/>
          </a:xfrm>
          <a:prstGeom prst="rect">
            <a:avLst/>
          </a:prstGeom>
          <a:noFill/>
          <a:ln/>
        </p:spPr>
        <p:txBody>
          <a:bodyPr wrap="square" lIns="0" tIns="0" rIns="0" bIns="0" rtlCol="0" anchor="ctr"/>
          <a:lstStyle/>
          <a:p>
            <a:pPr indent="0" marL="0">
              <a:buNone/>
            </a:pPr>
            <a:r>
              <a:rPr lang="en-US" sz="1300" dirty="0">
                <a:solidFill>
                  <a:srgbClr val="16181D"/>
                </a:solidFill>
                <a:latin typeface="BIZ UDPGothic" pitchFamily="34" charset="0"/>
                <a:ea typeface="BIZ UDPGothic" pitchFamily="34" charset="-122"/>
                <a:cs typeface="BIZ UDPGothic" pitchFamily="34" charset="-120"/>
              </a:rPr>
              <a:t>ソフトウェア・センサーの欠陥</a:t>
            </a:r>
            <a:endParaRPr lang="en-US" sz="1300" dirty="0"/>
          </a:p>
        </p:txBody>
      </p:sp>
      <p:sp>
        <p:nvSpPr>
          <p:cNvPr id="8" name="Text 6"/>
          <p:cNvSpPr/>
          <p:nvPr/>
        </p:nvSpPr>
        <p:spPr>
          <a:xfrm>
            <a:off x="5577840" y="2377440"/>
            <a:ext cx="2926080" cy="640080"/>
          </a:xfrm>
          <a:prstGeom prst="rect">
            <a:avLst/>
          </a:prstGeom>
          <a:noFill/>
          <a:ln/>
        </p:spPr>
        <p:txBody>
          <a:bodyPr wrap="square" lIns="0" tIns="0" rIns="0" bIns="0" rtlCol="0" anchor="ctr"/>
          <a:lstStyle/>
          <a:p>
            <a:pPr indent="0" marL="0">
              <a:buNone/>
            </a:pPr>
            <a:r>
              <a:rPr lang="en-US" sz="1300" b="1" dirty="0">
                <a:solidFill>
                  <a:srgbClr val="C8161D"/>
                </a:solidFill>
                <a:latin typeface="BIZ UDPGothic" pitchFamily="34" charset="0"/>
                <a:ea typeface="BIZ UDPGothic" pitchFamily="34" charset="-122"/>
                <a:cs typeface="BIZ UDPGothic" pitchFamily="34" charset="-120"/>
              </a:rPr>
              <a:t>→ システム・車両メーカーの責任</a:t>
            </a:r>
            <a:endParaRPr lang="en-US" sz="1300" dirty="0"/>
          </a:p>
        </p:txBody>
      </p:sp>
      <p:sp>
        <p:nvSpPr>
          <p:cNvPr id="9" name="Shape 7"/>
          <p:cNvSpPr/>
          <p:nvPr/>
        </p:nvSpPr>
        <p:spPr>
          <a:xfrm>
            <a:off x="548640" y="3154680"/>
            <a:ext cx="8046720" cy="640080"/>
          </a:xfrm>
          <a:prstGeom prst="roundRect">
            <a:avLst>
              <a:gd name="adj" fmla="val 8571"/>
            </a:avLst>
          </a:prstGeom>
          <a:solidFill>
            <a:srgbClr val="FFFFFF"/>
          </a:solidFill>
          <a:ln/>
          <a:effectLst>
            <a:outerShdw sx="100000" sy="100000" kx="0" ky="0" algn="bl" rotWithShape="0" blurRad="101600" dist="38100" dir="2700000">
              <a:srgbClr val="000000">
                <a:alpha val="35000"/>
              </a:srgbClr>
            </a:outerShdw>
          </a:effectLst>
        </p:spPr>
      </p:sp>
      <p:sp>
        <p:nvSpPr>
          <p:cNvPr id="10" name="Text 8"/>
          <p:cNvSpPr/>
          <p:nvPr/>
        </p:nvSpPr>
        <p:spPr>
          <a:xfrm>
            <a:off x="731520" y="3154680"/>
            <a:ext cx="548640" cy="640080"/>
          </a:xfrm>
          <a:prstGeom prst="rect">
            <a:avLst/>
          </a:prstGeom>
          <a:noFill/>
          <a:ln/>
        </p:spPr>
        <p:txBody>
          <a:bodyPr wrap="square" lIns="0" tIns="0" rIns="0" bIns="0" rtlCol="0" anchor="ctr"/>
          <a:lstStyle/>
          <a:p>
            <a:pPr indent="0" marL="0">
              <a:buNone/>
            </a:pPr>
            <a:r>
              <a:rPr lang="en-US" sz="2200" dirty="0">
                <a:solidFill>
                  <a:srgbClr val="000000"/>
                </a:solidFill>
                <a:latin typeface="Arial" pitchFamily="34" charset="0"/>
                <a:ea typeface="BIZ UDPGothic" pitchFamily="34" charset="-122"/>
                <a:cs typeface="BIZ UDPGothic" pitchFamily="34" charset="-120"/>
              </a:rPr>
              <a:t>👥</a:t>
            </a:r>
            <a:endParaRPr lang="en-US" sz="2200" dirty="0"/>
          </a:p>
        </p:txBody>
      </p:sp>
      <p:sp>
        <p:nvSpPr>
          <p:cNvPr id="11" name="Text 9"/>
          <p:cNvSpPr/>
          <p:nvPr/>
        </p:nvSpPr>
        <p:spPr>
          <a:xfrm>
            <a:off x="1371600" y="3154680"/>
            <a:ext cx="4114800" cy="640080"/>
          </a:xfrm>
          <a:prstGeom prst="rect">
            <a:avLst/>
          </a:prstGeom>
          <a:noFill/>
          <a:ln/>
        </p:spPr>
        <p:txBody>
          <a:bodyPr wrap="square" lIns="0" tIns="0" rIns="0" bIns="0" rtlCol="0" anchor="ctr"/>
          <a:lstStyle/>
          <a:p>
            <a:pPr indent="0" marL="0">
              <a:buNone/>
            </a:pPr>
            <a:r>
              <a:rPr lang="en-US" sz="1300" dirty="0">
                <a:solidFill>
                  <a:srgbClr val="16181D"/>
                </a:solidFill>
                <a:latin typeface="BIZ UDPGothic" pitchFamily="34" charset="0"/>
                <a:ea typeface="BIZ UDPGothic" pitchFamily="34" charset="-122"/>
                <a:cs typeface="BIZ UDPGothic" pitchFamily="34" charset="-120"/>
              </a:rPr>
              <a:t>運行監視体制の不備・整備不良</a:t>
            </a:r>
            <a:endParaRPr lang="en-US" sz="1300" dirty="0"/>
          </a:p>
        </p:txBody>
      </p:sp>
      <p:sp>
        <p:nvSpPr>
          <p:cNvPr id="12" name="Text 10"/>
          <p:cNvSpPr/>
          <p:nvPr/>
        </p:nvSpPr>
        <p:spPr>
          <a:xfrm>
            <a:off x="5577840" y="3154680"/>
            <a:ext cx="2926080" cy="640080"/>
          </a:xfrm>
          <a:prstGeom prst="rect">
            <a:avLst/>
          </a:prstGeom>
          <a:noFill/>
          <a:ln/>
        </p:spPr>
        <p:txBody>
          <a:bodyPr wrap="square" lIns="0" tIns="0" rIns="0" bIns="0" rtlCol="0" anchor="ctr"/>
          <a:lstStyle/>
          <a:p>
            <a:pPr indent="0" marL="0">
              <a:buNone/>
            </a:pPr>
            <a:r>
              <a:rPr lang="en-US" sz="1300" b="1" dirty="0">
                <a:solidFill>
                  <a:srgbClr val="C8161D"/>
                </a:solidFill>
                <a:latin typeface="BIZ UDPGothic" pitchFamily="34" charset="0"/>
                <a:ea typeface="BIZ UDPGothic" pitchFamily="34" charset="-122"/>
                <a:cs typeface="BIZ UDPGothic" pitchFamily="34" charset="-120"/>
              </a:rPr>
              <a:t>→ 運行企業の責任</a:t>
            </a:r>
            <a:endParaRPr lang="en-US" sz="1300" dirty="0"/>
          </a:p>
        </p:txBody>
      </p:sp>
      <p:sp>
        <p:nvSpPr>
          <p:cNvPr id="13" name="Shape 11"/>
          <p:cNvSpPr/>
          <p:nvPr/>
        </p:nvSpPr>
        <p:spPr>
          <a:xfrm>
            <a:off x="548640" y="3931920"/>
            <a:ext cx="8046720" cy="640080"/>
          </a:xfrm>
          <a:prstGeom prst="roundRect">
            <a:avLst>
              <a:gd name="adj" fmla="val 8571"/>
            </a:avLst>
          </a:prstGeom>
          <a:solidFill>
            <a:srgbClr val="FFFFFF"/>
          </a:solidFill>
          <a:ln/>
          <a:effectLst>
            <a:outerShdw sx="100000" sy="100000" kx="0" ky="0" algn="bl" rotWithShape="0" blurRad="101600" dist="38100" dir="2700000">
              <a:srgbClr val="000000">
                <a:alpha val="35000"/>
              </a:srgbClr>
            </a:outerShdw>
          </a:effectLst>
        </p:spPr>
      </p:sp>
      <p:sp>
        <p:nvSpPr>
          <p:cNvPr id="14" name="Text 12"/>
          <p:cNvSpPr/>
          <p:nvPr/>
        </p:nvSpPr>
        <p:spPr>
          <a:xfrm>
            <a:off x="731520" y="3931920"/>
            <a:ext cx="548640" cy="640080"/>
          </a:xfrm>
          <a:prstGeom prst="rect">
            <a:avLst/>
          </a:prstGeom>
          <a:noFill/>
          <a:ln/>
        </p:spPr>
        <p:txBody>
          <a:bodyPr wrap="square" lIns="0" tIns="0" rIns="0" bIns="0" rtlCol="0" anchor="ctr"/>
          <a:lstStyle/>
          <a:p>
            <a:pPr indent="0" marL="0">
              <a:buNone/>
            </a:pPr>
            <a:r>
              <a:rPr lang="en-US" sz="2200" dirty="0">
                <a:solidFill>
                  <a:srgbClr val="000000"/>
                </a:solidFill>
                <a:latin typeface="Arial" pitchFamily="34" charset="0"/>
                <a:ea typeface="BIZ UDPGothic" pitchFamily="34" charset="-122"/>
                <a:cs typeface="BIZ UDPGothic" pitchFamily="34" charset="-120"/>
              </a:rPr>
              <a:t>⚖️</a:t>
            </a:r>
            <a:endParaRPr lang="en-US" sz="2200" dirty="0"/>
          </a:p>
        </p:txBody>
      </p:sp>
      <p:sp>
        <p:nvSpPr>
          <p:cNvPr id="15" name="Text 13"/>
          <p:cNvSpPr/>
          <p:nvPr/>
        </p:nvSpPr>
        <p:spPr>
          <a:xfrm>
            <a:off x="1371600" y="3931920"/>
            <a:ext cx="4114800" cy="640080"/>
          </a:xfrm>
          <a:prstGeom prst="rect">
            <a:avLst/>
          </a:prstGeom>
          <a:noFill/>
          <a:ln/>
        </p:spPr>
        <p:txBody>
          <a:bodyPr wrap="square" lIns="0" tIns="0" rIns="0" bIns="0" rtlCol="0" anchor="ctr"/>
          <a:lstStyle/>
          <a:p>
            <a:pPr indent="0" marL="0">
              <a:buNone/>
            </a:pPr>
            <a:r>
              <a:rPr lang="en-US" sz="1300" dirty="0">
                <a:solidFill>
                  <a:srgbClr val="16181D"/>
                </a:solidFill>
                <a:latin typeface="BIZ UDPGothic" pitchFamily="34" charset="0"/>
                <a:ea typeface="BIZ UDPGothic" pitchFamily="34" charset="-122"/>
                <a:cs typeface="BIZ UDPGothic" pitchFamily="34" charset="-120"/>
              </a:rPr>
              <a:t>双方に原因がある場合</a:t>
            </a:r>
            <a:endParaRPr lang="en-US" sz="1300" dirty="0"/>
          </a:p>
        </p:txBody>
      </p:sp>
      <p:sp>
        <p:nvSpPr>
          <p:cNvPr id="16" name="Text 14"/>
          <p:cNvSpPr/>
          <p:nvPr/>
        </p:nvSpPr>
        <p:spPr>
          <a:xfrm>
            <a:off x="5577840" y="3931920"/>
            <a:ext cx="2926080" cy="640080"/>
          </a:xfrm>
          <a:prstGeom prst="rect">
            <a:avLst/>
          </a:prstGeom>
          <a:noFill/>
          <a:ln/>
        </p:spPr>
        <p:txBody>
          <a:bodyPr wrap="square" lIns="0" tIns="0" rIns="0" bIns="0" rtlCol="0" anchor="ctr"/>
          <a:lstStyle/>
          <a:p>
            <a:pPr indent="0" marL="0">
              <a:buNone/>
            </a:pPr>
            <a:r>
              <a:rPr lang="en-US" sz="1300" b="1" dirty="0">
                <a:solidFill>
                  <a:srgbClr val="C8161D"/>
                </a:solidFill>
                <a:latin typeface="BIZ UDPGothic" pitchFamily="34" charset="0"/>
                <a:ea typeface="BIZ UDPGothic" pitchFamily="34" charset="-122"/>
                <a:cs typeface="BIZ UDPGothic" pitchFamily="34" charset="-120"/>
              </a:rPr>
              <a:t>→ 按分</a:t>
            </a:r>
            <a:endParaRPr lang="en-US" sz="1300" dirty="0"/>
          </a:p>
        </p:txBody>
      </p:sp>
      <p:sp>
        <p:nvSpPr>
          <p:cNvPr id="17" name="Text 15"/>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18" name="Text 16"/>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SAFETY — DETAIL</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200" b="1" dirty="0">
                <a:solidFill>
                  <a:srgbClr val="16181D"/>
                </a:solidFill>
                <a:latin typeface="BIZ UDPGothic" pitchFamily="34" charset="0"/>
                <a:ea typeface="BIZ UDPGothic" pitchFamily="34" charset="-122"/>
                <a:cs typeface="BIZ UDPGothic" pitchFamily="34" charset="-120"/>
              </a:rPr>
              <a:t>原因がわかるまでの「仮払い」の仕組み</a:t>
            </a:r>
            <a:endParaRPr lang="en-US" sz="2200" dirty="0"/>
          </a:p>
        </p:txBody>
      </p:sp>
      <p:sp>
        <p:nvSpPr>
          <p:cNvPr id="4" name="Text 2"/>
          <p:cNvSpPr/>
          <p:nvPr/>
        </p:nvSpPr>
        <p:spPr>
          <a:xfrm>
            <a:off x="548640" y="1691640"/>
            <a:ext cx="685800" cy="548640"/>
          </a:xfrm>
          <a:prstGeom prst="rect">
            <a:avLst/>
          </a:prstGeom>
          <a:noFill/>
          <a:ln/>
        </p:spPr>
        <p:txBody>
          <a:bodyPr wrap="square" lIns="0" tIns="0" rIns="0" bIns="0" rtlCol="0" anchor="ctr"/>
          <a:lstStyle/>
          <a:p>
            <a:pPr indent="0" marL="0">
              <a:buNone/>
            </a:pPr>
            <a:r>
              <a:rPr lang="en-US" sz="3000" dirty="0">
                <a:solidFill>
                  <a:srgbClr val="000000"/>
                </a:solidFill>
                <a:latin typeface="Arial" pitchFamily="34" charset="0"/>
                <a:ea typeface="BIZ UDPGothic" pitchFamily="34" charset="-122"/>
                <a:cs typeface="BIZ UDPGothic" pitchFamily="34" charset="-120"/>
              </a:rPr>
              <a:t>⏳</a:t>
            </a:r>
            <a:endParaRPr lang="en-US" sz="3000" dirty="0"/>
          </a:p>
        </p:txBody>
      </p:sp>
      <p:sp>
        <p:nvSpPr>
          <p:cNvPr id="5" name="Text 3"/>
          <p:cNvSpPr/>
          <p:nvPr/>
        </p:nvSpPr>
        <p:spPr>
          <a:xfrm>
            <a:off x="1280160" y="1737360"/>
            <a:ext cx="7315200" cy="548640"/>
          </a:xfrm>
          <a:prstGeom prst="rect">
            <a:avLst/>
          </a:prstGeom>
          <a:noFill/>
          <a:ln/>
        </p:spPr>
        <p:txBody>
          <a:bodyPr wrap="square" lIns="0" tIns="0" rIns="0" bIns="0" rtlCol="0" anchor="ctr"/>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事故原因の切り分けには専門的な調査が必要で、時間がかかる</a:t>
            </a:r>
            <a:endParaRPr lang="en-US" sz="1500" dirty="0"/>
          </a:p>
        </p:txBody>
      </p:sp>
      <p:sp>
        <p:nvSpPr>
          <p:cNvPr id="6" name="Shape 4"/>
          <p:cNvSpPr/>
          <p:nvPr/>
        </p:nvSpPr>
        <p:spPr>
          <a:xfrm>
            <a:off x="548640" y="2606040"/>
            <a:ext cx="8046720" cy="1874520"/>
          </a:xfrm>
          <a:prstGeom prst="roundRect">
            <a:avLst>
              <a:gd name="adj" fmla="val 3902"/>
            </a:avLst>
          </a:prstGeom>
          <a:solidFill>
            <a:srgbClr val="FFFFFF"/>
          </a:solidFill>
          <a:ln w="19050">
            <a:solidFill>
              <a:srgbClr val="C8161D"/>
            </a:solidFill>
            <a:prstDash val="solid"/>
          </a:ln>
          <a:effectLst>
            <a:outerShdw sx="100000" sy="100000" kx="0" ky="0" algn="bl" rotWithShape="0" blurRad="101600" dist="38100" dir="2700000">
              <a:srgbClr val="000000">
                <a:alpha val="35000"/>
              </a:srgbClr>
            </a:outerShdw>
          </a:effectLst>
        </p:spPr>
      </p:sp>
      <p:sp>
        <p:nvSpPr>
          <p:cNvPr id="7" name="Text 5"/>
          <p:cNvSpPr/>
          <p:nvPr/>
        </p:nvSpPr>
        <p:spPr>
          <a:xfrm>
            <a:off x="914400" y="2834640"/>
            <a:ext cx="548640" cy="502920"/>
          </a:xfrm>
          <a:prstGeom prst="rect">
            <a:avLst/>
          </a:prstGeom>
          <a:noFill/>
          <a:ln/>
        </p:spPr>
        <p:txBody>
          <a:bodyPr wrap="square" lIns="0" tIns="0" rIns="0" bIns="0" rtlCol="0" anchor="ctr"/>
          <a:lstStyle/>
          <a:p>
            <a:pPr indent="0" marL="0">
              <a:buNone/>
            </a:pPr>
            <a:r>
              <a:rPr lang="en-US" sz="2600" dirty="0">
                <a:solidFill>
                  <a:srgbClr val="000000"/>
                </a:solidFill>
                <a:latin typeface="Arial" pitchFamily="34" charset="0"/>
                <a:ea typeface="BIZ UDPGothic" pitchFamily="34" charset="-122"/>
                <a:cs typeface="BIZ UDPGothic" pitchFamily="34" charset="-120"/>
              </a:rPr>
              <a:t>💰</a:t>
            </a:r>
            <a:endParaRPr lang="en-US" sz="2600" dirty="0"/>
          </a:p>
        </p:txBody>
      </p:sp>
      <p:sp>
        <p:nvSpPr>
          <p:cNvPr id="8" name="Text 6"/>
          <p:cNvSpPr/>
          <p:nvPr/>
        </p:nvSpPr>
        <p:spPr>
          <a:xfrm>
            <a:off x="1554480" y="2880360"/>
            <a:ext cx="6766560" cy="457200"/>
          </a:xfrm>
          <a:prstGeom prst="rect">
            <a:avLst/>
          </a:prstGeom>
          <a:noFill/>
          <a:ln/>
        </p:spPr>
        <p:txBody>
          <a:bodyPr wrap="square" lIns="0" tIns="0" rIns="0" bIns="0" rtlCol="0" anchor="ctr"/>
          <a:lstStyle/>
          <a:p>
            <a:pPr indent="0" marL="0">
              <a:buNone/>
            </a:pPr>
            <a:r>
              <a:rPr lang="en-US" sz="1500" b="1" dirty="0">
                <a:solidFill>
                  <a:srgbClr val="C8161D"/>
                </a:solidFill>
                <a:latin typeface="BIZ UDPGothic" pitchFamily="34" charset="0"/>
                <a:ea typeface="BIZ UDPGothic" pitchFamily="34" charset="-122"/>
                <a:cs typeface="BIZ UDPGothic" pitchFamily="34" charset="-120"/>
              </a:rPr>
              <a:t>原因確定前でも「無過失の仮払いモデル」で被害者に支払う</a:t>
            </a:r>
            <a:endParaRPr lang="en-US" sz="1500" dirty="0"/>
          </a:p>
        </p:txBody>
      </p:sp>
      <p:sp>
        <p:nvSpPr>
          <p:cNvPr id="9" name="Text 7"/>
          <p:cNvSpPr/>
          <p:nvPr/>
        </p:nvSpPr>
        <p:spPr>
          <a:xfrm>
            <a:off x="914400" y="3474720"/>
            <a:ext cx="7315200" cy="822960"/>
          </a:xfrm>
          <a:prstGeom prst="rect">
            <a:avLst/>
          </a:prstGeom>
          <a:noFill/>
          <a:ln/>
        </p:spPr>
        <p:txBody>
          <a:bodyPr wrap="square" lIns="0" tIns="0" rIns="0" bIns="0" rtlCol="0" anchor="t"/>
          <a:lstStyle/>
          <a:p>
            <a:pPr indent="0" marL="0">
              <a:lnSpc>
                <a:spcPct val="130000"/>
              </a:lnSpc>
              <a:buNone/>
            </a:pPr>
            <a:r>
              <a:rPr lang="en-US" sz="1250" dirty="0">
                <a:solidFill>
                  <a:srgbClr val="16181D"/>
                </a:solidFill>
                <a:latin typeface="BIZ UDPGothic" pitchFamily="34" charset="0"/>
                <a:ea typeface="BIZ UDPGothic" pitchFamily="34" charset="-122"/>
                <a:cs typeface="BIZ UDPGothic" pitchFamily="34" charset="-120"/>
              </a:rPr>
              <a:t>日本の自賠責保険に近い発想。原因確定後、企業間・メーカー間で正式な求償を行う。被害者の補償が原因調査の長さに左右されない設計とする。</a:t>
            </a:r>
            <a:endParaRPr lang="en-US" sz="1250" dirty="0"/>
          </a:p>
        </p:txBody>
      </p:sp>
      <p:sp>
        <p:nvSpPr>
          <p:cNvPr id="10" name="Text 8"/>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11" name="Text 9"/>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SAFETY — DETAIL</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200" b="1" dirty="0">
                <a:solidFill>
                  <a:srgbClr val="16181D"/>
                </a:solidFill>
                <a:latin typeface="BIZ UDPGothic" pitchFamily="34" charset="0"/>
                <a:ea typeface="BIZ UDPGothic" pitchFamily="34" charset="-122"/>
                <a:cs typeface="BIZ UDPGothic" pitchFamily="34" charset="-120"/>
              </a:rPr>
              <a:t>判定は国の第三者専門委員会が行う</a:t>
            </a:r>
            <a:endParaRPr lang="en-US" sz="2200" dirty="0"/>
          </a:p>
        </p:txBody>
      </p:sp>
      <p:sp>
        <p:nvSpPr>
          <p:cNvPr id="4" name="Text 2"/>
          <p:cNvSpPr/>
          <p:nvPr/>
        </p:nvSpPr>
        <p:spPr>
          <a:xfrm>
            <a:off x="548640" y="1691640"/>
            <a:ext cx="685800" cy="548640"/>
          </a:xfrm>
          <a:prstGeom prst="rect">
            <a:avLst/>
          </a:prstGeom>
          <a:noFill/>
          <a:ln/>
        </p:spPr>
        <p:txBody>
          <a:bodyPr wrap="square" lIns="0" tIns="0" rIns="0" bIns="0" rtlCol="0" anchor="ctr"/>
          <a:lstStyle/>
          <a:p>
            <a:pPr indent="0" marL="0">
              <a:buNone/>
            </a:pPr>
            <a:r>
              <a:rPr lang="en-US" sz="3000" dirty="0">
                <a:solidFill>
                  <a:srgbClr val="000000"/>
                </a:solidFill>
                <a:latin typeface="Arial" pitchFamily="34" charset="0"/>
                <a:ea typeface="BIZ UDPGothic" pitchFamily="34" charset="-122"/>
                <a:cs typeface="BIZ UDPGothic" pitchFamily="34" charset="-120"/>
              </a:rPr>
              <a:t>🏛️</a:t>
            </a:r>
            <a:endParaRPr lang="en-US" sz="3000" dirty="0"/>
          </a:p>
        </p:txBody>
      </p:sp>
      <p:sp>
        <p:nvSpPr>
          <p:cNvPr id="5" name="Text 3"/>
          <p:cNvSpPr/>
          <p:nvPr/>
        </p:nvSpPr>
        <p:spPr>
          <a:xfrm>
            <a:off x="1280160" y="1737360"/>
            <a:ext cx="7315200" cy="91440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事故原因の判定は、都道府県の特区担当部局ではなく、国・第三者の専門委員会が行う</a:t>
            </a:r>
            <a:endParaRPr lang="en-US" sz="1500" dirty="0"/>
          </a:p>
        </p:txBody>
      </p:sp>
      <p:sp>
        <p:nvSpPr>
          <p:cNvPr id="6" name="Shape 4"/>
          <p:cNvSpPr/>
          <p:nvPr/>
        </p:nvSpPr>
        <p:spPr>
          <a:xfrm>
            <a:off x="548640" y="2788920"/>
            <a:ext cx="8046720" cy="1691640"/>
          </a:xfrm>
          <a:prstGeom prst="roundRect">
            <a:avLst>
              <a:gd name="adj" fmla="val 4324"/>
            </a:avLst>
          </a:prstGeom>
          <a:solidFill>
            <a:srgbClr val="FFFFFF"/>
          </a:solidFill>
          <a:ln/>
          <a:effectLst>
            <a:outerShdw sx="100000" sy="100000" kx="0" ky="0" algn="bl" rotWithShape="0" blurRad="101600" dist="38100" dir="2700000">
              <a:srgbClr val="000000">
                <a:alpha val="35000"/>
              </a:srgbClr>
            </a:outerShdw>
          </a:effectLst>
        </p:spPr>
      </p:sp>
      <p:sp>
        <p:nvSpPr>
          <p:cNvPr id="7" name="Text 5"/>
          <p:cNvSpPr/>
          <p:nvPr/>
        </p:nvSpPr>
        <p:spPr>
          <a:xfrm>
            <a:off x="868680" y="2971800"/>
            <a:ext cx="7406640" cy="1280160"/>
          </a:xfrm>
          <a:prstGeom prst="rect">
            <a:avLst/>
          </a:prstGeom>
          <a:noFill/>
          <a:ln/>
        </p:spPr>
        <p:txBody>
          <a:bodyPr wrap="square" lIns="0" tIns="0" rIns="0" bIns="0" rtlCol="0" anchor="t"/>
          <a:lstStyle/>
          <a:p>
            <a:pPr indent="0" marL="0">
              <a:lnSpc>
                <a:spcPct val="135000"/>
              </a:lnSpc>
              <a:buNone/>
            </a:pPr>
            <a:r>
              <a:rPr lang="en-US" sz="1350" b="1" dirty="0">
                <a:solidFill>
                  <a:srgbClr val="C8161D"/>
                </a:solidFill>
                <a:latin typeface="BIZ UDPGothic" pitchFamily="34" charset="0"/>
                <a:ea typeface="BIZ UDPGothic" pitchFamily="34" charset="-122"/>
                <a:cs typeface="BIZ UDPGothic" pitchFamily="34" charset="-120"/>
              </a:rPr>
              <a:t>委員会には、以下の専門家を必ず組み込む</a:t>
            </a:r>
            <a:endParaRPr lang="en-US" sz="1350" dirty="0"/>
          </a:p>
          <a:p>
            <a:pPr marL="342900" indent="-342900">
              <a:lnSpc>
                <a:spcPct val="135000"/>
              </a:lnSpc>
              <a:buSzPct val="100000"/>
              <a:buChar char="•"/>
            </a:pPr>
            <a:r>
              <a:rPr lang="en-US" sz="1350" dirty="0">
                <a:solidFill>
                  <a:srgbClr val="16181D"/>
                </a:solidFill>
                <a:latin typeface="BIZ UDPGothic" pitchFamily="34" charset="0"/>
                <a:ea typeface="BIZ UDPGothic" pitchFamily="34" charset="-122"/>
                <a:cs typeface="BIZ UDPGothic" pitchFamily="34" charset="-120"/>
              </a:rPr>
              <a:t>システム（ソフトウェア）分野の専門家</a:t>
            </a:r>
            <a:endParaRPr lang="en-US" sz="1350" dirty="0"/>
          </a:p>
          <a:p>
            <a:pPr marL="342900" indent="-342900">
              <a:lnSpc>
                <a:spcPct val="135000"/>
              </a:lnSpc>
              <a:buSzPct val="100000"/>
              <a:buChar char="•"/>
            </a:pPr>
            <a:r>
              <a:rPr lang="en-US" sz="1350" dirty="0">
                <a:solidFill>
                  <a:srgbClr val="16181D"/>
                </a:solidFill>
                <a:latin typeface="BIZ UDPGothic" pitchFamily="34" charset="0"/>
                <a:ea typeface="BIZ UDPGothic" pitchFamily="34" charset="-122"/>
                <a:cs typeface="BIZ UDPGothic" pitchFamily="34" charset="-120"/>
              </a:rPr>
              <a:t>車両（機械工学）分野の専門家</a:t>
            </a:r>
            <a:endParaRPr lang="en-US" sz="1350" dirty="0"/>
          </a:p>
        </p:txBody>
      </p:sp>
      <p:sp>
        <p:nvSpPr>
          <p:cNvPr id="8" name="Text 6"/>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9" name="Text 7"/>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SAFETY — DETAIL</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500" b="1" dirty="0">
                <a:solidFill>
                  <a:srgbClr val="16181D"/>
                </a:solidFill>
                <a:latin typeface="BIZ UDPGothic" pitchFamily="34" charset="0"/>
                <a:ea typeface="BIZ UDPGothic" pitchFamily="34" charset="-122"/>
                <a:cs typeface="BIZ UDPGothic" pitchFamily="34" charset="-120"/>
              </a:rPr>
              <a:t>責任の範囲をさらに拡張する</a:t>
            </a:r>
            <a:endParaRPr lang="en-US" sz="2500" dirty="0"/>
          </a:p>
        </p:txBody>
      </p:sp>
      <p:sp>
        <p:nvSpPr>
          <p:cNvPr id="4" name="Shape 2"/>
          <p:cNvSpPr/>
          <p:nvPr/>
        </p:nvSpPr>
        <p:spPr>
          <a:xfrm>
            <a:off x="548640" y="1691640"/>
            <a:ext cx="3863340" cy="2788920"/>
          </a:xfrm>
          <a:prstGeom prst="roundRect">
            <a:avLst>
              <a:gd name="adj" fmla="val 2623"/>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731520" y="1874520"/>
            <a:ext cx="731520" cy="54864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BIZ UDPGothic" pitchFamily="34" charset="-122"/>
                <a:cs typeface="BIZ UDPGothic" pitchFamily="34" charset="-120"/>
              </a:rPr>
              <a:t>🚗💥</a:t>
            </a:r>
            <a:endParaRPr lang="en-US" sz="2800" dirty="0"/>
          </a:p>
        </p:txBody>
      </p:sp>
      <p:sp>
        <p:nvSpPr>
          <p:cNvPr id="6" name="Text 4"/>
          <p:cNvSpPr/>
          <p:nvPr/>
        </p:nvSpPr>
        <p:spPr>
          <a:xfrm>
            <a:off x="749808" y="2468880"/>
            <a:ext cx="3461004" cy="640080"/>
          </a:xfrm>
          <a:prstGeom prst="rect">
            <a:avLst/>
          </a:prstGeom>
          <a:noFill/>
          <a:ln/>
        </p:spPr>
        <p:txBody>
          <a:bodyPr wrap="square" lIns="0" tIns="0" rIns="0" bIns="0" rtlCol="0" anchor="t"/>
          <a:lstStyle/>
          <a:p>
            <a:pPr indent="0" marL="0">
              <a:lnSpc>
                <a:spcPct val="115000"/>
              </a:lnSpc>
              <a:buNone/>
            </a:pPr>
            <a:r>
              <a:rPr lang="en-US" sz="1400" b="1" dirty="0">
                <a:solidFill>
                  <a:srgbClr val="16181D"/>
                </a:solidFill>
                <a:latin typeface="BIZ UDPGothic" pitchFamily="34" charset="0"/>
                <a:ea typeface="BIZ UDPGothic" pitchFamily="34" charset="-122"/>
                <a:cs typeface="BIZ UDPGothic" pitchFamily="34" charset="-120"/>
              </a:rPr>
              <a:t>接触がなくても責任が生じる</a:t>
            </a:r>
            <a:endParaRPr lang="en-US" sz="1400" dirty="0"/>
          </a:p>
        </p:txBody>
      </p:sp>
      <p:sp>
        <p:nvSpPr>
          <p:cNvPr id="7" name="Text 5"/>
          <p:cNvSpPr/>
          <p:nvPr/>
        </p:nvSpPr>
        <p:spPr>
          <a:xfrm>
            <a:off x="749808" y="3108960"/>
            <a:ext cx="3461004" cy="1188720"/>
          </a:xfrm>
          <a:prstGeom prst="rect">
            <a:avLst/>
          </a:prstGeom>
          <a:noFill/>
          <a:ln/>
        </p:spPr>
        <p:txBody>
          <a:bodyPr wrap="square" lIns="0" tIns="0" rIns="0" bIns="0" rtlCol="0" anchor="t"/>
          <a:lstStyle/>
          <a:p>
            <a:pPr indent="0" marL="0">
              <a:lnSpc>
                <a:spcPct val="120000"/>
              </a:lnSpc>
              <a:buNone/>
            </a:pPr>
            <a:r>
              <a:rPr lang="en-US" sz="1150" dirty="0">
                <a:solidFill>
                  <a:srgbClr val="16181D"/>
                </a:solidFill>
                <a:latin typeface="BIZ UDPGothic" pitchFamily="34" charset="0"/>
                <a:ea typeface="BIZ UDPGothic" pitchFamily="34" charset="-122"/>
                <a:cs typeface="BIZ UDPGothic" pitchFamily="34" charset="-120"/>
              </a:rPr>
              <a:t>無茶な運転・あおり運転的な挙動で無人車両に危険を生じさせた人間側ドライバーにも責任を課す</a:t>
            </a:r>
            <a:endParaRPr lang="en-US" sz="1150" dirty="0"/>
          </a:p>
        </p:txBody>
      </p:sp>
      <p:sp>
        <p:nvSpPr>
          <p:cNvPr id="8" name="Shape 6"/>
          <p:cNvSpPr/>
          <p:nvPr/>
        </p:nvSpPr>
        <p:spPr>
          <a:xfrm>
            <a:off x="4732020" y="1691640"/>
            <a:ext cx="3863340" cy="2788920"/>
          </a:xfrm>
          <a:prstGeom prst="roundRect">
            <a:avLst>
              <a:gd name="adj" fmla="val 2623"/>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9" name="Text 7"/>
          <p:cNvSpPr/>
          <p:nvPr/>
        </p:nvSpPr>
        <p:spPr>
          <a:xfrm>
            <a:off x="4914900" y="1874520"/>
            <a:ext cx="731520" cy="548640"/>
          </a:xfrm>
          <a:prstGeom prst="rect">
            <a:avLst/>
          </a:prstGeom>
          <a:noFill/>
          <a:ln/>
        </p:spPr>
        <p:txBody>
          <a:bodyPr wrap="square" lIns="0" tIns="0" rIns="0" bIns="0" rtlCol="0" anchor="ctr"/>
          <a:lstStyle/>
          <a:p>
            <a:pPr indent="0" marL="0">
              <a:buNone/>
            </a:pPr>
            <a:r>
              <a:rPr lang="en-US" sz="2800" dirty="0">
                <a:solidFill>
                  <a:srgbClr val="000000"/>
                </a:solidFill>
                <a:latin typeface="Arial" pitchFamily="34" charset="0"/>
                <a:ea typeface="BIZ UDPGothic" pitchFamily="34" charset="-122"/>
                <a:cs typeface="BIZ UDPGothic" pitchFamily="34" charset="-120"/>
              </a:rPr>
              <a:t>🔧</a:t>
            </a:r>
            <a:endParaRPr lang="en-US" sz="2800" dirty="0"/>
          </a:p>
        </p:txBody>
      </p:sp>
      <p:sp>
        <p:nvSpPr>
          <p:cNvPr id="10" name="Text 8"/>
          <p:cNvSpPr/>
          <p:nvPr/>
        </p:nvSpPr>
        <p:spPr>
          <a:xfrm>
            <a:off x="4933188" y="2468880"/>
            <a:ext cx="3461004" cy="640080"/>
          </a:xfrm>
          <a:prstGeom prst="rect">
            <a:avLst/>
          </a:prstGeom>
          <a:noFill/>
          <a:ln/>
        </p:spPr>
        <p:txBody>
          <a:bodyPr wrap="square" lIns="0" tIns="0" rIns="0" bIns="0" rtlCol="0" anchor="t"/>
          <a:lstStyle/>
          <a:p>
            <a:pPr indent="0" marL="0">
              <a:lnSpc>
                <a:spcPct val="115000"/>
              </a:lnSpc>
              <a:buNone/>
            </a:pPr>
            <a:r>
              <a:rPr lang="en-US" sz="1400" b="1" dirty="0">
                <a:solidFill>
                  <a:srgbClr val="16181D"/>
                </a:solidFill>
                <a:latin typeface="BIZ UDPGothic" pitchFamily="34" charset="0"/>
                <a:ea typeface="BIZ UDPGothic" pitchFamily="34" charset="-122"/>
                <a:cs typeface="BIZ UDPGothic" pitchFamily="34" charset="-120"/>
              </a:rPr>
              <a:t>誤動作の原因まで遡及</a:t>
            </a:r>
            <a:endParaRPr lang="en-US" sz="1400" dirty="0"/>
          </a:p>
        </p:txBody>
      </p:sp>
      <p:sp>
        <p:nvSpPr>
          <p:cNvPr id="11" name="Text 9"/>
          <p:cNvSpPr/>
          <p:nvPr/>
        </p:nvSpPr>
        <p:spPr>
          <a:xfrm>
            <a:off x="4933188" y="3108960"/>
            <a:ext cx="3461004" cy="1188720"/>
          </a:xfrm>
          <a:prstGeom prst="rect">
            <a:avLst/>
          </a:prstGeom>
          <a:noFill/>
          <a:ln/>
        </p:spPr>
        <p:txBody>
          <a:bodyPr wrap="square" lIns="0" tIns="0" rIns="0" bIns="0" rtlCol="0" anchor="t"/>
          <a:lstStyle/>
          <a:p>
            <a:pPr indent="0" marL="0">
              <a:lnSpc>
                <a:spcPct val="120000"/>
              </a:lnSpc>
              <a:buNone/>
            </a:pPr>
            <a:r>
              <a:rPr lang="en-US" sz="1150" dirty="0">
                <a:solidFill>
                  <a:srgbClr val="16181D"/>
                </a:solidFill>
                <a:latin typeface="BIZ UDPGothic" pitchFamily="34" charset="0"/>
                <a:ea typeface="BIZ UDPGothic" pitchFamily="34" charset="-122"/>
                <a:cs typeface="BIZ UDPGothic" pitchFamily="34" charset="-120"/>
              </a:rPr>
              <a:t>センサー誤動作が事故を招いた場合、整備不良・製造欠陥等、誤動作そのものの原因まで責任を問う</a:t>
            </a:r>
            <a:endParaRPr lang="en-US" sz="1150" dirty="0"/>
          </a:p>
        </p:txBody>
      </p:sp>
      <p:sp>
        <p:nvSpPr>
          <p:cNvPr id="12" name="Text 10"/>
          <p:cNvSpPr/>
          <p:nvPr/>
        </p:nvSpPr>
        <p:spPr>
          <a:xfrm>
            <a:off x="548640" y="4572000"/>
            <a:ext cx="8046720" cy="320040"/>
          </a:xfrm>
          <a:prstGeom prst="rect">
            <a:avLst/>
          </a:prstGeom>
          <a:noFill/>
          <a:ln/>
        </p:spPr>
        <p:txBody>
          <a:bodyPr wrap="square" lIns="0" tIns="0" rIns="0" bIns="0" rtlCol="0" anchor="ctr"/>
          <a:lstStyle/>
          <a:p>
            <a:pPr indent="0" marL="0">
              <a:buNone/>
            </a:pPr>
            <a:r>
              <a:rPr lang="en-US" sz="1300" b="1" dirty="0">
                <a:solidFill>
                  <a:srgbClr val="C8161D"/>
                </a:solidFill>
                <a:latin typeface="BIZ UDPGothic" pitchFamily="34" charset="0"/>
                <a:ea typeface="BIZ UDPGothic" pitchFamily="34" charset="-122"/>
                <a:cs typeface="BIZ UDPGothic" pitchFamily="34" charset="-120"/>
              </a:rPr>
              <a:t>「無人車両だから誰も罰せられない」という抜け道を作らない</a:t>
            </a:r>
            <a:endParaRPr lang="en-US" sz="1300" dirty="0"/>
          </a:p>
        </p:txBody>
      </p:sp>
      <p:sp>
        <p:nvSpPr>
          <p:cNvPr id="13" name="Text 11"/>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14" name="Text 12"/>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FINANCE</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500" b="1" dirty="0">
                <a:solidFill>
                  <a:srgbClr val="16181D"/>
                </a:solidFill>
                <a:latin typeface="BIZ UDPGothic" pitchFamily="34" charset="0"/>
                <a:ea typeface="BIZ UDPGothic" pitchFamily="34" charset="-122"/>
                <a:cs typeface="BIZ UDPGothic" pitchFamily="34" charset="-120"/>
              </a:rPr>
              <a:t>現状の関連予算規模</a:t>
            </a:r>
            <a:endParaRPr lang="en-US" sz="2500" dirty="0"/>
          </a:p>
        </p:txBody>
      </p:sp>
      <p:sp>
        <p:nvSpPr>
          <p:cNvPr id="4" name="Shape 2"/>
          <p:cNvSpPr/>
          <p:nvPr/>
        </p:nvSpPr>
        <p:spPr>
          <a:xfrm>
            <a:off x="548640" y="1691640"/>
            <a:ext cx="2468880" cy="2011680"/>
          </a:xfrm>
          <a:prstGeom prst="roundRect">
            <a:avLst>
              <a:gd name="adj" fmla="val 3636"/>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731520" y="1874520"/>
            <a:ext cx="2103120" cy="731520"/>
          </a:xfrm>
          <a:prstGeom prst="rect">
            <a:avLst/>
          </a:prstGeom>
          <a:noFill/>
          <a:ln/>
        </p:spPr>
        <p:txBody>
          <a:bodyPr wrap="square" lIns="0" tIns="0" rIns="0" bIns="0" rtlCol="0" anchor="t"/>
          <a:lstStyle/>
          <a:p>
            <a:pPr indent="0" marL="0">
              <a:buNone/>
            </a:pPr>
            <a:r>
              <a:rPr lang="en-US" sz="3000" b="1" dirty="0">
                <a:solidFill>
                  <a:srgbClr val="C8161D"/>
                </a:solidFill>
                <a:latin typeface="Arial" pitchFamily="34" charset="0"/>
                <a:ea typeface="BIZ UDPGothic" pitchFamily="34" charset="-122"/>
                <a:cs typeface="BIZ UDPGothic" pitchFamily="34" charset="-120"/>
              </a:rPr>
              <a:t>331億円</a:t>
            </a:r>
            <a:endParaRPr lang="en-US" sz="3000" dirty="0"/>
          </a:p>
        </p:txBody>
      </p:sp>
      <p:sp>
        <p:nvSpPr>
          <p:cNvPr id="6" name="Text 4"/>
          <p:cNvSpPr/>
          <p:nvPr/>
        </p:nvSpPr>
        <p:spPr>
          <a:xfrm>
            <a:off x="731520" y="2606040"/>
            <a:ext cx="2103120" cy="502920"/>
          </a:xfrm>
          <a:prstGeom prst="rect">
            <a:avLst/>
          </a:prstGeom>
          <a:noFill/>
          <a:ln/>
        </p:spPr>
        <p:txBody>
          <a:bodyPr wrap="square" lIns="0" tIns="0" rIns="0" bIns="0" rtlCol="0" anchor="t"/>
          <a:lstStyle/>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地域交通リ・デザイン全体（令和7年度）</a:t>
            </a:r>
            <a:endParaRPr lang="en-US" sz="1250" dirty="0"/>
          </a:p>
        </p:txBody>
      </p:sp>
      <p:sp>
        <p:nvSpPr>
          <p:cNvPr id="7" name="Text 5"/>
          <p:cNvSpPr/>
          <p:nvPr/>
        </p:nvSpPr>
        <p:spPr>
          <a:xfrm>
            <a:off x="731520" y="3108960"/>
            <a:ext cx="2103120" cy="548640"/>
          </a:xfrm>
          <a:prstGeom prst="rect">
            <a:avLst/>
          </a:prstGeom>
          <a:noFill/>
          <a:ln/>
        </p:spPr>
        <p:txBody>
          <a:bodyPr wrap="square" lIns="0" tIns="0" rIns="0" bIns="0" rtlCol="0" anchor="t"/>
          <a:lstStyle/>
          <a:p>
            <a:pPr indent="0" marL="0">
              <a:lnSpc>
                <a:spcPct val="120000"/>
              </a:lnSpc>
              <a:buNone/>
            </a:pPr>
            <a:r>
              <a:rPr lang="en-US" sz="950" dirty="0">
                <a:solidFill>
                  <a:srgbClr val="16181D">
                    <a:alpha val="70000"/>
                  </a:srgbClr>
                </a:solidFill>
                <a:latin typeface="BIZ UDPGothic" pitchFamily="34" charset="0"/>
                <a:ea typeface="BIZ UDPGothic" pitchFamily="34" charset="-122"/>
                <a:cs typeface="BIZ UDPGothic" pitchFamily="34" charset="-120"/>
              </a:rPr>
              <a:t>国土交通省。自動運転社会実装推進事業もこの内数</a:t>
            </a:r>
            <a:endParaRPr lang="en-US" sz="950" dirty="0"/>
          </a:p>
        </p:txBody>
      </p:sp>
      <p:sp>
        <p:nvSpPr>
          <p:cNvPr id="8" name="Shape 6"/>
          <p:cNvSpPr/>
          <p:nvPr/>
        </p:nvSpPr>
        <p:spPr>
          <a:xfrm>
            <a:off x="3337560" y="1691640"/>
            <a:ext cx="2468880" cy="2011680"/>
          </a:xfrm>
          <a:prstGeom prst="roundRect">
            <a:avLst>
              <a:gd name="adj" fmla="val 3636"/>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9" name="Text 7"/>
          <p:cNvSpPr/>
          <p:nvPr/>
        </p:nvSpPr>
        <p:spPr>
          <a:xfrm>
            <a:off x="3520440" y="1874520"/>
            <a:ext cx="2103120" cy="731520"/>
          </a:xfrm>
          <a:prstGeom prst="rect">
            <a:avLst/>
          </a:prstGeom>
          <a:noFill/>
          <a:ln/>
        </p:spPr>
        <p:txBody>
          <a:bodyPr wrap="square" lIns="0" tIns="0" rIns="0" bIns="0" rtlCol="0" anchor="t"/>
          <a:lstStyle/>
          <a:p>
            <a:pPr indent="0" marL="0">
              <a:buNone/>
            </a:pPr>
            <a:r>
              <a:rPr lang="en-US" sz="3000" b="1" dirty="0">
                <a:solidFill>
                  <a:srgbClr val="C8161D"/>
                </a:solidFill>
                <a:latin typeface="Arial" pitchFamily="34" charset="0"/>
                <a:ea typeface="BIZ UDPGothic" pitchFamily="34" charset="-122"/>
                <a:cs typeface="BIZ UDPGothic" pitchFamily="34" charset="-120"/>
              </a:rPr>
              <a:t>3.27億円</a:t>
            </a:r>
            <a:endParaRPr lang="en-US" sz="3000" dirty="0"/>
          </a:p>
        </p:txBody>
      </p:sp>
      <p:sp>
        <p:nvSpPr>
          <p:cNvPr id="10" name="Text 8"/>
          <p:cNvSpPr/>
          <p:nvPr/>
        </p:nvSpPr>
        <p:spPr>
          <a:xfrm>
            <a:off x="3520440" y="2606040"/>
            <a:ext cx="2103120" cy="502920"/>
          </a:xfrm>
          <a:prstGeom prst="rect">
            <a:avLst/>
          </a:prstGeom>
          <a:noFill/>
          <a:ln/>
        </p:spPr>
        <p:txBody>
          <a:bodyPr wrap="square" lIns="0" tIns="0" rIns="0" bIns="0" rtlCol="0" anchor="t"/>
          <a:lstStyle/>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自動運転トラック実証（令和8年度概算要求）</a:t>
            </a:r>
            <a:endParaRPr lang="en-US" sz="1250" dirty="0"/>
          </a:p>
        </p:txBody>
      </p:sp>
      <p:sp>
        <p:nvSpPr>
          <p:cNvPr id="11" name="Text 9"/>
          <p:cNvSpPr/>
          <p:nvPr/>
        </p:nvSpPr>
        <p:spPr>
          <a:xfrm>
            <a:off x="3520440" y="3108960"/>
            <a:ext cx="2103120" cy="548640"/>
          </a:xfrm>
          <a:prstGeom prst="rect">
            <a:avLst/>
          </a:prstGeom>
          <a:noFill/>
          <a:ln/>
        </p:spPr>
        <p:txBody>
          <a:bodyPr wrap="square" lIns="0" tIns="0" rIns="0" bIns="0" rtlCol="0" anchor="t"/>
          <a:lstStyle/>
          <a:p>
            <a:pPr indent="0" marL="0">
              <a:lnSpc>
                <a:spcPct val="120000"/>
              </a:lnSpc>
              <a:buNone/>
            </a:pPr>
            <a:r>
              <a:rPr lang="en-US" sz="950" dirty="0">
                <a:solidFill>
                  <a:srgbClr val="16181D">
                    <a:alpha val="70000"/>
                  </a:srgbClr>
                </a:solidFill>
                <a:latin typeface="BIZ UDPGothic" pitchFamily="34" charset="0"/>
                <a:ea typeface="BIZ UDPGothic" pitchFamily="34" charset="-122"/>
                <a:cs typeface="BIZ UDPGothic" pitchFamily="34" charset="-120"/>
              </a:rPr>
              <a:t>前年度比約40倍。国土交通省 物流・自動車局</a:t>
            </a:r>
            <a:endParaRPr lang="en-US" sz="950" dirty="0"/>
          </a:p>
        </p:txBody>
      </p:sp>
      <p:sp>
        <p:nvSpPr>
          <p:cNvPr id="12" name="Shape 10"/>
          <p:cNvSpPr/>
          <p:nvPr/>
        </p:nvSpPr>
        <p:spPr>
          <a:xfrm>
            <a:off x="6126480" y="1691640"/>
            <a:ext cx="2468880" cy="2011680"/>
          </a:xfrm>
          <a:prstGeom prst="roundRect">
            <a:avLst>
              <a:gd name="adj" fmla="val 3636"/>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13" name="Text 11"/>
          <p:cNvSpPr/>
          <p:nvPr/>
        </p:nvSpPr>
        <p:spPr>
          <a:xfrm>
            <a:off x="6309360" y="1874520"/>
            <a:ext cx="2103120" cy="731520"/>
          </a:xfrm>
          <a:prstGeom prst="rect">
            <a:avLst/>
          </a:prstGeom>
          <a:noFill/>
          <a:ln/>
        </p:spPr>
        <p:txBody>
          <a:bodyPr wrap="square" lIns="0" tIns="0" rIns="0" bIns="0" rtlCol="0" anchor="t"/>
          <a:lstStyle/>
          <a:p>
            <a:pPr indent="0" marL="0">
              <a:buNone/>
            </a:pPr>
            <a:r>
              <a:rPr lang="en-US" sz="3000" b="1" dirty="0">
                <a:solidFill>
                  <a:srgbClr val="C8161D"/>
                </a:solidFill>
                <a:latin typeface="Arial" pitchFamily="34" charset="0"/>
                <a:ea typeface="BIZ UDPGothic" pitchFamily="34" charset="-122"/>
                <a:cs typeface="BIZ UDPGothic" pitchFamily="34" charset="-120"/>
              </a:rPr>
              <a:t>88%</a:t>
            </a:r>
            <a:endParaRPr lang="en-US" sz="3000" dirty="0"/>
          </a:p>
        </p:txBody>
      </p:sp>
      <p:sp>
        <p:nvSpPr>
          <p:cNvPr id="14" name="Text 12"/>
          <p:cNvSpPr/>
          <p:nvPr/>
        </p:nvSpPr>
        <p:spPr>
          <a:xfrm>
            <a:off x="6309360" y="2606040"/>
            <a:ext cx="2103120" cy="502920"/>
          </a:xfrm>
          <a:prstGeom prst="rect">
            <a:avLst/>
          </a:prstGeom>
          <a:noFill/>
          <a:ln/>
        </p:spPr>
        <p:txBody>
          <a:bodyPr wrap="square" lIns="0" tIns="0" rIns="0" bIns="0" rtlCol="0" anchor="t"/>
          <a:lstStyle/>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自動運転バス社会実装の国費補助率</a:t>
            </a:r>
            <a:endParaRPr lang="en-US" sz="1250" dirty="0"/>
          </a:p>
        </p:txBody>
      </p:sp>
      <p:sp>
        <p:nvSpPr>
          <p:cNvPr id="15" name="Text 13"/>
          <p:cNvSpPr/>
          <p:nvPr/>
        </p:nvSpPr>
        <p:spPr>
          <a:xfrm>
            <a:off x="6309360" y="3108960"/>
            <a:ext cx="2103120" cy="548640"/>
          </a:xfrm>
          <a:prstGeom prst="rect">
            <a:avLst/>
          </a:prstGeom>
          <a:noFill/>
          <a:ln/>
        </p:spPr>
        <p:txBody>
          <a:bodyPr wrap="square" lIns="0" tIns="0" rIns="0" bIns="0" rtlCol="0" anchor="t"/>
          <a:lstStyle/>
          <a:p>
            <a:pPr indent="0" marL="0">
              <a:lnSpc>
                <a:spcPct val="120000"/>
              </a:lnSpc>
              <a:buNone/>
            </a:pPr>
            <a:r>
              <a:rPr lang="en-US" sz="950" dirty="0">
                <a:solidFill>
                  <a:srgbClr val="16181D">
                    <a:alpha val="70000"/>
                  </a:srgbClr>
                </a:solidFill>
                <a:latin typeface="BIZ UDPGothic" pitchFamily="34" charset="0"/>
                <a:ea typeface="BIZ UDPGothic" pitchFamily="34" charset="-122"/>
                <a:cs typeface="BIZ UDPGothic" pitchFamily="34" charset="-120"/>
              </a:rPr>
              <a:t>補助率4/5。財務省予算執行調査</a:t>
            </a:r>
            <a:endParaRPr lang="en-US" sz="950" dirty="0"/>
          </a:p>
        </p:txBody>
      </p:sp>
      <p:sp>
        <p:nvSpPr>
          <p:cNvPr id="16" name="Text 14"/>
          <p:cNvSpPr/>
          <p:nvPr/>
        </p:nvSpPr>
        <p:spPr>
          <a:xfrm>
            <a:off x="548640" y="3931920"/>
            <a:ext cx="8046720" cy="822960"/>
          </a:xfrm>
          <a:prstGeom prst="rect">
            <a:avLst/>
          </a:prstGeom>
          <a:noFill/>
          <a:ln/>
        </p:spPr>
        <p:txBody>
          <a:bodyPr wrap="square" lIns="0" tIns="0" rIns="0" bIns="0" rtlCol="0" anchor="ctr"/>
          <a:lstStyle/>
          <a:p>
            <a:pPr indent="0" marL="0">
              <a:lnSpc>
                <a:spcPct val="130000"/>
              </a:lnSpc>
              <a:buNone/>
            </a:pPr>
            <a:r>
              <a:rPr lang="en-US" sz="1200" dirty="0">
                <a:solidFill>
                  <a:srgbClr val="16181D">
                    <a:alpha val="85000"/>
                  </a:srgbClr>
                </a:solidFill>
                <a:latin typeface="BIZ UDPGothic" pitchFamily="34" charset="0"/>
                <a:ea typeface="BIZ UDPGothic" pitchFamily="34" charset="-122"/>
                <a:cs typeface="BIZ UDPGothic" pitchFamily="34" charset="-120"/>
              </a:rPr>
              <a:t>現状、自動運転バスの社会実装はすでに事業財源の88%が国費補助という、ほぼ「補助金依存」の構造。本提言は補助金の“出どころ”を延命目的から業態転換投資目的へ付け替える設計である。</a:t>
            </a:r>
            <a:endParaRPr lang="en-US" sz="1200" dirty="0"/>
          </a:p>
        </p:txBody>
      </p:sp>
      <p:sp>
        <p:nvSpPr>
          <p:cNvPr id="17" name="Text 15"/>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18" name="Text 16"/>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FINANCE — DETAIL</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100" b="1" dirty="0">
                <a:solidFill>
                  <a:srgbClr val="16181D"/>
                </a:solidFill>
                <a:latin typeface="BIZ UDPGothic" pitchFamily="34" charset="0"/>
                <a:ea typeface="BIZ UDPGothic" pitchFamily="34" charset="-122"/>
                <a:cs typeface="BIZ UDPGothic" pitchFamily="34" charset="-120"/>
              </a:rPr>
              <a:t>初年度：小規模スタートの積み上げ試算</a:t>
            </a:r>
            <a:endParaRPr lang="en-US" sz="2100" dirty="0"/>
          </a:p>
        </p:txBody>
      </p:sp>
      <p:sp>
        <p:nvSpPr>
          <p:cNvPr id="4" name="Text 2"/>
          <p:cNvSpPr/>
          <p:nvPr/>
        </p:nvSpPr>
        <p:spPr>
          <a:xfrm>
            <a:off x="548640" y="1554480"/>
            <a:ext cx="8046720" cy="365760"/>
          </a:xfrm>
          <a:prstGeom prst="rect">
            <a:avLst/>
          </a:prstGeom>
          <a:noFill/>
          <a:ln/>
        </p:spPr>
        <p:txBody>
          <a:bodyPr wrap="square" lIns="0" tIns="0" rIns="0" bIns="0" rtlCol="0" anchor="ctr"/>
          <a:lstStyle/>
          <a:p>
            <a:pPr indent="0" marL="0">
              <a:buNone/>
            </a:pPr>
            <a:r>
              <a:rPr lang="en-US" sz="1350" b="1" dirty="0">
                <a:solidFill>
                  <a:srgbClr val="C8161D"/>
                </a:solidFill>
                <a:latin typeface="BIZ UDPGothic" pitchFamily="34" charset="0"/>
                <a:ea typeface="BIZ UDPGothic" pitchFamily="34" charset="-122"/>
                <a:cs typeface="BIZ UDPGothic" pitchFamily="34" charset="-120"/>
              </a:rPr>
              <a:t>前提：5都道府県 × 各10台前後（計50台）</a:t>
            </a:r>
            <a:endParaRPr lang="en-US" sz="13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8046720" cy="914400"/>
        </p:xfrm>
        <a:graphic>
          <a:graphicData uri="http://schemas.openxmlformats.org/drawingml/2006/table">
            <a:tbl>
              <a:tblPr/>
              <a:tblGrid>
                <a:gridCol w="2926080"/>
                <a:gridCol w="2926080"/>
                <a:gridCol w="2194560"/>
              </a:tblGrid>
              <a:tr h="548640">
                <a:tc>
                  <a:txBody>
                    <a:bodyPr/>
                    <a:lstStyle/>
                    <a:p>
                      <a:pPr indent="0" marL="0">
                        <a:buNone/>
                      </a:pPr>
                      <a:r>
                        <a:rPr lang="en-US" sz="1250" b="1" dirty="0">
                          <a:solidFill>
                            <a:srgbClr val="16181D"/>
                          </a:solidFill>
                          <a:latin typeface="BIZ UDPGothic" pitchFamily="34" charset="0"/>
                          <a:ea typeface="BIZ UDPGothic" pitchFamily="34" charset="-122"/>
                          <a:cs typeface="BIZ UDPGothic" pitchFamily="34" charset="-120"/>
                        </a:rPr>
                        <a:t>項目</a:t>
                      </a:r>
                      <a:endParaRPr lang="en-US" sz="1250" dirty="0">
                        <a:latin typeface="BIZ UDPGothic" charset="0"/>
                        <a:ea typeface="BIZ UDPGothic" charset="0"/>
                        <a:cs typeface="BIZ UDPGothic" charset="0"/>
                      </a:endParaRPr>
                    </a:p>
                  </a:txBody>
                  <a:tcPr marL="91440" marR="91440" marT="45720" marB="45720" anchor="ctr">
                    <a:lnL w="12700" cap="flat" cmpd="sng" algn="ctr">
                      <a:solidFill>
                        <a:srgbClr val="DDE0E6"/>
                      </a:solidFill>
                      <a:prstDash val="solid"/>
                      <a:round/>
                      <a:headEnd type="none" w="med" len="med"/>
                      <a:tailEnd type="none" w="med" len="med"/>
                    </a:lnL>
                    <a:lnR w="12700" cap="flat" cmpd="sng" algn="ctr">
                      <a:solidFill>
                        <a:srgbClr val="DDE0E6"/>
                      </a:solidFill>
                      <a:prstDash val="solid"/>
                      <a:round/>
                      <a:headEnd type="none" w="med" len="med"/>
                      <a:tailEnd type="none" w="med" len="med"/>
                    </a:lnR>
                    <a:lnT w="12700" cap="flat" cmpd="sng" algn="ctr">
                      <a:solidFill>
                        <a:srgbClr val="DDE0E6"/>
                      </a:solidFill>
                      <a:prstDash val="solid"/>
                      <a:round/>
                      <a:headEnd type="none" w="med" len="med"/>
                      <a:tailEnd type="none" w="med" len="med"/>
                    </a:lnT>
                    <a:lnB w="12700" cap="flat" cmpd="sng" algn="ctr">
                      <a:solidFill>
                        <a:srgbClr val="DDE0E6"/>
                      </a:solidFill>
                      <a:prstDash val="solid"/>
                      <a:round/>
                      <a:headEnd type="none" w="med" len="med"/>
                      <a:tailEnd type="none" w="med" len="med"/>
                    </a:lnB>
                    <a:solidFill>
                      <a:srgbClr val="DDE0E6"/>
                    </a:solidFill>
                  </a:tcPr>
                </a:tc>
                <a:tc>
                  <a:txBody>
                    <a:bodyPr/>
                    <a:lstStyle/>
                    <a:p>
                      <a:pPr indent="0" marL="0">
                        <a:buNone/>
                      </a:pPr>
                      <a:r>
                        <a:rPr lang="en-US" sz="1250" b="1" dirty="0">
                          <a:solidFill>
                            <a:srgbClr val="16181D"/>
                          </a:solidFill>
                          <a:latin typeface="BIZ UDPGothic" pitchFamily="34" charset="0"/>
                          <a:ea typeface="BIZ UDPGothic" pitchFamily="34" charset="-122"/>
                          <a:cs typeface="BIZ UDPGothic" pitchFamily="34" charset="-120"/>
                        </a:rPr>
                        <a:t>単価</a:t>
                      </a:r>
                      <a:endParaRPr lang="en-US" sz="1250" dirty="0">
                        <a:latin typeface="BIZ UDPGothic" charset="0"/>
                        <a:ea typeface="BIZ UDPGothic" charset="0"/>
                        <a:cs typeface="BIZ UDPGothic" charset="0"/>
                      </a:endParaRPr>
                    </a:p>
                  </a:txBody>
                  <a:tcPr marL="91440" marR="91440" marT="45720" marB="45720" anchor="ctr">
                    <a:lnL w="12700" cap="flat" cmpd="sng" algn="ctr">
                      <a:solidFill>
                        <a:srgbClr val="DDE0E6"/>
                      </a:solidFill>
                      <a:prstDash val="solid"/>
                      <a:round/>
                      <a:headEnd type="none" w="med" len="med"/>
                      <a:tailEnd type="none" w="med" len="med"/>
                    </a:lnL>
                    <a:lnR w="12700" cap="flat" cmpd="sng" algn="ctr">
                      <a:solidFill>
                        <a:srgbClr val="DDE0E6"/>
                      </a:solidFill>
                      <a:prstDash val="solid"/>
                      <a:round/>
                      <a:headEnd type="none" w="med" len="med"/>
                      <a:tailEnd type="none" w="med" len="med"/>
                    </a:lnR>
                    <a:lnT w="12700" cap="flat" cmpd="sng" algn="ctr">
                      <a:solidFill>
                        <a:srgbClr val="DDE0E6"/>
                      </a:solidFill>
                      <a:prstDash val="solid"/>
                      <a:round/>
                      <a:headEnd type="none" w="med" len="med"/>
                      <a:tailEnd type="none" w="med" len="med"/>
                    </a:lnT>
                    <a:lnB w="12700" cap="flat" cmpd="sng" algn="ctr">
                      <a:solidFill>
                        <a:srgbClr val="DDE0E6"/>
                      </a:solidFill>
                      <a:prstDash val="solid"/>
                      <a:round/>
                      <a:headEnd type="none" w="med" len="med"/>
                      <a:tailEnd type="none" w="med" len="med"/>
                    </a:lnB>
                    <a:solidFill>
                      <a:srgbClr val="DDE0E6"/>
                    </a:solidFill>
                  </a:tcPr>
                </a:tc>
                <a:tc>
                  <a:txBody>
                    <a:bodyPr/>
                    <a:lstStyle/>
                    <a:p>
                      <a:pPr indent="0" marL="0">
                        <a:buNone/>
                      </a:pPr>
                      <a:r>
                        <a:rPr lang="en-US" sz="1250" b="1" dirty="0">
                          <a:solidFill>
                            <a:srgbClr val="16181D"/>
                          </a:solidFill>
                          <a:latin typeface="BIZ UDPGothic" pitchFamily="34" charset="0"/>
                          <a:ea typeface="BIZ UDPGothic" pitchFamily="34" charset="-122"/>
                          <a:cs typeface="BIZ UDPGothic" pitchFamily="34" charset="-120"/>
                        </a:rPr>
                        <a:t>金額</a:t>
                      </a:r>
                      <a:endParaRPr lang="en-US" sz="1250" dirty="0">
                        <a:latin typeface="BIZ UDPGothic" charset="0"/>
                        <a:ea typeface="BIZ UDPGothic" charset="0"/>
                        <a:cs typeface="BIZ UDPGothic" charset="0"/>
                      </a:endParaRPr>
                    </a:p>
                  </a:txBody>
                  <a:tcPr marL="91440" marR="91440" marT="45720" marB="45720" anchor="ctr">
                    <a:lnL w="12700" cap="flat" cmpd="sng" algn="ctr">
                      <a:solidFill>
                        <a:srgbClr val="DDE0E6"/>
                      </a:solidFill>
                      <a:prstDash val="solid"/>
                      <a:round/>
                      <a:headEnd type="none" w="med" len="med"/>
                      <a:tailEnd type="none" w="med" len="med"/>
                    </a:lnL>
                    <a:lnR w="12700" cap="flat" cmpd="sng" algn="ctr">
                      <a:solidFill>
                        <a:srgbClr val="DDE0E6"/>
                      </a:solidFill>
                      <a:prstDash val="solid"/>
                      <a:round/>
                      <a:headEnd type="none" w="med" len="med"/>
                      <a:tailEnd type="none" w="med" len="med"/>
                    </a:lnR>
                    <a:lnT w="12700" cap="flat" cmpd="sng" algn="ctr">
                      <a:solidFill>
                        <a:srgbClr val="DDE0E6"/>
                      </a:solidFill>
                      <a:prstDash val="solid"/>
                      <a:round/>
                      <a:headEnd type="none" w="med" len="med"/>
                      <a:tailEnd type="none" w="med" len="med"/>
                    </a:lnT>
                    <a:lnB w="12700" cap="flat" cmpd="sng" algn="ctr">
                      <a:solidFill>
                        <a:srgbClr val="DDE0E6"/>
                      </a:solidFill>
                      <a:prstDash val="solid"/>
                      <a:round/>
                      <a:headEnd type="none" w="med" len="med"/>
                      <a:tailEnd type="none" w="med" len="med"/>
                    </a:lnB>
                    <a:solidFill>
                      <a:srgbClr val="DDE0E6"/>
                    </a:solidFill>
                  </a:tcPr>
                </a:tc>
              </a:tr>
              <a:tr h="548640">
                <a:tc>
                  <a:txBody>
                    <a:bodyPr/>
                    <a:lstStyle/>
                    <a:p>
                      <a:pPr indent="0" marL="0">
                        <a:buNone/>
                      </a:pPr>
                      <a:r>
                        <a:rPr lang="en-US" sz="1250" dirty="0">
                          <a:solidFill>
                            <a:srgbClr val="16181D"/>
                          </a:solidFill>
                          <a:latin typeface="BIZ UDPGothic" pitchFamily="34" charset="0"/>
                          <a:ea typeface="BIZ UDPGothic" pitchFamily="34" charset="-122"/>
                          <a:cs typeface="BIZ UDPGothic" pitchFamily="34" charset="-120"/>
                        </a:rPr>
                        <a:t>車両購入・改造費</a:t>
                      </a:r>
                      <a:endParaRPr lang="en-US" sz="1250" dirty="0">
                        <a:latin typeface="BIZ UDPGothic" charset="0"/>
                        <a:ea typeface="BIZ UDPGothic" charset="0"/>
                        <a:cs typeface="BIZ UDPGothic" charset="0"/>
                      </a:endParaRPr>
                    </a:p>
                  </a:txBody>
                  <a:tcPr marL="91440" marR="91440" marT="45720" marB="45720" anchor="ctr">
                    <a:lnL w="12700" cap="flat" cmpd="sng" algn="ctr">
                      <a:solidFill>
                        <a:srgbClr val="DDE0E6"/>
                      </a:solidFill>
                      <a:prstDash val="solid"/>
                      <a:round/>
                      <a:headEnd type="none" w="med" len="med"/>
                      <a:tailEnd type="none" w="med" len="med"/>
                    </a:lnL>
                    <a:lnR w="12700" cap="flat" cmpd="sng" algn="ctr">
                      <a:solidFill>
                        <a:srgbClr val="DDE0E6"/>
                      </a:solidFill>
                      <a:prstDash val="solid"/>
                      <a:round/>
                      <a:headEnd type="none" w="med" len="med"/>
                      <a:tailEnd type="none" w="med" len="med"/>
                    </a:lnR>
                    <a:lnT w="12700" cap="flat" cmpd="sng" algn="ctr">
                      <a:solidFill>
                        <a:srgbClr val="DDE0E6"/>
                      </a:solidFill>
                      <a:prstDash val="solid"/>
                      <a:round/>
                      <a:headEnd type="none" w="med" len="med"/>
                      <a:tailEnd type="none" w="med" len="med"/>
                    </a:lnT>
                    <a:lnB w="12700" cap="flat" cmpd="sng" algn="ctr">
                      <a:solidFill>
                        <a:srgbClr val="DDE0E6"/>
                      </a:solidFill>
                      <a:prstDash val="solid"/>
                      <a:round/>
                      <a:headEnd type="none" w="med" len="med"/>
                      <a:tailEnd type="none" w="med" len="med"/>
                    </a:lnB>
                    <a:solidFill>
                      <a:srgbClr val="FFFFFF"/>
                    </a:solidFill>
                  </a:tcPr>
                </a:tc>
                <a:tc>
                  <a:txBody>
                    <a:bodyPr/>
                    <a:lstStyle/>
                    <a:p>
                      <a:pPr indent="0" marL="0">
                        <a:buNone/>
                      </a:pPr>
                      <a:r>
                        <a:rPr lang="en-US" sz="1250" dirty="0">
                          <a:solidFill>
                            <a:srgbClr val="16181D"/>
                          </a:solidFill>
                          <a:latin typeface="BIZ UDPGothic" pitchFamily="34" charset="0"/>
                          <a:ea typeface="BIZ UDPGothic" pitchFamily="34" charset="-122"/>
                          <a:cs typeface="BIZ UDPGothic" pitchFamily="34" charset="-120"/>
                        </a:rPr>
                        <a:t>5,500万〜1.1億円/台</a:t>
                      </a:r>
                      <a:endParaRPr lang="en-US" sz="1250" dirty="0">
                        <a:latin typeface="BIZ UDPGothic" charset="0"/>
                        <a:ea typeface="BIZ UDPGothic" charset="0"/>
                        <a:cs typeface="BIZ UDPGothic" charset="0"/>
                      </a:endParaRPr>
                    </a:p>
                  </a:txBody>
                  <a:tcPr marL="91440" marR="91440" marT="45720" marB="45720" anchor="ctr">
                    <a:lnL w="12700" cap="flat" cmpd="sng" algn="ctr">
                      <a:solidFill>
                        <a:srgbClr val="DDE0E6"/>
                      </a:solidFill>
                      <a:prstDash val="solid"/>
                      <a:round/>
                      <a:headEnd type="none" w="med" len="med"/>
                      <a:tailEnd type="none" w="med" len="med"/>
                    </a:lnL>
                    <a:lnR w="12700" cap="flat" cmpd="sng" algn="ctr">
                      <a:solidFill>
                        <a:srgbClr val="DDE0E6"/>
                      </a:solidFill>
                      <a:prstDash val="solid"/>
                      <a:round/>
                      <a:headEnd type="none" w="med" len="med"/>
                      <a:tailEnd type="none" w="med" len="med"/>
                    </a:lnR>
                    <a:lnT w="12700" cap="flat" cmpd="sng" algn="ctr">
                      <a:solidFill>
                        <a:srgbClr val="DDE0E6"/>
                      </a:solidFill>
                      <a:prstDash val="solid"/>
                      <a:round/>
                      <a:headEnd type="none" w="med" len="med"/>
                      <a:tailEnd type="none" w="med" len="med"/>
                    </a:lnT>
                    <a:lnB w="12700" cap="flat" cmpd="sng" algn="ctr">
                      <a:solidFill>
                        <a:srgbClr val="DDE0E6"/>
                      </a:solidFill>
                      <a:prstDash val="solid"/>
                      <a:round/>
                      <a:headEnd type="none" w="med" len="med"/>
                      <a:tailEnd type="none" w="med" len="med"/>
                    </a:lnB>
                    <a:solidFill>
                      <a:srgbClr val="FFFFFF"/>
                    </a:solidFill>
                  </a:tcPr>
                </a:tc>
                <a:tc>
                  <a:txBody>
                    <a:bodyPr/>
                    <a:lstStyle/>
                    <a:p>
                      <a:pPr indent="0" marL="0">
                        <a:buNone/>
                      </a:pPr>
                      <a:r>
                        <a:rPr lang="en-US" sz="1250" dirty="0">
                          <a:solidFill>
                            <a:srgbClr val="16181D"/>
                          </a:solidFill>
                          <a:latin typeface="BIZ UDPGothic" pitchFamily="34" charset="0"/>
                          <a:ea typeface="BIZ UDPGothic" pitchFamily="34" charset="-122"/>
                          <a:cs typeface="BIZ UDPGothic" pitchFamily="34" charset="-120"/>
                        </a:rPr>
                        <a:t>27.5億〜55億円</a:t>
                      </a:r>
                      <a:endParaRPr lang="en-US" sz="1250" dirty="0">
                        <a:latin typeface="BIZ UDPGothic" charset="0"/>
                        <a:ea typeface="BIZ UDPGothic" charset="0"/>
                        <a:cs typeface="BIZ UDPGothic" charset="0"/>
                      </a:endParaRPr>
                    </a:p>
                  </a:txBody>
                  <a:tcPr marL="91440" marR="91440" marT="45720" marB="45720" anchor="ctr">
                    <a:lnL w="12700" cap="flat" cmpd="sng" algn="ctr">
                      <a:solidFill>
                        <a:srgbClr val="DDE0E6"/>
                      </a:solidFill>
                      <a:prstDash val="solid"/>
                      <a:round/>
                      <a:headEnd type="none" w="med" len="med"/>
                      <a:tailEnd type="none" w="med" len="med"/>
                    </a:lnL>
                    <a:lnR w="12700" cap="flat" cmpd="sng" algn="ctr">
                      <a:solidFill>
                        <a:srgbClr val="DDE0E6"/>
                      </a:solidFill>
                      <a:prstDash val="solid"/>
                      <a:round/>
                      <a:headEnd type="none" w="med" len="med"/>
                      <a:tailEnd type="none" w="med" len="med"/>
                    </a:lnR>
                    <a:lnT w="12700" cap="flat" cmpd="sng" algn="ctr">
                      <a:solidFill>
                        <a:srgbClr val="DDE0E6"/>
                      </a:solidFill>
                      <a:prstDash val="solid"/>
                      <a:round/>
                      <a:headEnd type="none" w="med" len="med"/>
                      <a:tailEnd type="none" w="med" len="med"/>
                    </a:lnT>
                    <a:lnB w="12700" cap="flat" cmpd="sng" algn="ctr">
                      <a:solidFill>
                        <a:srgbClr val="DDE0E6"/>
                      </a:solidFill>
                      <a:prstDash val="solid"/>
                      <a:round/>
                      <a:headEnd type="none" w="med" len="med"/>
                      <a:tailEnd type="none" w="med" len="med"/>
                    </a:lnB>
                    <a:solidFill>
                      <a:srgbClr val="FFFFFF"/>
                    </a:solidFill>
                  </a:tcPr>
                </a:tc>
              </a:tr>
              <a:tr h="548640">
                <a:tc>
                  <a:txBody>
                    <a:bodyPr/>
                    <a:lstStyle/>
                    <a:p>
                      <a:pPr indent="0" marL="0">
                        <a:buNone/>
                      </a:pPr>
                      <a:r>
                        <a:rPr lang="en-US" sz="1250" dirty="0">
                          <a:solidFill>
                            <a:srgbClr val="16181D"/>
                          </a:solidFill>
                          <a:latin typeface="BIZ UDPGothic" pitchFamily="34" charset="0"/>
                          <a:ea typeface="BIZ UDPGothic" pitchFamily="34" charset="-122"/>
                          <a:cs typeface="BIZ UDPGothic" pitchFamily="34" charset="-120"/>
                        </a:rPr>
                        <a:t>3Dマップ・走行ルート整備</a:t>
                      </a:r>
                      <a:endParaRPr lang="en-US" sz="1250" dirty="0">
                        <a:latin typeface="BIZ UDPGothic" charset="0"/>
                        <a:ea typeface="BIZ UDPGothic" charset="0"/>
                        <a:cs typeface="BIZ UDPGothic" charset="0"/>
                      </a:endParaRPr>
                    </a:p>
                  </a:txBody>
                  <a:tcPr marL="91440" marR="91440" marT="45720" marB="45720" anchor="ctr">
                    <a:lnL w="12700" cap="flat" cmpd="sng" algn="ctr">
                      <a:solidFill>
                        <a:srgbClr val="DDE0E6"/>
                      </a:solidFill>
                      <a:prstDash val="solid"/>
                      <a:round/>
                      <a:headEnd type="none" w="med" len="med"/>
                      <a:tailEnd type="none" w="med" len="med"/>
                    </a:lnL>
                    <a:lnR w="12700" cap="flat" cmpd="sng" algn="ctr">
                      <a:solidFill>
                        <a:srgbClr val="DDE0E6"/>
                      </a:solidFill>
                      <a:prstDash val="solid"/>
                      <a:round/>
                      <a:headEnd type="none" w="med" len="med"/>
                      <a:tailEnd type="none" w="med" len="med"/>
                    </a:lnR>
                    <a:lnT w="12700" cap="flat" cmpd="sng" algn="ctr">
                      <a:solidFill>
                        <a:srgbClr val="DDE0E6"/>
                      </a:solidFill>
                      <a:prstDash val="solid"/>
                      <a:round/>
                      <a:headEnd type="none" w="med" len="med"/>
                      <a:tailEnd type="none" w="med" len="med"/>
                    </a:lnT>
                    <a:lnB w="12700" cap="flat" cmpd="sng" algn="ctr">
                      <a:solidFill>
                        <a:srgbClr val="DDE0E6"/>
                      </a:solidFill>
                      <a:prstDash val="solid"/>
                      <a:round/>
                      <a:headEnd type="none" w="med" len="med"/>
                      <a:tailEnd type="none" w="med" len="med"/>
                    </a:lnB>
                    <a:solidFill>
                      <a:srgbClr val="FFFFFF"/>
                    </a:solidFill>
                  </a:tcPr>
                </a:tc>
                <a:tc>
                  <a:txBody>
                    <a:bodyPr/>
                    <a:lstStyle/>
                    <a:p>
                      <a:pPr indent="0" marL="0">
                        <a:buNone/>
                      </a:pPr>
                      <a:r>
                        <a:rPr lang="en-US" sz="1250" dirty="0">
                          <a:solidFill>
                            <a:srgbClr val="16181D"/>
                          </a:solidFill>
                          <a:latin typeface="BIZ UDPGothic" pitchFamily="34" charset="0"/>
                          <a:ea typeface="BIZ UDPGothic" pitchFamily="34" charset="-122"/>
                          <a:cs typeface="BIZ UDPGothic" pitchFamily="34" charset="-120"/>
                        </a:rPr>
                        <a:t>1,000万〜2,000万円/路線</a:t>
                      </a:r>
                      <a:endParaRPr lang="en-US" sz="1250" dirty="0">
                        <a:latin typeface="BIZ UDPGothic" charset="0"/>
                        <a:ea typeface="BIZ UDPGothic" charset="0"/>
                        <a:cs typeface="BIZ UDPGothic" charset="0"/>
                      </a:endParaRPr>
                    </a:p>
                  </a:txBody>
                  <a:tcPr marL="91440" marR="91440" marT="45720" marB="45720" anchor="ctr">
                    <a:lnL w="12700" cap="flat" cmpd="sng" algn="ctr">
                      <a:solidFill>
                        <a:srgbClr val="DDE0E6"/>
                      </a:solidFill>
                      <a:prstDash val="solid"/>
                      <a:round/>
                      <a:headEnd type="none" w="med" len="med"/>
                      <a:tailEnd type="none" w="med" len="med"/>
                    </a:lnL>
                    <a:lnR w="12700" cap="flat" cmpd="sng" algn="ctr">
                      <a:solidFill>
                        <a:srgbClr val="DDE0E6"/>
                      </a:solidFill>
                      <a:prstDash val="solid"/>
                      <a:round/>
                      <a:headEnd type="none" w="med" len="med"/>
                      <a:tailEnd type="none" w="med" len="med"/>
                    </a:lnR>
                    <a:lnT w="12700" cap="flat" cmpd="sng" algn="ctr">
                      <a:solidFill>
                        <a:srgbClr val="DDE0E6"/>
                      </a:solidFill>
                      <a:prstDash val="solid"/>
                      <a:round/>
                      <a:headEnd type="none" w="med" len="med"/>
                      <a:tailEnd type="none" w="med" len="med"/>
                    </a:lnT>
                    <a:lnB w="12700" cap="flat" cmpd="sng" algn="ctr">
                      <a:solidFill>
                        <a:srgbClr val="DDE0E6"/>
                      </a:solidFill>
                      <a:prstDash val="solid"/>
                      <a:round/>
                      <a:headEnd type="none" w="med" len="med"/>
                      <a:tailEnd type="none" w="med" len="med"/>
                    </a:lnB>
                    <a:solidFill>
                      <a:srgbClr val="FFFFFF"/>
                    </a:solidFill>
                  </a:tcPr>
                </a:tc>
                <a:tc>
                  <a:txBody>
                    <a:bodyPr/>
                    <a:lstStyle/>
                    <a:p>
                      <a:pPr indent="0" marL="0">
                        <a:buNone/>
                      </a:pPr>
                      <a:r>
                        <a:rPr lang="en-US" sz="1250" dirty="0">
                          <a:solidFill>
                            <a:srgbClr val="16181D"/>
                          </a:solidFill>
                          <a:latin typeface="BIZ UDPGothic" pitchFamily="34" charset="0"/>
                          <a:ea typeface="BIZ UDPGothic" pitchFamily="34" charset="-122"/>
                          <a:cs typeface="BIZ UDPGothic" pitchFamily="34" charset="-120"/>
                        </a:rPr>
                        <a:t>1億〜2億円</a:t>
                      </a:r>
                      <a:endParaRPr lang="en-US" sz="1250" dirty="0">
                        <a:latin typeface="BIZ UDPGothic" charset="0"/>
                        <a:ea typeface="BIZ UDPGothic" charset="0"/>
                        <a:cs typeface="BIZ UDPGothic" charset="0"/>
                      </a:endParaRPr>
                    </a:p>
                  </a:txBody>
                  <a:tcPr marL="91440" marR="91440" marT="45720" marB="45720" anchor="ctr">
                    <a:lnL w="12700" cap="flat" cmpd="sng" algn="ctr">
                      <a:solidFill>
                        <a:srgbClr val="DDE0E6"/>
                      </a:solidFill>
                      <a:prstDash val="solid"/>
                      <a:round/>
                      <a:headEnd type="none" w="med" len="med"/>
                      <a:tailEnd type="none" w="med" len="med"/>
                    </a:lnL>
                    <a:lnR w="12700" cap="flat" cmpd="sng" algn="ctr">
                      <a:solidFill>
                        <a:srgbClr val="DDE0E6"/>
                      </a:solidFill>
                      <a:prstDash val="solid"/>
                      <a:round/>
                      <a:headEnd type="none" w="med" len="med"/>
                      <a:tailEnd type="none" w="med" len="med"/>
                    </a:lnR>
                    <a:lnT w="12700" cap="flat" cmpd="sng" algn="ctr">
                      <a:solidFill>
                        <a:srgbClr val="DDE0E6"/>
                      </a:solidFill>
                      <a:prstDash val="solid"/>
                      <a:round/>
                      <a:headEnd type="none" w="med" len="med"/>
                      <a:tailEnd type="none" w="med" len="med"/>
                    </a:lnT>
                    <a:lnB w="12700" cap="flat" cmpd="sng" algn="ctr">
                      <a:solidFill>
                        <a:srgbClr val="DDE0E6"/>
                      </a:solidFill>
                      <a:prstDash val="solid"/>
                      <a:round/>
                      <a:headEnd type="none" w="med" len="med"/>
                      <a:tailEnd type="none" w="med" len="med"/>
                    </a:lnB>
                    <a:solidFill>
                      <a:srgbClr val="FFFFFF"/>
                    </a:solidFill>
                  </a:tcPr>
                </a:tc>
              </a:tr>
              <a:tr h="548640">
                <a:tc>
                  <a:txBody>
                    <a:bodyPr/>
                    <a:lstStyle/>
                    <a:p>
                      <a:pPr indent="0" marL="0">
                        <a:buNone/>
                      </a:pPr>
                      <a:r>
                        <a:rPr lang="en-US" sz="1250" b="1" dirty="0">
                          <a:solidFill>
                            <a:srgbClr val="C8161D"/>
                          </a:solidFill>
                          <a:latin typeface="BIZ UDPGothic" pitchFamily="34" charset="0"/>
                          <a:ea typeface="BIZ UDPGothic" pitchFamily="34" charset="-122"/>
                          <a:cs typeface="BIZ UDPGothic" pitchFamily="34" charset="-120"/>
                        </a:rPr>
                        <a:t>初年度合計</a:t>
                      </a:r>
                      <a:endParaRPr lang="en-US" sz="1250" dirty="0">
                        <a:latin typeface="BIZ UDPGothic" charset="0"/>
                        <a:ea typeface="BIZ UDPGothic" charset="0"/>
                        <a:cs typeface="BIZ UDPGothic" charset="0"/>
                      </a:endParaRPr>
                    </a:p>
                  </a:txBody>
                  <a:tcPr marL="91440" marR="91440" marT="45720" marB="45720" anchor="ctr">
                    <a:lnL w="12700" cap="flat" cmpd="sng" algn="ctr">
                      <a:solidFill>
                        <a:srgbClr val="DDE0E6"/>
                      </a:solidFill>
                      <a:prstDash val="solid"/>
                      <a:round/>
                      <a:headEnd type="none" w="med" len="med"/>
                      <a:tailEnd type="none" w="med" len="med"/>
                    </a:lnL>
                    <a:lnR w="12700" cap="flat" cmpd="sng" algn="ctr">
                      <a:solidFill>
                        <a:srgbClr val="DDE0E6"/>
                      </a:solidFill>
                      <a:prstDash val="solid"/>
                      <a:round/>
                      <a:headEnd type="none" w="med" len="med"/>
                      <a:tailEnd type="none" w="med" len="med"/>
                    </a:lnR>
                    <a:lnT w="12700" cap="flat" cmpd="sng" algn="ctr">
                      <a:solidFill>
                        <a:srgbClr val="DDE0E6"/>
                      </a:solidFill>
                      <a:prstDash val="solid"/>
                      <a:round/>
                      <a:headEnd type="none" w="med" len="med"/>
                      <a:tailEnd type="none" w="med" len="med"/>
                    </a:lnT>
                    <a:lnB w="12700" cap="flat" cmpd="sng" algn="ctr">
                      <a:solidFill>
                        <a:srgbClr val="DDE0E6"/>
                      </a:solidFill>
                      <a:prstDash val="solid"/>
                      <a:round/>
                      <a:headEnd type="none" w="med" len="med"/>
                      <a:tailEnd type="none" w="med" len="med"/>
                    </a:lnB>
                    <a:solidFill>
                      <a:srgbClr val="FFFFFF"/>
                    </a:solidFill>
                  </a:tcPr>
                </a:tc>
                <a:tc>
                  <a:txBody>
                    <a:bodyPr/>
                    <a:lstStyle/>
                    <a:p>
                      <a:pPr indent="0" marL="0">
                        <a:buNone/>
                      </a:pPr>
                      <a:endParaRPr lang="en-US" sz="1250" dirty="0">
                        <a:latin typeface="BIZ UDPGothic" charset="0"/>
                        <a:ea typeface="BIZ UDPGothic" charset="0"/>
                        <a:cs typeface="BIZ UDPGothic" charset="0"/>
                      </a:endParaRPr>
                    </a:p>
                  </a:txBody>
                  <a:tcPr marL="91440" marR="91440" marT="45720" marB="45720" anchor="ctr">
                    <a:lnL w="12700" cap="flat" cmpd="sng" algn="ctr">
                      <a:solidFill>
                        <a:srgbClr val="DDE0E6"/>
                      </a:solidFill>
                      <a:prstDash val="solid"/>
                      <a:round/>
                      <a:headEnd type="none" w="med" len="med"/>
                      <a:tailEnd type="none" w="med" len="med"/>
                    </a:lnL>
                    <a:lnR w="12700" cap="flat" cmpd="sng" algn="ctr">
                      <a:solidFill>
                        <a:srgbClr val="DDE0E6"/>
                      </a:solidFill>
                      <a:prstDash val="solid"/>
                      <a:round/>
                      <a:headEnd type="none" w="med" len="med"/>
                      <a:tailEnd type="none" w="med" len="med"/>
                    </a:lnR>
                    <a:lnT w="12700" cap="flat" cmpd="sng" algn="ctr">
                      <a:solidFill>
                        <a:srgbClr val="DDE0E6"/>
                      </a:solidFill>
                      <a:prstDash val="solid"/>
                      <a:round/>
                      <a:headEnd type="none" w="med" len="med"/>
                      <a:tailEnd type="none" w="med" len="med"/>
                    </a:lnT>
                    <a:lnB w="12700" cap="flat" cmpd="sng" algn="ctr">
                      <a:solidFill>
                        <a:srgbClr val="DDE0E6"/>
                      </a:solidFill>
                      <a:prstDash val="solid"/>
                      <a:round/>
                      <a:headEnd type="none" w="med" len="med"/>
                      <a:tailEnd type="none" w="med" len="med"/>
                    </a:lnB>
                    <a:solidFill>
                      <a:srgbClr val="FFFFFF"/>
                    </a:solidFill>
                  </a:tcPr>
                </a:tc>
                <a:tc>
                  <a:txBody>
                    <a:bodyPr/>
                    <a:lstStyle/>
                    <a:p>
                      <a:pPr indent="0" marL="0">
                        <a:buNone/>
                      </a:pPr>
                      <a:r>
                        <a:rPr lang="en-US" sz="1250" b="1" dirty="0">
                          <a:solidFill>
                            <a:srgbClr val="C8161D"/>
                          </a:solidFill>
                          <a:latin typeface="BIZ UDPGothic" pitchFamily="34" charset="0"/>
                          <a:ea typeface="BIZ UDPGothic" pitchFamily="34" charset="-122"/>
                          <a:cs typeface="BIZ UDPGothic" pitchFamily="34" charset="-120"/>
                        </a:rPr>
                        <a:t>約28.5億〜57億円</a:t>
                      </a:r>
                      <a:endParaRPr lang="en-US" sz="1250" dirty="0">
                        <a:latin typeface="BIZ UDPGothic" charset="0"/>
                        <a:ea typeface="BIZ UDPGothic" charset="0"/>
                        <a:cs typeface="BIZ UDPGothic" charset="0"/>
                      </a:endParaRPr>
                    </a:p>
                  </a:txBody>
                  <a:tcPr marL="91440" marR="91440" marT="45720" marB="45720" anchor="ctr">
                    <a:lnL w="12700" cap="flat" cmpd="sng" algn="ctr">
                      <a:solidFill>
                        <a:srgbClr val="DDE0E6"/>
                      </a:solidFill>
                      <a:prstDash val="solid"/>
                      <a:round/>
                      <a:headEnd type="none" w="med" len="med"/>
                      <a:tailEnd type="none" w="med" len="med"/>
                    </a:lnL>
                    <a:lnR w="12700" cap="flat" cmpd="sng" algn="ctr">
                      <a:solidFill>
                        <a:srgbClr val="DDE0E6"/>
                      </a:solidFill>
                      <a:prstDash val="solid"/>
                      <a:round/>
                      <a:headEnd type="none" w="med" len="med"/>
                      <a:tailEnd type="none" w="med" len="med"/>
                    </a:lnR>
                    <a:lnT w="12700" cap="flat" cmpd="sng" algn="ctr">
                      <a:solidFill>
                        <a:srgbClr val="DDE0E6"/>
                      </a:solidFill>
                      <a:prstDash val="solid"/>
                      <a:round/>
                      <a:headEnd type="none" w="med" len="med"/>
                      <a:tailEnd type="none" w="med" len="med"/>
                    </a:lnT>
                    <a:lnB w="12700" cap="flat" cmpd="sng" algn="ctr">
                      <a:solidFill>
                        <a:srgbClr val="DDE0E6"/>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7" name="Text 4"/>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FINANCE — BALANCE</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100" b="1" dirty="0">
                <a:solidFill>
                  <a:srgbClr val="16181D"/>
                </a:solidFill>
                <a:latin typeface="BIZ UDPGothic" pitchFamily="34" charset="0"/>
                <a:ea typeface="BIZ UDPGothic" pitchFamily="34" charset="-122"/>
                <a:cs typeface="BIZ UDPGothic" pitchFamily="34" charset="-120"/>
              </a:rPr>
              <a:t>既存予算との整合性チェック（逆算）</a:t>
            </a:r>
            <a:endParaRPr lang="en-US" sz="2100" dirty="0"/>
          </a:p>
        </p:txBody>
      </p:sp>
      <p:sp>
        <p:nvSpPr>
          <p:cNvPr id="4" name="Shape 2"/>
          <p:cNvSpPr/>
          <p:nvPr/>
        </p:nvSpPr>
        <p:spPr>
          <a:xfrm>
            <a:off x="548640" y="1691640"/>
            <a:ext cx="8046720" cy="2697480"/>
          </a:xfrm>
          <a:prstGeom prst="roundRect">
            <a:avLst>
              <a:gd name="adj" fmla="val 2712"/>
            </a:avLst>
          </a:prstGeom>
          <a:solidFill>
            <a:srgbClr val="FFFFFF"/>
          </a:solidFill>
          <a:ln/>
          <a:effectLst>
            <a:outerShdw sx="100000" sy="100000" kx="0" ky="0" algn="bl" rotWithShape="0" blurRad="101600" dist="38100" dir="2700000">
              <a:srgbClr val="000000">
                <a:alpha val="35000"/>
              </a:srgbClr>
            </a:outerShdw>
          </a:effectLst>
        </p:spPr>
      </p:sp>
      <p:sp>
        <p:nvSpPr>
          <p:cNvPr id="5" name="Text 3"/>
          <p:cNvSpPr/>
          <p:nvPr/>
        </p:nvSpPr>
        <p:spPr>
          <a:xfrm>
            <a:off x="914400" y="1965960"/>
            <a:ext cx="7315200" cy="1005840"/>
          </a:xfrm>
          <a:prstGeom prst="rect">
            <a:avLst/>
          </a:prstGeom>
          <a:noFill/>
          <a:ln/>
        </p:spPr>
        <p:txBody>
          <a:bodyPr wrap="square" lIns="0" tIns="0" rIns="0" bIns="0" rtlCol="0" anchor="t"/>
          <a:lstStyle/>
          <a:p>
            <a:pPr indent="0" marL="0">
              <a:lnSpc>
                <a:spcPct val="140000"/>
              </a:lnSpc>
              <a:buNone/>
            </a:pPr>
            <a:r>
              <a:rPr lang="en-US" sz="1550" b="1" dirty="0">
                <a:solidFill>
                  <a:srgbClr val="16181D"/>
                </a:solidFill>
                <a:latin typeface="BIZ UDPGothic" pitchFamily="34" charset="0"/>
                <a:ea typeface="BIZ UDPGothic" pitchFamily="34" charset="-122"/>
                <a:cs typeface="BIZ UDPGothic" pitchFamily="34" charset="-120"/>
              </a:rPr>
              <a:t>初年度想定コスト　約28.5億〜57億円</a:t>
            </a:r>
            <a:endParaRPr lang="en-US" sz="1550" dirty="0"/>
          </a:p>
          <a:p>
            <a:pPr indent="0" marL="0">
              <a:lnSpc>
                <a:spcPct val="140000"/>
              </a:lnSpc>
              <a:buNone/>
            </a:pPr>
            <a:r>
              <a:rPr lang="en-US" sz="1450" b="1" dirty="0">
                <a:solidFill>
                  <a:srgbClr val="C8161D"/>
                </a:solidFill>
                <a:latin typeface="BIZ UDPGothic" pitchFamily="34" charset="0"/>
                <a:ea typeface="BIZ UDPGothic" pitchFamily="34" charset="-122"/>
                <a:cs typeface="BIZ UDPGothic" pitchFamily="34" charset="-120"/>
              </a:rPr>
              <a:t>地域交通リ・デザイン全体予算（331億円）の1割弱に収まる規模</a:t>
            </a:r>
            <a:endParaRPr lang="en-US" sz="1550" dirty="0"/>
          </a:p>
        </p:txBody>
      </p:sp>
      <p:sp>
        <p:nvSpPr>
          <p:cNvPr id="6" name="Text 4"/>
          <p:cNvSpPr/>
          <p:nvPr/>
        </p:nvSpPr>
        <p:spPr>
          <a:xfrm>
            <a:off x="914400" y="3063240"/>
            <a:ext cx="7315200" cy="640080"/>
          </a:xfrm>
          <a:prstGeom prst="rect">
            <a:avLst/>
          </a:prstGeom>
          <a:noFill/>
          <a:ln/>
        </p:spPr>
        <p:txBody>
          <a:bodyPr wrap="square" lIns="0" tIns="0" rIns="0" bIns="0" rtlCol="0" anchor="t"/>
          <a:lstStyle/>
          <a:p>
            <a:pPr indent="0" marL="0">
              <a:lnSpc>
                <a:spcPct val="130000"/>
              </a:lnSpc>
              <a:buNone/>
            </a:pPr>
            <a:r>
              <a:rPr lang="en-US" sz="1250" dirty="0">
                <a:solidFill>
                  <a:srgbClr val="16181D"/>
                </a:solidFill>
                <a:latin typeface="BIZ UDPGothic" pitchFamily="34" charset="0"/>
                <a:ea typeface="BIZ UDPGothic" pitchFamily="34" charset="-122"/>
                <a:cs typeface="BIZ UDPGothic" pitchFamily="34" charset="-120"/>
              </a:rPr>
              <a:t>既存のタクシー・バス業界向け延命補助金を全廃し、この財源に振り替える設計であれば、国全体の予算規模を大きく膨らませることなく実現可能な範囲と考えられる。</a:t>
            </a:r>
            <a:endParaRPr lang="en-US" sz="1250" dirty="0"/>
          </a:p>
        </p:txBody>
      </p:sp>
      <p:sp>
        <p:nvSpPr>
          <p:cNvPr id="7" name="Text 5"/>
          <p:cNvSpPr/>
          <p:nvPr/>
        </p:nvSpPr>
        <p:spPr>
          <a:xfrm>
            <a:off x="914400" y="3749040"/>
            <a:ext cx="7315200" cy="548640"/>
          </a:xfrm>
          <a:prstGeom prst="rect">
            <a:avLst/>
          </a:prstGeom>
          <a:noFill/>
          <a:ln/>
        </p:spPr>
        <p:txBody>
          <a:bodyPr wrap="square" lIns="0" tIns="0" rIns="0" bIns="0" rtlCol="0" anchor="t"/>
          <a:lstStyle/>
          <a:p>
            <a:pPr indent="0" marL="0">
              <a:lnSpc>
                <a:spcPct val="120000"/>
              </a:lnSpc>
              <a:buNone/>
            </a:pPr>
            <a:r>
              <a:rPr lang="en-US" sz="1050" dirty="0">
                <a:solidFill>
                  <a:srgbClr val="16181D">
                    <a:alpha val="75000"/>
                  </a:srgbClr>
                </a:solidFill>
                <a:latin typeface="BIZ UDPGothic" pitchFamily="34" charset="0"/>
                <a:ea typeface="BIZ UDPGothic" pitchFamily="34" charset="-122"/>
                <a:cs typeface="BIZ UDPGothic" pitchFamily="34" charset="-120"/>
              </a:rPr>
              <a:t>※ 都道府県別の延命補助金の内訳データは特定できておらず、今後の検証が必要。車両単価は技術成熟とともに下落が見込まれ、本試算は保守的な数字である。</a:t>
            </a:r>
            <a:endParaRPr lang="en-US" sz="1050" dirty="0"/>
          </a:p>
        </p:txBody>
      </p:sp>
      <p:sp>
        <p:nvSpPr>
          <p:cNvPr id="8" name="Text 6"/>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9" name="Text 7"/>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OUTCOME</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400" b="1" dirty="0">
                <a:solidFill>
                  <a:srgbClr val="16181D"/>
                </a:solidFill>
                <a:latin typeface="BIZ UDPGothic" pitchFamily="34" charset="0"/>
                <a:ea typeface="BIZ UDPGothic" pitchFamily="34" charset="-122"/>
                <a:cs typeface="BIZ UDPGothic" pitchFamily="34" charset="-120"/>
              </a:rPr>
              <a:t>この提言で何が変わるか：3つの効果</a:t>
            </a:r>
            <a:endParaRPr lang="en-US" sz="2400" dirty="0"/>
          </a:p>
        </p:txBody>
      </p:sp>
      <p:sp>
        <p:nvSpPr>
          <p:cNvPr id="4" name="Text 2"/>
          <p:cNvSpPr/>
          <p:nvPr/>
        </p:nvSpPr>
        <p:spPr>
          <a:xfrm>
            <a:off x="548640" y="1737360"/>
            <a:ext cx="457200" cy="384048"/>
          </a:xfrm>
          <a:prstGeom prst="rect">
            <a:avLst/>
          </a:prstGeom>
          <a:noFill/>
          <a:ln/>
        </p:spPr>
        <p:txBody>
          <a:bodyPr wrap="square" lIns="0" tIns="0" rIns="0" bIns="0" rtlCol="0" anchor="t"/>
          <a:lstStyle/>
          <a:p>
            <a:pPr indent="0" marL="0">
              <a:buNone/>
            </a:pPr>
            <a:r>
              <a:rPr lang="en-US" sz="1500" b="1" dirty="0">
                <a:solidFill>
                  <a:srgbClr val="C8161D"/>
                </a:solidFill>
                <a:latin typeface="Arial" pitchFamily="34" charset="0"/>
                <a:ea typeface="BIZ UDPGothic" pitchFamily="34" charset="-122"/>
                <a:cs typeface="BIZ UDPGothic" pitchFamily="34" charset="-120"/>
              </a:rPr>
              <a:t>①</a:t>
            </a:r>
            <a:endParaRPr lang="en-US" sz="1500" dirty="0"/>
          </a:p>
        </p:txBody>
      </p:sp>
      <p:sp>
        <p:nvSpPr>
          <p:cNvPr id="5" name="Text 3"/>
          <p:cNvSpPr/>
          <p:nvPr/>
        </p:nvSpPr>
        <p:spPr>
          <a:xfrm>
            <a:off x="1005840" y="1737360"/>
            <a:ext cx="7589520" cy="521208"/>
          </a:xfrm>
          <a:prstGeom prst="rect">
            <a:avLst/>
          </a:prstGeom>
          <a:noFill/>
          <a:ln/>
        </p:spPr>
        <p:txBody>
          <a:bodyPr wrap="square" lIns="0" tIns="0" rIns="0" bIns="0" rtlCol="0" anchor="t"/>
          <a:lstStyle/>
          <a:p>
            <a:pPr indent="0" marL="0">
              <a:lnSpc>
                <a:spcPct val="120000"/>
              </a:lnSpc>
              <a:buNone/>
            </a:pPr>
            <a:r>
              <a:rPr lang="en-US" sz="1400" dirty="0">
                <a:solidFill>
                  <a:srgbClr val="16181D"/>
                </a:solidFill>
                <a:latin typeface="BIZ UDPGothic" pitchFamily="34" charset="0"/>
                <a:ea typeface="BIZ UDPGothic" pitchFamily="34" charset="-122"/>
                <a:cs typeface="BIZ UDPGothic" pitchFamily="34" charset="-120"/>
              </a:rPr>
              <a:t>地方の足を止めない　── 廃線・減便が続く地域で、無人化により公共交通を維持する</a:t>
            </a:r>
            <a:endParaRPr lang="en-US" sz="1400" dirty="0"/>
          </a:p>
        </p:txBody>
      </p:sp>
      <p:sp>
        <p:nvSpPr>
          <p:cNvPr id="6" name="Text 4"/>
          <p:cNvSpPr/>
          <p:nvPr/>
        </p:nvSpPr>
        <p:spPr>
          <a:xfrm>
            <a:off x="548640" y="2121408"/>
            <a:ext cx="457200" cy="384048"/>
          </a:xfrm>
          <a:prstGeom prst="rect">
            <a:avLst/>
          </a:prstGeom>
          <a:noFill/>
          <a:ln/>
        </p:spPr>
        <p:txBody>
          <a:bodyPr wrap="square" lIns="0" tIns="0" rIns="0" bIns="0" rtlCol="0" anchor="t"/>
          <a:lstStyle/>
          <a:p>
            <a:pPr indent="0" marL="0">
              <a:buNone/>
            </a:pPr>
            <a:r>
              <a:rPr lang="en-US" sz="1500" b="1" dirty="0">
                <a:solidFill>
                  <a:srgbClr val="C8161D"/>
                </a:solidFill>
                <a:latin typeface="Arial" pitchFamily="34" charset="0"/>
                <a:ea typeface="BIZ UDPGothic" pitchFamily="34" charset="-122"/>
                <a:cs typeface="BIZ UDPGothic" pitchFamily="34" charset="-120"/>
              </a:rPr>
              <a:t>②</a:t>
            </a:r>
            <a:endParaRPr lang="en-US" sz="1500" dirty="0"/>
          </a:p>
        </p:txBody>
      </p:sp>
      <p:sp>
        <p:nvSpPr>
          <p:cNvPr id="7" name="Text 5"/>
          <p:cNvSpPr/>
          <p:nvPr/>
        </p:nvSpPr>
        <p:spPr>
          <a:xfrm>
            <a:off x="1005840" y="2121408"/>
            <a:ext cx="7589520" cy="521208"/>
          </a:xfrm>
          <a:prstGeom prst="rect">
            <a:avLst/>
          </a:prstGeom>
          <a:noFill/>
          <a:ln/>
        </p:spPr>
        <p:txBody>
          <a:bodyPr wrap="square" lIns="0" tIns="0" rIns="0" bIns="0" rtlCol="0" anchor="t"/>
          <a:lstStyle/>
          <a:p>
            <a:pPr indent="0" marL="0">
              <a:lnSpc>
                <a:spcPct val="120000"/>
              </a:lnSpc>
              <a:buNone/>
            </a:pPr>
            <a:r>
              <a:rPr lang="en-US" sz="1400" dirty="0">
                <a:solidFill>
                  <a:srgbClr val="16181D"/>
                </a:solidFill>
                <a:latin typeface="BIZ UDPGothic" pitchFamily="34" charset="0"/>
                <a:ea typeface="BIZ UDPGothic" pitchFamily="34" charset="-122"/>
                <a:cs typeface="BIZ UDPGothic" pitchFamily="34" charset="-120"/>
              </a:rPr>
              <a:t>物流の担い手不足を解消する　── 夜間・過疎地の輸送を無人化で支え、24時間対応を可能にする</a:t>
            </a:r>
            <a:endParaRPr lang="en-US" sz="1400" dirty="0"/>
          </a:p>
        </p:txBody>
      </p:sp>
      <p:sp>
        <p:nvSpPr>
          <p:cNvPr id="8" name="Text 6"/>
          <p:cNvSpPr/>
          <p:nvPr/>
        </p:nvSpPr>
        <p:spPr>
          <a:xfrm>
            <a:off x="548640" y="2505456"/>
            <a:ext cx="457200" cy="384048"/>
          </a:xfrm>
          <a:prstGeom prst="rect">
            <a:avLst/>
          </a:prstGeom>
          <a:noFill/>
          <a:ln/>
        </p:spPr>
        <p:txBody>
          <a:bodyPr wrap="square" lIns="0" tIns="0" rIns="0" bIns="0" rtlCol="0" anchor="t"/>
          <a:lstStyle/>
          <a:p>
            <a:pPr indent="0" marL="0">
              <a:buNone/>
            </a:pPr>
            <a:r>
              <a:rPr lang="en-US" sz="1500" b="1" dirty="0">
                <a:solidFill>
                  <a:srgbClr val="C8161D"/>
                </a:solidFill>
                <a:latin typeface="Arial" pitchFamily="34" charset="0"/>
                <a:ea typeface="BIZ UDPGothic" pitchFamily="34" charset="-122"/>
                <a:cs typeface="BIZ UDPGothic" pitchFamily="34" charset="-120"/>
              </a:rPr>
              <a:t>③</a:t>
            </a:r>
            <a:endParaRPr lang="en-US" sz="1500" dirty="0"/>
          </a:p>
        </p:txBody>
      </p:sp>
      <p:sp>
        <p:nvSpPr>
          <p:cNvPr id="9" name="Text 7"/>
          <p:cNvSpPr/>
          <p:nvPr/>
        </p:nvSpPr>
        <p:spPr>
          <a:xfrm>
            <a:off x="1005840" y="2505456"/>
            <a:ext cx="7589520" cy="521208"/>
          </a:xfrm>
          <a:prstGeom prst="rect">
            <a:avLst/>
          </a:prstGeom>
          <a:noFill/>
          <a:ln/>
        </p:spPr>
        <p:txBody>
          <a:bodyPr wrap="square" lIns="0" tIns="0" rIns="0" bIns="0" rtlCol="0" anchor="t"/>
          <a:lstStyle/>
          <a:p>
            <a:pPr indent="0" marL="0">
              <a:lnSpc>
                <a:spcPct val="120000"/>
              </a:lnSpc>
              <a:buNone/>
            </a:pPr>
            <a:r>
              <a:rPr lang="en-US" sz="1400" dirty="0">
                <a:solidFill>
                  <a:srgbClr val="16181D"/>
                </a:solidFill>
                <a:latin typeface="BIZ UDPGothic" pitchFamily="34" charset="0"/>
                <a:ea typeface="BIZ UDPGothic" pitchFamily="34" charset="-122"/>
                <a:cs typeface="BIZ UDPGothic" pitchFamily="34" charset="-120"/>
              </a:rPr>
              <a:t>官民が同じ船に乗る　── 延命でなく業態転換への投資へ。責任の所在を明確にしたまま規制を緩和する</a:t>
            </a:r>
            <a:endParaRPr lang="en-US" sz="1400" dirty="0"/>
          </a:p>
        </p:txBody>
      </p:sp>
      <p:sp>
        <p:nvSpPr>
          <p:cNvPr id="10" name="Text 8"/>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11" name="Text 9"/>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REMAINING ISSUES</a:t>
            </a:r>
            <a:endParaRPr lang="en-US" sz="1200" dirty="0"/>
          </a:p>
        </p:txBody>
      </p:sp>
      <p:sp>
        <p:nvSpPr>
          <p:cNvPr id="3" name="Text 1"/>
          <p:cNvSpPr/>
          <p:nvPr/>
        </p:nvSpPr>
        <p:spPr>
          <a:xfrm>
            <a:off x="548640" y="594360"/>
            <a:ext cx="8046720" cy="777240"/>
          </a:xfrm>
          <a:prstGeom prst="rect">
            <a:avLst/>
          </a:prstGeom>
          <a:noFill/>
          <a:ln/>
        </p:spPr>
        <p:txBody>
          <a:bodyPr wrap="square" lIns="0" tIns="0" rIns="0" bIns="0" rtlCol="0" anchor="t"/>
          <a:lstStyle/>
          <a:p>
            <a:pPr indent="0" marL="0">
              <a:buNone/>
            </a:pPr>
            <a:r>
              <a:rPr lang="en-US" sz="2400" b="1" dirty="0">
                <a:solidFill>
                  <a:srgbClr val="16181D"/>
                </a:solidFill>
                <a:latin typeface="BIZ UDPGothic" pitchFamily="34" charset="0"/>
                <a:ea typeface="BIZ UDPGothic" pitchFamily="34" charset="-122"/>
                <a:cs typeface="BIZ UDPGothic" pitchFamily="34" charset="-120"/>
              </a:rPr>
              <a:t>これから詰めるべき課題</a:t>
            </a:r>
            <a:endParaRPr lang="en-US" sz="2400" dirty="0"/>
          </a:p>
        </p:txBody>
      </p:sp>
      <p:sp>
        <p:nvSpPr>
          <p:cNvPr id="4" name="Text 2"/>
          <p:cNvSpPr/>
          <p:nvPr/>
        </p:nvSpPr>
        <p:spPr>
          <a:xfrm>
            <a:off x="548640" y="1554480"/>
            <a:ext cx="8046720" cy="3246120"/>
          </a:xfrm>
          <a:prstGeom prst="rect">
            <a:avLst/>
          </a:prstGeom>
          <a:noFill/>
          <a:ln/>
        </p:spPr>
        <p:txBody>
          <a:bodyPr wrap="square" lIns="0" tIns="0" rIns="0" bIns="0" rtlCol="0" anchor="ctr"/>
          <a:lstStyle/>
          <a:p>
            <a:pPr marL="342900" indent="-342900">
              <a:lnSpc>
                <a:spcPct val="130000"/>
              </a:lnSpc>
              <a:buSzPct val="100000"/>
              <a:buChar char="•"/>
            </a:pPr>
            <a:r>
              <a:rPr lang="en-US" sz="1350" dirty="0">
                <a:solidFill>
                  <a:srgbClr val="16181D"/>
                </a:solidFill>
                <a:latin typeface="BIZ UDPGothic" pitchFamily="34" charset="0"/>
                <a:ea typeface="BIZ UDPGothic" pitchFamily="34" charset="-122"/>
                <a:cs typeface="BIZ UDPGothic" pitchFamily="34" charset="-120"/>
              </a:rPr>
              <a:t>既存のタクシー・バス業界向け延命補助金（都道府県別内訳）の正確な金額把握</a:t>
            </a:r>
            <a:endParaRPr lang="en-US" sz="1350" dirty="0"/>
          </a:p>
          <a:p>
            <a:pPr marL="342900" indent="-342900">
              <a:lnSpc>
                <a:spcPct val="130000"/>
              </a:lnSpc>
              <a:buSzPct val="100000"/>
              <a:buChar char="•"/>
            </a:pPr>
            <a:r>
              <a:rPr lang="en-US" sz="1350" dirty="0">
                <a:solidFill>
                  <a:srgbClr val="16181D"/>
                </a:solidFill>
                <a:latin typeface="BIZ UDPGothic" pitchFamily="34" charset="0"/>
                <a:ea typeface="BIZ UDPGothic" pitchFamily="34" charset="-122"/>
                <a:cs typeface="BIZ UDPGothic" pitchFamily="34" charset="-120"/>
              </a:rPr>
              <a:t>車両価格の下落シナリオを織り込んだ複数年試算（3年後・7年後）</a:t>
            </a:r>
            <a:endParaRPr lang="en-US" sz="1350" dirty="0"/>
          </a:p>
          <a:p>
            <a:pPr marL="342900" indent="-342900">
              <a:lnSpc>
                <a:spcPct val="130000"/>
              </a:lnSpc>
              <a:buSzPct val="100000"/>
              <a:buChar char="•"/>
            </a:pPr>
            <a:r>
              <a:rPr lang="en-US" sz="1350" dirty="0">
                <a:solidFill>
                  <a:srgbClr val="16181D"/>
                </a:solidFill>
                <a:latin typeface="BIZ UDPGothic" pitchFamily="34" charset="0"/>
                <a:ea typeface="BIZ UDPGothic" pitchFamily="34" charset="-122"/>
                <a:cs typeface="BIZ UDPGothic" pitchFamily="34" charset="-120"/>
              </a:rPr>
              <a:t>「達成率」の具体的な測定指標（無人化移行率・事故率・収支改善率等）の重み付け設計</a:t>
            </a:r>
            <a:endParaRPr lang="en-US" sz="1350" dirty="0"/>
          </a:p>
          <a:p>
            <a:pPr marL="342900" indent="-342900">
              <a:lnSpc>
                <a:spcPct val="130000"/>
              </a:lnSpc>
              <a:buSzPct val="100000"/>
              <a:buChar char="•"/>
            </a:pPr>
            <a:r>
              <a:rPr lang="en-US" sz="1350" dirty="0">
                <a:solidFill>
                  <a:srgbClr val="16181D"/>
                </a:solidFill>
                <a:latin typeface="BIZ UDPGothic" pitchFamily="34" charset="0"/>
                <a:ea typeface="BIZ UDPGothic" pitchFamily="34" charset="-122"/>
                <a:cs typeface="BIZ UDPGothic" pitchFamily="34" charset="-120"/>
              </a:rPr>
              <a:t>不正流用・重大事故の具体的な認定基準（重大事故の閾値、調査期間の上限）</a:t>
            </a:r>
            <a:endParaRPr lang="en-US" sz="1350" dirty="0"/>
          </a:p>
          <a:p>
            <a:pPr marL="342900" indent="-342900">
              <a:lnSpc>
                <a:spcPct val="130000"/>
              </a:lnSpc>
              <a:buSzPct val="100000"/>
              <a:buChar char="•"/>
            </a:pPr>
            <a:r>
              <a:rPr lang="en-US" sz="1350" dirty="0">
                <a:solidFill>
                  <a:srgbClr val="16181D"/>
                </a:solidFill>
                <a:latin typeface="BIZ UDPGothic" pitchFamily="34" charset="0"/>
                <a:ea typeface="BIZ UDPGothic" pitchFamily="34" charset="-122"/>
                <a:cs typeface="BIZ UDPGothic" pitchFamily="34" charset="-120"/>
              </a:rPr>
              <a:t>国・第三者の専門委員会の設置根拠法・委員構成の具体設計</a:t>
            </a:r>
            <a:endParaRPr lang="en-US" sz="1350" dirty="0"/>
          </a:p>
          <a:p>
            <a:pPr marL="342900" indent="-342900">
              <a:lnSpc>
                <a:spcPct val="130000"/>
              </a:lnSpc>
              <a:buSzPct val="100000"/>
              <a:buChar char="•"/>
            </a:pPr>
            <a:r>
              <a:rPr lang="en-US" sz="1350" dirty="0">
                <a:solidFill>
                  <a:srgbClr val="16181D"/>
                </a:solidFill>
                <a:latin typeface="BIZ UDPGothic" pitchFamily="34" charset="0"/>
                <a:ea typeface="BIZ UDPGothic" pitchFamily="34" charset="-122"/>
                <a:cs typeface="BIZ UDPGothic" pitchFamily="34" charset="-120"/>
              </a:rPr>
              <a:t>無過失仮払いモデルの原資（保険料方式か公費方式か）の設計</a:t>
            </a:r>
            <a:endParaRPr lang="en-US" sz="1350" dirty="0"/>
          </a:p>
          <a:p>
            <a:pPr marL="342900" indent="-342900">
              <a:lnSpc>
                <a:spcPct val="130000"/>
              </a:lnSpc>
              <a:buSzPct val="100000"/>
              <a:buChar char="•"/>
            </a:pPr>
            <a:r>
              <a:rPr lang="en-US" sz="1350" dirty="0">
                <a:solidFill>
                  <a:srgbClr val="16181D"/>
                </a:solidFill>
                <a:latin typeface="BIZ UDPGothic" pitchFamily="34" charset="0"/>
                <a:ea typeface="BIZ UDPGothic" pitchFamily="34" charset="-122"/>
                <a:cs typeface="BIZ UDPGothic" pitchFamily="34" charset="-120"/>
              </a:rPr>
              <a:t>あおり運転的挙動・センサー誤動作の原因遡及に関する立証責任の分配</a:t>
            </a:r>
            <a:endParaRPr lang="en-US" sz="1350" dirty="0"/>
          </a:p>
          <a:p>
            <a:pPr marL="342900" indent="-342900">
              <a:lnSpc>
                <a:spcPct val="130000"/>
              </a:lnSpc>
              <a:buSzPct val="100000"/>
              <a:buChar char="•"/>
            </a:pPr>
            <a:r>
              <a:rPr lang="en-US" sz="1350" dirty="0">
                <a:solidFill>
                  <a:srgbClr val="16181D"/>
                </a:solidFill>
                <a:latin typeface="BIZ UDPGothic" pitchFamily="34" charset="0"/>
                <a:ea typeface="BIZ UDPGothic" pitchFamily="34" charset="-122"/>
                <a:cs typeface="BIZ UDPGothic" pitchFamily="34" charset="-120"/>
              </a:rPr>
              <a:t>スマート農業における第三者（歩行者・一般車両）との事故リスクの個別検証</a:t>
            </a:r>
            <a:endParaRPr lang="en-US" sz="1350" dirty="0"/>
          </a:p>
        </p:txBody>
      </p:sp>
      <p:sp>
        <p:nvSpPr>
          <p:cNvPr id="5" name="Text 3"/>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6" name="Text 4"/>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457200"/>
            <a:ext cx="8046720" cy="36576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REBOOT JAPAN ── 提言011　まとめ</a:t>
            </a:r>
            <a:endParaRPr lang="en-US" sz="1200" dirty="0"/>
          </a:p>
        </p:txBody>
      </p:sp>
      <p:sp>
        <p:nvSpPr>
          <p:cNvPr id="3" name="Text 1"/>
          <p:cNvSpPr/>
          <p:nvPr/>
        </p:nvSpPr>
        <p:spPr>
          <a:xfrm>
            <a:off x="548640" y="868680"/>
            <a:ext cx="8046720" cy="1737360"/>
          </a:xfrm>
          <a:prstGeom prst="rect">
            <a:avLst/>
          </a:prstGeom>
          <a:noFill/>
          <a:ln/>
        </p:spPr>
        <p:txBody>
          <a:bodyPr wrap="square" lIns="0" tIns="0" rIns="0" bIns="0" rtlCol="0" anchor="ctr"/>
          <a:lstStyle/>
          <a:p>
            <a:pPr indent="0" marL="0">
              <a:lnSpc>
                <a:spcPct val="120000"/>
              </a:lnSpc>
              <a:buNone/>
            </a:pPr>
            <a:r>
              <a:rPr lang="en-US" sz="3000" b="1" dirty="0">
                <a:solidFill>
                  <a:srgbClr val="16181D"/>
                </a:solidFill>
                <a:latin typeface="BIZ UDPGothic" pitchFamily="34" charset="0"/>
                <a:ea typeface="BIZ UDPGothic" pitchFamily="34" charset="-122"/>
                <a:cs typeface="BIZ UDPGothic" pitchFamily="34" charset="-120"/>
              </a:rPr>
              <a:t>延命ではなく、</a:t>
            </a:r>
            <a:endParaRPr lang="en-US" sz="3000" dirty="0"/>
          </a:p>
          <a:p>
            <a:pPr indent="0" marL="0">
              <a:lnSpc>
                <a:spcPct val="120000"/>
              </a:lnSpc>
              <a:buNone/>
            </a:pPr>
            <a:r>
              <a:rPr lang="en-US" sz="3000" b="1" dirty="0">
                <a:solidFill>
                  <a:srgbClr val="16181D"/>
                </a:solidFill>
                <a:latin typeface="BIZ UDPGothic" pitchFamily="34" charset="0"/>
                <a:ea typeface="BIZ UDPGothic" pitchFamily="34" charset="-122"/>
                <a:cs typeface="BIZ UDPGothic" pitchFamily="34" charset="-120"/>
              </a:rPr>
              <a:t>挑戦する企業へ。</a:t>
            </a:r>
            <a:endParaRPr lang="en-US" sz="3000" dirty="0"/>
          </a:p>
          <a:p>
            <a:pPr indent="0" marL="0">
              <a:lnSpc>
                <a:spcPct val="120000"/>
              </a:lnSpc>
              <a:buNone/>
            </a:pPr>
            <a:r>
              <a:rPr lang="en-US" sz="3000" b="1" dirty="0">
                <a:solidFill>
                  <a:srgbClr val="16181D"/>
                </a:solidFill>
                <a:latin typeface="BIZ UDPGothic" pitchFamily="34" charset="0"/>
                <a:ea typeface="BIZ UDPGothic" pitchFamily="34" charset="-122"/>
                <a:cs typeface="BIZ UDPGothic" pitchFamily="34" charset="-120"/>
              </a:rPr>
              <a:t>責任の所在を明確に。</a:t>
            </a:r>
            <a:endParaRPr lang="en-US" sz="3000" dirty="0"/>
          </a:p>
        </p:txBody>
      </p:sp>
      <p:sp>
        <p:nvSpPr>
          <p:cNvPr id="4" name="Text 2"/>
          <p:cNvSpPr/>
          <p:nvPr/>
        </p:nvSpPr>
        <p:spPr>
          <a:xfrm>
            <a:off x="548640" y="2743200"/>
            <a:ext cx="457200" cy="384048"/>
          </a:xfrm>
          <a:prstGeom prst="rect">
            <a:avLst/>
          </a:prstGeom>
          <a:noFill/>
          <a:ln/>
        </p:spPr>
        <p:txBody>
          <a:bodyPr wrap="square" lIns="0" tIns="0" rIns="0" bIns="0" rtlCol="0" anchor="t"/>
          <a:lstStyle/>
          <a:p>
            <a:pPr indent="0" marL="0">
              <a:buNone/>
            </a:pPr>
            <a:r>
              <a:rPr lang="en-US" sz="1400" b="1" dirty="0">
                <a:solidFill>
                  <a:srgbClr val="C8161D"/>
                </a:solidFill>
                <a:latin typeface="Arial" pitchFamily="34" charset="0"/>
                <a:ea typeface="BIZ UDPGothic" pitchFamily="34" charset="-122"/>
                <a:cs typeface="BIZ UDPGothic" pitchFamily="34" charset="-120"/>
              </a:rPr>
              <a:t>①</a:t>
            </a:r>
            <a:endParaRPr lang="en-US" sz="1400" dirty="0"/>
          </a:p>
        </p:txBody>
      </p:sp>
      <p:sp>
        <p:nvSpPr>
          <p:cNvPr id="5" name="Text 3"/>
          <p:cNvSpPr/>
          <p:nvPr/>
        </p:nvSpPr>
        <p:spPr>
          <a:xfrm>
            <a:off x="1005840" y="2743200"/>
            <a:ext cx="7589520" cy="521208"/>
          </a:xfrm>
          <a:prstGeom prst="rect">
            <a:avLst/>
          </a:prstGeom>
          <a:noFill/>
          <a:ln/>
        </p:spPr>
        <p:txBody>
          <a:bodyPr wrap="square" lIns="0" tIns="0" rIns="0" bIns="0" rtlCol="0" anchor="t"/>
          <a:lstStyle/>
          <a:p>
            <a:pPr indent="0" marL="0">
              <a:lnSpc>
                <a:spcPct val="120000"/>
              </a:lnSpc>
              <a:buNone/>
            </a:pPr>
            <a:r>
              <a:rPr lang="en-US" sz="1300" dirty="0">
                <a:solidFill>
                  <a:srgbClr val="16181D"/>
                </a:solidFill>
                <a:latin typeface="BIZ UDPGothic" pitchFamily="34" charset="0"/>
                <a:ea typeface="BIZ UDPGothic" pitchFamily="34" charset="-122"/>
                <a:cs typeface="BIZ UDPGothic" pitchFamily="34" charset="-120"/>
              </a:rPr>
              <a:t>既存業界への延命補助金は特区認定と同時に即時全廃する</a:t>
            </a:r>
            <a:endParaRPr lang="en-US" sz="1300" dirty="0"/>
          </a:p>
        </p:txBody>
      </p:sp>
      <p:sp>
        <p:nvSpPr>
          <p:cNvPr id="6" name="Text 4"/>
          <p:cNvSpPr/>
          <p:nvPr/>
        </p:nvSpPr>
        <p:spPr>
          <a:xfrm>
            <a:off x="548640" y="3127248"/>
            <a:ext cx="457200" cy="384048"/>
          </a:xfrm>
          <a:prstGeom prst="rect">
            <a:avLst/>
          </a:prstGeom>
          <a:noFill/>
          <a:ln/>
        </p:spPr>
        <p:txBody>
          <a:bodyPr wrap="square" lIns="0" tIns="0" rIns="0" bIns="0" rtlCol="0" anchor="t"/>
          <a:lstStyle/>
          <a:p>
            <a:pPr indent="0" marL="0">
              <a:buNone/>
            </a:pPr>
            <a:r>
              <a:rPr lang="en-US" sz="1400" b="1" dirty="0">
                <a:solidFill>
                  <a:srgbClr val="C8161D"/>
                </a:solidFill>
                <a:latin typeface="Arial" pitchFamily="34" charset="0"/>
                <a:ea typeface="BIZ UDPGothic" pitchFamily="34" charset="-122"/>
                <a:cs typeface="BIZ UDPGothic" pitchFamily="34" charset="-120"/>
              </a:rPr>
              <a:t>②</a:t>
            </a:r>
            <a:endParaRPr lang="en-US" sz="1400" dirty="0"/>
          </a:p>
        </p:txBody>
      </p:sp>
      <p:sp>
        <p:nvSpPr>
          <p:cNvPr id="7" name="Text 5"/>
          <p:cNvSpPr/>
          <p:nvPr/>
        </p:nvSpPr>
        <p:spPr>
          <a:xfrm>
            <a:off x="1005840" y="3127248"/>
            <a:ext cx="7589520" cy="521208"/>
          </a:xfrm>
          <a:prstGeom prst="rect">
            <a:avLst/>
          </a:prstGeom>
          <a:noFill/>
          <a:ln/>
        </p:spPr>
        <p:txBody>
          <a:bodyPr wrap="square" lIns="0" tIns="0" rIns="0" bIns="0" rtlCol="0" anchor="t"/>
          <a:lstStyle/>
          <a:p>
            <a:pPr indent="0" marL="0">
              <a:lnSpc>
                <a:spcPct val="120000"/>
              </a:lnSpc>
              <a:buNone/>
            </a:pPr>
            <a:r>
              <a:rPr lang="en-US" sz="1300" dirty="0">
                <a:solidFill>
                  <a:srgbClr val="16181D"/>
                </a:solidFill>
                <a:latin typeface="BIZ UDPGothic" pitchFamily="34" charset="0"/>
                <a:ea typeface="BIZ UDPGothic" pitchFamily="34" charset="-122"/>
                <a:cs typeface="BIZ UDPGothic" pitchFamily="34" charset="-120"/>
              </a:rPr>
              <a:t>予算は業態転換に挑む個別企業への直接投資に100%振り替える</a:t>
            </a:r>
            <a:endParaRPr lang="en-US" sz="1300" dirty="0"/>
          </a:p>
        </p:txBody>
      </p:sp>
      <p:sp>
        <p:nvSpPr>
          <p:cNvPr id="8" name="Text 6"/>
          <p:cNvSpPr/>
          <p:nvPr/>
        </p:nvSpPr>
        <p:spPr>
          <a:xfrm>
            <a:off x="548640" y="3511296"/>
            <a:ext cx="457200" cy="384048"/>
          </a:xfrm>
          <a:prstGeom prst="rect">
            <a:avLst/>
          </a:prstGeom>
          <a:noFill/>
          <a:ln/>
        </p:spPr>
        <p:txBody>
          <a:bodyPr wrap="square" lIns="0" tIns="0" rIns="0" bIns="0" rtlCol="0" anchor="t"/>
          <a:lstStyle/>
          <a:p>
            <a:pPr indent="0" marL="0">
              <a:buNone/>
            </a:pPr>
            <a:r>
              <a:rPr lang="en-US" sz="1400" b="1" dirty="0">
                <a:solidFill>
                  <a:srgbClr val="C8161D"/>
                </a:solidFill>
                <a:latin typeface="Arial" pitchFamily="34" charset="0"/>
                <a:ea typeface="BIZ UDPGothic" pitchFamily="34" charset="-122"/>
                <a:cs typeface="BIZ UDPGothic" pitchFamily="34" charset="-120"/>
              </a:rPr>
              <a:t>③</a:t>
            </a:r>
            <a:endParaRPr lang="en-US" sz="1400" dirty="0"/>
          </a:p>
        </p:txBody>
      </p:sp>
      <p:sp>
        <p:nvSpPr>
          <p:cNvPr id="9" name="Text 7"/>
          <p:cNvSpPr/>
          <p:nvPr/>
        </p:nvSpPr>
        <p:spPr>
          <a:xfrm>
            <a:off x="1005840" y="3511296"/>
            <a:ext cx="7589520" cy="521208"/>
          </a:xfrm>
          <a:prstGeom prst="rect">
            <a:avLst/>
          </a:prstGeom>
          <a:noFill/>
          <a:ln/>
        </p:spPr>
        <p:txBody>
          <a:bodyPr wrap="square" lIns="0" tIns="0" rIns="0" bIns="0" rtlCol="0" anchor="t"/>
          <a:lstStyle/>
          <a:p>
            <a:pPr indent="0" marL="0">
              <a:lnSpc>
                <a:spcPct val="120000"/>
              </a:lnSpc>
              <a:buNone/>
            </a:pPr>
            <a:r>
              <a:rPr lang="en-US" sz="1300" dirty="0">
                <a:solidFill>
                  <a:srgbClr val="16181D"/>
                </a:solidFill>
                <a:latin typeface="BIZ UDPGothic" pitchFamily="34" charset="0"/>
                <a:ea typeface="BIZ UDPGothic" pitchFamily="34" charset="-122"/>
                <a:cs typeface="BIZ UDPGothic" pitchFamily="34" charset="-120"/>
              </a:rPr>
              <a:t>剥奪・継続の判定は企業単位。不正・重大事故は別軸で即時剥奪する</a:t>
            </a:r>
            <a:endParaRPr lang="en-US" sz="1300" dirty="0"/>
          </a:p>
        </p:txBody>
      </p:sp>
      <p:sp>
        <p:nvSpPr>
          <p:cNvPr id="10" name="Text 8"/>
          <p:cNvSpPr/>
          <p:nvPr/>
        </p:nvSpPr>
        <p:spPr>
          <a:xfrm>
            <a:off x="548640" y="3895344"/>
            <a:ext cx="457200" cy="384048"/>
          </a:xfrm>
          <a:prstGeom prst="rect">
            <a:avLst/>
          </a:prstGeom>
          <a:noFill/>
          <a:ln/>
        </p:spPr>
        <p:txBody>
          <a:bodyPr wrap="square" lIns="0" tIns="0" rIns="0" bIns="0" rtlCol="0" anchor="t"/>
          <a:lstStyle/>
          <a:p>
            <a:pPr indent="0" marL="0">
              <a:buNone/>
            </a:pPr>
            <a:r>
              <a:rPr lang="en-US" sz="1400" b="1" dirty="0">
                <a:solidFill>
                  <a:srgbClr val="C8161D"/>
                </a:solidFill>
                <a:latin typeface="Arial" pitchFamily="34" charset="0"/>
                <a:ea typeface="BIZ UDPGothic" pitchFamily="34" charset="-122"/>
                <a:cs typeface="BIZ UDPGothic" pitchFamily="34" charset="-120"/>
              </a:rPr>
              <a:t>④</a:t>
            </a:r>
            <a:endParaRPr lang="en-US" sz="1400" dirty="0"/>
          </a:p>
        </p:txBody>
      </p:sp>
      <p:sp>
        <p:nvSpPr>
          <p:cNvPr id="11" name="Text 9"/>
          <p:cNvSpPr/>
          <p:nvPr/>
        </p:nvSpPr>
        <p:spPr>
          <a:xfrm>
            <a:off x="1005840" y="3895344"/>
            <a:ext cx="7589520" cy="521208"/>
          </a:xfrm>
          <a:prstGeom prst="rect">
            <a:avLst/>
          </a:prstGeom>
          <a:noFill/>
          <a:ln/>
        </p:spPr>
        <p:txBody>
          <a:bodyPr wrap="square" lIns="0" tIns="0" rIns="0" bIns="0" rtlCol="0" anchor="t"/>
          <a:lstStyle/>
          <a:p>
            <a:pPr indent="0" marL="0">
              <a:lnSpc>
                <a:spcPct val="120000"/>
              </a:lnSpc>
              <a:buNone/>
            </a:pPr>
            <a:r>
              <a:rPr lang="en-US" sz="1300" dirty="0">
                <a:solidFill>
                  <a:srgbClr val="16181D"/>
                </a:solidFill>
                <a:latin typeface="BIZ UDPGothic" pitchFamily="34" charset="0"/>
                <a:ea typeface="BIZ UDPGothic" pitchFamily="34" charset="-122"/>
                <a:cs typeface="BIZ UDPGothic" pitchFamily="34" charset="-120"/>
              </a:rPr>
              <a:t>深夜専用レーン・シームレス走行・マルチマニングの3つを規制緩和する</a:t>
            </a:r>
            <a:endParaRPr lang="en-US" sz="1300" dirty="0"/>
          </a:p>
        </p:txBody>
      </p:sp>
      <p:sp>
        <p:nvSpPr>
          <p:cNvPr id="12" name="Text 10"/>
          <p:cNvSpPr/>
          <p:nvPr/>
        </p:nvSpPr>
        <p:spPr>
          <a:xfrm>
            <a:off x="548640" y="4279392"/>
            <a:ext cx="457200" cy="384048"/>
          </a:xfrm>
          <a:prstGeom prst="rect">
            <a:avLst/>
          </a:prstGeom>
          <a:noFill/>
          <a:ln/>
        </p:spPr>
        <p:txBody>
          <a:bodyPr wrap="square" lIns="0" tIns="0" rIns="0" bIns="0" rtlCol="0" anchor="t"/>
          <a:lstStyle/>
          <a:p>
            <a:pPr indent="0" marL="0">
              <a:buNone/>
            </a:pPr>
            <a:r>
              <a:rPr lang="en-US" sz="1400" b="1" dirty="0">
                <a:solidFill>
                  <a:srgbClr val="C8161D"/>
                </a:solidFill>
                <a:latin typeface="Arial" pitchFamily="34" charset="0"/>
                <a:ea typeface="BIZ UDPGothic" pitchFamily="34" charset="-122"/>
                <a:cs typeface="BIZ UDPGothic" pitchFamily="34" charset="-120"/>
              </a:rPr>
              <a:t>⑤</a:t>
            </a:r>
            <a:endParaRPr lang="en-US" sz="1400" dirty="0"/>
          </a:p>
        </p:txBody>
      </p:sp>
      <p:sp>
        <p:nvSpPr>
          <p:cNvPr id="13" name="Text 11"/>
          <p:cNvSpPr/>
          <p:nvPr/>
        </p:nvSpPr>
        <p:spPr>
          <a:xfrm>
            <a:off x="1005840" y="4279392"/>
            <a:ext cx="7589520" cy="521208"/>
          </a:xfrm>
          <a:prstGeom prst="rect">
            <a:avLst/>
          </a:prstGeom>
          <a:noFill/>
          <a:ln/>
        </p:spPr>
        <p:txBody>
          <a:bodyPr wrap="square" lIns="0" tIns="0" rIns="0" bIns="0" rtlCol="0" anchor="t"/>
          <a:lstStyle/>
          <a:p>
            <a:pPr indent="0" marL="0">
              <a:lnSpc>
                <a:spcPct val="120000"/>
              </a:lnSpc>
              <a:buNone/>
            </a:pPr>
            <a:r>
              <a:rPr lang="en-US" sz="1300" dirty="0">
                <a:solidFill>
                  <a:srgbClr val="16181D"/>
                </a:solidFill>
                <a:latin typeface="BIZ UDPGothic" pitchFamily="34" charset="0"/>
                <a:ea typeface="BIZ UDPGothic" pitchFamily="34" charset="-122"/>
                <a:cs typeface="BIZ UDPGothic" pitchFamily="34" charset="-120"/>
              </a:rPr>
              <a:t>事故の責任は原因に応じてメーカーと運行企業が分担。無過失の仮払いで被害者を守る</a:t>
            </a:r>
            <a:endParaRPr lang="en-US" sz="1300" dirty="0"/>
          </a:p>
        </p:txBody>
      </p:sp>
      <p:sp>
        <p:nvSpPr>
          <p:cNvPr id="14" name="Text 12"/>
          <p:cNvSpPr/>
          <p:nvPr/>
        </p:nvSpPr>
        <p:spPr>
          <a:xfrm>
            <a:off x="548640" y="4864608"/>
            <a:ext cx="5486400" cy="228600"/>
          </a:xfrm>
          <a:prstGeom prst="rect">
            <a:avLst/>
          </a:prstGeom>
          <a:noFill/>
          <a:ln/>
        </p:spPr>
        <p:txBody>
          <a:bodyPr wrap="square" lIns="0" tIns="0" rIns="0" bIns="0" rtlCol="0" anchor="ctr"/>
          <a:lstStyle/>
          <a:p>
            <a:pP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REBOOT JAPAN ── 市民による政策提言プラットフォーム</a:t>
            </a:r>
            <a:endParaRPr lang="en-US" sz="900" dirty="0"/>
          </a:p>
        </p:txBody>
      </p:sp>
      <p:sp>
        <p:nvSpPr>
          <p:cNvPr id="15" name="Text 13"/>
          <p:cNvSpPr/>
          <p:nvPr/>
        </p:nvSpPr>
        <p:spPr>
          <a:xfrm>
            <a:off x="8321040" y="4864608"/>
            <a:ext cx="365760" cy="228600"/>
          </a:xfrm>
          <a:prstGeom prst="rect">
            <a:avLst/>
          </a:prstGeom>
          <a:noFill/>
          <a:ln/>
        </p:spPr>
        <p:txBody>
          <a:bodyPr wrap="square" lIns="0" tIns="0" rIns="0" bIns="0" rtlCol="0" anchor="ctr"/>
          <a:lstStyle/>
          <a:p>
            <a:pPr algn="r" indent="0" marL="0">
              <a:buNone/>
            </a:pPr>
            <a:r>
              <a:rPr lang="en-US" sz="900" dirty="0">
                <a:solidFill>
                  <a:srgbClr val="16181D">
                    <a:alpha val="45000"/>
                  </a:srgbClr>
                </a:solidFill>
                <a:latin typeface="BIZ UDPGothic" pitchFamily="34" charset="0"/>
                <a:ea typeface="BIZ UDPGothic" pitchFamily="34" charset="-122"/>
                <a:cs typeface="BIZ UDPGothic" pitchFamily="34" charset="-120"/>
              </a:rPr>
              <a:t>28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自動運転・無人物流特区による地域インフラ変革戦略</dc:title>
  <dc:subject>PptxGenJS Presentation</dc:subject>
  <dc:creator>REBOOT JAPAN</dc:creator>
  <cp:lastModifiedBy>REBOOT JAPAN</cp:lastModifiedBy>
  <cp:revision>1</cp:revision>
  <dcterms:created xsi:type="dcterms:W3CDTF">2026-07-06T12:08:03Z</dcterms:created>
  <dcterms:modified xsi:type="dcterms:W3CDTF">2026-07-06T12:08:03Z</dcterms:modified>
</cp:coreProperties>
</file>