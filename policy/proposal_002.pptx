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C8161D"/>
          </a:solidFill>
          <a:ln/>
        </p:spPr>
      </p:sp>
      <p:sp>
        <p:nvSpPr>
          <p:cNvPr id="3" name="Text 1"/>
          <p:cNvSpPr/>
          <p:nvPr/>
        </p:nvSpPr>
        <p:spPr>
          <a:xfrm>
            <a:off x="274320" y="548640"/>
            <a:ext cx="3108960" cy="914400"/>
          </a:xfrm>
          <a:prstGeom prst="rect">
            <a:avLst/>
          </a:prstGeom>
          <a:noFill/>
          <a:ln/>
        </p:spPr>
        <p:txBody>
          <a:bodyPr wrap="square" rtlCol="0" anchor="ctr"/>
          <a:lstStyle/>
          <a:p>
            <a:pPr indent="0" marL="0">
              <a:buNone/>
            </a:pPr>
            <a:r>
              <a:rPr lang="en-US" sz="5000" b="1" dirty="0">
                <a:solidFill>
                  <a:srgbClr val="FFFFFF"/>
                </a:solidFill>
                <a:latin typeface="Arial" pitchFamily="34" charset="0"/>
                <a:ea typeface="BIZ UDPGothic" pitchFamily="34" charset="-122"/>
                <a:cs typeface="BIZ UDPGothic" pitchFamily="34" charset="-120"/>
              </a:rPr>
              <a:t>REBOOT</a:t>
            </a:r>
            <a:endParaRPr lang="en-US" sz="5000" dirty="0"/>
          </a:p>
        </p:txBody>
      </p:sp>
      <p:sp>
        <p:nvSpPr>
          <p:cNvPr id="4" name="Text 2"/>
          <p:cNvSpPr/>
          <p:nvPr/>
        </p:nvSpPr>
        <p:spPr>
          <a:xfrm>
            <a:off x="274320" y="1417320"/>
            <a:ext cx="3108960" cy="914400"/>
          </a:xfrm>
          <a:prstGeom prst="rect">
            <a:avLst/>
          </a:prstGeom>
          <a:noFill/>
          <a:ln/>
        </p:spPr>
        <p:txBody>
          <a:bodyPr wrap="square" rtlCol="0" anchor="ctr"/>
          <a:lstStyle/>
          <a:p>
            <a:pPr indent="0" marL="0">
              <a:buNone/>
            </a:pPr>
            <a:r>
              <a:rPr lang="en-US" sz="5000" b="1" dirty="0">
                <a:solidFill>
                  <a:srgbClr val="F5F6F8"/>
                </a:solidFill>
                <a:latin typeface="Arial" pitchFamily="34" charset="0"/>
                <a:ea typeface="BIZ UDPGothic" pitchFamily="34" charset="-122"/>
                <a:cs typeface="BIZ UDPGothic" pitchFamily="34" charset="-120"/>
              </a:rPr>
              <a:t>JAPAN</a:t>
            </a:r>
            <a:endParaRPr lang="en-US" sz="5000" dirty="0"/>
          </a:p>
        </p:txBody>
      </p:sp>
      <p:sp>
        <p:nvSpPr>
          <p:cNvPr id="5" name="Text 3"/>
          <p:cNvSpPr/>
          <p:nvPr/>
        </p:nvSpPr>
        <p:spPr>
          <a:xfrm>
            <a:off x="274320" y="2487168"/>
            <a:ext cx="310896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BIZ UDPGothic" pitchFamily="34" charset="-122"/>
                <a:cs typeface="BIZ UDPGothic" pitchFamily="34" charset="-120"/>
              </a:rPr>
              <a:t>提言 #002</a:t>
            </a:r>
            <a:endParaRPr lang="en-US" sz="1500" dirty="0"/>
          </a:p>
        </p:txBody>
      </p:sp>
      <p:sp>
        <p:nvSpPr>
          <p:cNvPr id="6" name="Text 4"/>
          <p:cNvSpPr/>
          <p:nvPr/>
        </p:nvSpPr>
        <p:spPr>
          <a:xfrm>
            <a:off x="274320" y="2944368"/>
            <a:ext cx="3108960" cy="1005840"/>
          </a:xfrm>
          <a:prstGeom prst="rect">
            <a:avLst/>
          </a:prstGeom>
          <a:noFill/>
          <a:ln/>
        </p:spPr>
        <p:txBody>
          <a:bodyPr wrap="square" rtlCol="0" anchor="ctr"/>
          <a:lstStyle/>
          <a:p>
            <a:pPr indent="0" marL="0">
              <a:lnSpc>
                <a:spcPct val="120000"/>
              </a:lnSpc>
              <a:buNone/>
            </a:pPr>
            <a:r>
              <a:rPr lang="en-US" sz="2000" b="1" dirty="0">
                <a:solidFill>
                  <a:srgbClr val="FFFFFF"/>
                </a:solidFill>
                <a:latin typeface="Arial" pitchFamily="34" charset="0"/>
                <a:ea typeface="BIZ UDPGothic" pitchFamily="34" charset="-122"/>
                <a:cs typeface="BIZ UDPGothic" pitchFamily="34" charset="-120"/>
              </a:rPr>
              <a:t>公務員制度を</a:t>
            </a:r>
            <a:endParaRPr lang="en-US" sz="2000" dirty="0"/>
          </a:p>
          <a:p>
            <a:pPr indent="0" marL="0">
              <a:lnSpc>
                <a:spcPct val="120000"/>
              </a:lnSpc>
              <a:buNone/>
            </a:pPr>
            <a:r>
              <a:rPr lang="en-US" sz="2000" b="1" dirty="0">
                <a:solidFill>
                  <a:srgbClr val="FFFFFF"/>
                </a:solidFill>
                <a:latin typeface="Arial" pitchFamily="34" charset="0"/>
                <a:ea typeface="BIZ UDPGothic" pitchFamily="34" charset="-122"/>
                <a:cs typeface="BIZ UDPGothic" pitchFamily="34" charset="-120"/>
              </a:rPr>
              <a:t>再構築する</a:t>
            </a:r>
            <a:endParaRPr lang="en-US" sz="2000" dirty="0"/>
          </a:p>
        </p:txBody>
      </p:sp>
      <p:sp>
        <p:nvSpPr>
          <p:cNvPr id="7" name="Text 5"/>
          <p:cNvSpPr/>
          <p:nvPr/>
        </p:nvSpPr>
        <p:spPr>
          <a:xfrm>
            <a:off x="274320" y="4041648"/>
            <a:ext cx="3108960" cy="640080"/>
          </a:xfrm>
          <a:prstGeom prst="rect">
            <a:avLst/>
          </a:prstGeom>
          <a:noFill/>
          <a:ln/>
        </p:spPr>
        <p:txBody>
          <a:bodyPr wrap="square" rtlCol="0" anchor="ctr"/>
          <a:lstStyle/>
          <a:p>
            <a:pPr indent="0" marL="0">
              <a:lnSpc>
                <a:spcPct val="130000"/>
              </a:lnSpc>
              <a:buNone/>
            </a:pPr>
            <a:r>
              <a:rPr lang="en-US" sz="1200" dirty="0">
                <a:solidFill>
                  <a:srgbClr val="FFFFFF"/>
                </a:solidFill>
                <a:latin typeface="Arial" pitchFamily="34" charset="0"/>
                <a:ea typeface="BIZ UDPGothic" pitchFamily="34" charset="-122"/>
                <a:cs typeface="BIZ UDPGothic" pitchFamily="34" charset="-120"/>
              </a:rPr>
              <a:t>中学生にもわかる</a:t>
            </a:r>
            <a:endParaRPr lang="en-US" sz="1200" dirty="0"/>
          </a:p>
          <a:p>
            <a:pPr indent="0" marL="0">
              <a:lnSpc>
                <a:spcPct val="130000"/>
              </a:lnSpc>
              <a:buNone/>
            </a:pPr>
            <a:r>
              <a:rPr lang="en-US" sz="1200" dirty="0">
                <a:solidFill>
                  <a:srgbClr val="FFFFFF"/>
                </a:solidFill>
                <a:latin typeface="Arial" pitchFamily="34" charset="0"/>
                <a:ea typeface="BIZ UDPGothic" pitchFamily="34" charset="-122"/>
                <a:cs typeface="BIZ UDPGothic" pitchFamily="34" charset="-120"/>
              </a:rPr>
              <a:t>わかりやすい解説版</a:t>
            </a:r>
            <a:endParaRPr lang="en-US" sz="1200" dirty="0"/>
          </a:p>
        </p:txBody>
      </p:sp>
      <p:sp>
        <p:nvSpPr>
          <p:cNvPr id="8" name="Text 6"/>
          <p:cNvSpPr/>
          <p:nvPr/>
        </p:nvSpPr>
        <p:spPr>
          <a:xfrm>
            <a:off x="3931920" y="548640"/>
            <a:ext cx="4754880" cy="2286000"/>
          </a:xfrm>
          <a:prstGeom prst="rect">
            <a:avLst/>
          </a:prstGeom>
          <a:noFill/>
          <a:ln/>
        </p:spPr>
        <p:txBody>
          <a:bodyPr wrap="square" rtlCol="0" anchor="ctr"/>
          <a:lstStyle/>
          <a:p>
            <a:pPr indent="0" marL="0">
              <a:lnSpc>
                <a:spcPct val="115000"/>
              </a:lnSpc>
              <a:buNone/>
            </a:pPr>
            <a:r>
              <a:rPr lang="en-US" sz="3800" b="1" dirty="0">
                <a:solidFill>
                  <a:srgbClr val="16181D"/>
                </a:solidFill>
                <a:latin typeface="Arial" pitchFamily="34" charset="0"/>
                <a:ea typeface="BIZ UDPGothic" pitchFamily="34" charset="-122"/>
                <a:cs typeface="BIZ UDPGothic" pitchFamily="34" charset="-120"/>
              </a:rPr>
              <a:t>公務員の仕組みを</a:t>
            </a:r>
            <a:endParaRPr lang="en-US" sz="3800" dirty="0"/>
          </a:p>
          <a:p>
            <a:pPr indent="0" marL="0">
              <a:lnSpc>
                <a:spcPct val="115000"/>
              </a:lnSpc>
              <a:buNone/>
            </a:pPr>
            <a:r>
              <a:rPr lang="en-US" sz="3800" b="1" dirty="0">
                <a:solidFill>
                  <a:srgbClr val="16181D"/>
                </a:solidFill>
                <a:latin typeface="Arial" pitchFamily="34" charset="0"/>
                <a:ea typeface="BIZ UDPGothic" pitchFamily="34" charset="-122"/>
                <a:cs typeface="BIZ UDPGothic" pitchFamily="34" charset="-120"/>
              </a:rPr>
              <a:t>変えると</a:t>
            </a:r>
            <a:endParaRPr lang="en-US" sz="3800" dirty="0"/>
          </a:p>
          <a:p>
            <a:pPr indent="0" marL="0">
              <a:lnSpc>
                <a:spcPct val="115000"/>
              </a:lnSpc>
              <a:buNone/>
            </a:pPr>
            <a:r>
              <a:rPr lang="en-US" sz="3800" b="1" dirty="0">
                <a:solidFill>
                  <a:srgbClr val="16181D"/>
                </a:solidFill>
                <a:latin typeface="Arial" pitchFamily="34" charset="0"/>
                <a:ea typeface="BIZ UDPGothic" pitchFamily="34" charset="-122"/>
                <a:cs typeface="BIZ UDPGothic" pitchFamily="34" charset="-120"/>
              </a:rPr>
              <a:t>何が変わる？</a:t>
            </a:r>
            <a:endParaRPr lang="en-US" sz="3800" dirty="0"/>
          </a:p>
        </p:txBody>
      </p:sp>
      <p:sp>
        <p:nvSpPr>
          <p:cNvPr id="9" name="Text 7"/>
          <p:cNvSpPr/>
          <p:nvPr/>
        </p:nvSpPr>
        <p:spPr>
          <a:xfrm>
            <a:off x="3931920" y="3017520"/>
            <a:ext cx="4754880" cy="365760"/>
          </a:xfrm>
          <a:prstGeom prst="rect">
            <a:avLst/>
          </a:prstGeom>
          <a:noFill/>
          <a:ln/>
        </p:spPr>
        <p:txBody>
          <a:bodyPr wrap="square" rtlCol="0" anchor="ctr"/>
          <a:lstStyle/>
          <a:p>
            <a:pPr indent="0" marL="0">
              <a:buNone/>
            </a:pPr>
            <a:r>
              <a:rPr lang="en-US" sz="1100" dirty="0">
                <a:solidFill>
                  <a:srgbClr val="4B515C"/>
                </a:solidFill>
                <a:latin typeface="Arial" pitchFamily="34" charset="0"/>
                <a:ea typeface="BIZ UDPGothic" pitchFamily="34" charset="-122"/>
                <a:cs typeface="BIZ UDPGothic" pitchFamily="34" charset="-120"/>
              </a:rPr>
              <a:t>問題提起 → 何をするか → なぜなのか → 数字でまとめ</a:t>
            </a:r>
            <a:endParaRPr lang="en-US" sz="1100" dirty="0"/>
          </a:p>
        </p:txBody>
      </p:sp>
      <p:sp>
        <p:nvSpPr>
          <p:cNvPr id="10" name="Shape 8"/>
          <p:cNvSpPr/>
          <p:nvPr/>
        </p:nvSpPr>
        <p:spPr>
          <a:xfrm>
            <a:off x="3931920" y="3502152"/>
            <a:ext cx="128016" cy="128016"/>
          </a:xfrm>
          <a:prstGeom prst="ellipse">
            <a:avLst/>
          </a:prstGeom>
          <a:solidFill>
            <a:srgbClr val="C8161D"/>
          </a:solidFill>
          <a:ln/>
        </p:spPr>
      </p:sp>
      <p:sp>
        <p:nvSpPr>
          <p:cNvPr id="11" name="Text 9"/>
          <p:cNvSpPr/>
          <p:nvPr/>
        </p:nvSpPr>
        <p:spPr>
          <a:xfrm>
            <a:off x="4160520" y="3456432"/>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給与を地域の民間平均に連動</a:t>
            </a:r>
            <a:endParaRPr lang="en-US" sz="1100" dirty="0"/>
          </a:p>
        </p:txBody>
      </p:sp>
      <p:sp>
        <p:nvSpPr>
          <p:cNvPr id="12" name="Shape 10"/>
          <p:cNvSpPr/>
          <p:nvPr/>
        </p:nvSpPr>
        <p:spPr>
          <a:xfrm>
            <a:off x="3931920" y="3730752"/>
            <a:ext cx="128016" cy="128016"/>
          </a:xfrm>
          <a:prstGeom prst="ellipse">
            <a:avLst/>
          </a:prstGeom>
          <a:solidFill>
            <a:srgbClr val="C8161D"/>
          </a:solidFill>
          <a:ln/>
        </p:spPr>
      </p:sp>
      <p:sp>
        <p:nvSpPr>
          <p:cNvPr id="13" name="Text 11"/>
          <p:cNvSpPr/>
          <p:nvPr/>
        </p:nvSpPr>
        <p:spPr>
          <a:xfrm>
            <a:off x="4160520" y="3685032"/>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任期10年制の導入</a:t>
            </a:r>
            <a:endParaRPr lang="en-US" sz="1100" dirty="0"/>
          </a:p>
        </p:txBody>
      </p:sp>
      <p:sp>
        <p:nvSpPr>
          <p:cNvPr id="14" name="Shape 12"/>
          <p:cNvSpPr/>
          <p:nvPr/>
        </p:nvSpPr>
        <p:spPr>
          <a:xfrm>
            <a:off x="3931920" y="3959352"/>
            <a:ext cx="128016" cy="128016"/>
          </a:xfrm>
          <a:prstGeom prst="ellipse">
            <a:avLst/>
          </a:prstGeom>
          <a:solidFill>
            <a:srgbClr val="C8161D"/>
          </a:solidFill>
          <a:ln/>
        </p:spPr>
      </p:sp>
      <p:sp>
        <p:nvSpPr>
          <p:cNvPr id="15" name="Text 13"/>
          <p:cNvSpPr/>
          <p:nvPr/>
        </p:nvSpPr>
        <p:spPr>
          <a:xfrm>
            <a:off x="4160520" y="3913632"/>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ボーナス廃止→税収連動の成功報酬</a:t>
            </a:r>
            <a:endParaRPr lang="en-US" sz="1100" dirty="0"/>
          </a:p>
        </p:txBody>
      </p:sp>
      <p:sp>
        <p:nvSpPr>
          <p:cNvPr id="16" name="Shape 14"/>
          <p:cNvSpPr/>
          <p:nvPr/>
        </p:nvSpPr>
        <p:spPr>
          <a:xfrm>
            <a:off x="3931920" y="4187952"/>
            <a:ext cx="128016" cy="128016"/>
          </a:xfrm>
          <a:prstGeom prst="ellipse">
            <a:avLst/>
          </a:prstGeom>
          <a:solidFill>
            <a:srgbClr val="C8161D"/>
          </a:solidFill>
          <a:ln/>
        </p:spPr>
      </p:sp>
      <p:sp>
        <p:nvSpPr>
          <p:cNvPr id="17" name="Text 15"/>
          <p:cNvSpPr/>
          <p:nvPr/>
        </p:nvSpPr>
        <p:spPr>
          <a:xfrm>
            <a:off x="4160520" y="4142232"/>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退職金・3階建て年金を廃止</a:t>
            </a:r>
            <a:endParaRPr lang="en-US" sz="1100" dirty="0"/>
          </a:p>
        </p:txBody>
      </p:sp>
      <p:sp>
        <p:nvSpPr>
          <p:cNvPr id="18" name="Shape 16"/>
          <p:cNvSpPr/>
          <p:nvPr/>
        </p:nvSpPr>
        <p:spPr>
          <a:xfrm>
            <a:off x="3931920" y="4416552"/>
            <a:ext cx="128016" cy="128016"/>
          </a:xfrm>
          <a:prstGeom prst="ellipse">
            <a:avLst/>
          </a:prstGeom>
          <a:solidFill>
            <a:srgbClr val="C8161D"/>
          </a:solidFill>
          <a:ln/>
        </p:spPr>
      </p:sp>
      <p:sp>
        <p:nvSpPr>
          <p:cNvPr id="19" name="Text 17"/>
          <p:cNvSpPr/>
          <p:nvPr/>
        </p:nvSpPr>
        <p:spPr>
          <a:xfrm>
            <a:off x="4160520" y="4370832"/>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人件費▲10兆円・ネット削減▲8.7兆円</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問題提起 01 / 03</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公務員の給料は「民間の実態」とズレている</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256032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457200" y="1508760"/>
            <a:ext cx="2560320" cy="800100"/>
          </a:xfrm>
          <a:prstGeom prst="rect">
            <a:avLst/>
          </a:prstGeom>
          <a:noFill/>
          <a:ln/>
        </p:spPr>
        <p:txBody>
          <a:bodyPr wrap="square" rtlCol="0" anchor="ctr"/>
          <a:lstStyle/>
          <a:p>
            <a:pPr algn="ctr" indent="0" marL="0">
              <a:buNone/>
            </a:pPr>
            <a:r>
              <a:rPr lang="en-US" sz="3400" b="1" dirty="0">
                <a:solidFill>
                  <a:srgbClr val="C8161D"/>
                </a:solidFill>
                <a:latin typeface="Arial" pitchFamily="34" charset="0"/>
                <a:ea typeface="BIZ UDPGothic" pitchFamily="34" charset="-122"/>
                <a:cs typeface="BIZ UDPGothic" pitchFamily="34" charset="-120"/>
              </a:rPr>
              <a:t>約24兆円</a:t>
            </a:r>
            <a:endParaRPr lang="en-US" sz="3400" dirty="0"/>
          </a:p>
        </p:txBody>
      </p:sp>
      <p:sp>
        <p:nvSpPr>
          <p:cNvPr id="7" name="Text 5"/>
          <p:cNvSpPr/>
          <p:nvPr/>
        </p:nvSpPr>
        <p:spPr>
          <a:xfrm>
            <a:off x="457200" y="2329434"/>
            <a:ext cx="256032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地方公務員の</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人件費総額</a:t>
            </a:r>
            <a:endParaRPr lang="en-US" sz="1200" dirty="0"/>
          </a:p>
        </p:txBody>
      </p:sp>
      <p:sp>
        <p:nvSpPr>
          <p:cNvPr id="8" name="Text 6"/>
          <p:cNvSpPr/>
          <p:nvPr/>
        </p:nvSpPr>
        <p:spPr>
          <a:xfrm>
            <a:off x="457200" y="2665476"/>
            <a:ext cx="256032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総務省 地方財政状況調査</a:t>
            </a:r>
            <a:endParaRPr lang="en-US" sz="900" dirty="0"/>
          </a:p>
        </p:txBody>
      </p:sp>
      <p:sp>
        <p:nvSpPr>
          <p:cNvPr id="9" name="Shape 7"/>
          <p:cNvSpPr/>
          <p:nvPr/>
        </p:nvSpPr>
        <p:spPr>
          <a:xfrm>
            <a:off x="3154680" y="1417320"/>
            <a:ext cx="256032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3154680" y="1508760"/>
            <a:ext cx="2560320" cy="800100"/>
          </a:xfrm>
          <a:prstGeom prst="rect">
            <a:avLst/>
          </a:prstGeom>
          <a:noFill/>
          <a:ln/>
        </p:spPr>
        <p:txBody>
          <a:bodyPr wrap="square" rtlCol="0" anchor="ctr"/>
          <a:lstStyle/>
          <a:p>
            <a:pPr algn="ctr" indent="0" marL="0">
              <a:buNone/>
            </a:pPr>
            <a:r>
              <a:rPr lang="en-US" sz="2600" b="1" dirty="0">
                <a:solidFill>
                  <a:srgbClr val="C8161D"/>
                </a:solidFill>
                <a:latin typeface="Arial" pitchFamily="34" charset="0"/>
                <a:ea typeface="BIZ UDPGothic" pitchFamily="34" charset="-122"/>
                <a:cs typeface="BIZ UDPGothic" pitchFamily="34" charset="-120"/>
              </a:rPr>
              <a:t>指数107〜</a:t>
            </a:r>
            <a:endParaRPr lang="en-US" sz="2600" dirty="0"/>
          </a:p>
        </p:txBody>
      </p:sp>
      <p:sp>
        <p:nvSpPr>
          <p:cNvPr id="11" name="Text 9"/>
          <p:cNvSpPr/>
          <p:nvPr/>
        </p:nvSpPr>
        <p:spPr>
          <a:xfrm>
            <a:off x="3154680" y="2329434"/>
            <a:ext cx="256032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地方によっては</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国家公務員より高い</a:t>
            </a:r>
            <a:endParaRPr lang="en-US" sz="1200" dirty="0"/>
          </a:p>
        </p:txBody>
      </p:sp>
      <p:sp>
        <p:nvSpPr>
          <p:cNvPr id="12" name="Text 10"/>
          <p:cNvSpPr/>
          <p:nvPr/>
        </p:nvSpPr>
        <p:spPr>
          <a:xfrm>
            <a:off x="3154680" y="2665476"/>
            <a:ext cx="256032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一部自治体の実態</a:t>
            </a:r>
            <a:endParaRPr lang="en-US" sz="900" dirty="0"/>
          </a:p>
        </p:txBody>
      </p:sp>
      <p:sp>
        <p:nvSpPr>
          <p:cNvPr id="13" name="Shape 11"/>
          <p:cNvSpPr/>
          <p:nvPr/>
        </p:nvSpPr>
        <p:spPr>
          <a:xfrm>
            <a:off x="5852160" y="1417320"/>
            <a:ext cx="256032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4" name="Text 12"/>
          <p:cNvSpPr/>
          <p:nvPr/>
        </p:nvSpPr>
        <p:spPr>
          <a:xfrm>
            <a:off x="5852160" y="1508760"/>
            <a:ext cx="2560320" cy="800100"/>
          </a:xfrm>
          <a:prstGeom prst="rect">
            <a:avLst/>
          </a:prstGeom>
          <a:noFill/>
          <a:ln/>
        </p:spPr>
        <p:txBody>
          <a:bodyPr wrap="square" rtlCol="0" anchor="ctr"/>
          <a:lstStyle/>
          <a:p>
            <a:pPr algn="ctr" indent="0" marL="0">
              <a:buNone/>
            </a:pPr>
            <a:r>
              <a:rPr lang="en-US" sz="3400" b="1" dirty="0">
                <a:solidFill>
                  <a:srgbClr val="C8161D"/>
                </a:solidFill>
                <a:latin typeface="Arial" pitchFamily="34" charset="0"/>
                <a:ea typeface="BIZ UDPGothic" pitchFamily="34" charset="-122"/>
                <a:cs typeface="BIZ UDPGothic" pitchFamily="34" charset="-120"/>
              </a:rPr>
              <a:t>大企業基準</a:t>
            </a:r>
            <a:endParaRPr lang="en-US" sz="3400" dirty="0"/>
          </a:p>
        </p:txBody>
      </p:sp>
      <p:sp>
        <p:nvSpPr>
          <p:cNvPr id="15" name="Text 13"/>
          <p:cNvSpPr/>
          <p:nvPr/>
        </p:nvSpPr>
        <p:spPr>
          <a:xfrm>
            <a:off x="5852160" y="2329434"/>
            <a:ext cx="256032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現行の「民間準拠」</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の問題点</a:t>
            </a:r>
            <a:endParaRPr lang="en-US" sz="1200" dirty="0"/>
          </a:p>
        </p:txBody>
      </p:sp>
      <p:sp>
        <p:nvSpPr>
          <p:cNvPr id="16" name="Text 14"/>
          <p:cNvSpPr/>
          <p:nvPr/>
        </p:nvSpPr>
        <p:spPr>
          <a:xfrm>
            <a:off x="5852160" y="2665476"/>
            <a:ext cx="256032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大企業の給与を参考にしている</a:t>
            </a:r>
            <a:endParaRPr lang="en-US" sz="900" dirty="0"/>
          </a:p>
        </p:txBody>
      </p:sp>
      <p:sp>
        <p:nvSpPr>
          <p:cNvPr id="17" name="Shape 15"/>
          <p:cNvSpPr/>
          <p:nvPr/>
        </p:nvSpPr>
        <p:spPr>
          <a:xfrm>
            <a:off x="457200" y="3154680"/>
            <a:ext cx="384048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18" name="Text 16"/>
          <p:cNvSpPr/>
          <p:nvPr/>
        </p:nvSpPr>
        <p:spPr>
          <a:xfrm>
            <a:off x="640080" y="3291840"/>
            <a:ext cx="34747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どういうこと？</a:t>
            </a:r>
            <a:endParaRPr lang="en-US" sz="1200" dirty="0"/>
          </a:p>
        </p:txBody>
      </p:sp>
      <p:sp>
        <p:nvSpPr>
          <p:cNvPr id="19" name="Text 17"/>
          <p:cNvSpPr/>
          <p:nvPr/>
        </p:nvSpPr>
        <p:spPr>
          <a:xfrm>
            <a:off x="640080" y="3611880"/>
            <a:ext cx="3474720" cy="109728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今の公務員給与の「民間準拠」は、大企業の給与データを参考にしている。しかし地方の民間企業の平均給与は大企業より大幅に低い。結果として、地元の民間企業より公務員の方がはるかに高給というケースが多数生まれている。</a:t>
            </a:r>
            <a:endParaRPr lang="en-US" sz="1100" dirty="0"/>
          </a:p>
        </p:txBody>
      </p:sp>
      <p:sp>
        <p:nvSpPr>
          <p:cNvPr id="20" name="Shape 18"/>
          <p:cNvSpPr/>
          <p:nvPr/>
        </p:nvSpPr>
        <p:spPr>
          <a:xfrm>
            <a:off x="4480560" y="3154680"/>
            <a:ext cx="420624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21" name="Text 19"/>
          <p:cNvSpPr/>
          <p:nvPr/>
        </p:nvSpPr>
        <p:spPr>
          <a:xfrm>
            <a:off x="4663440" y="329184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なぜ問題なのか？</a:t>
            </a:r>
            <a:endParaRPr lang="en-US" sz="1200" dirty="0"/>
          </a:p>
        </p:txBody>
      </p:sp>
      <p:sp>
        <p:nvSpPr>
          <p:cNvPr id="22" name="Text 20"/>
          <p:cNvSpPr/>
          <p:nvPr/>
        </p:nvSpPr>
        <p:spPr>
          <a:xfrm>
            <a:off x="4663440" y="3611880"/>
            <a:ext cx="3840480" cy="109728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地元の民間企業で懸命に働く人より、公務員の方が高い給料をもらっている状況は、税金の使い方として公平とは言えない。地域の経済実態に合わない高給は「既得権益」そのものになっている。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問題提起 02 / 03</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400" b="1" dirty="0">
                <a:solidFill>
                  <a:srgbClr val="16181D"/>
                </a:solidFill>
                <a:latin typeface="Arial" pitchFamily="34" charset="0"/>
                <a:ea typeface="BIZ UDPGothic" pitchFamily="34" charset="-122"/>
                <a:cs typeface="BIZ UDPGothic" pitchFamily="34" charset="-120"/>
              </a:rPr>
              <a:t>年功序列と終身雇用が「働かない高給職員」を生む</a:t>
            </a:r>
            <a:endParaRPr lang="en-US" sz="2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2651760" cy="3429000"/>
          </a:xfrm>
          <a:prstGeom prst="roundRect">
            <a:avLst>
              <a:gd name="adj" fmla="val 3448"/>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2286000" cy="36576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問題①</a:t>
            </a:r>
            <a:endParaRPr lang="en-US" sz="2200" dirty="0"/>
          </a:p>
        </p:txBody>
      </p:sp>
      <p:sp>
        <p:nvSpPr>
          <p:cNvPr id="7" name="Text 5"/>
          <p:cNvSpPr/>
          <p:nvPr/>
        </p:nvSpPr>
        <p:spPr>
          <a:xfrm>
            <a:off x="640080" y="1938528"/>
            <a:ext cx="2286000" cy="347472"/>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働かなくても給料が上がる</a:t>
            </a:r>
            <a:endParaRPr lang="en-US" sz="1200" dirty="0"/>
          </a:p>
        </p:txBody>
      </p:sp>
      <p:sp>
        <p:nvSpPr>
          <p:cNvPr id="8" name="Shape 6"/>
          <p:cNvSpPr/>
          <p:nvPr/>
        </p:nvSpPr>
        <p:spPr>
          <a:xfrm>
            <a:off x="2286000" y="2359152"/>
            <a:ext cx="640080" cy="22860"/>
          </a:xfrm>
          <a:prstGeom prst="rect">
            <a:avLst/>
          </a:prstGeom>
          <a:solidFill>
            <a:srgbClr val="DDE0E6"/>
          </a:solidFill>
          <a:ln/>
        </p:spPr>
      </p:sp>
      <p:sp>
        <p:nvSpPr>
          <p:cNvPr id="9" name="Text 7"/>
          <p:cNvSpPr/>
          <p:nvPr/>
        </p:nvSpPr>
        <p:spPr>
          <a:xfrm>
            <a:off x="640080" y="2450592"/>
            <a:ext cx="2286000" cy="2240280"/>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年功序列では、成果に関わらず勤続年数が長いほど給料が上がる。50代の「仕事をしない高給職員」が職場に居続けても、給料は上がり続ける。</a:t>
            </a:r>
            <a:endParaRPr lang="en-US" sz="1100" dirty="0"/>
          </a:p>
        </p:txBody>
      </p:sp>
      <p:sp>
        <p:nvSpPr>
          <p:cNvPr id="10" name="Shape 8"/>
          <p:cNvSpPr/>
          <p:nvPr/>
        </p:nvSpPr>
        <p:spPr>
          <a:xfrm>
            <a:off x="3291840" y="1417320"/>
            <a:ext cx="2651760" cy="3429000"/>
          </a:xfrm>
          <a:prstGeom prst="roundRect">
            <a:avLst>
              <a:gd name="adj" fmla="val 3448"/>
            </a:avLst>
          </a:prstGeom>
          <a:solidFill>
            <a:srgbClr val="FFFFFF"/>
          </a:solidFill>
          <a:ln/>
          <a:effectLst>
            <a:outerShdw sx="100000" sy="100000" kx="0" ky="0" algn="bl" rotWithShape="0" blurRad="127000" dist="38100" dir="2700000">
              <a:srgbClr val="000000">
                <a:alpha val="35000"/>
              </a:srgbClr>
            </a:outerShdw>
          </a:effectLst>
        </p:spPr>
      </p:sp>
      <p:sp>
        <p:nvSpPr>
          <p:cNvPr id="11" name="Text 9"/>
          <p:cNvSpPr/>
          <p:nvPr/>
        </p:nvSpPr>
        <p:spPr>
          <a:xfrm>
            <a:off x="3474720" y="1536192"/>
            <a:ext cx="2286000" cy="36576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問題②</a:t>
            </a:r>
            <a:endParaRPr lang="en-US" sz="2200" dirty="0"/>
          </a:p>
        </p:txBody>
      </p:sp>
      <p:sp>
        <p:nvSpPr>
          <p:cNvPr id="12" name="Text 10"/>
          <p:cNvSpPr/>
          <p:nvPr/>
        </p:nvSpPr>
        <p:spPr>
          <a:xfrm>
            <a:off x="3474720" y="1938528"/>
            <a:ext cx="2286000" cy="347472"/>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優秀な若手が報われない</a:t>
            </a:r>
            <a:endParaRPr lang="en-US" sz="1200" dirty="0"/>
          </a:p>
        </p:txBody>
      </p:sp>
      <p:sp>
        <p:nvSpPr>
          <p:cNvPr id="13" name="Shape 11"/>
          <p:cNvSpPr/>
          <p:nvPr/>
        </p:nvSpPr>
        <p:spPr>
          <a:xfrm>
            <a:off x="2286000" y="2359152"/>
            <a:ext cx="3474720" cy="22860"/>
          </a:xfrm>
          <a:prstGeom prst="rect">
            <a:avLst/>
          </a:prstGeom>
          <a:solidFill>
            <a:srgbClr val="DDE0E6"/>
          </a:solidFill>
          <a:ln/>
        </p:spPr>
      </p:sp>
      <p:sp>
        <p:nvSpPr>
          <p:cNvPr id="14" name="Text 12"/>
          <p:cNvSpPr/>
          <p:nvPr/>
        </p:nvSpPr>
        <p:spPr>
          <a:xfrm>
            <a:off x="3474720" y="2450592"/>
            <a:ext cx="2286000" cy="2240280"/>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どんなに頑張っても、若い間は先輩より給料が低い。「頑張っても意味がない」という空気が生まれ、優秀な人材が民間企業に流れてしまう。</a:t>
            </a:r>
            <a:endParaRPr lang="en-US" sz="1100" dirty="0"/>
          </a:p>
        </p:txBody>
      </p:sp>
      <p:sp>
        <p:nvSpPr>
          <p:cNvPr id="15" name="Shape 13"/>
          <p:cNvSpPr/>
          <p:nvPr/>
        </p:nvSpPr>
        <p:spPr>
          <a:xfrm>
            <a:off x="6126480" y="1417320"/>
            <a:ext cx="2651760" cy="3429000"/>
          </a:xfrm>
          <a:prstGeom prst="roundRect">
            <a:avLst>
              <a:gd name="adj" fmla="val 3448"/>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6309360" y="1536192"/>
            <a:ext cx="2286000" cy="36576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問題③</a:t>
            </a:r>
            <a:endParaRPr lang="en-US" sz="2200" dirty="0"/>
          </a:p>
        </p:txBody>
      </p:sp>
      <p:sp>
        <p:nvSpPr>
          <p:cNvPr id="17" name="Text 15"/>
          <p:cNvSpPr/>
          <p:nvPr/>
        </p:nvSpPr>
        <p:spPr>
          <a:xfrm>
            <a:off x="6309360" y="1938528"/>
            <a:ext cx="2286000" cy="347472"/>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新陳代謝が起きない</a:t>
            </a:r>
            <a:endParaRPr lang="en-US" sz="1200" dirty="0"/>
          </a:p>
        </p:txBody>
      </p:sp>
      <p:sp>
        <p:nvSpPr>
          <p:cNvPr id="18" name="Shape 16"/>
          <p:cNvSpPr/>
          <p:nvPr/>
        </p:nvSpPr>
        <p:spPr>
          <a:xfrm>
            <a:off x="2286000" y="2359152"/>
            <a:ext cx="6309360" cy="22860"/>
          </a:xfrm>
          <a:prstGeom prst="rect">
            <a:avLst/>
          </a:prstGeom>
          <a:solidFill>
            <a:srgbClr val="DDE0E6"/>
          </a:solidFill>
          <a:ln/>
        </p:spPr>
      </p:sp>
      <p:sp>
        <p:nvSpPr>
          <p:cNvPr id="19" name="Text 17"/>
          <p:cNvSpPr/>
          <p:nvPr/>
        </p:nvSpPr>
        <p:spPr>
          <a:xfrm>
            <a:off x="6309360" y="2450592"/>
            <a:ext cx="2286000" cy="2240280"/>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終身雇用のため、能力に関わらず定年まで在籍し続けられる。地域のために本気で戦う組織にならず、「前例踏襲」「波風立てない」文化が続く。</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問題提起 03 / 03</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200" b="1" dirty="0">
                <a:solidFill>
                  <a:srgbClr val="16181D"/>
                </a:solidFill>
                <a:latin typeface="Arial" pitchFamily="34" charset="0"/>
                <a:ea typeface="BIZ UDPGothic" pitchFamily="34" charset="-122"/>
                <a:cs typeface="BIZ UDPGothic" pitchFamily="34" charset="-120"/>
              </a:rPr>
              <a:t>一律ボーナスと退職金は「在職した人への報酬」になっている</a:t>
            </a:r>
            <a:endParaRPr lang="en-US" sz="22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93192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3566160" cy="320040"/>
          </a:xfrm>
          <a:prstGeom prst="rect">
            <a:avLst/>
          </a:prstGeom>
          <a:noFill/>
          <a:ln/>
        </p:spPr>
        <p:txBody>
          <a:bodyPr wrap="square" rtlCol="0" anchor="ctr"/>
          <a:lstStyle/>
          <a:p>
            <a:pPr indent="0" marL="0">
              <a:buNone/>
            </a:pPr>
            <a:r>
              <a:rPr lang="en-US" sz="1200" b="1" dirty="0">
                <a:solidFill>
                  <a:srgbClr val="4B515C"/>
                </a:solidFill>
                <a:latin typeface="Arial" pitchFamily="34" charset="0"/>
                <a:ea typeface="BIZ UDPGothic" pitchFamily="34" charset="-122"/>
                <a:cs typeface="BIZ UDPGothic" pitchFamily="34" charset="-120"/>
              </a:rPr>
              <a:t>今のボーナス（期末・勤勉手当）</a:t>
            </a:r>
            <a:endParaRPr lang="en-US" sz="1200" dirty="0"/>
          </a:p>
        </p:txBody>
      </p:sp>
      <p:sp>
        <p:nvSpPr>
          <p:cNvPr id="7" name="Text 5"/>
          <p:cNvSpPr/>
          <p:nvPr/>
        </p:nvSpPr>
        <p:spPr>
          <a:xfrm>
            <a:off x="640080" y="1901952"/>
            <a:ext cx="3566160" cy="914400"/>
          </a:xfrm>
          <a:prstGeom prst="rect">
            <a:avLst/>
          </a:prstGeom>
          <a:noFill/>
          <a:ln/>
        </p:spPr>
        <p:txBody>
          <a:bodyPr wrap="square" rtlCol="0" anchor="ctr"/>
          <a:lstStyle/>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年間約4.45ヶ月分を一律支給</a:t>
            </a:r>
            <a:endParaRPr lang="en-US" sz="1200" dirty="0"/>
          </a:p>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 成果に関わらず全員が同じ金額</a:t>
            </a:r>
            <a:endParaRPr lang="en-US" sz="1200" dirty="0"/>
          </a:p>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 地域を豊かにしても貧しくしても変わらない</a:t>
            </a:r>
            <a:endParaRPr lang="en-US" sz="1200" dirty="0"/>
          </a:p>
        </p:txBody>
      </p:sp>
      <p:sp>
        <p:nvSpPr>
          <p:cNvPr id="8" name="Shape 6"/>
          <p:cNvSpPr/>
          <p:nvPr/>
        </p:nvSpPr>
        <p:spPr>
          <a:xfrm>
            <a:off x="4480560" y="1417320"/>
            <a:ext cx="420624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9" name="Text 7"/>
          <p:cNvSpPr/>
          <p:nvPr/>
        </p:nvSpPr>
        <p:spPr>
          <a:xfrm>
            <a:off x="4663440" y="1536192"/>
            <a:ext cx="3840480" cy="320040"/>
          </a:xfrm>
          <a:prstGeom prst="rect">
            <a:avLst/>
          </a:prstGeom>
          <a:noFill/>
          <a:ln/>
        </p:spPr>
        <p:txBody>
          <a:bodyPr wrap="square" rtlCol="0" anchor="ctr"/>
          <a:lstStyle/>
          <a:p>
            <a:pPr indent="0" marL="0">
              <a:buNone/>
            </a:pPr>
            <a:r>
              <a:rPr lang="en-US" sz="1200" b="1" dirty="0">
                <a:solidFill>
                  <a:srgbClr val="4B515C"/>
                </a:solidFill>
                <a:latin typeface="Arial" pitchFamily="34" charset="0"/>
                <a:ea typeface="BIZ UDPGothic" pitchFamily="34" charset="-122"/>
                <a:cs typeface="BIZ UDPGothic" pitchFamily="34" charset="-120"/>
              </a:rPr>
              <a:t>今の退職金・3階建て年金</a:t>
            </a:r>
            <a:endParaRPr lang="en-US" sz="1200" dirty="0"/>
          </a:p>
        </p:txBody>
      </p:sp>
      <p:sp>
        <p:nvSpPr>
          <p:cNvPr id="10" name="Text 8"/>
          <p:cNvSpPr/>
          <p:nvPr/>
        </p:nvSpPr>
        <p:spPr>
          <a:xfrm>
            <a:off x="4663440" y="1901952"/>
            <a:ext cx="3840480" cy="914400"/>
          </a:xfrm>
          <a:prstGeom prst="rect">
            <a:avLst/>
          </a:prstGeom>
          <a:noFill/>
          <a:ln/>
        </p:spPr>
        <p:txBody>
          <a:bodyPr wrap="square" rtlCol="0" anchor="ctr"/>
          <a:lstStyle/>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長くいた人ほど有利な退職金制度</a:t>
            </a:r>
            <a:endParaRPr lang="en-US" sz="1200" dirty="0"/>
          </a:p>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共済年金という公務員専用の3階部分</a:t>
            </a:r>
            <a:endParaRPr lang="en-US" sz="1200" dirty="0"/>
          </a:p>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 「しがみついた者勝ち」の設計になっている</a:t>
            </a:r>
            <a:endParaRPr lang="en-US" sz="1200" dirty="0"/>
          </a:p>
        </p:txBody>
      </p:sp>
      <p:sp>
        <p:nvSpPr>
          <p:cNvPr id="11" name="Shape 9"/>
          <p:cNvSpPr/>
          <p:nvPr/>
        </p:nvSpPr>
        <p:spPr>
          <a:xfrm>
            <a:off x="457200" y="3063240"/>
            <a:ext cx="8229600" cy="594360"/>
          </a:xfrm>
          <a:prstGeom prst="roundRect">
            <a:avLst>
              <a:gd name="adj" fmla="val 12308"/>
            </a:avLst>
          </a:prstGeom>
          <a:solidFill>
            <a:srgbClr val="C8161D"/>
          </a:solidFill>
          <a:ln/>
          <a:effectLst>
            <a:outerShdw sx="100000" sy="100000" kx="0" ky="0" algn="bl" rotWithShape="0" blurRad="101600" dist="38100" dir="2700000">
              <a:srgbClr val="000000">
                <a:alpha val="30000"/>
              </a:srgbClr>
            </a:outerShdw>
          </a:effectLst>
        </p:spPr>
      </p:sp>
      <p:sp>
        <p:nvSpPr>
          <p:cNvPr id="12" name="Text 10"/>
          <p:cNvSpPr/>
          <p:nvPr/>
        </p:nvSpPr>
        <p:spPr>
          <a:xfrm>
            <a:off x="457200" y="3063240"/>
            <a:ext cx="8229600" cy="5943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本来あるべき姿：地域のために成果を出した人だけが多くもらえる仕組みに変える</a:t>
            </a:r>
            <a:endParaRPr lang="en-US" sz="1400" dirty="0"/>
          </a:p>
        </p:txBody>
      </p:sp>
      <p:sp>
        <p:nvSpPr>
          <p:cNvPr id="13" name="Shape 11"/>
          <p:cNvSpPr/>
          <p:nvPr/>
        </p:nvSpPr>
        <p:spPr>
          <a:xfrm>
            <a:off x="457200" y="3794760"/>
            <a:ext cx="3840480" cy="1143000"/>
          </a:xfrm>
          <a:prstGeom prst="roundRect">
            <a:avLst>
              <a:gd name="adj" fmla="val 8000"/>
            </a:avLst>
          </a:prstGeom>
          <a:solidFill>
            <a:srgbClr val="FFFFFF"/>
          </a:solidFill>
          <a:ln/>
          <a:effectLst>
            <a:outerShdw sx="100000" sy="100000" kx="0" ky="0" algn="bl" rotWithShape="0" blurRad="127000" dist="38100" dir="2700000">
              <a:srgbClr val="000000">
                <a:alpha val="35000"/>
              </a:srgbClr>
            </a:outerShdw>
          </a:effectLst>
        </p:spPr>
      </p:sp>
      <p:sp>
        <p:nvSpPr>
          <p:cNvPr id="14" name="Text 12"/>
          <p:cNvSpPr/>
          <p:nvPr/>
        </p:nvSpPr>
        <p:spPr>
          <a:xfrm>
            <a:off x="640080" y="3931920"/>
            <a:ext cx="34747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公務員の本当の役割とは？</a:t>
            </a:r>
            <a:endParaRPr lang="en-US" sz="1200" dirty="0"/>
          </a:p>
        </p:txBody>
      </p:sp>
      <p:sp>
        <p:nvSpPr>
          <p:cNvPr id="15" name="Text 13"/>
          <p:cNvSpPr/>
          <p:nvPr/>
        </p:nvSpPr>
        <p:spPr>
          <a:xfrm>
            <a:off x="640080" y="4251960"/>
            <a:ext cx="3474720" cy="54864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公務員の仕事は「地域の住民を豊かにすること」。でも今の制度では、地域が豊かになっても貧しくなっても、公務員の給料はほとんど変わらない。これでは本気で地域のために戦う組織にならない。</a:t>
            </a:r>
            <a:endParaRPr lang="en-US" sz="1100" dirty="0"/>
          </a:p>
        </p:txBody>
      </p:sp>
      <p:sp>
        <p:nvSpPr>
          <p:cNvPr id="16" name="Shape 14"/>
          <p:cNvSpPr/>
          <p:nvPr/>
        </p:nvSpPr>
        <p:spPr>
          <a:xfrm>
            <a:off x="4480560" y="3794760"/>
            <a:ext cx="4206240" cy="1097280"/>
          </a:xfrm>
          <a:prstGeom prst="roundRect">
            <a:avLst>
              <a:gd name="adj" fmla="val 8333"/>
            </a:avLst>
          </a:prstGeom>
          <a:solidFill>
            <a:srgbClr val="FFFFFF"/>
          </a:solidFill>
          <a:ln/>
          <a:effectLst>
            <a:outerShdw sx="100000" sy="100000" kx="0" ky="0" algn="bl" rotWithShape="0" blurRad="127000" dist="38100" dir="2700000">
              <a:srgbClr val="000000">
                <a:alpha val="35000"/>
              </a:srgbClr>
            </a:outerShdw>
          </a:effectLst>
        </p:spPr>
      </p:sp>
      <p:sp>
        <p:nvSpPr>
          <p:cNvPr id="17" name="Text 15"/>
          <p:cNvSpPr/>
          <p:nvPr/>
        </p:nvSpPr>
        <p:spPr>
          <a:xfrm>
            <a:off x="4663440" y="393192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このプランの方向性</a:t>
            </a:r>
            <a:endParaRPr lang="en-US" sz="1200" dirty="0"/>
          </a:p>
        </p:txBody>
      </p:sp>
      <p:sp>
        <p:nvSpPr>
          <p:cNvPr id="18" name="Text 16"/>
          <p:cNvSpPr/>
          <p:nvPr/>
        </p:nvSpPr>
        <p:spPr>
          <a:xfrm>
            <a:off x="4663440" y="4251960"/>
            <a:ext cx="3840480" cy="50292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給与・ボーナス・退職金のすべてを「地域の成果」に連動させる。稼げる地域を作れば公務員も豊かになり、そうでなければ給料も下がる。官民が同じ船に乗る設計にする。</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全体像</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BIZ UDPGothic" pitchFamily="34" charset="-122"/>
                <a:cs typeface="BIZ UDPGothic" pitchFamily="34" charset="-120"/>
              </a:rPr>
              <a:t>このプランで何を変えるか？4つの柱</a:t>
            </a:r>
            <a:endParaRPr lang="en-US" sz="32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4069080" cy="1508760"/>
          </a:xfrm>
          <a:prstGeom prst="roundRect">
            <a:avLst>
              <a:gd name="adj" fmla="val 6061"/>
            </a:avLst>
          </a:prstGeom>
          <a:solidFill>
            <a:srgbClr val="C8161D"/>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81912"/>
            <a:ext cx="502920" cy="11887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BIZ UDPGothic" pitchFamily="34" charset="-122"/>
                <a:cs typeface="BIZ UDPGothic" pitchFamily="34" charset="-120"/>
              </a:rPr>
              <a:t>①</a:t>
            </a:r>
            <a:endParaRPr lang="en-US" sz="3200" dirty="0"/>
          </a:p>
        </p:txBody>
      </p:sp>
      <p:sp>
        <p:nvSpPr>
          <p:cNvPr id="7" name="Text 5"/>
          <p:cNvSpPr/>
          <p:nvPr/>
        </p:nvSpPr>
        <p:spPr>
          <a:xfrm>
            <a:off x="1280160" y="1691640"/>
            <a:ext cx="3063240" cy="1005840"/>
          </a:xfrm>
          <a:prstGeom prst="rect">
            <a:avLst/>
          </a:prstGeom>
          <a:noFill/>
          <a:ln/>
        </p:spPr>
        <p:txBody>
          <a:bodyPr wrap="square" rtlCol="0" anchor="ctr"/>
          <a:lstStyle/>
          <a:p>
            <a:pPr indent="0" marL="0">
              <a:lnSpc>
                <a:spcPct val="120000"/>
              </a:lnSpc>
              <a:buNone/>
            </a:pPr>
            <a:r>
              <a:rPr lang="en-US" sz="1600" b="1" dirty="0">
                <a:solidFill>
                  <a:srgbClr val="FFFFFF"/>
                </a:solidFill>
                <a:latin typeface="Arial" pitchFamily="34" charset="0"/>
                <a:ea typeface="BIZ UDPGothic" pitchFamily="34" charset="-122"/>
                <a:cs typeface="BIZ UDPGothic" pitchFamily="34" charset="-120"/>
              </a:rPr>
              <a:t>給与を地域の</a:t>
            </a:r>
            <a:endParaRPr lang="en-US" sz="1600" dirty="0"/>
          </a:p>
          <a:p>
            <a:pPr indent="0" marL="0">
              <a:lnSpc>
                <a:spcPct val="120000"/>
              </a:lnSpc>
              <a:buNone/>
            </a:pPr>
            <a:r>
              <a:rPr lang="en-US" sz="1600" b="1" dirty="0">
                <a:solidFill>
                  <a:srgbClr val="FFFFFF"/>
                </a:solidFill>
                <a:latin typeface="Arial" pitchFamily="34" charset="0"/>
                <a:ea typeface="BIZ UDPGothic" pitchFamily="34" charset="-122"/>
                <a:cs typeface="BIZ UDPGothic" pitchFamily="34" charset="-120"/>
              </a:rPr>
              <a:t>民間平均に連動</a:t>
            </a:r>
            <a:endParaRPr lang="en-US" sz="1600" dirty="0"/>
          </a:p>
        </p:txBody>
      </p:sp>
      <p:sp>
        <p:nvSpPr>
          <p:cNvPr id="8" name="Shape 6"/>
          <p:cNvSpPr/>
          <p:nvPr/>
        </p:nvSpPr>
        <p:spPr>
          <a:xfrm>
            <a:off x="4800600" y="1417320"/>
            <a:ext cx="406908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9" name="Text 7"/>
          <p:cNvSpPr/>
          <p:nvPr/>
        </p:nvSpPr>
        <p:spPr>
          <a:xfrm>
            <a:off x="4983480" y="1581912"/>
            <a:ext cx="502920" cy="1188720"/>
          </a:xfrm>
          <a:prstGeom prst="rect">
            <a:avLst/>
          </a:prstGeom>
          <a:noFill/>
          <a:ln/>
        </p:spPr>
        <p:txBody>
          <a:bodyPr wrap="square" rtlCol="0" anchor="ctr"/>
          <a:lstStyle/>
          <a:p>
            <a:pPr indent="0" marL="0">
              <a:buNone/>
            </a:pPr>
            <a:r>
              <a:rPr lang="en-US" sz="3200" b="1" dirty="0">
                <a:solidFill>
                  <a:srgbClr val="C8161D"/>
                </a:solidFill>
                <a:latin typeface="Arial" pitchFamily="34" charset="0"/>
                <a:ea typeface="BIZ UDPGothic" pitchFamily="34" charset="-122"/>
                <a:cs typeface="BIZ UDPGothic" pitchFamily="34" charset="-120"/>
              </a:rPr>
              <a:t>②</a:t>
            </a:r>
            <a:endParaRPr lang="en-US" sz="3200" dirty="0"/>
          </a:p>
        </p:txBody>
      </p:sp>
      <p:sp>
        <p:nvSpPr>
          <p:cNvPr id="10" name="Text 8"/>
          <p:cNvSpPr/>
          <p:nvPr/>
        </p:nvSpPr>
        <p:spPr>
          <a:xfrm>
            <a:off x="5623560" y="1691640"/>
            <a:ext cx="3063240" cy="1005840"/>
          </a:xfrm>
          <a:prstGeom prst="rect">
            <a:avLst/>
          </a:prstGeom>
          <a:noFill/>
          <a:ln/>
        </p:spPr>
        <p:txBody>
          <a:bodyPr wrap="square" rtlCol="0" anchor="ctr"/>
          <a:lstStyle/>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任期10年制と</a:t>
            </a:r>
            <a:endParaRPr lang="en-US" sz="1600" dirty="0"/>
          </a:p>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専門職トラック</a:t>
            </a:r>
            <a:endParaRPr lang="en-US" sz="1600" dirty="0"/>
          </a:p>
        </p:txBody>
      </p:sp>
      <p:sp>
        <p:nvSpPr>
          <p:cNvPr id="11" name="Shape 9"/>
          <p:cNvSpPr/>
          <p:nvPr/>
        </p:nvSpPr>
        <p:spPr>
          <a:xfrm>
            <a:off x="457200" y="3108960"/>
            <a:ext cx="406908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2" name="Text 10"/>
          <p:cNvSpPr/>
          <p:nvPr/>
        </p:nvSpPr>
        <p:spPr>
          <a:xfrm>
            <a:off x="640080" y="3273552"/>
            <a:ext cx="502920" cy="1188720"/>
          </a:xfrm>
          <a:prstGeom prst="rect">
            <a:avLst/>
          </a:prstGeom>
          <a:noFill/>
          <a:ln/>
        </p:spPr>
        <p:txBody>
          <a:bodyPr wrap="square" rtlCol="0" anchor="ctr"/>
          <a:lstStyle/>
          <a:p>
            <a:pPr indent="0" marL="0">
              <a:buNone/>
            </a:pPr>
            <a:r>
              <a:rPr lang="en-US" sz="3200" b="1" dirty="0">
                <a:solidFill>
                  <a:srgbClr val="C8161D"/>
                </a:solidFill>
                <a:latin typeface="Arial" pitchFamily="34" charset="0"/>
                <a:ea typeface="BIZ UDPGothic" pitchFamily="34" charset="-122"/>
                <a:cs typeface="BIZ UDPGothic" pitchFamily="34" charset="-120"/>
              </a:rPr>
              <a:t>③</a:t>
            </a:r>
            <a:endParaRPr lang="en-US" sz="3200" dirty="0"/>
          </a:p>
        </p:txBody>
      </p:sp>
      <p:sp>
        <p:nvSpPr>
          <p:cNvPr id="13" name="Text 11"/>
          <p:cNvSpPr/>
          <p:nvPr/>
        </p:nvSpPr>
        <p:spPr>
          <a:xfrm>
            <a:off x="1280160" y="3383280"/>
            <a:ext cx="3063240" cy="1005840"/>
          </a:xfrm>
          <a:prstGeom prst="rect">
            <a:avLst/>
          </a:prstGeom>
          <a:noFill/>
          <a:ln/>
        </p:spPr>
        <p:txBody>
          <a:bodyPr wrap="square" rtlCol="0" anchor="ctr"/>
          <a:lstStyle/>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ボーナス廃止</a:t>
            </a:r>
            <a:endParaRPr lang="en-US" sz="1600" dirty="0"/>
          </a:p>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→税収連動の成功報酬</a:t>
            </a:r>
            <a:endParaRPr lang="en-US" sz="1600" dirty="0"/>
          </a:p>
        </p:txBody>
      </p:sp>
      <p:sp>
        <p:nvSpPr>
          <p:cNvPr id="14" name="Shape 12"/>
          <p:cNvSpPr/>
          <p:nvPr/>
        </p:nvSpPr>
        <p:spPr>
          <a:xfrm>
            <a:off x="4800600" y="3108960"/>
            <a:ext cx="406908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5" name="Text 13"/>
          <p:cNvSpPr/>
          <p:nvPr/>
        </p:nvSpPr>
        <p:spPr>
          <a:xfrm>
            <a:off x="4983480" y="3273552"/>
            <a:ext cx="502920" cy="1188720"/>
          </a:xfrm>
          <a:prstGeom prst="rect">
            <a:avLst/>
          </a:prstGeom>
          <a:noFill/>
          <a:ln/>
        </p:spPr>
        <p:txBody>
          <a:bodyPr wrap="square" rtlCol="0" anchor="ctr"/>
          <a:lstStyle/>
          <a:p>
            <a:pPr indent="0" marL="0">
              <a:buNone/>
            </a:pPr>
            <a:r>
              <a:rPr lang="en-US" sz="3200" b="1" dirty="0">
                <a:solidFill>
                  <a:srgbClr val="C8161D"/>
                </a:solidFill>
                <a:latin typeface="Arial" pitchFamily="34" charset="0"/>
                <a:ea typeface="BIZ UDPGothic" pitchFamily="34" charset="-122"/>
                <a:cs typeface="BIZ UDPGothic" pitchFamily="34" charset="-120"/>
              </a:rPr>
              <a:t>④</a:t>
            </a:r>
            <a:endParaRPr lang="en-US" sz="3200" dirty="0"/>
          </a:p>
        </p:txBody>
      </p:sp>
      <p:sp>
        <p:nvSpPr>
          <p:cNvPr id="16" name="Text 14"/>
          <p:cNvSpPr/>
          <p:nvPr/>
        </p:nvSpPr>
        <p:spPr>
          <a:xfrm>
            <a:off x="5623560" y="3383280"/>
            <a:ext cx="3063240" cy="1005840"/>
          </a:xfrm>
          <a:prstGeom prst="rect">
            <a:avLst/>
          </a:prstGeom>
          <a:noFill/>
          <a:ln/>
        </p:spPr>
        <p:txBody>
          <a:bodyPr wrap="square" rtlCol="0" anchor="ctr"/>
          <a:lstStyle/>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退職金・共済年金</a:t>
            </a:r>
            <a:endParaRPr lang="en-US" sz="1600" dirty="0"/>
          </a:p>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の廃止</a:t>
            </a:r>
            <a:endParaRPr lang="en-US" sz="1600" dirty="0"/>
          </a:p>
        </p:txBody>
      </p:sp>
      <p:sp>
        <p:nvSpPr>
          <p:cNvPr id="17" name="Text 15"/>
          <p:cNvSpPr/>
          <p:nvPr/>
        </p:nvSpPr>
        <p:spPr>
          <a:xfrm>
            <a:off x="457200" y="4846320"/>
            <a:ext cx="8229600" cy="274320"/>
          </a:xfrm>
          <a:prstGeom prst="rect">
            <a:avLst/>
          </a:prstGeom>
          <a:noFill/>
          <a:ln/>
        </p:spPr>
        <p:txBody>
          <a:bodyPr wrap="square" rtlCol="0" anchor="ctr"/>
          <a:lstStyle/>
          <a:p>
            <a:pPr algn="ctr" indent="0" marL="0">
              <a:buNone/>
            </a:pPr>
            <a:r>
              <a:rPr lang="en-US" sz="1100" i="1" dirty="0">
                <a:solidFill>
                  <a:srgbClr val="4B515C"/>
                </a:solidFill>
                <a:latin typeface="Arial" pitchFamily="34" charset="0"/>
                <a:ea typeface="BIZ UDPGothic" pitchFamily="34" charset="-122"/>
                <a:cs typeface="BIZ UDPGothic" pitchFamily="34" charset="-120"/>
              </a:rPr>
              <a:t>すべて「提言001の最低賃金2,000円」と連動して設計されている</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01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400" b="1" dirty="0">
                <a:solidFill>
                  <a:srgbClr val="16181D"/>
                </a:solidFill>
                <a:latin typeface="Arial" pitchFamily="34" charset="0"/>
                <a:ea typeface="BIZ UDPGothic" pitchFamily="34" charset="-122"/>
                <a:cs typeface="BIZ UDPGothic" pitchFamily="34" charset="-120"/>
              </a:rPr>
              <a:t>給与を地域の「民間の全職種平均」に完全連動させる</a:t>
            </a:r>
            <a:endParaRPr lang="en-US" sz="2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931920" cy="3429000"/>
          </a:xfrm>
          <a:prstGeom prst="roundRect">
            <a:avLst>
              <a:gd name="adj" fmla="val 2667"/>
            </a:avLst>
          </a:prstGeom>
          <a:solidFill>
            <a:srgbClr val="C8161D"/>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54480"/>
            <a:ext cx="3566160" cy="34747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BIZ UDPGothic" pitchFamily="34" charset="-122"/>
                <a:cs typeface="BIZ UDPGothic" pitchFamily="34" charset="-120"/>
              </a:rPr>
              <a:t>都道府県職員</a:t>
            </a:r>
            <a:endParaRPr lang="en-US" sz="1600" dirty="0"/>
          </a:p>
        </p:txBody>
      </p:sp>
      <p:sp>
        <p:nvSpPr>
          <p:cNvPr id="7" name="Shape 5"/>
          <p:cNvSpPr/>
          <p:nvPr/>
        </p:nvSpPr>
        <p:spPr>
          <a:xfrm>
            <a:off x="3566160" y="1993392"/>
            <a:ext cx="640080" cy="22860"/>
          </a:xfrm>
          <a:prstGeom prst="rect">
            <a:avLst/>
          </a:prstGeom>
          <a:solidFill>
            <a:srgbClr val="DDE0E6"/>
          </a:solidFill>
          <a:ln/>
        </p:spPr>
      </p:sp>
      <p:sp>
        <p:nvSpPr>
          <p:cNvPr id="8" name="Text 6"/>
          <p:cNvSpPr/>
          <p:nvPr/>
        </p:nvSpPr>
        <p:spPr>
          <a:xfrm>
            <a:off x="640080" y="2084832"/>
            <a:ext cx="356616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BIZ UDPGothic" pitchFamily="34" charset="-122"/>
                <a:cs typeface="BIZ UDPGothic" pitchFamily="34" charset="-120"/>
              </a:rPr>
              <a:t>基本給</a:t>
            </a:r>
            <a:endParaRPr lang="en-US" sz="1200" dirty="0"/>
          </a:p>
        </p:txBody>
      </p:sp>
      <p:sp>
        <p:nvSpPr>
          <p:cNvPr id="9" name="Text 7"/>
          <p:cNvSpPr/>
          <p:nvPr/>
        </p:nvSpPr>
        <p:spPr>
          <a:xfrm>
            <a:off x="640080" y="2423160"/>
            <a:ext cx="3566160" cy="822960"/>
          </a:xfrm>
          <a:prstGeom prst="rect">
            <a:avLst/>
          </a:prstGeom>
          <a:noFill/>
          <a:ln/>
        </p:spPr>
        <p:txBody>
          <a:bodyPr wrap="square" rtlCol="0" anchor="ctr"/>
          <a:lstStyle/>
          <a:p>
            <a:pPr indent="0" marL="0">
              <a:lnSpc>
                <a:spcPct val="130000"/>
              </a:lnSpc>
              <a:buNone/>
            </a:pPr>
            <a:r>
              <a:rPr lang="en-US" sz="1300" b="1" dirty="0">
                <a:solidFill>
                  <a:srgbClr val="FFFFFF"/>
                </a:solidFill>
                <a:latin typeface="Arial" pitchFamily="34" charset="0"/>
                <a:ea typeface="BIZ UDPGothic" pitchFamily="34" charset="-122"/>
                <a:cs typeface="BIZ UDPGothic" pitchFamily="34" charset="-120"/>
              </a:rPr>
              <a:t>その都道府県の</a:t>
            </a:r>
            <a:endParaRPr lang="en-US" sz="1300" dirty="0"/>
          </a:p>
          <a:p>
            <a:pPr indent="0" marL="0">
              <a:lnSpc>
                <a:spcPct val="130000"/>
              </a:lnSpc>
              <a:buNone/>
            </a:pPr>
            <a:r>
              <a:rPr lang="en-US" sz="1300" b="1" dirty="0">
                <a:solidFill>
                  <a:srgbClr val="FFFFFF"/>
                </a:solidFill>
                <a:latin typeface="Arial" pitchFamily="34" charset="0"/>
                <a:ea typeface="BIZ UDPGothic" pitchFamily="34" charset="-122"/>
                <a:cs typeface="BIZ UDPGothic" pitchFamily="34" charset="-120"/>
              </a:rPr>
              <a:t>「民間の全職種平均給与」に完全準拠</a:t>
            </a:r>
            <a:endParaRPr lang="en-US" sz="1300" dirty="0"/>
          </a:p>
        </p:txBody>
      </p:sp>
      <p:sp>
        <p:nvSpPr>
          <p:cNvPr id="10" name="Text 8"/>
          <p:cNvSpPr/>
          <p:nvPr/>
        </p:nvSpPr>
        <p:spPr>
          <a:xfrm>
            <a:off x="640080" y="3337560"/>
            <a:ext cx="356616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BIZ UDPGothic" pitchFamily="34" charset="-122"/>
                <a:cs typeface="BIZ UDPGothic" pitchFamily="34" charset="-120"/>
              </a:rPr>
              <a:t>ボーナス</a:t>
            </a:r>
            <a:endParaRPr lang="en-US" sz="1200" dirty="0"/>
          </a:p>
        </p:txBody>
      </p:sp>
      <p:sp>
        <p:nvSpPr>
          <p:cNvPr id="11" name="Text 9"/>
          <p:cNvSpPr/>
          <p:nvPr/>
        </p:nvSpPr>
        <p:spPr>
          <a:xfrm>
            <a:off x="640080" y="3675888"/>
            <a:ext cx="3566160" cy="822960"/>
          </a:xfrm>
          <a:prstGeom prst="rect">
            <a:avLst/>
          </a:prstGeom>
          <a:noFill/>
          <a:ln/>
        </p:spPr>
        <p:txBody>
          <a:bodyPr wrap="square" rtlCol="0" anchor="ctr"/>
          <a:lstStyle/>
          <a:p>
            <a:pPr indent="0" marL="0">
              <a:lnSpc>
                <a:spcPct val="130000"/>
              </a:lnSpc>
              <a:buNone/>
            </a:pPr>
            <a:r>
              <a:rPr lang="en-US" sz="1150" b="1" dirty="0">
                <a:solidFill>
                  <a:srgbClr val="FFFFFF"/>
                </a:solidFill>
                <a:latin typeface="Arial" pitchFamily="34" charset="0"/>
                <a:ea typeface="BIZ UDPGothic" pitchFamily="34" charset="-122"/>
                <a:cs typeface="BIZ UDPGothic" pitchFamily="34" charset="-120"/>
              </a:rPr>
              <a:t>一律支給を全廃</a:t>
            </a:r>
            <a:endParaRPr lang="en-US" sz="1150" dirty="0"/>
          </a:p>
          <a:p>
            <a:pPr indent="0" marL="0">
              <a:lnSpc>
                <a:spcPct val="130000"/>
              </a:lnSpc>
              <a:buNone/>
            </a:pPr>
            <a:r>
              <a:rPr lang="en-US" sz="1150" b="1" dirty="0">
                <a:solidFill>
                  <a:srgbClr val="FFFFFF"/>
                </a:solidFill>
                <a:latin typeface="Arial" pitchFamily="34" charset="0"/>
                <a:ea typeface="BIZ UDPGothic" pitchFamily="34" charset="-122"/>
                <a:cs typeface="BIZ UDPGothic" pitchFamily="34" charset="-120"/>
              </a:rPr>
              <a:t>→自治体独自の「税収の上げ幅」に100%連動</a:t>
            </a:r>
            <a:endParaRPr lang="en-US" sz="1150" dirty="0"/>
          </a:p>
        </p:txBody>
      </p:sp>
      <p:sp>
        <p:nvSpPr>
          <p:cNvPr id="12" name="Shape 10"/>
          <p:cNvSpPr/>
          <p:nvPr/>
        </p:nvSpPr>
        <p:spPr>
          <a:xfrm>
            <a:off x="4480560" y="1417320"/>
            <a:ext cx="42062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3" name="Text 11"/>
          <p:cNvSpPr/>
          <p:nvPr/>
        </p:nvSpPr>
        <p:spPr>
          <a:xfrm>
            <a:off x="4663440" y="155448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なぜ「全職種平均」なのか？</a:t>
            </a:r>
            <a:endParaRPr lang="en-US" sz="1200" dirty="0"/>
          </a:p>
        </p:txBody>
      </p:sp>
      <p:sp>
        <p:nvSpPr>
          <p:cNvPr id="14" name="Text 12"/>
          <p:cNvSpPr/>
          <p:nvPr/>
        </p:nvSpPr>
        <p:spPr>
          <a:xfrm>
            <a:off x="4663440" y="1874520"/>
            <a:ext cx="3840480" cy="100584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優秀な民間プレイヤーを呼び込むために、あえて高めの「全職種平均」をベースに設定。一流の人材が公務員を選べる水準にする。</a:t>
            </a:r>
            <a:endParaRPr lang="en-US" sz="1100" dirty="0"/>
          </a:p>
        </p:txBody>
      </p:sp>
      <p:sp>
        <p:nvSpPr>
          <p:cNvPr id="15" name="Shape 13"/>
          <p:cNvSpPr/>
          <p:nvPr/>
        </p:nvSpPr>
        <p:spPr>
          <a:xfrm>
            <a:off x="4480560" y="3154680"/>
            <a:ext cx="420624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4663440" y="329184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データの出典（透明性の確保）</a:t>
            </a:r>
            <a:endParaRPr lang="en-US" sz="1200" dirty="0"/>
          </a:p>
        </p:txBody>
      </p:sp>
      <p:sp>
        <p:nvSpPr>
          <p:cNvPr id="17" name="Text 15"/>
          <p:cNvSpPr/>
          <p:nvPr/>
        </p:nvSpPr>
        <p:spPr>
          <a:xfrm>
            <a:off x="4663440" y="3611880"/>
            <a:ext cx="3840480" cy="109728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厚生労働省「賃金構造基本統計調査」の都道府県別データを使用。誰でも確認できる公式統計を根拠にすることで、恣意的な操作を防ぐ。</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02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市町村職員：85%スタートと「下剋上ルール」</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71600"/>
            <a:ext cx="8229600" cy="411480"/>
          </a:xfrm>
          <a:prstGeom prst="rect">
            <a:avLst/>
          </a:prstGeom>
          <a:noFill/>
          <a:ln/>
        </p:spPr>
        <p:txBody>
          <a:bodyPr wrap="square" rtlCol="0" anchor="ctr"/>
          <a:lstStyle/>
          <a:p>
            <a:pPr indent="0" marL="0">
              <a:buNone/>
            </a:pPr>
            <a:r>
              <a:rPr lang="en-US" sz="1300" b="1" dirty="0">
                <a:solidFill>
                  <a:srgbClr val="C8161D"/>
                </a:solidFill>
                <a:latin typeface="Arial" pitchFamily="34" charset="0"/>
                <a:ea typeface="BIZ UDPGothic" pitchFamily="34" charset="-122"/>
                <a:cs typeface="BIZ UDPGothic" pitchFamily="34" charset="-120"/>
              </a:rPr>
              <a:t>市町村職員の基本給 ＝ max（県職員基準×0.85、地域別最低賃金の年収換算額）</a:t>
            </a:r>
            <a:endParaRPr lang="en-US" sz="1300" dirty="0"/>
          </a:p>
        </p:txBody>
      </p:sp>
      <p:sp>
        <p:nvSpPr>
          <p:cNvPr id="6" name="Shape 4"/>
          <p:cNvSpPr/>
          <p:nvPr/>
        </p:nvSpPr>
        <p:spPr>
          <a:xfrm>
            <a:off x="457200" y="1874520"/>
            <a:ext cx="3931920" cy="1417320"/>
          </a:xfrm>
          <a:prstGeom prst="roundRect">
            <a:avLst>
              <a:gd name="adj" fmla="val 6452"/>
            </a:avLst>
          </a:prstGeom>
          <a:solidFill>
            <a:srgbClr val="FFFFFF"/>
          </a:solidFill>
          <a:ln/>
          <a:effectLst>
            <a:outerShdw sx="100000" sy="100000" kx="0" ky="0" algn="bl" rotWithShape="0" blurRad="127000" dist="38100" dir="2700000">
              <a:srgbClr val="000000">
                <a:alpha val="35000"/>
              </a:srgbClr>
            </a:outerShdw>
          </a:effectLst>
        </p:spPr>
      </p:sp>
      <p:sp>
        <p:nvSpPr>
          <p:cNvPr id="7" name="Text 5"/>
          <p:cNvSpPr/>
          <p:nvPr/>
        </p:nvSpPr>
        <p:spPr>
          <a:xfrm>
            <a:off x="640080" y="2011680"/>
            <a:ext cx="356616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なぜ85%スタート？</a:t>
            </a:r>
            <a:endParaRPr lang="en-US" sz="1200" dirty="0"/>
          </a:p>
        </p:txBody>
      </p:sp>
      <p:sp>
        <p:nvSpPr>
          <p:cNvPr id="8" name="Text 6"/>
          <p:cNvSpPr/>
          <p:nvPr/>
        </p:nvSpPr>
        <p:spPr>
          <a:xfrm>
            <a:off x="640080" y="2331720"/>
            <a:ext cx="3566160" cy="82296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過疎地で住民より公務員がはるかに富裕になるというバグを解消。85%は島根県・出雲市のケースで検証済み（349万円 &gt; 改革後の想定最低賃金年収326万円）。</a:t>
            </a:r>
            <a:endParaRPr lang="en-US" sz="1100" dirty="0"/>
          </a:p>
        </p:txBody>
      </p:sp>
      <p:sp>
        <p:nvSpPr>
          <p:cNvPr id="9" name="Shape 7"/>
          <p:cNvSpPr/>
          <p:nvPr/>
        </p:nvSpPr>
        <p:spPr>
          <a:xfrm>
            <a:off x="457200" y="3401568"/>
            <a:ext cx="3931920" cy="1417320"/>
          </a:xfrm>
          <a:prstGeom prst="roundRect">
            <a:avLst>
              <a:gd name="adj" fmla="val 6452"/>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640080" y="3538728"/>
            <a:ext cx="356616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最低賃金フロアとの併用</a:t>
            </a:r>
            <a:endParaRPr lang="en-US" sz="1200" dirty="0"/>
          </a:p>
        </p:txBody>
      </p:sp>
      <p:sp>
        <p:nvSpPr>
          <p:cNvPr id="11" name="Text 9"/>
          <p:cNvSpPr/>
          <p:nvPr/>
        </p:nvSpPr>
        <p:spPr>
          <a:xfrm>
            <a:off x="640080" y="3858768"/>
            <a:ext cx="3566160" cy="82296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「県職員基準×0.85」と「地域別最低賃金の年収換算額」のうち高い方を採用。提言001の生活保護設計と同じmax()ロジック。</a:t>
            </a:r>
            <a:endParaRPr lang="en-US" sz="1100" dirty="0"/>
          </a:p>
        </p:txBody>
      </p:sp>
      <p:sp>
        <p:nvSpPr>
          <p:cNvPr id="12" name="Shape 10"/>
          <p:cNvSpPr/>
          <p:nvPr/>
        </p:nvSpPr>
        <p:spPr>
          <a:xfrm>
            <a:off x="4480560" y="1874520"/>
            <a:ext cx="4206240" cy="2944368"/>
          </a:xfrm>
          <a:prstGeom prst="roundRect">
            <a:avLst>
              <a:gd name="adj" fmla="val 3106"/>
            </a:avLst>
          </a:prstGeom>
          <a:solidFill>
            <a:srgbClr val="C8161D"/>
          </a:solidFill>
          <a:ln/>
          <a:effectLst>
            <a:outerShdw sx="100000" sy="100000" kx="0" ky="0" algn="bl" rotWithShape="0" blurRad="127000" dist="38100" dir="2700000">
              <a:srgbClr val="000000">
                <a:alpha val="35000"/>
              </a:srgbClr>
            </a:outerShdw>
          </a:effectLst>
        </p:spPr>
      </p:sp>
      <p:sp>
        <p:nvSpPr>
          <p:cNvPr id="13" name="Text 11"/>
          <p:cNvSpPr/>
          <p:nvPr/>
        </p:nvSpPr>
        <p:spPr>
          <a:xfrm>
            <a:off x="4663440" y="1993392"/>
            <a:ext cx="3840480" cy="384048"/>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BIZ UDPGothic" pitchFamily="34" charset="-122"/>
                <a:cs typeface="BIZ UDPGothic" pitchFamily="34" charset="-120"/>
              </a:rPr>
              <a:t>下剋上ルール</a:t>
            </a:r>
            <a:endParaRPr lang="en-US" sz="1800" dirty="0"/>
          </a:p>
        </p:txBody>
      </p:sp>
      <p:sp>
        <p:nvSpPr>
          <p:cNvPr id="14" name="Shape 12"/>
          <p:cNvSpPr/>
          <p:nvPr/>
        </p:nvSpPr>
        <p:spPr>
          <a:xfrm>
            <a:off x="3840480" y="2487168"/>
            <a:ext cx="4663440" cy="22860"/>
          </a:xfrm>
          <a:prstGeom prst="rect">
            <a:avLst/>
          </a:prstGeom>
          <a:solidFill>
            <a:srgbClr val="DDE0E6"/>
          </a:solidFill>
          <a:ln/>
        </p:spPr>
      </p:sp>
      <p:sp>
        <p:nvSpPr>
          <p:cNvPr id="15" name="Text 13"/>
          <p:cNvSpPr/>
          <p:nvPr/>
        </p:nvSpPr>
        <p:spPr>
          <a:xfrm>
            <a:off x="4663440" y="2578608"/>
            <a:ext cx="3840480" cy="2103120"/>
          </a:xfrm>
          <a:prstGeom prst="rect">
            <a:avLst/>
          </a:prstGeom>
          <a:noFill/>
          <a:ln/>
        </p:spPr>
        <p:txBody>
          <a:bodyPr wrap="square" rtlCol="0" anchor="ctr"/>
          <a:lstStyle/>
          <a:p>
            <a:pPr indent="0" marL="0">
              <a:lnSpc>
                <a:spcPct val="150000"/>
              </a:lnSpc>
              <a:buNone/>
            </a:pPr>
            <a:r>
              <a:rPr lang="en-US" sz="1400" dirty="0">
                <a:solidFill>
                  <a:srgbClr val="FFFFFF"/>
                </a:solidFill>
                <a:latin typeface="Arial" pitchFamily="34" charset="0"/>
                <a:ea typeface="BIZ UDPGothic" pitchFamily="34" charset="-122"/>
                <a:cs typeface="BIZ UDPGothic" pitchFamily="34" charset="-120"/>
              </a:rPr>
              <a:t>自力で優良企業を誘致し、</a:t>
            </a:r>
            <a:endParaRPr lang="en-US" sz="1400" dirty="0"/>
          </a:p>
          <a:p>
            <a:pPr indent="0" marL="0">
              <a:lnSpc>
                <a:spcPct val="150000"/>
              </a:lnSpc>
              <a:buNone/>
            </a:pPr>
            <a:r>
              <a:rPr lang="en-US" sz="1400" dirty="0">
                <a:solidFill>
                  <a:srgbClr val="FFFFFF"/>
                </a:solidFill>
                <a:latin typeface="Arial" pitchFamily="34" charset="0"/>
                <a:ea typeface="BIZ UDPGothic" pitchFamily="34" charset="-122"/>
                <a:cs typeface="BIZ UDPGothic" pitchFamily="34" charset="-120"/>
              </a:rPr>
              <a:t>県内の税収ランキングで</a:t>
            </a:r>
            <a:endParaRPr lang="en-US" sz="1400" dirty="0"/>
          </a:p>
          <a:p>
            <a:pPr indent="0" marL="0">
              <a:lnSpc>
                <a:spcPct val="150000"/>
              </a:lnSpc>
              <a:buNone/>
            </a:pPr>
            <a:r>
              <a:rPr lang="en-US" sz="1400" dirty="0">
                <a:solidFill>
                  <a:srgbClr val="FFFFFF"/>
                </a:solidFill>
                <a:latin typeface="Arial" pitchFamily="34" charset="0"/>
                <a:ea typeface="BIZ UDPGothic" pitchFamily="34" charset="-122"/>
                <a:cs typeface="BIZ UDPGothic" pitchFamily="34" charset="-120"/>
              </a:rPr>
              <a:t>上位に入った市町村は…</a:t>
            </a:r>
            <a:endParaRPr lang="en-US" sz="1400" dirty="0"/>
          </a:p>
          <a:p>
            <a:pPr indent="0" marL="0">
              <a:lnSpc>
                <a:spcPct val="150000"/>
              </a:lnSpc>
              <a:buNone/>
            </a:pPr>
            <a:endParaRPr lang="en-US" sz="1400" dirty="0"/>
          </a:p>
          <a:p>
            <a:pPr indent="0" marL="0">
              <a:lnSpc>
                <a:spcPct val="150000"/>
              </a:lnSpc>
              <a:buNone/>
            </a:pPr>
            <a:r>
              <a:rPr lang="en-US" sz="1400" dirty="0">
                <a:solidFill>
                  <a:srgbClr val="FFFFFF"/>
                </a:solidFill>
                <a:latin typeface="Arial" pitchFamily="34" charset="0"/>
                <a:ea typeface="BIZ UDPGothic" pitchFamily="34" charset="-122"/>
                <a:cs typeface="BIZ UDPGothic" pitchFamily="34" charset="-120"/>
              </a:rPr>
              <a:t>県職員と同水準の</a:t>
            </a:r>
            <a:endParaRPr lang="en-US" sz="1400" dirty="0"/>
          </a:p>
          <a:p>
            <a:pPr indent="0" marL="0">
              <a:lnSpc>
                <a:spcPct val="150000"/>
              </a:lnSpc>
              <a:buNone/>
            </a:pPr>
            <a:r>
              <a:rPr lang="en-US" sz="1400" dirty="0">
                <a:solidFill>
                  <a:srgbClr val="FFFFFF"/>
                </a:solidFill>
                <a:latin typeface="Arial" pitchFamily="34" charset="0"/>
                <a:ea typeface="BIZ UDPGothic" pitchFamily="34" charset="-122"/>
                <a:cs typeface="BIZ UDPGothic" pitchFamily="34" charset="-120"/>
              </a:rPr>
              <a:t>「100%」まで</a:t>
            </a:r>
            <a:endParaRPr lang="en-US" sz="1400" dirty="0"/>
          </a:p>
          <a:p>
            <a:pPr indent="0" marL="0">
              <a:lnSpc>
                <a:spcPct val="150000"/>
              </a:lnSpc>
              <a:buNone/>
            </a:pPr>
            <a:r>
              <a:rPr lang="en-US" sz="1400" dirty="0">
                <a:solidFill>
                  <a:srgbClr val="FFFFFF"/>
                </a:solidFill>
                <a:latin typeface="Arial" pitchFamily="34" charset="0"/>
                <a:ea typeface="BIZ UDPGothic" pitchFamily="34" charset="-122"/>
                <a:cs typeface="BIZ UDPGothic" pitchFamily="34" charset="-120"/>
              </a:rPr>
              <a:t>ベースを引き上げられる</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03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BIZ UDPGothic" pitchFamily="34" charset="-122"/>
                <a:cs typeface="BIZ UDPGothic" pitchFamily="34" charset="-120"/>
              </a:rPr>
              <a:t>任期10年制：新陳代謝のある組織を作る</a:t>
            </a:r>
            <a:endParaRPr lang="en-US" sz="32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931920" cy="3429000"/>
          </a:xfrm>
          <a:prstGeom prst="roundRect">
            <a:avLst>
              <a:gd name="adj" fmla="val 2667"/>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356616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プレイヤー層（一般行政職）</a:t>
            </a:r>
            <a:endParaRPr lang="en-US" sz="1200" dirty="0"/>
          </a:p>
        </p:txBody>
      </p:sp>
      <p:sp>
        <p:nvSpPr>
          <p:cNvPr id="7" name="Text 5"/>
          <p:cNvSpPr/>
          <p:nvPr/>
        </p:nvSpPr>
        <p:spPr>
          <a:xfrm>
            <a:off x="640080" y="1901952"/>
            <a:ext cx="3566160" cy="1645920"/>
          </a:xfrm>
          <a:prstGeom prst="rect">
            <a:avLst/>
          </a:prstGeom>
          <a:noFill/>
          <a:ln/>
        </p:spPr>
        <p:txBody>
          <a:bodyPr wrap="square" rtlCol="0" anchor="ctr"/>
          <a:lstStyle/>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最長10年の任期制（年齢制限なし）</a:t>
            </a:r>
            <a:endParaRPr lang="en-US" sz="1200" dirty="0"/>
          </a:p>
          <a:p>
            <a:pPr indent="0" marL="0">
              <a:lnSpc>
                <a:spcPct val="150000"/>
              </a:lnSpc>
              <a:buNone/>
            </a:pPr>
            <a:endParaRPr lang="en-US" sz="1200" dirty="0"/>
          </a:p>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50代の「働かない高給職員」を排除しながら、民間で世代交代を強いられた40〜50代の優秀なシニアや専門家も年齢不問で受け入れる流動的な組織へ。</a:t>
            </a:r>
            <a:endParaRPr lang="en-US" sz="1200" dirty="0"/>
          </a:p>
        </p:txBody>
      </p:sp>
      <p:sp>
        <p:nvSpPr>
          <p:cNvPr id="8" name="Shape 6"/>
          <p:cNvSpPr/>
          <p:nvPr/>
        </p:nvSpPr>
        <p:spPr>
          <a:xfrm>
            <a:off x="3566160" y="3657600"/>
            <a:ext cx="640080" cy="22860"/>
          </a:xfrm>
          <a:prstGeom prst="rect">
            <a:avLst/>
          </a:prstGeom>
          <a:solidFill>
            <a:srgbClr val="DDE0E6"/>
          </a:solidFill>
          <a:ln/>
        </p:spPr>
      </p:sp>
      <p:sp>
        <p:nvSpPr>
          <p:cNvPr id="9" name="Text 7"/>
          <p:cNvSpPr/>
          <p:nvPr/>
        </p:nvSpPr>
        <p:spPr>
          <a:xfrm>
            <a:off x="640080" y="3749040"/>
            <a:ext cx="356616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管理職登用（実績者限定）</a:t>
            </a:r>
            <a:endParaRPr lang="en-US" sz="1200" dirty="0"/>
          </a:p>
        </p:txBody>
      </p:sp>
      <p:sp>
        <p:nvSpPr>
          <p:cNvPr id="10" name="Text 8"/>
          <p:cNvSpPr/>
          <p:nvPr/>
        </p:nvSpPr>
        <p:spPr>
          <a:xfrm>
            <a:off x="640080" y="4096512"/>
            <a:ext cx="3566160" cy="658368"/>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10年で大型誘致や税収アップを</a:t>
            </a:r>
            <a:endParaRPr lang="en-US" sz="1100" dirty="0"/>
          </a:p>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達成した上位5〜10%のみ</a:t>
            </a:r>
            <a:endParaRPr lang="en-US" sz="1100" dirty="0"/>
          </a:p>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5〜10年の延長契約＋管理職へ</a:t>
            </a:r>
            <a:endParaRPr lang="en-US" sz="1100" dirty="0"/>
          </a:p>
        </p:txBody>
      </p:sp>
      <p:sp>
        <p:nvSpPr>
          <p:cNvPr id="11" name="Shape 9"/>
          <p:cNvSpPr/>
          <p:nvPr/>
        </p:nvSpPr>
        <p:spPr>
          <a:xfrm>
            <a:off x="4480560" y="1417320"/>
            <a:ext cx="42062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2" name="Text 10"/>
          <p:cNvSpPr/>
          <p:nvPr/>
        </p:nvSpPr>
        <p:spPr>
          <a:xfrm>
            <a:off x="4663440" y="1536192"/>
            <a:ext cx="384048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専門職トラック</a:t>
            </a:r>
            <a:endParaRPr lang="en-US" sz="1200" dirty="0"/>
          </a:p>
        </p:txBody>
      </p:sp>
      <p:sp>
        <p:nvSpPr>
          <p:cNvPr id="13" name="Text 11"/>
          <p:cNvSpPr/>
          <p:nvPr/>
        </p:nvSpPr>
        <p:spPr>
          <a:xfrm>
            <a:off x="4663440" y="1874520"/>
            <a:ext cx="3840480" cy="1051560"/>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土木・建築・福祉・保健師など専門知識が必要な職種は、10年後も「管理職」ではなく「専門職として延長」を選べる。ノウハウの断絶を防ぐ。</a:t>
            </a:r>
            <a:endParaRPr lang="en-US" sz="1100" dirty="0"/>
          </a:p>
        </p:txBody>
      </p:sp>
      <p:sp>
        <p:nvSpPr>
          <p:cNvPr id="14" name="Shape 12"/>
          <p:cNvSpPr/>
          <p:nvPr/>
        </p:nvSpPr>
        <p:spPr>
          <a:xfrm>
            <a:off x="4480560" y="3154680"/>
            <a:ext cx="420624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15" name="Text 13"/>
          <p:cNvSpPr/>
          <p:nvPr/>
        </p:nvSpPr>
        <p:spPr>
          <a:xfrm>
            <a:off x="4663440" y="329184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移行設計（重要）</a:t>
            </a:r>
            <a:endParaRPr lang="en-US" sz="1200" dirty="0"/>
          </a:p>
        </p:txBody>
      </p:sp>
      <p:sp>
        <p:nvSpPr>
          <p:cNvPr id="16" name="Text 14"/>
          <p:cNvSpPr/>
          <p:nvPr/>
        </p:nvSpPr>
        <p:spPr>
          <a:xfrm>
            <a:off x="4663440" y="3611880"/>
            <a:ext cx="3840480" cy="109728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現職職員への即時適用は憲法・地公法の身分保障と衝突するため、「新規採用者から適用」が現実的。早期退職優遇（成功報酬の前倒し）でソフトランディングを促す。完全移行まで20〜30年を想定。</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04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800" b="1" dirty="0">
                <a:solidFill>
                  <a:srgbClr val="16181D"/>
                </a:solidFill>
                <a:latin typeface="Arial" pitchFamily="34" charset="0"/>
                <a:ea typeface="BIZ UDPGothic" pitchFamily="34" charset="-122"/>
                <a:cs typeface="BIZ UDPGothic" pitchFamily="34" charset="-120"/>
              </a:rPr>
              <a:t>ボーナス廃止 → 10年の成果に対する成功報酬へ</a:t>
            </a:r>
            <a:endParaRPr lang="en-US" sz="28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794760" cy="3429000"/>
          </a:xfrm>
          <a:prstGeom prst="roundRect">
            <a:avLst>
              <a:gd name="adj" fmla="val 2667"/>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3429000" cy="320040"/>
          </a:xfrm>
          <a:prstGeom prst="rect">
            <a:avLst/>
          </a:prstGeom>
          <a:noFill/>
          <a:ln/>
        </p:spPr>
        <p:txBody>
          <a:bodyPr wrap="square" rtlCol="0" anchor="ctr"/>
          <a:lstStyle/>
          <a:p>
            <a:pPr indent="0" marL="0">
              <a:buNone/>
            </a:pPr>
            <a:r>
              <a:rPr lang="en-US" sz="1200" b="1" dirty="0">
                <a:solidFill>
                  <a:srgbClr val="4B515C"/>
                </a:solidFill>
                <a:latin typeface="Arial" pitchFamily="34" charset="0"/>
                <a:ea typeface="BIZ UDPGothic" pitchFamily="34" charset="-122"/>
                <a:cs typeface="BIZ UDPGothic" pitchFamily="34" charset="-120"/>
              </a:rPr>
              <a:t>廃止するもの</a:t>
            </a:r>
            <a:endParaRPr lang="en-US" sz="1200" dirty="0"/>
          </a:p>
        </p:txBody>
      </p:sp>
      <p:sp>
        <p:nvSpPr>
          <p:cNvPr id="7" name="Shape 5"/>
          <p:cNvSpPr/>
          <p:nvPr/>
        </p:nvSpPr>
        <p:spPr>
          <a:xfrm>
            <a:off x="640080" y="1938528"/>
            <a:ext cx="3429000" cy="502920"/>
          </a:xfrm>
          <a:prstGeom prst="rect">
            <a:avLst/>
          </a:prstGeom>
          <a:solidFill>
            <a:srgbClr val="DDE0E6"/>
          </a:solidFill>
          <a:ln/>
        </p:spPr>
      </p:sp>
      <p:sp>
        <p:nvSpPr>
          <p:cNvPr id="8" name="Text 6"/>
          <p:cNvSpPr/>
          <p:nvPr/>
        </p:nvSpPr>
        <p:spPr>
          <a:xfrm>
            <a:off x="777240" y="1938528"/>
            <a:ext cx="3154680" cy="502920"/>
          </a:xfrm>
          <a:prstGeom prst="rect">
            <a:avLst/>
          </a:prstGeom>
          <a:noFill/>
          <a:ln/>
        </p:spPr>
        <p:txBody>
          <a:bodyPr wrap="square" rtlCol="0" anchor="ctr"/>
          <a:lstStyle/>
          <a:p>
            <a:pPr indent="0" marL="0">
              <a:buNone/>
            </a:pPr>
            <a:r>
              <a:rPr lang="en-US" sz="1050" dirty="0">
                <a:solidFill>
                  <a:srgbClr val="16181D"/>
                </a:solidFill>
                <a:latin typeface="Arial" pitchFamily="34" charset="0"/>
                <a:ea typeface="BIZ UDPGothic" pitchFamily="34" charset="-122"/>
                <a:cs typeface="BIZ UDPGothic" pitchFamily="34" charset="-120"/>
              </a:rPr>
              <a:t>✕  一律ボーナス（期末・勤勉手当）年4.45ヶ月</a:t>
            </a:r>
            <a:endParaRPr lang="en-US" sz="1050" dirty="0"/>
          </a:p>
        </p:txBody>
      </p:sp>
      <p:sp>
        <p:nvSpPr>
          <p:cNvPr id="9" name="Shape 7"/>
          <p:cNvSpPr/>
          <p:nvPr/>
        </p:nvSpPr>
        <p:spPr>
          <a:xfrm>
            <a:off x="640080" y="2596896"/>
            <a:ext cx="3429000" cy="502920"/>
          </a:xfrm>
          <a:prstGeom prst="rect">
            <a:avLst/>
          </a:prstGeom>
          <a:solidFill>
            <a:srgbClr val="DDE0E6"/>
          </a:solidFill>
          <a:ln/>
        </p:spPr>
      </p:sp>
      <p:sp>
        <p:nvSpPr>
          <p:cNvPr id="10" name="Text 8"/>
          <p:cNvSpPr/>
          <p:nvPr/>
        </p:nvSpPr>
        <p:spPr>
          <a:xfrm>
            <a:off x="777240" y="2596896"/>
            <a:ext cx="3154680" cy="502920"/>
          </a:xfrm>
          <a:prstGeom prst="rect">
            <a:avLst/>
          </a:prstGeom>
          <a:noFill/>
          <a:ln/>
        </p:spPr>
        <p:txBody>
          <a:bodyPr wrap="square" rtlCol="0" anchor="ctr"/>
          <a:lstStyle/>
          <a:p>
            <a:pPr indent="0" marL="0">
              <a:buNone/>
            </a:pPr>
            <a:r>
              <a:rPr lang="en-US" sz="1050" dirty="0">
                <a:solidFill>
                  <a:srgbClr val="16181D"/>
                </a:solidFill>
                <a:latin typeface="Arial" pitchFamily="34" charset="0"/>
                <a:ea typeface="BIZ UDPGothic" pitchFamily="34" charset="-122"/>
                <a:cs typeface="BIZ UDPGothic" pitchFamily="34" charset="-120"/>
              </a:rPr>
              <a:t>✕  退職金（長くいた者が勝つ設計）</a:t>
            </a:r>
            <a:endParaRPr lang="en-US" sz="1050" dirty="0"/>
          </a:p>
        </p:txBody>
      </p:sp>
      <p:sp>
        <p:nvSpPr>
          <p:cNvPr id="11" name="Shape 9"/>
          <p:cNvSpPr/>
          <p:nvPr/>
        </p:nvSpPr>
        <p:spPr>
          <a:xfrm>
            <a:off x="640080" y="3255264"/>
            <a:ext cx="3429000" cy="502920"/>
          </a:xfrm>
          <a:prstGeom prst="rect">
            <a:avLst/>
          </a:prstGeom>
          <a:solidFill>
            <a:srgbClr val="DDE0E6"/>
          </a:solidFill>
          <a:ln/>
        </p:spPr>
      </p:sp>
      <p:sp>
        <p:nvSpPr>
          <p:cNvPr id="12" name="Text 10"/>
          <p:cNvSpPr/>
          <p:nvPr/>
        </p:nvSpPr>
        <p:spPr>
          <a:xfrm>
            <a:off x="777240" y="3255264"/>
            <a:ext cx="3154680" cy="502920"/>
          </a:xfrm>
          <a:prstGeom prst="rect">
            <a:avLst/>
          </a:prstGeom>
          <a:noFill/>
          <a:ln/>
        </p:spPr>
        <p:txBody>
          <a:bodyPr wrap="square" rtlCol="0" anchor="ctr"/>
          <a:lstStyle/>
          <a:p>
            <a:pPr indent="0" marL="0">
              <a:buNone/>
            </a:pPr>
            <a:r>
              <a:rPr lang="en-US" sz="1050" dirty="0">
                <a:solidFill>
                  <a:srgbClr val="16181D"/>
                </a:solidFill>
                <a:latin typeface="Arial" pitchFamily="34" charset="0"/>
                <a:ea typeface="BIZ UDPGothic" pitchFamily="34" charset="-122"/>
                <a:cs typeface="BIZ UDPGothic" pitchFamily="34" charset="-120"/>
              </a:rPr>
              <a:t>✕  共済年金（公務員専用の3階部分）</a:t>
            </a:r>
            <a:endParaRPr lang="en-US" sz="1050" dirty="0"/>
          </a:p>
        </p:txBody>
      </p:sp>
      <p:sp>
        <p:nvSpPr>
          <p:cNvPr id="13" name="Shape 11"/>
          <p:cNvSpPr/>
          <p:nvPr/>
        </p:nvSpPr>
        <p:spPr>
          <a:xfrm>
            <a:off x="640080" y="3913632"/>
            <a:ext cx="3429000" cy="502920"/>
          </a:xfrm>
          <a:prstGeom prst="rect">
            <a:avLst/>
          </a:prstGeom>
          <a:solidFill>
            <a:srgbClr val="DDE0E6"/>
          </a:solidFill>
          <a:ln/>
        </p:spPr>
      </p:sp>
      <p:sp>
        <p:nvSpPr>
          <p:cNvPr id="14" name="Text 12"/>
          <p:cNvSpPr/>
          <p:nvPr/>
        </p:nvSpPr>
        <p:spPr>
          <a:xfrm>
            <a:off x="777240" y="3913632"/>
            <a:ext cx="3154680" cy="502920"/>
          </a:xfrm>
          <a:prstGeom prst="rect">
            <a:avLst/>
          </a:prstGeom>
          <a:noFill/>
          <a:ln/>
        </p:spPr>
        <p:txBody>
          <a:bodyPr wrap="square" rtlCol="0" anchor="ctr"/>
          <a:lstStyle/>
          <a:p>
            <a:pPr indent="0" marL="0">
              <a:buNone/>
            </a:pPr>
            <a:r>
              <a:rPr lang="en-US" sz="1050" dirty="0">
                <a:solidFill>
                  <a:srgbClr val="16181D"/>
                </a:solidFill>
                <a:latin typeface="Arial" pitchFamily="34" charset="0"/>
                <a:ea typeface="BIZ UDPGothic" pitchFamily="34" charset="-122"/>
                <a:cs typeface="BIZ UDPGothic" pitchFamily="34" charset="-120"/>
              </a:rPr>
              <a:t>✕  扶養手当・住居手当などの生活補助的な手当</a:t>
            </a:r>
            <a:endParaRPr lang="en-US" sz="1050" dirty="0"/>
          </a:p>
        </p:txBody>
      </p:sp>
      <p:sp>
        <p:nvSpPr>
          <p:cNvPr id="15" name="Text 13"/>
          <p:cNvSpPr/>
          <p:nvPr/>
        </p:nvSpPr>
        <p:spPr>
          <a:xfrm>
            <a:off x="4297680" y="2651760"/>
            <a:ext cx="502920" cy="548640"/>
          </a:xfrm>
          <a:prstGeom prst="rect">
            <a:avLst/>
          </a:prstGeom>
          <a:noFill/>
          <a:ln/>
        </p:spPr>
        <p:txBody>
          <a:bodyPr wrap="square" rtlCol="0" anchor="ctr"/>
          <a:lstStyle/>
          <a:p>
            <a:pPr algn="ctr" indent="0" marL="0">
              <a:buNone/>
            </a:pPr>
            <a:r>
              <a:rPr lang="en-US" sz="2800" b="1" dirty="0">
                <a:solidFill>
                  <a:srgbClr val="C8161D"/>
                </a:solidFill>
                <a:latin typeface="Arial" pitchFamily="34" charset="0"/>
                <a:ea typeface="BIZ UDPGothic" pitchFamily="34" charset="-122"/>
                <a:cs typeface="BIZ UDPGothic" pitchFamily="34" charset="-120"/>
              </a:rPr>
              <a:t>→</a:t>
            </a:r>
            <a:endParaRPr lang="en-US" sz="2800" dirty="0"/>
          </a:p>
        </p:txBody>
      </p:sp>
      <p:sp>
        <p:nvSpPr>
          <p:cNvPr id="16" name="Shape 14"/>
          <p:cNvSpPr/>
          <p:nvPr/>
        </p:nvSpPr>
        <p:spPr>
          <a:xfrm>
            <a:off x="4800600" y="1417320"/>
            <a:ext cx="3886200" cy="3429000"/>
          </a:xfrm>
          <a:prstGeom prst="roundRect">
            <a:avLst>
              <a:gd name="adj" fmla="val 2667"/>
            </a:avLst>
          </a:prstGeom>
          <a:solidFill>
            <a:srgbClr val="C8161D"/>
          </a:solidFill>
          <a:ln/>
          <a:effectLst>
            <a:outerShdw sx="100000" sy="100000" kx="0" ky="0" algn="bl" rotWithShape="0" blurRad="127000" dist="38100" dir="2700000">
              <a:srgbClr val="000000">
                <a:alpha val="35000"/>
              </a:srgbClr>
            </a:outerShdw>
          </a:effectLst>
        </p:spPr>
      </p:sp>
      <p:sp>
        <p:nvSpPr>
          <p:cNvPr id="17" name="Text 15"/>
          <p:cNvSpPr/>
          <p:nvPr/>
        </p:nvSpPr>
        <p:spPr>
          <a:xfrm>
            <a:off x="4983480" y="1536192"/>
            <a:ext cx="35204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BIZ UDPGothic" pitchFamily="34" charset="-122"/>
                <a:cs typeface="BIZ UDPGothic" pitchFamily="34" charset="-120"/>
              </a:rPr>
              <a:t>10年成功報酬（最大1,200万円）</a:t>
            </a:r>
            <a:endParaRPr lang="en-US" sz="1200" dirty="0"/>
          </a:p>
        </p:txBody>
      </p:sp>
      <p:sp>
        <p:nvSpPr>
          <p:cNvPr id="18" name="Text 16"/>
          <p:cNvSpPr/>
          <p:nvPr/>
        </p:nvSpPr>
        <p:spPr>
          <a:xfrm>
            <a:off x="4983480" y="1938528"/>
            <a:ext cx="3520440" cy="2743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BIZ UDPGothic" pitchFamily="34" charset="-122"/>
                <a:cs typeface="BIZ UDPGothic" pitchFamily="34" charset="-120"/>
              </a:rPr>
              <a:t>ベース（標準的な仕事）</a:t>
            </a:r>
            <a:endParaRPr lang="en-US" sz="1100" dirty="0"/>
          </a:p>
        </p:txBody>
      </p:sp>
      <p:sp>
        <p:nvSpPr>
          <p:cNvPr id="19" name="Text 17"/>
          <p:cNvSpPr/>
          <p:nvPr/>
        </p:nvSpPr>
        <p:spPr>
          <a:xfrm>
            <a:off x="4983480" y="2212848"/>
            <a:ext cx="352044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BIZ UDPGothic" pitchFamily="34" charset="-122"/>
                <a:cs typeface="BIZ UDPGothic" pitchFamily="34" charset="-120"/>
              </a:rPr>
              <a:t>一律300万円</a:t>
            </a:r>
            <a:endParaRPr lang="en-US" sz="2200" dirty="0"/>
          </a:p>
        </p:txBody>
      </p:sp>
      <p:sp>
        <p:nvSpPr>
          <p:cNvPr id="20" name="Shape 18"/>
          <p:cNvSpPr/>
          <p:nvPr/>
        </p:nvSpPr>
        <p:spPr>
          <a:xfrm>
            <a:off x="3520440" y="2761488"/>
            <a:ext cx="4983480" cy="22860"/>
          </a:xfrm>
          <a:prstGeom prst="rect">
            <a:avLst/>
          </a:prstGeom>
          <a:solidFill>
            <a:srgbClr val="DDE0E6"/>
          </a:solidFill>
          <a:ln/>
        </p:spPr>
      </p:sp>
      <p:sp>
        <p:nvSpPr>
          <p:cNvPr id="21" name="Text 19"/>
          <p:cNvSpPr/>
          <p:nvPr/>
        </p:nvSpPr>
        <p:spPr>
          <a:xfrm>
            <a:off x="4983480" y="2852928"/>
            <a:ext cx="3520440" cy="2743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BIZ UDPGothic" pitchFamily="34" charset="-122"/>
                <a:cs typeface="BIZ UDPGothic" pitchFamily="34" charset="-120"/>
              </a:rPr>
              <a:t>成果上乗せ（最大900万円）</a:t>
            </a:r>
            <a:endParaRPr lang="en-US" sz="1100" dirty="0"/>
          </a:p>
        </p:txBody>
      </p:sp>
      <p:sp>
        <p:nvSpPr>
          <p:cNvPr id="22" name="Text 20"/>
          <p:cNvSpPr/>
          <p:nvPr/>
        </p:nvSpPr>
        <p:spPr>
          <a:xfrm>
            <a:off x="4983480" y="3154680"/>
            <a:ext cx="3520440" cy="594360"/>
          </a:xfrm>
          <a:prstGeom prst="rect">
            <a:avLst/>
          </a:prstGeom>
          <a:noFill/>
          <a:ln/>
        </p:spPr>
        <p:txBody>
          <a:bodyPr wrap="square" rtlCol="0" anchor="ctr"/>
          <a:lstStyle/>
          <a:p>
            <a:pPr indent="0" marL="0">
              <a:lnSpc>
                <a:spcPct val="130000"/>
              </a:lnSpc>
              <a:buNone/>
            </a:pPr>
            <a:r>
              <a:rPr lang="en-US" sz="1100" dirty="0">
                <a:solidFill>
                  <a:srgbClr val="FFFFFF"/>
                </a:solidFill>
                <a:latin typeface="Arial" pitchFamily="34" charset="0"/>
                <a:ea typeface="BIZ UDPGothic" pitchFamily="34" charset="-122"/>
                <a:cs typeface="BIZ UDPGothic" pitchFamily="34" charset="-120"/>
              </a:rPr>
              <a:t>企業誘致・税収増・AI化コスト削減などの実績に応じて加算</a:t>
            </a:r>
            <a:endParaRPr lang="en-US" sz="1100" dirty="0"/>
          </a:p>
        </p:txBody>
      </p:sp>
      <p:sp>
        <p:nvSpPr>
          <p:cNvPr id="23" name="Shape 21"/>
          <p:cNvSpPr/>
          <p:nvPr/>
        </p:nvSpPr>
        <p:spPr>
          <a:xfrm>
            <a:off x="3520440" y="3840480"/>
            <a:ext cx="4983480" cy="22860"/>
          </a:xfrm>
          <a:prstGeom prst="rect">
            <a:avLst/>
          </a:prstGeom>
          <a:solidFill>
            <a:srgbClr val="DDE0E6"/>
          </a:solidFill>
          <a:ln/>
        </p:spPr>
      </p:sp>
      <p:sp>
        <p:nvSpPr>
          <p:cNvPr id="24" name="Text 22"/>
          <p:cNvSpPr/>
          <p:nvPr/>
        </p:nvSpPr>
        <p:spPr>
          <a:xfrm>
            <a:off x="4983480" y="3913632"/>
            <a:ext cx="3520440" cy="594360"/>
          </a:xfrm>
          <a:prstGeom prst="rect">
            <a:avLst/>
          </a:prstGeom>
          <a:noFill/>
          <a:ln/>
        </p:spPr>
        <p:txBody>
          <a:bodyPr wrap="square" rtlCol="0" anchor="ctr"/>
          <a:lstStyle/>
          <a:p>
            <a:pPr indent="0" marL="0">
              <a:lnSpc>
                <a:spcPct val="130000"/>
              </a:lnSpc>
              <a:buNone/>
            </a:pPr>
            <a:r>
              <a:rPr lang="en-US" sz="1000" dirty="0">
                <a:solidFill>
                  <a:srgbClr val="FFFFFF"/>
                </a:solidFill>
                <a:latin typeface="Arial" pitchFamily="34" charset="0"/>
                <a:ea typeface="BIZ UDPGothic" pitchFamily="34" charset="-122"/>
                <a:cs typeface="BIZ UDPGothic" pitchFamily="34" charset="-120"/>
              </a:rPr>
              <a:t>評価は「独立成果評価委員会」に委託</a:t>
            </a:r>
            <a:endParaRPr lang="en-US" sz="1000" dirty="0"/>
          </a:p>
          <a:p>
            <a:pPr indent="0" marL="0">
              <a:lnSpc>
                <a:spcPct val="130000"/>
              </a:lnSpc>
              <a:buNone/>
            </a:pPr>
            <a:r>
              <a:rPr lang="en-US" sz="1000" dirty="0">
                <a:solidFill>
                  <a:srgbClr val="FFFFFF"/>
                </a:solidFill>
                <a:latin typeface="Arial" pitchFamily="34" charset="0"/>
                <a:ea typeface="BIZ UDPGothic" pitchFamily="34" charset="-122"/>
                <a:cs typeface="BIZ UDPGothic" pitchFamily="34" charset="-120"/>
              </a:rPr>
              <a:t>（地元の民間経営者などで構成）</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補足：成功報酬の設計</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最大1,200万円はNISAの成長投資枠の限界値に設定</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457200" y="1508760"/>
            <a:ext cx="2606040" cy="800100"/>
          </a:xfrm>
          <a:prstGeom prst="rect">
            <a:avLst/>
          </a:prstGeom>
          <a:noFill/>
          <a:ln/>
        </p:spPr>
        <p:txBody>
          <a:bodyPr wrap="square" rtlCol="0" anchor="ctr"/>
          <a:lstStyle/>
          <a:p>
            <a:pPr algn="ctr" indent="0" marL="0">
              <a:buNone/>
            </a:pPr>
            <a:r>
              <a:rPr lang="en-US" sz="3400" b="1" dirty="0">
                <a:solidFill>
                  <a:srgbClr val="C8161D"/>
                </a:solidFill>
                <a:latin typeface="Arial" pitchFamily="34" charset="0"/>
                <a:ea typeface="BIZ UDPGothic" pitchFamily="34" charset="-122"/>
                <a:cs typeface="BIZ UDPGothic" pitchFamily="34" charset="-120"/>
              </a:rPr>
              <a:t>300万円</a:t>
            </a:r>
            <a:endParaRPr lang="en-US" sz="3400" dirty="0"/>
          </a:p>
        </p:txBody>
      </p:sp>
      <p:sp>
        <p:nvSpPr>
          <p:cNvPr id="7" name="Text 5"/>
          <p:cNvSpPr/>
          <p:nvPr/>
        </p:nvSpPr>
        <p:spPr>
          <a:xfrm>
            <a:off x="457200" y="2329434"/>
            <a:ext cx="260604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ベース報酬</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（標準的な仕事）</a:t>
            </a:r>
            <a:endParaRPr lang="en-US" sz="1200" dirty="0"/>
          </a:p>
        </p:txBody>
      </p:sp>
      <p:sp>
        <p:nvSpPr>
          <p:cNvPr id="8" name="Text 6"/>
          <p:cNvSpPr/>
          <p:nvPr/>
        </p:nvSpPr>
        <p:spPr>
          <a:xfrm>
            <a:off x="457200" y="2665476"/>
            <a:ext cx="2606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10年間勤務した全員</a:t>
            </a:r>
            <a:endParaRPr lang="en-US" sz="900" dirty="0"/>
          </a:p>
        </p:txBody>
      </p:sp>
      <p:sp>
        <p:nvSpPr>
          <p:cNvPr id="9" name="Shape 7"/>
          <p:cNvSpPr/>
          <p:nvPr/>
        </p:nvSpPr>
        <p:spPr>
          <a:xfrm>
            <a:off x="3200400" y="14173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3200400" y="1508760"/>
            <a:ext cx="2606040" cy="800100"/>
          </a:xfrm>
          <a:prstGeom prst="rect">
            <a:avLst/>
          </a:prstGeom>
          <a:noFill/>
          <a:ln/>
        </p:spPr>
        <p:txBody>
          <a:bodyPr wrap="square" rtlCol="0" anchor="ctr"/>
          <a:lstStyle/>
          <a:p>
            <a:pPr algn="ctr" indent="0" marL="0">
              <a:buNone/>
            </a:pPr>
            <a:r>
              <a:rPr lang="en-US" sz="3400" b="1" dirty="0">
                <a:solidFill>
                  <a:srgbClr val="C8161D"/>
                </a:solidFill>
                <a:latin typeface="Arial" pitchFamily="34" charset="0"/>
                <a:ea typeface="BIZ UDPGothic" pitchFamily="34" charset="-122"/>
                <a:cs typeface="BIZ UDPGothic" pitchFamily="34" charset="-120"/>
              </a:rPr>
              <a:t>+最大900万円</a:t>
            </a:r>
            <a:endParaRPr lang="en-US" sz="3400" dirty="0"/>
          </a:p>
        </p:txBody>
      </p:sp>
      <p:sp>
        <p:nvSpPr>
          <p:cNvPr id="11" name="Text 9"/>
          <p:cNvSpPr/>
          <p:nvPr/>
        </p:nvSpPr>
        <p:spPr>
          <a:xfrm>
            <a:off x="3200400" y="2329434"/>
            <a:ext cx="260604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成果上乗せ</a:t>
            </a:r>
            <a:endParaRPr lang="en-US" sz="1200" dirty="0"/>
          </a:p>
        </p:txBody>
      </p:sp>
      <p:sp>
        <p:nvSpPr>
          <p:cNvPr id="12" name="Text 10"/>
          <p:cNvSpPr/>
          <p:nvPr/>
        </p:nvSpPr>
        <p:spPr>
          <a:xfrm>
            <a:off x="3200400" y="2665476"/>
            <a:ext cx="2606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企業誘致・税収増など</a:t>
            </a:r>
            <a:endParaRPr lang="en-US" sz="900" dirty="0"/>
          </a:p>
        </p:txBody>
      </p:sp>
      <p:sp>
        <p:nvSpPr>
          <p:cNvPr id="13" name="Shape 11"/>
          <p:cNvSpPr/>
          <p:nvPr/>
        </p:nvSpPr>
        <p:spPr>
          <a:xfrm>
            <a:off x="5897880" y="14173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4" name="Text 12"/>
          <p:cNvSpPr/>
          <p:nvPr/>
        </p:nvSpPr>
        <p:spPr>
          <a:xfrm>
            <a:off x="5897880" y="1508760"/>
            <a:ext cx="2606040" cy="800100"/>
          </a:xfrm>
          <a:prstGeom prst="rect">
            <a:avLst/>
          </a:prstGeom>
          <a:noFill/>
          <a:ln/>
        </p:spPr>
        <p:txBody>
          <a:bodyPr wrap="square" rtlCol="0" anchor="ctr"/>
          <a:lstStyle/>
          <a:p>
            <a:pPr algn="ctr" indent="0" marL="0">
              <a:buNone/>
            </a:pPr>
            <a:r>
              <a:rPr lang="en-US" sz="3400" b="1" dirty="0">
                <a:solidFill>
                  <a:srgbClr val="C8161D"/>
                </a:solidFill>
                <a:latin typeface="Arial" pitchFamily="34" charset="0"/>
                <a:ea typeface="BIZ UDPGothic" pitchFamily="34" charset="-122"/>
                <a:cs typeface="BIZ UDPGothic" pitchFamily="34" charset="-120"/>
              </a:rPr>
              <a:t>1,200万円</a:t>
            </a:r>
            <a:endParaRPr lang="en-US" sz="3400" dirty="0"/>
          </a:p>
        </p:txBody>
      </p:sp>
      <p:sp>
        <p:nvSpPr>
          <p:cNvPr id="15" name="Text 13"/>
          <p:cNvSpPr/>
          <p:nvPr/>
        </p:nvSpPr>
        <p:spPr>
          <a:xfrm>
            <a:off x="5897880" y="2329434"/>
            <a:ext cx="260604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最大報酬</a:t>
            </a:r>
            <a:endParaRPr lang="en-US" sz="1200" dirty="0"/>
          </a:p>
        </p:txBody>
      </p:sp>
      <p:sp>
        <p:nvSpPr>
          <p:cNvPr id="16" name="Text 14"/>
          <p:cNvSpPr/>
          <p:nvPr/>
        </p:nvSpPr>
        <p:spPr>
          <a:xfrm>
            <a:off x="5897880" y="2665476"/>
            <a:ext cx="2606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＝新NISAの成長投資枠の上限</a:t>
            </a:r>
            <a:endParaRPr lang="en-US" sz="900" dirty="0"/>
          </a:p>
        </p:txBody>
      </p:sp>
      <p:sp>
        <p:nvSpPr>
          <p:cNvPr id="17" name="Shape 15"/>
          <p:cNvSpPr/>
          <p:nvPr/>
        </p:nvSpPr>
        <p:spPr>
          <a:xfrm>
            <a:off x="457200" y="3154680"/>
            <a:ext cx="393192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18" name="Text 16"/>
          <p:cNvSpPr/>
          <p:nvPr/>
        </p:nvSpPr>
        <p:spPr>
          <a:xfrm>
            <a:off x="640080" y="3291840"/>
            <a:ext cx="356616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NISAと連動させる理由</a:t>
            </a:r>
            <a:endParaRPr lang="en-US" sz="1200" dirty="0"/>
          </a:p>
        </p:txBody>
      </p:sp>
      <p:sp>
        <p:nvSpPr>
          <p:cNvPr id="19" name="Text 17"/>
          <p:cNvSpPr/>
          <p:nvPr/>
        </p:nvSpPr>
        <p:spPr>
          <a:xfrm>
            <a:off x="640080" y="3611880"/>
            <a:ext cx="3566160" cy="109728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「10年で成果を出してMAX1,200万円を勝ち取り、新NISAに投入して次の民間キャリアへ進む」というストーリーを設計。採用競争力を高め、民間の一流人材が公務員を選ぶインセンティブになる。</a:t>
            </a:r>
            <a:endParaRPr lang="en-US" sz="1100" dirty="0"/>
          </a:p>
        </p:txBody>
      </p:sp>
      <p:sp>
        <p:nvSpPr>
          <p:cNvPr id="20" name="Shape 18"/>
          <p:cNvSpPr/>
          <p:nvPr/>
        </p:nvSpPr>
        <p:spPr>
          <a:xfrm>
            <a:off x="4480560" y="3154680"/>
            <a:ext cx="420624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21" name="Text 19"/>
          <p:cNvSpPr/>
          <p:nvPr/>
        </p:nvSpPr>
        <p:spPr>
          <a:xfrm>
            <a:off x="4663440" y="329184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評価の透明性</a:t>
            </a:r>
            <a:endParaRPr lang="en-US" sz="1200" dirty="0"/>
          </a:p>
        </p:txBody>
      </p:sp>
      <p:sp>
        <p:nvSpPr>
          <p:cNvPr id="22" name="Text 20"/>
          <p:cNvSpPr/>
          <p:nvPr/>
        </p:nvSpPr>
        <p:spPr>
          <a:xfrm>
            <a:off x="4663440" y="3611880"/>
            <a:ext cx="3840480" cy="109728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地元の民間経営者などで構成された「独立成果評価委員会」にジャッジを完全委託。公務員同士の馴れ合い評価を排除し、地域経済の実態を知る民間目線で評価する。</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補足：後ろ向きな優遇の廃止</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800" b="1" dirty="0">
                <a:solidFill>
                  <a:srgbClr val="16181D"/>
                </a:solidFill>
                <a:latin typeface="Arial" pitchFamily="34" charset="0"/>
                <a:ea typeface="BIZ UDPGothic" pitchFamily="34" charset="-122"/>
                <a:cs typeface="BIZ UDPGothic" pitchFamily="34" charset="-120"/>
              </a:rPr>
              <a:t>「しがみついた者が勝つ」仕組みを壊す</a:t>
            </a:r>
            <a:endParaRPr lang="en-US" sz="28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931920" cy="3429000"/>
          </a:xfrm>
          <a:prstGeom prst="roundRect">
            <a:avLst>
              <a:gd name="adj" fmla="val 2667"/>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3566160" cy="320040"/>
          </a:xfrm>
          <a:prstGeom prst="rect">
            <a:avLst/>
          </a:prstGeom>
          <a:noFill/>
          <a:ln/>
        </p:spPr>
        <p:txBody>
          <a:bodyPr wrap="square" rtlCol="0" anchor="ctr"/>
          <a:lstStyle/>
          <a:p>
            <a:pPr indent="0" marL="0">
              <a:buNone/>
            </a:pPr>
            <a:r>
              <a:rPr lang="en-US" sz="1200" b="1" dirty="0">
                <a:solidFill>
                  <a:srgbClr val="4B515C"/>
                </a:solidFill>
                <a:latin typeface="Arial" pitchFamily="34" charset="0"/>
                <a:ea typeface="BIZ UDPGothic" pitchFamily="34" charset="-122"/>
                <a:cs typeface="BIZ UDPGothic" pitchFamily="34" charset="-120"/>
              </a:rPr>
              <a:t>今の仕組み（廃止対象）</a:t>
            </a:r>
            <a:endParaRPr lang="en-US" sz="1200" dirty="0"/>
          </a:p>
        </p:txBody>
      </p:sp>
      <p:sp>
        <p:nvSpPr>
          <p:cNvPr id="7" name="Text 5"/>
          <p:cNvSpPr/>
          <p:nvPr/>
        </p:nvSpPr>
        <p:spPr>
          <a:xfrm>
            <a:off x="640080" y="1938528"/>
            <a:ext cx="3566160" cy="2743200"/>
          </a:xfrm>
          <a:prstGeom prst="rect">
            <a:avLst/>
          </a:prstGeom>
          <a:noFill/>
          <a:ln/>
        </p:spPr>
        <p:txBody>
          <a:bodyPr wrap="square" rtlCol="0" anchor="ctr"/>
          <a:lstStyle/>
          <a:p>
            <a:pPr indent="0" marL="0">
              <a:lnSpc>
                <a:spcPct val="150000"/>
              </a:lnSpc>
              <a:buNone/>
            </a:pPr>
            <a:r>
              <a:rPr lang="en-US" sz="1100" dirty="0">
                <a:solidFill>
                  <a:srgbClr val="16181D"/>
                </a:solidFill>
                <a:latin typeface="Arial" pitchFamily="34" charset="0"/>
                <a:ea typeface="BIZ UDPGothic" pitchFamily="34" charset="-122"/>
                <a:cs typeface="BIZ UDPGothic" pitchFamily="34" charset="-120"/>
              </a:rPr>
              <a:t>退職金：勤続年数が長いほど有利な計算式。民間でいうところの「勤続ボーナス」。</a:t>
            </a:r>
            <a:endParaRPr lang="en-US" sz="1100" dirty="0"/>
          </a:p>
          <a:p>
            <a:pPr indent="0" marL="0">
              <a:lnSpc>
                <a:spcPct val="150000"/>
              </a:lnSpc>
              <a:buNone/>
            </a:pPr>
            <a:endParaRPr lang="en-US" sz="1100" dirty="0"/>
          </a:p>
          <a:p>
            <a:pPr indent="0" marL="0">
              <a:lnSpc>
                <a:spcPct val="150000"/>
              </a:lnSpc>
              <a:buNone/>
            </a:pPr>
            <a:r>
              <a:rPr lang="en-US" sz="1100" dirty="0">
                <a:solidFill>
                  <a:srgbClr val="16181D"/>
                </a:solidFill>
                <a:latin typeface="Arial" pitchFamily="34" charset="0"/>
                <a:ea typeface="BIZ UDPGothic" pitchFamily="34" charset="-122"/>
                <a:cs typeface="BIZ UDPGothic" pitchFamily="34" charset="-120"/>
              </a:rPr>
              <a:t>共済年金（3階部分）：公務員専用の上乗せ年金。民間には存在しない特権的な制度。</a:t>
            </a:r>
            <a:endParaRPr lang="en-US" sz="1100" dirty="0"/>
          </a:p>
          <a:p>
            <a:pPr indent="0" marL="0">
              <a:lnSpc>
                <a:spcPct val="150000"/>
              </a:lnSpc>
              <a:buNone/>
            </a:pPr>
            <a:endParaRPr lang="en-US" sz="1100" dirty="0"/>
          </a:p>
          <a:p>
            <a:pPr indent="0" marL="0">
              <a:lnSpc>
                <a:spcPct val="150000"/>
              </a:lnSpc>
              <a:buNone/>
            </a:pPr>
            <a:r>
              <a:rPr lang="en-US" sz="1100" dirty="0">
                <a:solidFill>
                  <a:srgbClr val="16181D"/>
                </a:solidFill>
                <a:latin typeface="Arial" pitchFamily="34" charset="0"/>
                <a:ea typeface="BIZ UDPGothic" pitchFamily="34" charset="-122"/>
                <a:cs typeface="BIZ UDPGothic" pitchFamily="34" charset="-120"/>
              </a:rPr>
              <a:t>問題：「在職し続けること」がそのまま報酬になる設計。成果を上げなくても長くいれば得をする。</a:t>
            </a:r>
            <a:endParaRPr lang="en-US" sz="1100" dirty="0"/>
          </a:p>
        </p:txBody>
      </p:sp>
      <p:sp>
        <p:nvSpPr>
          <p:cNvPr id="8" name="Text 6"/>
          <p:cNvSpPr/>
          <p:nvPr/>
        </p:nvSpPr>
        <p:spPr>
          <a:xfrm>
            <a:off x="4434840" y="2651760"/>
            <a:ext cx="548640" cy="548640"/>
          </a:xfrm>
          <a:prstGeom prst="rect">
            <a:avLst/>
          </a:prstGeom>
          <a:noFill/>
          <a:ln/>
        </p:spPr>
        <p:txBody>
          <a:bodyPr wrap="square" rtlCol="0" anchor="ctr"/>
          <a:lstStyle/>
          <a:p>
            <a:pPr algn="ctr" indent="0" marL="0">
              <a:buNone/>
            </a:pPr>
            <a:r>
              <a:rPr lang="en-US" sz="2800" b="1" dirty="0">
                <a:solidFill>
                  <a:srgbClr val="C8161D"/>
                </a:solidFill>
                <a:latin typeface="Arial" pitchFamily="34" charset="0"/>
                <a:ea typeface="BIZ UDPGothic" pitchFamily="34" charset="-122"/>
                <a:cs typeface="BIZ UDPGothic" pitchFamily="34" charset="-120"/>
              </a:rPr>
              <a:t>→</a:t>
            </a:r>
            <a:endParaRPr lang="en-US" sz="2800" dirty="0"/>
          </a:p>
        </p:txBody>
      </p:sp>
      <p:sp>
        <p:nvSpPr>
          <p:cNvPr id="9" name="Shape 7"/>
          <p:cNvSpPr/>
          <p:nvPr/>
        </p:nvSpPr>
        <p:spPr>
          <a:xfrm>
            <a:off x="5029200" y="1417320"/>
            <a:ext cx="3657600" cy="3429000"/>
          </a:xfrm>
          <a:prstGeom prst="roundRect">
            <a:avLst>
              <a:gd name="adj" fmla="val 2667"/>
            </a:avLst>
          </a:prstGeom>
          <a:solidFill>
            <a:srgbClr val="C8161D"/>
          </a:solidFill>
          <a:ln/>
          <a:effectLst>
            <a:outerShdw sx="100000" sy="100000" kx="0" ky="0" algn="bl" rotWithShape="0" blurRad="127000" dist="38100" dir="2700000">
              <a:srgbClr val="000000">
                <a:alpha val="35000"/>
              </a:srgbClr>
            </a:outerShdw>
          </a:effectLst>
        </p:spPr>
      </p:sp>
      <p:sp>
        <p:nvSpPr>
          <p:cNvPr id="10" name="Text 8"/>
          <p:cNvSpPr/>
          <p:nvPr/>
        </p:nvSpPr>
        <p:spPr>
          <a:xfrm>
            <a:off x="5212080" y="1536192"/>
            <a:ext cx="32918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BIZ UDPGothic" pitchFamily="34" charset="-122"/>
                <a:cs typeface="BIZ UDPGothic" pitchFamily="34" charset="-120"/>
              </a:rPr>
              <a:t>新しい仕組み</a:t>
            </a:r>
            <a:endParaRPr lang="en-US" sz="1200" dirty="0"/>
          </a:p>
        </p:txBody>
      </p:sp>
      <p:sp>
        <p:nvSpPr>
          <p:cNvPr id="11" name="Text 9"/>
          <p:cNvSpPr/>
          <p:nvPr/>
        </p:nvSpPr>
        <p:spPr>
          <a:xfrm>
            <a:off x="5212080" y="1938528"/>
            <a:ext cx="3291840" cy="2743200"/>
          </a:xfrm>
          <a:prstGeom prst="rect">
            <a:avLst/>
          </a:prstGeom>
          <a:noFill/>
          <a:ln/>
        </p:spPr>
        <p:txBody>
          <a:bodyPr wrap="square" rtlCol="0" anchor="ctr"/>
          <a:lstStyle/>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退職金を廃止</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→10年成功報酬（最大1,200万円）に一本化</a:t>
            </a:r>
            <a:endParaRPr lang="en-US" sz="1200" dirty="0"/>
          </a:p>
          <a:p>
            <a:pPr indent="0" marL="0">
              <a:lnSpc>
                <a:spcPct val="150000"/>
              </a:lnSpc>
              <a:buNone/>
            </a:pP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共済年金（3階部分）を廃止</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→民間と同じ厚生年金のみに一元化</a:t>
            </a:r>
            <a:endParaRPr lang="en-US" sz="1200" dirty="0"/>
          </a:p>
          <a:p>
            <a:pPr indent="0" marL="0">
              <a:lnSpc>
                <a:spcPct val="150000"/>
              </a:lnSpc>
              <a:buNone/>
            </a:pP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在職中の成果に対する</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ストレートなリターンへ転換。</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「いた期間」ではなく</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「残した成果」で報われる。</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なぜなのか 01 / 02</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400" b="1" dirty="0">
                <a:solidFill>
                  <a:srgbClr val="16181D"/>
                </a:solidFill>
                <a:latin typeface="Arial" pitchFamily="34" charset="0"/>
                <a:ea typeface="BIZ UDPGothic" pitchFamily="34" charset="-122"/>
                <a:cs typeface="BIZ UDPGothic" pitchFamily="34" charset="-120"/>
              </a:rPr>
              <a:t>公務員が給料を上げたければ地域を豊かにするしかない</a:t>
            </a:r>
            <a:endParaRPr lang="en-US" sz="24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71600"/>
            <a:ext cx="8229600" cy="457200"/>
          </a:xfrm>
          <a:prstGeom prst="rect">
            <a:avLst/>
          </a:prstGeom>
          <a:noFill/>
          <a:ln/>
        </p:spPr>
        <p:txBody>
          <a:bodyPr wrap="square" rtlCol="0" anchor="ctr"/>
          <a:lstStyle/>
          <a:p>
            <a:pPr indent="0" marL="0">
              <a:buNone/>
            </a:pPr>
            <a:r>
              <a:rPr lang="en-US" sz="1300" dirty="0">
                <a:solidFill>
                  <a:srgbClr val="4B515C"/>
                </a:solidFill>
                <a:latin typeface="Arial" pitchFamily="34" charset="0"/>
                <a:ea typeface="BIZ UDPGothic" pitchFamily="34" charset="-122"/>
                <a:cs typeface="BIZ UDPGothic" pitchFamily="34" charset="-120"/>
              </a:rPr>
              <a:t>このプランの設計では、公務員の給料・ボーナス・成功報酬がすべて「地域の税収・民間平均給与」に連動している。</a:t>
            </a:r>
            <a:endParaRPr lang="en-US" sz="1300" dirty="0"/>
          </a:p>
        </p:txBody>
      </p:sp>
      <p:sp>
        <p:nvSpPr>
          <p:cNvPr id="6" name="Shape 4"/>
          <p:cNvSpPr/>
          <p:nvPr/>
        </p:nvSpPr>
        <p:spPr>
          <a:xfrm>
            <a:off x="457200" y="1920240"/>
            <a:ext cx="2697480" cy="1417320"/>
          </a:xfrm>
          <a:prstGeom prst="roundRect">
            <a:avLst>
              <a:gd name="adj" fmla="val 6452"/>
            </a:avLst>
          </a:prstGeom>
          <a:solidFill>
            <a:srgbClr val="FFFFFF"/>
          </a:solidFill>
          <a:ln/>
          <a:effectLst>
            <a:outerShdw sx="100000" sy="100000" kx="0" ky="0" algn="bl" rotWithShape="0" blurRad="127000" dist="38100" dir="2700000">
              <a:srgbClr val="000000">
                <a:alpha val="35000"/>
              </a:srgbClr>
            </a:outerShdw>
          </a:effectLst>
        </p:spPr>
      </p:sp>
      <p:sp>
        <p:nvSpPr>
          <p:cNvPr id="7" name="Text 5"/>
          <p:cNvSpPr/>
          <p:nvPr/>
        </p:nvSpPr>
        <p:spPr>
          <a:xfrm>
            <a:off x="457200" y="2029968"/>
            <a:ext cx="2697480" cy="868680"/>
          </a:xfrm>
          <a:prstGeom prst="rect">
            <a:avLst/>
          </a:prstGeom>
          <a:noFill/>
          <a:ln/>
        </p:spPr>
        <p:txBody>
          <a:bodyPr wrap="square" rtlCol="0" anchor="ctr"/>
          <a:lstStyle/>
          <a:p>
            <a:pPr algn="ct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地域住民の</a:t>
            </a:r>
            <a:endParaRPr lang="en-US" sz="1500" dirty="0"/>
          </a:p>
          <a:p>
            <a:pPr algn="ct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所得を上げる</a:t>
            </a:r>
            <a:endParaRPr lang="en-US" sz="1500" dirty="0"/>
          </a:p>
        </p:txBody>
      </p:sp>
      <p:sp>
        <p:nvSpPr>
          <p:cNvPr id="8" name="Text 6"/>
          <p:cNvSpPr/>
          <p:nvPr/>
        </p:nvSpPr>
        <p:spPr>
          <a:xfrm>
            <a:off x="457200" y="2926080"/>
            <a:ext cx="2697480" cy="274320"/>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公務員の使命</a:t>
            </a:r>
            <a:endParaRPr lang="en-US" sz="900" dirty="0"/>
          </a:p>
        </p:txBody>
      </p:sp>
      <p:sp>
        <p:nvSpPr>
          <p:cNvPr id="9" name="Text 7"/>
          <p:cNvSpPr/>
          <p:nvPr/>
        </p:nvSpPr>
        <p:spPr>
          <a:xfrm>
            <a:off x="3182112" y="2423160"/>
            <a:ext cx="365760" cy="365760"/>
          </a:xfrm>
          <a:prstGeom prst="rect">
            <a:avLst/>
          </a:prstGeom>
          <a:noFill/>
          <a:ln/>
        </p:spPr>
        <p:txBody>
          <a:bodyPr wrap="square" rtlCol="0" anchor="ctr"/>
          <a:lstStyle/>
          <a:p>
            <a:pPr algn="ctr" indent="0" marL="0">
              <a:buNone/>
            </a:pPr>
            <a:r>
              <a:rPr lang="en-US" sz="2000" b="1" dirty="0">
                <a:solidFill>
                  <a:srgbClr val="C8161D"/>
                </a:solidFill>
                <a:latin typeface="Arial" pitchFamily="34" charset="0"/>
                <a:ea typeface="BIZ UDPGothic" pitchFamily="34" charset="-122"/>
                <a:cs typeface="BIZ UDPGothic" pitchFamily="34" charset="-120"/>
              </a:rPr>
              <a:t>→</a:t>
            </a:r>
            <a:endParaRPr lang="en-US" sz="2000" dirty="0"/>
          </a:p>
        </p:txBody>
      </p:sp>
      <p:sp>
        <p:nvSpPr>
          <p:cNvPr id="10" name="Shape 8"/>
          <p:cNvSpPr/>
          <p:nvPr/>
        </p:nvSpPr>
        <p:spPr>
          <a:xfrm>
            <a:off x="3383280" y="1920240"/>
            <a:ext cx="2697480" cy="1417320"/>
          </a:xfrm>
          <a:prstGeom prst="roundRect">
            <a:avLst>
              <a:gd name="adj" fmla="val 6452"/>
            </a:avLst>
          </a:prstGeom>
          <a:solidFill>
            <a:srgbClr val="FFFFFF"/>
          </a:solidFill>
          <a:ln/>
          <a:effectLst>
            <a:outerShdw sx="100000" sy="100000" kx="0" ky="0" algn="bl" rotWithShape="0" blurRad="127000" dist="38100" dir="2700000">
              <a:srgbClr val="000000">
                <a:alpha val="35000"/>
              </a:srgbClr>
            </a:outerShdw>
          </a:effectLst>
        </p:spPr>
      </p:sp>
      <p:sp>
        <p:nvSpPr>
          <p:cNvPr id="11" name="Text 9"/>
          <p:cNvSpPr/>
          <p:nvPr/>
        </p:nvSpPr>
        <p:spPr>
          <a:xfrm>
            <a:off x="3383280" y="2029968"/>
            <a:ext cx="2697480" cy="868680"/>
          </a:xfrm>
          <a:prstGeom prst="rect">
            <a:avLst/>
          </a:prstGeom>
          <a:noFill/>
          <a:ln/>
        </p:spPr>
        <p:txBody>
          <a:bodyPr wrap="square" rtlCol="0" anchor="ctr"/>
          <a:lstStyle/>
          <a:p>
            <a:pPr algn="ct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民間企業の</a:t>
            </a:r>
            <a:endParaRPr lang="en-US" sz="1500" dirty="0"/>
          </a:p>
          <a:p>
            <a:pPr algn="ct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税収が増える</a:t>
            </a:r>
            <a:endParaRPr lang="en-US" sz="1500" dirty="0"/>
          </a:p>
        </p:txBody>
      </p:sp>
      <p:sp>
        <p:nvSpPr>
          <p:cNvPr id="12" name="Text 10"/>
          <p:cNvSpPr/>
          <p:nvPr/>
        </p:nvSpPr>
        <p:spPr>
          <a:xfrm>
            <a:off x="3383280" y="2926080"/>
            <a:ext cx="2697480" cy="274320"/>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市場の結果</a:t>
            </a:r>
            <a:endParaRPr lang="en-US" sz="900" dirty="0"/>
          </a:p>
        </p:txBody>
      </p:sp>
      <p:sp>
        <p:nvSpPr>
          <p:cNvPr id="13" name="Text 11"/>
          <p:cNvSpPr/>
          <p:nvPr/>
        </p:nvSpPr>
        <p:spPr>
          <a:xfrm>
            <a:off x="6108192" y="2423160"/>
            <a:ext cx="365760" cy="365760"/>
          </a:xfrm>
          <a:prstGeom prst="rect">
            <a:avLst/>
          </a:prstGeom>
          <a:noFill/>
          <a:ln/>
        </p:spPr>
        <p:txBody>
          <a:bodyPr wrap="square" rtlCol="0" anchor="ctr"/>
          <a:lstStyle/>
          <a:p>
            <a:pPr algn="ctr" indent="0" marL="0">
              <a:buNone/>
            </a:pPr>
            <a:r>
              <a:rPr lang="en-US" sz="2000" b="1" dirty="0">
                <a:solidFill>
                  <a:srgbClr val="C8161D"/>
                </a:solidFill>
                <a:latin typeface="Arial" pitchFamily="34" charset="0"/>
                <a:ea typeface="BIZ UDPGothic" pitchFamily="34" charset="-122"/>
                <a:cs typeface="BIZ UDPGothic" pitchFamily="34" charset="-120"/>
              </a:rPr>
              <a:t>→</a:t>
            </a:r>
            <a:endParaRPr lang="en-US" sz="2000" dirty="0"/>
          </a:p>
        </p:txBody>
      </p:sp>
      <p:sp>
        <p:nvSpPr>
          <p:cNvPr id="14" name="Shape 12"/>
          <p:cNvSpPr/>
          <p:nvPr/>
        </p:nvSpPr>
        <p:spPr>
          <a:xfrm>
            <a:off x="6309360" y="1920240"/>
            <a:ext cx="2697480" cy="1417320"/>
          </a:xfrm>
          <a:prstGeom prst="roundRect">
            <a:avLst>
              <a:gd name="adj" fmla="val 6452"/>
            </a:avLst>
          </a:prstGeom>
          <a:solidFill>
            <a:srgbClr val="C8161D"/>
          </a:solidFill>
          <a:ln/>
          <a:effectLst>
            <a:outerShdw sx="100000" sy="100000" kx="0" ky="0" algn="bl" rotWithShape="0" blurRad="127000" dist="38100" dir="2700000">
              <a:srgbClr val="000000">
                <a:alpha val="35000"/>
              </a:srgbClr>
            </a:outerShdw>
          </a:effectLst>
        </p:spPr>
      </p:sp>
      <p:sp>
        <p:nvSpPr>
          <p:cNvPr id="15" name="Text 13"/>
          <p:cNvSpPr/>
          <p:nvPr/>
        </p:nvSpPr>
        <p:spPr>
          <a:xfrm>
            <a:off x="6309360" y="2029968"/>
            <a:ext cx="2697480" cy="868680"/>
          </a:xfrm>
          <a:prstGeom prst="rect">
            <a:avLst/>
          </a:prstGeom>
          <a:noFill/>
          <a:ln/>
        </p:spPr>
        <p:txBody>
          <a:bodyPr wrap="square" rtlCol="0" anchor="ctr"/>
          <a:lstStyle/>
          <a:p>
            <a:pPr algn="ctr" indent="0" marL="0">
              <a:lnSpc>
                <a:spcPct val="120000"/>
              </a:lnSpc>
              <a:buNone/>
            </a:pPr>
            <a:r>
              <a:rPr lang="en-US" sz="1500" b="1" dirty="0">
                <a:solidFill>
                  <a:srgbClr val="FFFFFF"/>
                </a:solidFill>
                <a:latin typeface="Arial" pitchFamily="34" charset="0"/>
                <a:ea typeface="BIZ UDPGothic" pitchFamily="34" charset="-122"/>
                <a:cs typeface="BIZ UDPGothic" pitchFamily="34" charset="-120"/>
              </a:rPr>
              <a:t>公務員の</a:t>
            </a:r>
            <a:endParaRPr lang="en-US" sz="1500" dirty="0"/>
          </a:p>
          <a:p>
            <a:pPr algn="ctr" indent="0" marL="0">
              <a:lnSpc>
                <a:spcPct val="120000"/>
              </a:lnSpc>
              <a:buNone/>
            </a:pPr>
            <a:r>
              <a:rPr lang="en-US" sz="1500" b="1" dirty="0">
                <a:solidFill>
                  <a:srgbClr val="FFFFFF"/>
                </a:solidFill>
                <a:latin typeface="Arial" pitchFamily="34" charset="0"/>
                <a:ea typeface="BIZ UDPGothic" pitchFamily="34" charset="-122"/>
                <a:cs typeface="BIZ UDPGothic" pitchFamily="34" charset="-120"/>
              </a:rPr>
              <a:t>給料も上がる</a:t>
            </a:r>
            <a:endParaRPr lang="en-US" sz="1500" dirty="0"/>
          </a:p>
        </p:txBody>
      </p:sp>
      <p:sp>
        <p:nvSpPr>
          <p:cNvPr id="16" name="Text 14"/>
          <p:cNvSpPr/>
          <p:nvPr/>
        </p:nvSpPr>
        <p:spPr>
          <a:xfrm>
            <a:off x="6309360" y="2926080"/>
            <a:ext cx="2697480" cy="274320"/>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BIZ UDPGothic" pitchFamily="34" charset="-122"/>
                <a:cs typeface="BIZ UDPGothic" pitchFamily="34" charset="-120"/>
              </a:rPr>
              <a:t>連動設計</a:t>
            </a:r>
            <a:endParaRPr lang="en-US" sz="900" dirty="0"/>
          </a:p>
        </p:txBody>
      </p:sp>
      <p:sp>
        <p:nvSpPr>
          <p:cNvPr id="17" name="Shape 15"/>
          <p:cNvSpPr/>
          <p:nvPr/>
        </p:nvSpPr>
        <p:spPr>
          <a:xfrm>
            <a:off x="457200" y="3493008"/>
            <a:ext cx="3931920" cy="1353312"/>
          </a:xfrm>
          <a:prstGeom prst="roundRect">
            <a:avLst>
              <a:gd name="adj" fmla="val 6757"/>
            </a:avLst>
          </a:prstGeom>
          <a:solidFill>
            <a:srgbClr val="FFFFFF"/>
          </a:solidFill>
          <a:ln/>
          <a:effectLst>
            <a:outerShdw sx="100000" sy="100000" kx="0" ky="0" algn="bl" rotWithShape="0" blurRad="127000" dist="38100" dir="2700000">
              <a:srgbClr val="000000">
                <a:alpha val="35000"/>
              </a:srgbClr>
            </a:outerShdw>
          </a:effectLst>
        </p:spPr>
      </p:sp>
      <p:sp>
        <p:nvSpPr>
          <p:cNvPr id="18" name="Text 16"/>
          <p:cNvSpPr/>
          <p:nvPr/>
        </p:nvSpPr>
        <p:spPr>
          <a:xfrm>
            <a:off x="640080" y="3630168"/>
            <a:ext cx="356616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企業誘致できない過疎地は？</a:t>
            </a:r>
            <a:endParaRPr lang="en-US" sz="1200" dirty="0"/>
          </a:p>
        </p:txBody>
      </p:sp>
      <p:sp>
        <p:nvSpPr>
          <p:cNvPr id="19" name="Text 17"/>
          <p:cNvSpPr/>
          <p:nvPr/>
        </p:nvSpPr>
        <p:spPr>
          <a:xfrm>
            <a:off x="640080" y="3950208"/>
            <a:ext cx="3566160" cy="758952"/>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身の丈に合ったミニマムな行政（隣接都市への事務外注やAI化）に徹し、人件費を抑制。無理に背伸びしない。</a:t>
            </a:r>
            <a:endParaRPr lang="en-US" sz="1100" dirty="0"/>
          </a:p>
        </p:txBody>
      </p:sp>
      <p:sp>
        <p:nvSpPr>
          <p:cNvPr id="20" name="Shape 18"/>
          <p:cNvSpPr/>
          <p:nvPr/>
        </p:nvSpPr>
        <p:spPr>
          <a:xfrm>
            <a:off x="4480560" y="3493008"/>
            <a:ext cx="4206240" cy="1353312"/>
          </a:xfrm>
          <a:prstGeom prst="roundRect">
            <a:avLst>
              <a:gd name="adj" fmla="val 6757"/>
            </a:avLst>
          </a:prstGeom>
          <a:solidFill>
            <a:srgbClr val="FFFFFF"/>
          </a:solidFill>
          <a:ln/>
          <a:effectLst>
            <a:outerShdw sx="100000" sy="100000" kx="0" ky="0" algn="bl" rotWithShape="0" blurRad="127000" dist="38100" dir="2700000">
              <a:srgbClr val="000000">
                <a:alpha val="35000"/>
              </a:srgbClr>
            </a:outerShdw>
          </a:effectLst>
        </p:spPr>
      </p:sp>
      <p:sp>
        <p:nvSpPr>
          <p:cNvPr id="21" name="Text 19"/>
          <p:cNvSpPr/>
          <p:nvPr/>
        </p:nvSpPr>
        <p:spPr>
          <a:xfrm>
            <a:off x="4663440" y="3630168"/>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戦う気のある自治体は？</a:t>
            </a:r>
            <a:endParaRPr lang="en-US" sz="1200" dirty="0"/>
          </a:p>
        </p:txBody>
      </p:sp>
      <p:sp>
        <p:nvSpPr>
          <p:cNvPr id="22" name="Text 20"/>
          <p:cNvSpPr/>
          <p:nvPr/>
        </p:nvSpPr>
        <p:spPr>
          <a:xfrm>
            <a:off x="4663440" y="3950208"/>
            <a:ext cx="3840480" cy="758952"/>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地方所得倍増ファンドの原資を武器に、民間の所得倍増へ向けて勝負をかける。官民が同じ船に乗る。</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なぜなのか 02 / 02</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800" b="1" dirty="0">
                <a:solidFill>
                  <a:srgbClr val="16181D"/>
                </a:solidFill>
                <a:latin typeface="Arial" pitchFamily="34" charset="0"/>
                <a:ea typeface="BIZ UDPGothic" pitchFamily="34" charset="-122"/>
                <a:cs typeface="BIZ UDPGothic" pitchFamily="34" charset="-120"/>
              </a:rPr>
              <a:t>提言001と提言002は「ワンセット」の国家改革</a:t>
            </a:r>
            <a:endParaRPr lang="en-US" sz="28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840480" cy="3429000"/>
          </a:xfrm>
          <a:prstGeom prst="roundRect">
            <a:avLst>
              <a:gd name="adj" fmla="val 2667"/>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3474720" cy="347472"/>
          </a:xfrm>
          <a:prstGeom prst="rect">
            <a:avLst/>
          </a:prstGeom>
          <a:noFill/>
          <a:ln/>
        </p:spPr>
        <p:txBody>
          <a:bodyPr wrap="square" rtlCol="0" anchor="ctr"/>
          <a:lstStyle/>
          <a:p>
            <a:pPr indent="0" marL="0">
              <a:buNone/>
            </a:pPr>
            <a:r>
              <a:rPr lang="en-US" sz="1400" b="1" dirty="0">
                <a:solidFill>
                  <a:srgbClr val="C8161D"/>
                </a:solidFill>
                <a:latin typeface="Arial" pitchFamily="34" charset="0"/>
                <a:ea typeface="BIZ UDPGothic" pitchFamily="34" charset="-122"/>
                <a:cs typeface="BIZ UDPGothic" pitchFamily="34" charset="-120"/>
              </a:rPr>
              <a:t>提言001（民間）</a:t>
            </a:r>
            <a:endParaRPr lang="en-US" sz="1400" dirty="0"/>
          </a:p>
        </p:txBody>
      </p:sp>
      <p:sp>
        <p:nvSpPr>
          <p:cNvPr id="7" name="Text 5"/>
          <p:cNvSpPr/>
          <p:nvPr/>
        </p:nvSpPr>
        <p:spPr>
          <a:xfrm>
            <a:off x="640080" y="1938528"/>
            <a:ext cx="3474720" cy="2651760"/>
          </a:xfrm>
          <a:prstGeom prst="rect">
            <a:avLst/>
          </a:prstGeom>
          <a:noFill/>
          <a:ln/>
        </p:spPr>
        <p:txBody>
          <a:bodyPr wrap="square" rtlCol="0" anchor="ctr"/>
          <a:lstStyle/>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最低賃金2,000円</a:t>
            </a:r>
            <a:endParaRPr lang="en-US" sz="1200" dirty="0"/>
          </a:p>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→フルタイム労働者全員を</a:t>
            </a:r>
            <a:endParaRPr lang="en-US" sz="1200" dirty="0"/>
          </a:p>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　 年収中央値水準に揃える</a:t>
            </a:r>
            <a:endParaRPr lang="en-US" sz="1200" dirty="0"/>
          </a:p>
          <a:p>
            <a:pPr indent="0" marL="0">
              <a:lnSpc>
                <a:spcPct val="150000"/>
              </a:lnSpc>
              <a:buNone/>
            </a:pPr>
            <a:endParaRPr lang="en-US" sz="1200" dirty="0"/>
          </a:p>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フラット税・生活保護・失業給付</a:t>
            </a:r>
            <a:endParaRPr lang="en-US" sz="1200" dirty="0"/>
          </a:p>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をすべて「中央値380万円」</a:t>
            </a:r>
            <a:endParaRPr lang="en-US" sz="1200" dirty="0"/>
          </a:p>
          <a:p>
            <a:pPr indent="0" marL="0">
              <a:lnSpc>
                <a:spcPct val="150000"/>
              </a:lnSpc>
              <a:buNone/>
            </a:pPr>
            <a:r>
              <a:rPr lang="en-US" sz="1200" dirty="0">
                <a:solidFill>
                  <a:srgbClr val="16181D"/>
                </a:solidFill>
                <a:latin typeface="Arial" pitchFamily="34" charset="0"/>
                <a:ea typeface="BIZ UDPGothic" pitchFamily="34" charset="-122"/>
                <a:cs typeface="BIZ UDPGothic" pitchFamily="34" charset="-120"/>
              </a:rPr>
              <a:t>を軸に再設計</a:t>
            </a:r>
            <a:endParaRPr lang="en-US" sz="1200" dirty="0"/>
          </a:p>
        </p:txBody>
      </p:sp>
      <p:sp>
        <p:nvSpPr>
          <p:cNvPr id="8" name="Text 6"/>
          <p:cNvSpPr/>
          <p:nvPr/>
        </p:nvSpPr>
        <p:spPr>
          <a:xfrm>
            <a:off x="4160520" y="2286000"/>
            <a:ext cx="822960" cy="1280160"/>
          </a:xfrm>
          <a:prstGeom prst="rect">
            <a:avLst/>
          </a:prstGeom>
          <a:noFill/>
          <a:ln/>
        </p:spPr>
        <p:txBody>
          <a:bodyPr wrap="square" rtlCol="0" anchor="ctr"/>
          <a:lstStyle/>
          <a:p>
            <a:pPr algn="ctr" indent="0" marL="0">
              <a:lnSpc>
                <a:spcPct val="130000"/>
              </a:lnSpc>
              <a:buNone/>
            </a:pPr>
            <a:r>
              <a:rPr lang="en-US" sz="1000" b="1" dirty="0">
                <a:solidFill>
                  <a:srgbClr val="C8161D"/>
                </a:solidFill>
                <a:latin typeface="Arial" pitchFamily="34" charset="0"/>
                <a:ea typeface="BIZ UDPGothic" pitchFamily="34" charset="-122"/>
                <a:cs typeface="BIZ UDPGothic" pitchFamily="34" charset="-120"/>
              </a:rPr>
              <a:t>↕</a:t>
            </a:r>
            <a:endParaRPr lang="en-US" sz="1000" dirty="0"/>
          </a:p>
          <a:p>
            <a:pPr algn="ctr" indent="0" marL="0">
              <a:lnSpc>
                <a:spcPct val="130000"/>
              </a:lnSpc>
              <a:buNone/>
            </a:pPr>
            <a:r>
              <a:rPr lang="en-US" sz="1000" b="1" dirty="0">
                <a:solidFill>
                  <a:srgbClr val="C8161D"/>
                </a:solidFill>
                <a:latin typeface="Arial" pitchFamily="34" charset="0"/>
                <a:ea typeface="BIZ UDPGothic" pitchFamily="34" charset="-122"/>
                <a:cs typeface="BIZ UDPGothic" pitchFamily="34" charset="-120"/>
              </a:rPr>
              <a:t>両者は「中央値への収束」という</a:t>
            </a:r>
            <a:endParaRPr lang="en-US" sz="1000" dirty="0"/>
          </a:p>
          <a:p>
            <a:pPr algn="ctr" indent="0" marL="0">
              <a:lnSpc>
                <a:spcPct val="130000"/>
              </a:lnSpc>
              <a:buNone/>
            </a:pPr>
            <a:r>
              <a:rPr lang="en-US" sz="1000" b="1" dirty="0">
                <a:solidFill>
                  <a:srgbClr val="C8161D"/>
                </a:solidFill>
                <a:latin typeface="Arial" pitchFamily="34" charset="0"/>
                <a:ea typeface="BIZ UDPGothic" pitchFamily="34" charset="-122"/>
                <a:cs typeface="BIZ UDPGothic" pitchFamily="34" charset="-120"/>
              </a:rPr>
              <a:t>同一の設計原理</a:t>
            </a:r>
            <a:endParaRPr lang="en-US" sz="1000" dirty="0"/>
          </a:p>
        </p:txBody>
      </p:sp>
      <p:sp>
        <p:nvSpPr>
          <p:cNvPr id="9" name="Shape 7"/>
          <p:cNvSpPr/>
          <p:nvPr/>
        </p:nvSpPr>
        <p:spPr>
          <a:xfrm>
            <a:off x="5120640" y="1417320"/>
            <a:ext cx="3566160" cy="3429000"/>
          </a:xfrm>
          <a:prstGeom prst="roundRect">
            <a:avLst>
              <a:gd name="adj" fmla="val 2667"/>
            </a:avLst>
          </a:prstGeom>
          <a:solidFill>
            <a:srgbClr val="C8161D"/>
          </a:solidFill>
          <a:ln/>
          <a:effectLst>
            <a:outerShdw sx="100000" sy="100000" kx="0" ky="0" algn="bl" rotWithShape="0" blurRad="127000" dist="38100" dir="2700000">
              <a:srgbClr val="000000">
                <a:alpha val="35000"/>
              </a:srgbClr>
            </a:outerShdw>
          </a:effectLst>
        </p:spPr>
      </p:sp>
      <p:sp>
        <p:nvSpPr>
          <p:cNvPr id="10" name="Text 8"/>
          <p:cNvSpPr/>
          <p:nvPr/>
        </p:nvSpPr>
        <p:spPr>
          <a:xfrm>
            <a:off x="5303520" y="1536192"/>
            <a:ext cx="3200400" cy="347472"/>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BIZ UDPGothic" pitchFamily="34" charset="-122"/>
                <a:cs typeface="BIZ UDPGothic" pitchFamily="34" charset="-120"/>
              </a:rPr>
              <a:t>提言002（公）</a:t>
            </a:r>
            <a:endParaRPr lang="en-US" sz="1400" dirty="0"/>
          </a:p>
        </p:txBody>
      </p:sp>
      <p:sp>
        <p:nvSpPr>
          <p:cNvPr id="11" name="Text 9"/>
          <p:cNvSpPr/>
          <p:nvPr/>
        </p:nvSpPr>
        <p:spPr>
          <a:xfrm>
            <a:off x="5303520" y="1938528"/>
            <a:ext cx="3200400" cy="2651760"/>
          </a:xfrm>
          <a:prstGeom prst="rect">
            <a:avLst/>
          </a:prstGeom>
          <a:noFill/>
          <a:ln/>
        </p:spPr>
        <p:txBody>
          <a:bodyPr wrap="square" rtlCol="0" anchor="ctr"/>
          <a:lstStyle/>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都道府県職員の基本給</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→「民間全職種平均（中央値相当）」に揃える</a:t>
            </a:r>
            <a:endParaRPr lang="en-US" sz="1200" dirty="0"/>
          </a:p>
          <a:p>
            <a:pPr indent="0" marL="0">
              <a:lnSpc>
                <a:spcPct val="150000"/>
              </a:lnSpc>
              <a:buNone/>
            </a:pP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市町村職員</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 max(県基準×0.85,</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　地域別最低賃金の年収換算)</a:t>
            </a:r>
            <a:endParaRPr lang="en-US" sz="1200" dirty="0"/>
          </a:p>
          <a:p>
            <a:pPr indent="0" marL="0">
              <a:lnSpc>
                <a:spcPct val="150000"/>
              </a:lnSpc>
              <a:buNone/>
            </a:pP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最低賃金が上がれば</a:t>
            </a:r>
            <a:endParaRPr lang="en-US" sz="1200" dirty="0"/>
          </a:p>
          <a:p>
            <a:pPr indent="0" marL="0">
              <a:lnSpc>
                <a:spcPct val="150000"/>
              </a:lnSpc>
              <a:buNone/>
            </a:pPr>
            <a:r>
              <a:rPr lang="en-US" sz="1200" dirty="0">
                <a:solidFill>
                  <a:srgbClr val="FFFFFF"/>
                </a:solidFill>
                <a:latin typeface="Arial" pitchFamily="34" charset="0"/>
                <a:ea typeface="BIZ UDPGothic" pitchFamily="34" charset="-122"/>
                <a:cs typeface="BIZ UDPGothic" pitchFamily="34" charset="-120"/>
              </a:rPr>
              <a:t>公務員の給料基準も上がる</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数字でまとめ 01 / 03</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BIZ UDPGothic" pitchFamily="34" charset="-122"/>
                <a:cs typeface="BIZ UDPGothic" pitchFamily="34" charset="-120"/>
              </a:rPr>
              <a:t>お金の話①：人件費削減の試算</a:t>
            </a:r>
            <a:endParaRPr lang="en-US" sz="32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71600"/>
            <a:ext cx="8229600" cy="347472"/>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地方公務員人件費約24兆円（総務省 地方財政状況調査ベース）からの削減項目</a:t>
            </a:r>
            <a:endParaRPr lang="en-US" sz="1200" dirty="0"/>
          </a:p>
        </p:txBody>
      </p:sp>
      <p:sp>
        <p:nvSpPr>
          <p:cNvPr id="6" name="Shape 4"/>
          <p:cNvSpPr/>
          <p:nvPr/>
        </p:nvSpPr>
        <p:spPr>
          <a:xfrm>
            <a:off x="457200" y="1810512"/>
            <a:ext cx="8229600" cy="2606040"/>
          </a:xfrm>
          <a:prstGeom prst="roundRect">
            <a:avLst>
              <a:gd name="adj" fmla="val 3509"/>
            </a:avLst>
          </a:prstGeom>
          <a:solidFill>
            <a:srgbClr val="FFFFFF"/>
          </a:solidFill>
          <a:ln/>
          <a:effectLst>
            <a:outerShdw sx="100000" sy="100000" kx="0" ky="0" algn="bl" rotWithShape="0" blurRad="127000" dist="38100" dir="2700000">
              <a:srgbClr val="000000">
                <a:alpha val="35000"/>
              </a:srgbClr>
            </a:outerShdw>
          </a:effectLst>
        </p:spPr>
      </p:sp>
      <p:sp>
        <p:nvSpPr>
          <p:cNvPr id="7" name="Text 5"/>
          <p:cNvSpPr/>
          <p:nvPr/>
        </p:nvSpPr>
        <p:spPr>
          <a:xfrm>
            <a:off x="640080" y="1920240"/>
            <a:ext cx="5943600" cy="411480"/>
          </a:xfrm>
          <a:prstGeom prst="rect">
            <a:avLst/>
          </a:prstGeom>
          <a:noFill/>
          <a:ln/>
        </p:spPr>
        <p:txBody>
          <a:bodyPr wrap="square" rtlCol="0" anchor="ctr"/>
          <a:lstStyle/>
          <a:p>
            <a:pPr indent="0" marL="0">
              <a:buNone/>
            </a:pPr>
            <a:r>
              <a:rPr lang="en-US" sz="1300" dirty="0">
                <a:solidFill>
                  <a:srgbClr val="16181D"/>
                </a:solidFill>
                <a:latin typeface="Arial" pitchFamily="34" charset="0"/>
                <a:ea typeface="BIZ UDPGothic" pitchFamily="34" charset="-122"/>
                <a:cs typeface="BIZ UDPGothic" pitchFamily="34" charset="-120"/>
              </a:rPr>
              <a:t>一律ボーナス（約4.45ヶ月分）の全廃</a:t>
            </a:r>
            <a:endParaRPr lang="en-US" sz="1300" dirty="0"/>
          </a:p>
        </p:txBody>
      </p:sp>
      <p:sp>
        <p:nvSpPr>
          <p:cNvPr id="8" name="Text 6"/>
          <p:cNvSpPr/>
          <p:nvPr/>
        </p:nvSpPr>
        <p:spPr>
          <a:xfrm>
            <a:off x="6675120" y="1920240"/>
            <a:ext cx="1828800" cy="411480"/>
          </a:xfrm>
          <a:prstGeom prst="rect">
            <a:avLst/>
          </a:prstGeom>
          <a:noFill/>
          <a:ln/>
        </p:spPr>
        <p:txBody>
          <a:bodyPr wrap="square" rtlCol="0" anchor="ctr"/>
          <a:lstStyle/>
          <a:p>
            <a:pPr algn="r" indent="0" marL="0">
              <a:buNone/>
            </a:pPr>
            <a:r>
              <a:rPr lang="en-US" sz="1400" b="1" dirty="0">
                <a:solidFill>
                  <a:srgbClr val="4B515C"/>
                </a:solidFill>
                <a:latin typeface="Arial" pitchFamily="34" charset="0"/>
                <a:ea typeface="BIZ UDPGothic" pitchFamily="34" charset="-122"/>
                <a:cs typeface="BIZ UDPGothic" pitchFamily="34" charset="-120"/>
              </a:rPr>
              <a:t>−5.5兆円</a:t>
            </a:r>
            <a:endParaRPr lang="en-US" sz="1400" dirty="0"/>
          </a:p>
        </p:txBody>
      </p:sp>
      <p:sp>
        <p:nvSpPr>
          <p:cNvPr id="9" name="Text 7"/>
          <p:cNvSpPr/>
          <p:nvPr/>
        </p:nvSpPr>
        <p:spPr>
          <a:xfrm>
            <a:off x="640080" y="2487168"/>
            <a:ext cx="5943600" cy="411480"/>
          </a:xfrm>
          <a:prstGeom prst="rect">
            <a:avLst/>
          </a:prstGeom>
          <a:noFill/>
          <a:ln/>
        </p:spPr>
        <p:txBody>
          <a:bodyPr wrap="square" rtlCol="0" anchor="ctr"/>
          <a:lstStyle/>
          <a:p>
            <a:pPr indent="0" marL="0">
              <a:buNone/>
            </a:pPr>
            <a:r>
              <a:rPr lang="en-US" sz="1300" dirty="0">
                <a:solidFill>
                  <a:srgbClr val="16181D"/>
                </a:solidFill>
                <a:latin typeface="Arial" pitchFamily="34" charset="0"/>
                <a:ea typeface="BIZ UDPGothic" pitchFamily="34" charset="-122"/>
                <a:cs typeface="BIZ UDPGothic" pitchFamily="34" charset="-120"/>
              </a:rPr>
              <a:t>生活手当（扶養・住居手当等）の全廃</a:t>
            </a:r>
            <a:endParaRPr lang="en-US" sz="1300" dirty="0"/>
          </a:p>
        </p:txBody>
      </p:sp>
      <p:sp>
        <p:nvSpPr>
          <p:cNvPr id="10" name="Text 8"/>
          <p:cNvSpPr/>
          <p:nvPr/>
        </p:nvSpPr>
        <p:spPr>
          <a:xfrm>
            <a:off x="6675120" y="2487168"/>
            <a:ext cx="1828800" cy="411480"/>
          </a:xfrm>
          <a:prstGeom prst="rect">
            <a:avLst/>
          </a:prstGeom>
          <a:noFill/>
          <a:ln/>
        </p:spPr>
        <p:txBody>
          <a:bodyPr wrap="square" rtlCol="0" anchor="ctr"/>
          <a:lstStyle/>
          <a:p>
            <a:pPr algn="r" indent="0" marL="0">
              <a:buNone/>
            </a:pPr>
            <a:r>
              <a:rPr lang="en-US" sz="1400" b="1" dirty="0">
                <a:solidFill>
                  <a:srgbClr val="4B515C"/>
                </a:solidFill>
                <a:latin typeface="Arial" pitchFamily="34" charset="0"/>
                <a:ea typeface="BIZ UDPGothic" pitchFamily="34" charset="-122"/>
                <a:cs typeface="BIZ UDPGothic" pitchFamily="34" charset="-120"/>
              </a:rPr>
              <a:t>−1.5兆円</a:t>
            </a:r>
            <a:endParaRPr lang="en-US" sz="1400" dirty="0"/>
          </a:p>
        </p:txBody>
      </p:sp>
      <p:sp>
        <p:nvSpPr>
          <p:cNvPr id="11" name="Text 9"/>
          <p:cNvSpPr/>
          <p:nvPr/>
        </p:nvSpPr>
        <p:spPr>
          <a:xfrm>
            <a:off x="640080" y="3054096"/>
            <a:ext cx="5943600" cy="411480"/>
          </a:xfrm>
          <a:prstGeom prst="rect">
            <a:avLst/>
          </a:prstGeom>
          <a:noFill/>
          <a:ln/>
        </p:spPr>
        <p:txBody>
          <a:bodyPr wrap="square" rtlCol="0" anchor="ctr"/>
          <a:lstStyle/>
          <a:p>
            <a:pPr indent="0" marL="0">
              <a:buNone/>
            </a:pPr>
            <a:r>
              <a:rPr lang="en-US" sz="1300" dirty="0">
                <a:solidFill>
                  <a:srgbClr val="16181D"/>
                </a:solidFill>
                <a:latin typeface="Arial" pitchFamily="34" charset="0"/>
                <a:ea typeface="BIZ UDPGothic" pitchFamily="34" charset="-122"/>
                <a:cs typeface="BIZ UDPGothic" pitchFamily="34" charset="-120"/>
              </a:rPr>
              <a:t>50代年功序列の解体</a:t>
            </a:r>
            <a:endParaRPr lang="en-US" sz="1300" dirty="0"/>
          </a:p>
        </p:txBody>
      </p:sp>
      <p:sp>
        <p:nvSpPr>
          <p:cNvPr id="12" name="Text 10"/>
          <p:cNvSpPr/>
          <p:nvPr/>
        </p:nvSpPr>
        <p:spPr>
          <a:xfrm>
            <a:off x="6675120" y="3054096"/>
            <a:ext cx="1828800" cy="411480"/>
          </a:xfrm>
          <a:prstGeom prst="rect">
            <a:avLst/>
          </a:prstGeom>
          <a:noFill/>
          <a:ln/>
        </p:spPr>
        <p:txBody>
          <a:bodyPr wrap="square" rtlCol="0" anchor="ctr"/>
          <a:lstStyle/>
          <a:p>
            <a:pPr algn="r" indent="0" marL="0">
              <a:buNone/>
            </a:pPr>
            <a:r>
              <a:rPr lang="en-US" sz="1400" b="1" dirty="0">
                <a:solidFill>
                  <a:srgbClr val="4B515C"/>
                </a:solidFill>
                <a:latin typeface="Arial" pitchFamily="34" charset="0"/>
                <a:ea typeface="BIZ UDPGothic" pitchFamily="34" charset="-122"/>
                <a:cs typeface="BIZ UDPGothic" pitchFamily="34" charset="-120"/>
              </a:rPr>
              <a:t>−2.5兆円</a:t>
            </a:r>
            <a:endParaRPr lang="en-US" sz="1400" dirty="0"/>
          </a:p>
        </p:txBody>
      </p:sp>
      <p:sp>
        <p:nvSpPr>
          <p:cNvPr id="13" name="Text 11"/>
          <p:cNvSpPr/>
          <p:nvPr/>
        </p:nvSpPr>
        <p:spPr>
          <a:xfrm>
            <a:off x="640080" y="3621024"/>
            <a:ext cx="5943600" cy="411480"/>
          </a:xfrm>
          <a:prstGeom prst="rect">
            <a:avLst/>
          </a:prstGeom>
          <a:noFill/>
          <a:ln/>
        </p:spPr>
        <p:txBody>
          <a:bodyPr wrap="square" rtlCol="0" anchor="ctr"/>
          <a:lstStyle/>
          <a:p>
            <a:pPr indent="0" marL="0">
              <a:buNone/>
            </a:pPr>
            <a:r>
              <a:rPr lang="en-US" sz="1300" dirty="0">
                <a:solidFill>
                  <a:srgbClr val="16181D"/>
                </a:solidFill>
                <a:latin typeface="Arial" pitchFamily="34" charset="0"/>
                <a:ea typeface="BIZ UDPGothic" pitchFamily="34" charset="-122"/>
                <a:cs typeface="BIZ UDPGothic" pitchFamily="34" charset="-120"/>
              </a:rPr>
              <a:t>内勤公安職の適正化</a:t>
            </a:r>
            <a:endParaRPr lang="en-US" sz="1300" dirty="0"/>
          </a:p>
        </p:txBody>
      </p:sp>
      <p:sp>
        <p:nvSpPr>
          <p:cNvPr id="14" name="Text 12"/>
          <p:cNvSpPr/>
          <p:nvPr/>
        </p:nvSpPr>
        <p:spPr>
          <a:xfrm>
            <a:off x="6675120" y="3621024"/>
            <a:ext cx="1828800" cy="411480"/>
          </a:xfrm>
          <a:prstGeom prst="rect">
            <a:avLst/>
          </a:prstGeom>
          <a:noFill/>
          <a:ln/>
        </p:spPr>
        <p:txBody>
          <a:bodyPr wrap="square" rtlCol="0" anchor="ctr"/>
          <a:lstStyle/>
          <a:p>
            <a:pPr algn="r" indent="0" marL="0">
              <a:buNone/>
            </a:pPr>
            <a:r>
              <a:rPr lang="en-US" sz="1400" b="1" dirty="0">
                <a:solidFill>
                  <a:srgbClr val="4B515C"/>
                </a:solidFill>
                <a:latin typeface="Arial" pitchFamily="34" charset="0"/>
                <a:ea typeface="BIZ UDPGothic" pitchFamily="34" charset="-122"/>
                <a:cs typeface="BIZ UDPGothic" pitchFamily="34" charset="-120"/>
              </a:rPr>
              <a:t>−0.5兆円</a:t>
            </a:r>
            <a:endParaRPr lang="en-US" sz="1400" dirty="0"/>
          </a:p>
        </p:txBody>
      </p:sp>
      <p:sp>
        <p:nvSpPr>
          <p:cNvPr id="15" name="Shape 13"/>
          <p:cNvSpPr/>
          <p:nvPr/>
        </p:nvSpPr>
        <p:spPr>
          <a:xfrm>
            <a:off x="7863840" y="4206240"/>
            <a:ext cx="640080" cy="22860"/>
          </a:xfrm>
          <a:prstGeom prst="rect">
            <a:avLst/>
          </a:prstGeom>
          <a:solidFill>
            <a:srgbClr val="DDE0E6"/>
          </a:solidFill>
          <a:ln/>
        </p:spPr>
      </p:sp>
      <p:sp>
        <p:nvSpPr>
          <p:cNvPr id="16" name="Text 14"/>
          <p:cNvSpPr/>
          <p:nvPr/>
        </p:nvSpPr>
        <p:spPr>
          <a:xfrm>
            <a:off x="640080" y="4279392"/>
            <a:ext cx="5943600" cy="411480"/>
          </a:xfrm>
          <a:prstGeom prst="rect">
            <a:avLst/>
          </a:prstGeom>
          <a:noFill/>
          <a:ln/>
        </p:spPr>
        <p:txBody>
          <a:bodyPr wrap="square" rtlCol="0" anchor="ctr"/>
          <a:lstStyle/>
          <a:p>
            <a:pPr indent="0" marL="0">
              <a:buNone/>
            </a:pPr>
            <a:r>
              <a:rPr lang="en-US" sz="1400" b="1" dirty="0">
                <a:solidFill>
                  <a:srgbClr val="16181D"/>
                </a:solidFill>
                <a:latin typeface="Arial" pitchFamily="34" charset="0"/>
                <a:ea typeface="BIZ UDPGothic" pitchFamily="34" charset="-122"/>
                <a:cs typeface="BIZ UDPGothic" pitchFamily="34" charset="-120"/>
              </a:rPr>
              <a:t>削減合計</a:t>
            </a:r>
            <a:endParaRPr lang="en-US" sz="1400" dirty="0"/>
          </a:p>
        </p:txBody>
      </p:sp>
      <p:sp>
        <p:nvSpPr>
          <p:cNvPr id="17" name="Text 15"/>
          <p:cNvSpPr/>
          <p:nvPr/>
        </p:nvSpPr>
        <p:spPr>
          <a:xfrm>
            <a:off x="6675120" y="4279392"/>
            <a:ext cx="1828800" cy="411480"/>
          </a:xfrm>
          <a:prstGeom prst="rect">
            <a:avLst/>
          </a:prstGeom>
          <a:noFill/>
          <a:ln/>
        </p:spPr>
        <p:txBody>
          <a:bodyPr wrap="square" rtlCol="0" anchor="ctr"/>
          <a:lstStyle/>
          <a:p>
            <a:pPr algn="r" indent="0" marL="0">
              <a:buNone/>
            </a:pPr>
            <a:r>
              <a:rPr lang="en-US" sz="1800" b="1" dirty="0">
                <a:solidFill>
                  <a:srgbClr val="C8161D"/>
                </a:solidFill>
                <a:latin typeface="Arial" pitchFamily="34" charset="0"/>
                <a:ea typeface="BIZ UDPGothic" pitchFamily="34" charset="-122"/>
                <a:cs typeface="BIZ UDPGothic" pitchFamily="34" charset="-120"/>
              </a:rPr>
              <a:t>−10兆円</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数字でまとめ 02 / 03</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400" b="1" dirty="0">
                <a:solidFill>
                  <a:srgbClr val="16181D"/>
                </a:solidFill>
                <a:latin typeface="Arial" pitchFamily="34" charset="0"/>
                <a:ea typeface="BIZ UDPGothic" pitchFamily="34" charset="-122"/>
                <a:cs typeface="BIZ UDPGothic" pitchFamily="34" charset="-120"/>
              </a:rPr>
              <a:t>お金の話②：成功報酬コストを引いてもネット▲8.7兆円</a:t>
            </a:r>
            <a:endParaRPr lang="en-US" sz="2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457200" y="1508760"/>
            <a:ext cx="2606040" cy="800100"/>
          </a:xfrm>
          <a:prstGeom prst="rect">
            <a:avLst/>
          </a:prstGeom>
          <a:noFill/>
          <a:ln/>
        </p:spPr>
        <p:txBody>
          <a:bodyPr wrap="square" rtlCol="0" anchor="ctr"/>
          <a:lstStyle/>
          <a:p>
            <a:pPr algn="ctr" indent="0" marL="0">
              <a:buNone/>
            </a:pPr>
            <a:r>
              <a:rPr lang="en-US" sz="2600" b="1" dirty="0">
                <a:solidFill>
                  <a:srgbClr val="C8161D"/>
                </a:solidFill>
                <a:latin typeface="Arial" pitchFamily="34" charset="0"/>
                <a:ea typeface="BIZ UDPGothic" pitchFamily="34" charset="-122"/>
                <a:cs typeface="BIZ UDPGothic" pitchFamily="34" charset="-120"/>
              </a:rPr>
              <a:t>約28万人/年</a:t>
            </a:r>
            <a:endParaRPr lang="en-US" sz="2600" dirty="0"/>
          </a:p>
        </p:txBody>
      </p:sp>
      <p:sp>
        <p:nvSpPr>
          <p:cNvPr id="7" name="Text 5"/>
          <p:cNvSpPr/>
          <p:nvPr/>
        </p:nvSpPr>
        <p:spPr>
          <a:xfrm>
            <a:off x="457200" y="2329434"/>
            <a:ext cx="260604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10年目を迎える</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職員数（年間）</a:t>
            </a:r>
            <a:endParaRPr lang="en-US" sz="1200" dirty="0"/>
          </a:p>
        </p:txBody>
      </p:sp>
      <p:sp>
        <p:nvSpPr>
          <p:cNvPr id="8" name="Text 6"/>
          <p:cNvSpPr/>
          <p:nvPr/>
        </p:nvSpPr>
        <p:spPr>
          <a:xfrm>
            <a:off x="457200" y="2665476"/>
            <a:ext cx="2606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地方公務員280万人÷10年</a:t>
            </a:r>
            <a:endParaRPr lang="en-US" sz="900" dirty="0"/>
          </a:p>
        </p:txBody>
      </p:sp>
      <p:sp>
        <p:nvSpPr>
          <p:cNvPr id="9" name="Shape 7"/>
          <p:cNvSpPr/>
          <p:nvPr/>
        </p:nvSpPr>
        <p:spPr>
          <a:xfrm>
            <a:off x="3154680" y="14173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3154680" y="1508760"/>
            <a:ext cx="2606040" cy="800100"/>
          </a:xfrm>
          <a:prstGeom prst="rect">
            <a:avLst/>
          </a:prstGeom>
          <a:noFill/>
          <a:ln/>
        </p:spPr>
        <p:txBody>
          <a:bodyPr wrap="square" rtlCol="0" anchor="ctr"/>
          <a:lstStyle/>
          <a:p>
            <a:pPr algn="ctr" indent="0" marL="0">
              <a:buNone/>
            </a:pPr>
            <a:r>
              <a:rPr lang="en-US" sz="2600" b="1" dirty="0">
                <a:solidFill>
                  <a:srgbClr val="C8161D"/>
                </a:solidFill>
                <a:latin typeface="Arial" pitchFamily="34" charset="0"/>
                <a:ea typeface="BIZ UDPGothic" pitchFamily="34" charset="-122"/>
                <a:cs typeface="BIZ UDPGothic" pitchFamily="34" charset="-120"/>
              </a:rPr>
              <a:t>平均450万円</a:t>
            </a:r>
            <a:endParaRPr lang="en-US" sz="2600" dirty="0"/>
          </a:p>
        </p:txBody>
      </p:sp>
      <p:sp>
        <p:nvSpPr>
          <p:cNvPr id="11" name="Text 9"/>
          <p:cNvSpPr/>
          <p:nvPr/>
        </p:nvSpPr>
        <p:spPr>
          <a:xfrm>
            <a:off x="3154680" y="2329434"/>
            <a:ext cx="260604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1人あたり</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平均成功報酬</a:t>
            </a:r>
            <a:endParaRPr lang="en-US" sz="1200" dirty="0"/>
          </a:p>
        </p:txBody>
      </p:sp>
      <p:sp>
        <p:nvSpPr>
          <p:cNvPr id="12" name="Text 10"/>
          <p:cNvSpPr/>
          <p:nvPr/>
        </p:nvSpPr>
        <p:spPr>
          <a:xfrm>
            <a:off x="3154680" y="2665476"/>
            <a:ext cx="2606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ベース300万円+上乗せ平均150万円</a:t>
            </a:r>
            <a:endParaRPr lang="en-US" sz="900" dirty="0"/>
          </a:p>
        </p:txBody>
      </p:sp>
      <p:sp>
        <p:nvSpPr>
          <p:cNvPr id="13" name="Shape 11"/>
          <p:cNvSpPr/>
          <p:nvPr/>
        </p:nvSpPr>
        <p:spPr>
          <a:xfrm>
            <a:off x="5852160" y="14173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4" name="Text 12"/>
          <p:cNvSpPr/>
          <p:nvPr/>
        </p:nvSpPr>
        <p:spPr>
          <a:xfrm>
            <a:off x="5852160" y="1508760"/>
            <a:ext cx="2606040" cy="800100"/>
          </a:xfrm>
          <a:prstGeom prst="rect">
            <a:avLst/>
          </a:prstGeom>
          <a:noFill/>
          <a:ln/>
        </p:spPr>
        <p:txBody>
          <a:bodyPr wrap="square" rtlCol="0" anchor="ctr"/>
          <a:lstStyle/>
          <a:p>
            <a:pPr algn="ctr" indent="0" marL="0">
              <a:buNone/>
            </a:pPr>
            <a:r>
              <a:rPr lang="en-US" sz="2600" b="1" dirty="0">
                <a:solidFill>
                  <a:srgbClr val="C8161D"/>
                </a:solidFill>
                <a:latin typeface="Arial" pitchFamily="34" charset="0"/>
                <a:ea typeface="BIZ UDPGothic" pitchFamily="34" charset="-122"/>
                <a:cs typeface="BIZ UDPGothic" pitchFamily="34" charset="-120"/>
              </a:rPr>
              <a:t>約1.3兆円/年</a:t>
            </a:r>
            <a:endParaRPr lang="en-US" sz="2600" dirty="0"/>
          </a:p>
        </p:txBody>
      </p:sp>
      <p:sp>
        <p:nvSpPr>
          <p:cNvPr id="15" name="Text 13"/>
          <p:cNvSpPr/>
          <p:nvPr/>
        </p:nvSpPr>
        <p:spPr>
          <a:xfrm>
            <a:off x="5852160" y="2329434"/>
            <a:ext cx="2606040" cy="347472"/>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成功報酬の</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年間コスト</a:t>
            </a:r>
            <a:endParaRPr lang="en-US" sz="1200" dirty="0"/>
          </a:p>
        </p:txBody>
      </p:sp>
      <p:sp>
        <p:nvSpPr>
          <p:cNvPr id="16" name="Text 14"/>
          <p:cNvSpPr/>
          <p:nvPr/>
        </p:nvSpPr>
        <p:spPr>
          <a:xfrm>
            <a:off x="5852160" y="2665476"/>
            <a:ext cx="2606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28万人×450万円</a:t>
            </a:r>
            <a:endParaRPr lang="en-US" sz="900" dirty="0"/>
          </a:p>
        </p:txBody>
      </p:sp>
      <p:sp>
        <p:nvSpPr>
          <p:cNvPr id="17" name="Shape 15"/>
          <p:cNvSpPr/>
          <p:nvPr/>
        </p:nvSpPr>
        <p:spPr>
          <a:xfrm>
            <a:off x="457200" y="3154680"/>
            <a:ext cx="822960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18" name="Text 16"/>
          <p:cNvSpPr/>
          <p:nvPr/>
        </p:nvSpPr>
        <p:spPr>
          <a:xfrm>
            <a:off x="640080" y="3273552"/>
            <a:ext cx="786384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ネット削減効果の計算</a:t>
            </a:r>
            <a:endParaRPr lang="en-US" sz="1200" dirty="0"/>
          </a:p>
        </p:txBody>
      </p:sp>
      <p:sp>
        <p:nvSpPr>
          <p:cNvPr id="19" name="Text 17"/>
          <p:cNvSpPr/>
          <p:nvPr/>
        </p:nvSpPr>
        <p:spPr>
          <a:xfrm>
            <a:off x="640080" y="3675888"/>
            <a:ext cx="5943600" cy="347472"/>
          </a:xfrm>
          <a:prstGeom prst="rect">
            <a:avLst/>
          </a:prstGeom>
          <a:noFill/>
          <a:ln/>
        </p:spPr>
        <p:txBody>
          <a:bodyPr wrap="square" rtlCol="0" anchor="ctr"/>
          <a:lstStyle/>
          <a:p>
            <a:pPr indent="0" marL="0">
              <a:buNone/>
            </a:pPr>
            <a:r>
              <a:rPr lang="en-US" sz="1300" dirty="0">
                <a:solidFill>
                  <a:srgbClr val="16181D"/>
                </a:solidFill>
                <a:latin typeface="Arial" pitchFamily="34" charset="0"/>
                <a:ea typeface="BIZ UDPGothic" pitchFamily="34" charset="-122"/>
                <a:cs typeface="BIZ UDPGothic" pitchFamily="34" charset="-120"/>
              </a:rPr>
              <a:t>人件費削減</a:t>
            </a:r>
            <a:endParaRPr lang="en-US" sz="1300" dirty="0"/>
          </a:p>
        </p:txBody>
      </p:sp>
      <p:sp>
        <p:nvSpPr>
          <p:cNvPr id="20" name="Text 18"/>
          <p:cNvSpPr/>
          <p:nvPr/>
        </p:nvSpPr>
        <p:spPr>
          <a:xfrm>
            <a:off x="6675120" y="3675888"/>
            <a:ext cx="1828800" cy="347472"/>
          </a:xfrm>
          <a:prstGeom prst="rect">
            <a:avLst/>
          </a:prstGeom>
          <a:noFill/>
          <a:ln/>
        </p:spPr>
        <p:txBody>
          <a:bodyPr wrap="square" rtlCol="0" anchor="ctr"/>
          <a:lstStyle/>
          <a:p>
            <a:pPr algn="r" indent="0" marL="0">
              <a:buNone/>
            </a:pPr>
            <a:r>
              <a:rPr lang="en-US" sz="1400" b="1" dirty="0">
                <a:solidFill>
                  <a:srgbClr val="16181D"/>
                </a:solidFill>
                <a:latin typeface="Arial" pitchFamily="34" charset="0"/>
                <a:ea typeface="BIZ UDPGothic" pitchFamily="34" charset="-122"/>
                <a:cs typeface="BIZ UDPGothic" pitchFamily="34" charset="-120"/>
              </a:rPr>
              <a:t>−10兆円</a:t>
            </a:r>
            <a:endParaRPr lang="en-US" sz="1400" dirty="0"/>
          </a:p>
        </p:txBody>
      </p:sp>
      <p:sp>
        <p:nvSpPr>
          <p:cNvPr id="21" name="Text 19"/>
          <p:cNvSpPr/>
          <p:nvPr/>
        </p:nvSpPr>
        <p:spPr>
          <a:xfrm>
            <a:off x="640080" y="4114800"/>
            <a:ext cx="5943600" cy="347472"/>
          </a:xfrm>
          <a:prstGeom prst="rect">
            <a:avLst/>
          </a:prstGeom>
          <a:noFill/>
          <a:ln/>
        </p:spPr>
        <p:txBody>
          <a:bodyPr wrap="square" rtlCol="0" anchor="ctr"/>
          <a:lstStyle/>
          <a:p>
            <a:pPr indent="0" marL="0">
              <a:buNone/>
            </a:pPr>
            <a:r>
              <a:rPr lang="en-US" sz="1300" dirty="0">
                <a:solidFill>
                  <a:srgbClr val="16181D"/>
                </a:solidFill>
                <a:latin typeface="Arial" pitchFamily="34" charset="0"/>
                <a:ea typeface="BIZ UDPGothic" pitchFamily="34" charset="-122"/>
                <a:cs typeface="BIZ UDPGothic" pitchFamily="34" charset="-120"/>
              </a:rPr>
              <a:t>成功報酬コスト（新規発生）</a:t>
            </a:r>
            <a:endParaRPr lang="en-US" sz="1300" dirty="0"/>
          </a:p>
        </p:txBody>
      </p:sp>
      <p:sp>
        <p:nvSpPr>
          <p:cNvPr id="22" name="Text 20"/>
          <p:cNvSpPr/>
          <p:nvPr/>
        </p:nvSpPr>
        <p:spPr>
          <a:xfrm>
            <a:off x="6675120" y="4114800"/>
            <a:ext cx="1828800" cy="347472"/>
          </a:xfrm>
          <a:prstGeom prst="rect">
            <a:avLst/>
          </a:prstGeom>
          <a:noFill/>
          <a:ln/>
        </p:spPr>
        <p:txBody>
          <a:bodyPr wrap="square" rtlCol="0" anchor="ctr"/>
          <a:lstStyle/>
          <a:p>
            <a:pPr algn="r" indent="0" marL="0">
              <a:buNone/>
            </a:pPr>
            <a:r>
              <a:rPr lang="en-US" sz="1400" b="1" dirty="0">
                <a:solidFill>
                  <a:srgbClr val="4B515C"/>
                </a:solidFill>
                <a:latin typeface="Arial" pitchFamily="34" charset="0"/>
                <a:ea typeface="BIZ UDPGothic" pitchFamily="34" charset="-122"/>
                <a:cs typeface="BIZ UDPGothic" pitchFamily="34" charset="-120"/>
              </a:rPr>
              <a:t>+1.3兆円</a:t>
            </a:r>
            <a:endParaRPr lang="en-US" sz="1400" dirty="0"/>
          </a:p>
        </p:txBody>
      </p:sp>
      <p:sp>
        <p:nvSpPr>
          <p:cNvPr id="23" name="Shape 21"/>
          <p:cNvSpPr/>
          <p:nvPr/>
        </p:nvSpPr>
        <p:spPr>
          <a:xfrm>
            <a:off x="7863840" y="4526280"/>
            <a:ext cx="640080" cy="22860"/>
          </a:xfrm>
          <a:prstGeom prst="rect">
            <a:avLst/>
          </a:prstGeom>
          <a:solidFill>
            <a:srgbClr val="DDE0E6"/>
          </a:solidFill>
          <a:ln/>
        </p:spPr>
      </p:sp>
      <p:sp>
        <p:nvSpPr>
          <p:cNvPr id="24" name="Shape 22"/>
          <p:cNvSpPr/>
          <p:nvPr/>
        </p:nvSpPr>
        <p:spPr>
          <a:xfrm>
            <a:off x="457200" y="4663440"/>
            <a:ext cx="8229600" cy="384048"/>
          </a:xfrm>
          <a:prstGeom prst="roundRect">
            <a:avLst>
              <a:gd name="adj" fmla="val 14286"/>
            </a:avLst>
          </a:prstGeom>
          <a:solidFill>
            <a:srgbClr val="C8161D"/>
          </a:solidFill>
          <a:ln/>
        </p:spPr>
      </p:sp>
      <p:sp>
        <p:nvSpPr>
          <p:cNvPr id="25" name="Text 23"/>
          <p:cNvSpPr/>
          <p:nvPr/>
        </p:nvSpPr>
        <p:spPr>
          <a:xfrm>
            <a:off x="640080" y="4681728"/>
            <a:ext cx="4114800" cy="347472"/>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BIZ UDPGothic" pitchFamily="34" charset="-122"/>
                <a:cs typeface="BIZ UDPGothic" pitchFamily="34" charset="-120"/>
              </a:rPr>
              <a:t>ネット削減効果</a:t>
            </a:r>
            <a:endParaRPr lang="en-US" sz="1400" dirty="0"/>
          </a:p>
        </p:txBody>
      </p:sp>
      <p:sp>
        <p:nvSpPr>
          <p:cNvPr id="26" name="Text 24"/>
          <p:cNvSpPr/>
          <p:nvPr/>
        </p:nvSpPr>
        <p:spPr>
          <a:xfrm>
            <a:off x="5029200" y="4681728"/>
            <a:ext cx="3474720" cy="347472"/>
          </a:xfrm>
          <a:prstGeom prst="rect">
            <a:avLst/>
          </a:prstGeom>
          <a:noFill/>
          <a:ln/>
        </p:spPr>
        <p:txBody>
          <a:bodyPr wrap="square" rtlCol="0" anchor="ctr"/>
          <a:lstStyle/>
          <a:p>
            <a:pPr algn="r" indent="0" marL="0">
              <a:buNone/>
            </a:pPr>
            <a:r>
              <a:rPr lang="en-US" sz="1800" b="1" dirty="0">
                <a:solidFill>
                  <a:srgbClr val="FFFFFF"/>
                </a:solidFill>
                <a:latin typeface="Arial" pitchFamily="34" charset="0"/>
                <a:ea typeface="BIZ UDPGothic" pitchFamily="34" charset="-122"/>
                <a:cs typeface="BIZ UDPGothic" pitchFamily="34" charset="-120"/>
              </a:rPr>
              <a:t>約▲8.7兆円/年</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数字でまとめ 03 / 03</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BIZ UDPGothic" pitchFamily="34" charset="-122"/>
                <a:cs typeface="BIZ UDPGothic" pitchFamily="34" charset="-120"/>
              </a:rPr>
              <a:t>お金の話③：削減分で「地方所得倍増ファンド」を作る</a:t>
            </a:r>
            <a:endParaRPr lang="en-US" sz="32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71600"/>
            <a:ext cx="8229600" cy="548640"/>
          </a:xfrm>
          <a:prstGeom prst="rect">
            <a:avLst/>
          </a:prstGeom>
          <a:noFill/>
          <a:ln/>
        </p:spPr>
        <p:txBody>
          <a:bodyPr wrap="square" rtlCol="0" anchor="ctr"/>
          <a:lstStyle/>
          <a:p>
            <a:pPr indent="0" marL="0">
              <a:lnSpc>
                <a:spcPct val="140000"/>
              </a:lnSpc>
              <a:buNone/>
            </a:pPr>
            <a:r>
              <a:rPr lang="en-US" sz="1250" dirty="0">
                <a:solidFill>
                  <a:srgbClr val="4B515C"/>
                </a:solidFill>
                <a:latin typeface="Arial" pitchFamily="34" charset="0"/>
                <a:ea typeface="BIZ UDPGothic" pitchFamily="34" charset="-122"/>
                <a:cs typeface="BIZ UDPGothic" pitchFamily="34" charset="-120"/>
              </a:rPr>
              <a:t>5大都市圏（東京・大阪・神奈川・福岡・愛知）の超過税収から一定割合を強制的に吸い上げ、地方の企業誘致・産業インフラ整備の原資にする。</a:t>
            </a:r>
            <a:endParaRPr lang="en-US" sz="1250" dirty="0"/>
          </a:p>
        </p:txBody>
      </p:sp>
      <p:sp>
        <p:nvSpPr>
          <p:cNvPr id="6" name="Shape 4"/>
          <p:cNvSpPr/>
          <p:nvPr/>
        </p:nvSpPr>
        <p:spPr>
          <a:xfrm>
            <a:off x="457200" y="2011680"/>
            <a:ext cx="3931920" cy="2743200"/>
          </a:xfrm>
          <a:prstGeom prst="roundRect">
            <a:avLst>
              <a:gd name="adj" fmla="val 3333"/>
            </a:avLst>
          </a:prstGeom>
          <a:solidFill>
            <a:srgbClr val="FFFFFF"/>
          </a:solidFill>
          <a:ln/>
          <a:effectLst>
            <a:outerShdw sx="100000" sy="100000" kx="0" ky="0" algn="bl" rotWithShape="0" blurRad="127000" dist="38100" dir="2700000">
              <a:srgbClr val="000000">
                <a:alpha val="35000"/>
              </a:srgbClr>
            </a:outerShdw>
          </a:effectLst>
        </p:spPr>
      </p:sp>
      <p:sp>
        <p:nvSpPr>
          <p:cNvPr id="7" name="Text 5"/>
          <p:cNvSpPr/>
          <p:nvPr/>
        </p:nvSpPr>
        <p:spPr>
          <a:xfrm>
            <a:off x="640080" y="2148840"/>
            <a:ext cx="356616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財源の積み上げ</a:t>
            </a:r>
            <a:endParaRPr lang="en-US" sz="1200" dirty="0"/>
          </a:p>
        </p:txBody>
      </p:sp>
      <p:sp>
        <p:nvSpPr>
          <p:cNvPr id="8" name="Shape 6"/>
          <p:cNvSpPr/>
          <p:nvPr/>
        </p:nvSpPr>
        <p:spPr>
          <a:xfrm>
            <a:off x="640080" y="2606040"/>
            <a:ext cx="3566160" cy="502920"/>
          </a:xfrm>
          <a:prstGeom prst="rect">
            <a:avLst/>
          </a:prstGeom>
          <a:solidFill>
            <a:srgbClr val="DDE0E6"/>
          </a:solidFill>
          <a:ln/>
        </p:spPr>
      </p:sp>
      <p:sp>
        <p:nvSpPr>
          <p:cNvPr id="9" name="Text 7"/>
          <p:cNvSpPr/>
          <p:nvPr/>
        </p:nvSpPr>
        <p:spPr>
          <a:xfrm>
            <a:off x="777240" y="2679192"/>
            <a:ext cx="21031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人件費削減ネット効果</a:t>
            </a:r>
            <a:endParaRPr lang="en-US" sz="1100" dirty="0"/>
          </a:p>
        </p:txBody>
      </p:sp>
      <p:sp>
        <p:nvSpPr>
          <p:cNvPr id="10" name="Text 8"/>
          <p:cNvSpPr/>
          <p:nvPr/>
        </p:nvSpPr>
        <p:spPr>
          <a:xfrm>
            <a:off x="2880360" y="2679192"/>
            <a:ext cx="1188720" cy="347472"/>
          </a:xfrm>
          <a:prstGeom prst="rect">
            <a:avLst/>
          </a:prstGeom>
          <a:noFill/>
          <a:ln/>
        </p:spPr>
        <p:txBody>
          <a:bodyPr wrap="square"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▲8.7兆円/年</a:t>
            </a:r>
            <a:endParaRPr lang="en-US" sz="1200" dirty="0"/>
          </a:p>
        </p:txBody>
      </p:sp>
      <p:sp>
        <p:nvSpPr>
          <p:cNvPr id="11" name="Shape 9"/>
          <p:cNvSpPr/>
          <p:nvPr/>
        </p:nvSpPr>
        <p:spPr>
          <a:xfrm>
            <a:off x="640080" y="3227832"/>
            <a:ext cx="3566160" cy="502920"/>
          </a:xfrm>
          <a:prstGeom prst="rect">
            <a:avLst/>
          </a:prstGeom>
          <a:solidFill>
            <a:srgbClr val="DDE0E6"/>
          </a:solidFill>
          <a:ln/>
        </p:spPr>
      </p:sp>
      <p:sp>
        <p:nvSpPr>
          <p:cNvPr id="12" name="Text 10"/>
          <p:cNvSpPr/>
          <p:nvPr/>
        </p:nvSpPr>
        <p:spPr>
          <a:xfrm>
            <a:off x="777240" y="3300984"/>
            <a:ext cx="21031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5大都市圏からの超過税収</a:t>
            </a:r>
            <a:endParaRPr lang="en-US" sz="1100" dirty="0"/>
          </a:p>
        </p:txBody>
      </p:sp>
      <p:sp>
        <p:nvSpPr>
          <p:cNvPr id="13" name="Text 11"/>
          <p:cNvSpPr/>
          <p:nvPr/>
        </p:nvSpPr>
        <p:spPr>
          <a:xfrm>
            <a:off x="2880360" y="3300984"/>
            <a:ext cx="1188720" cy="347472"/>
          </a:xfrm>
          <a:prstGeom prst="rect">
            <a:avLst/>
          </a:prstGeom>
          <a:noFill/>
          <a:ln/>
        </p:spPr>
        <p:txBody>
          <a:bodyPr wrap="square"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（設計中）</a:t>
            </a:r>
            <a:endParaRPr lang="en-US" sz="1200" dirty="0"/>
          </a:p>
        </p:txBody>
      </p:sp>
      <p:sp>
        <p:nvSpPr>
          <p:cNvPr id="14" name="Shape 12"/>
          <p:cNvSpPr/>
          <p:nvPr/>
        </p:nvSpPr>
        <p:spPr>
          <a:xfrm>
            <a:off x="640080" y="3849624"/>
            <a:ext cx="3566160" cy="502920"/>
          </a:xfrm>
          <a:prstGeom prst="rect">
            <a:avLst/>
          </a:prstGeom>
          <a:solidFill>
            <a:srgbClr val="DDE0E6"/>
          </a:solidFill>
          <a:ln/>
        </p:spPr>
      </p:sp>
      <p:sp>
        <p:nvSpPr>
          <p:cNvPr id="15" name="Text 13"/>
          <p:cNvSpPr/>
          <p:nvPr/>
        </p:nvSpPr>
        <p:spPr>
          <a:xfrm>
            <a:off x="777240" y="3922776"/>
            <a:ext cx="21031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3年後の財政黒字（提言001）</a:t>
            </a:r>
            <a:endParaRPr lang="en-US" sz="1100" dirty="0"/>
          </a:p>
        </p:txBody>
      </p:sp>
      <p:sp>
        <p:nvSpPr>
          <p:cNvPr id="16" name="Text 14"/>
          <p:cNvSpPr/>
          <p:nvPr/>
        </p:nvSpPr>
        <p:spPr>
          <a:xfrm>
            <a:off x="2880360" y="3922776"/>
            <a:ext cx="1188720" cy="347472"/>
          </a:xfrm>
          <a:prstGeom prst="rect">
            <a:avLst/>
          </a:prstGeom>
          <a:noFill/>
          <a:ln/>
        </p:spPr>
        <p:txBody>
          <a:bodyPr wrap="square"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+3〜5兆円</a:t>
            </a:r>
            <a:endParaRPr lang="en-US" sz="1200" dirty="0"/>
          </a:p>
        </p:txBody>
      </p:sp>
      <p:sp>
        <p:nvSpPr>
          <p:cNvPr id="17" name="Shape 15"/>
          <p:cNvSpPr/>
          <p:nvPr/>
        </p:nvSpPr>
        <p:spPr>
          <a:xfrm>
            <a:off x="4480560" y="2011680"/>
            <a:ext cx="4206240" cy="1325880"/>
          </a:xfrm>
          <a:prstGeom prst="roundRect">
            <a:avLst>
              <a:gd name="adj" fmla="val 6897"/>
            </a:avLst>
          </a:prstGeom>
          <a:solidFill>
            <a:srgbClr val="FFFFFF"/>
          </a:solidFill>
          <a:ln/>
          <a:effectLst>
            <a:outerShdw sx="100000" sy="100000" kx="0" ky="0" algn="bl" rotWithShape="0" blurRad="127000" dist="38100" dir="2700000">
              <a:srgbClr val="000000">
                <a:alpha val="35000"/>
              </a:srgbClr>
            </a:outerShdw>
          </a:effectLst>
        </p:spPr>
      </p:sp>
      <p:sp>
        <p:nvSpPr>
          <p:cNvPr id="18" name="Text 16"/>
          <p:cNvSpPr/>
          <p:nvPr/>
        </p:nvSpPr>
        <p:spPr>
          <a:xfrm>
            <a:off x="4663440" y="214884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ファンドの使い道</a:t>
            </a:r>
            <a:endParaRPr lang="en-US" sz="1200" dirty="0"/>
          </a:p>
        </p:txBody>
      </p:sp>
      <p:sp>
        <p:nvSpPr>
          <p:cNvPr id="19" name="Text 17"/>
          <p:cNvSpPr/>
          <p:nvPr/>
        </p:nvSpPr>
        <p:spPr>
          <a:xfrm>
            <a:off x="4663440" y="2468880"/>
            <a:ext cx="3840480" cy="73152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地方の都道府県が「自力で立ち上がるための投資原資」として活用。企業誘致・次世代産業インフラ（DX・物流等）の整備。従来の「仕送り（地方交付税）」とは発想が違う。</a:t>
            </a:r>
            <a:endParaRPr lang="en-US" sz="1100" dirty="0"/>
          </a:p>
        </p:txBody>
      </p:sp>
      <p:sp>
        <p:nvSpPr>
          <p:cNvPr id="20" name="Shape 18"/>
          <p:cNvSpPr/>
          <p:nvPr/>
        </p:nvSpPr>
        <p:spPr>
          <a:xfrm>
            <a:off x="4480560" y="3456432"/>
            <a:ext cx="4206240" cy="1298448"/>
          </a:xfrm>
          <a:prstGeom prst="roundRect">
            <a:avLst>
              <a:gd name="adj" fmla="val 7042"/>
            </a:avLst>
          </a:prstGeom>
          <a:solidFill>
            <a:srgbClr val="FFFFFF"/>
          </a:solidFill>
          <a:ln/>
          <a:effectLst>
            <a:outerShdw sx="100000" sy="100000" kx="0" ky="0" algn="bl" rotWithShape="0" blurRad="127000" dist="38100" dir="2700000">
              <a:srgbClr val="000000">
                <a:alpha val="35000"/>
              </a:srgbClr>
            </a:outerShdw>
          </a:effectLst>
        </p:spPr>
      </p:sp>
      <p:sp>
        <p:nvSpPr>
          <p:cNvPr id="21" name="Text 19"/>
          <p:cNvSpPr/>
          <p:nvPr/>
        </p:nvSpPr>
        <p:spPr>
          <a:xfrm>
            <a:off x="4663440" y="3593592"/>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残る論点</a:t>
            </a:r>
            <a:endParaRPr lang="en-US" sz="1200" dirty="0"/>
          </a:p>
        </p:txBody>
      </p:sp>
      <p:sp>
        <p:nvSpPr>
          <p:cNvPr id="22" name="Text 20"/>
          <p:cNvSpPr/>
          <p:nvPr/>
        </p:nvSpPr>
        <p:spPr>
          <a:xfrm>
            <a:off x="4663440" y="3913632"/>
            <a:ext cx="3840480" cy="704088"/>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5大都市圏からの吸い上げ率・対象税目の具体設計。ファンドの配分基準（人口比・企業誘致実績比等）と「下剋上ルール」との連動設計。</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補足：移行設計</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現職への配慮：段階的な移行設計（20〜30年）</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44752"/>
            <a:ext cx="8229600" cy="777240"/>
          </a:xfrm>
          <a:prstGeom prst="roundRect">
            <a:avLst>
              <a:gd name="adj" fmla="val 11765"/>
            </a:avLst>
          </a:prstGeom>
          <a:solidFill>
            <a:srgbClr val="C8161D"/>
          </a:solidFill>
          <a:ln/>
        </p:spPr>
      </p:sp>
      <p:sp>
        <p:nvSpPr>
          <p:cNvPr id="6" name="Text 4"/>
          <p:cNvSpPr/>
          <p:nvPr/>
        </p:nvSpPr>
        <p:spPr>
          <a:xfrm>
            <a:off x="640080" y="1581912"/>
            <a:ext cx="86868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即時</a:t>
            </a:r>
            <a:endParaRPr lang="en-US" sz="1100" dirty="0"/>
          </a:p>
        </p:txBody>
      </p:sp>
      <p:sp>
        <p:nvSpPr>
          <p:cNvPr id="7" name="Text 5"/>
          <p:cNvSpPr/>
          <p:nvPr/>
        </p:nvSpPr>
        <p:spPr>
          <a:xfrm>
            <a:off x="1600200" y="1536192"/>
            <a:ext cx="192024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BIZ UDPGothic" pitchFamily="34" charset="-122"/>
                <a:cs typeface="BIZ UDPGothic" pitchFamily="34" charset="-120"/>
              </a:rPr>
              <a:t>新規採用者</a:t>
            </a:r>
            <a:endParaRPr lang="en-US" sz="1300" dirty="0"/>
          </a:p>
        </p:txBody>
      </p:sp>
      <p:sp>
        <p:nvSpPr>
          <p:cNvPr id="8" name="Text 6"/>
          <p:cNvSpPr/>
          <p:nvPr/>
        </p:nvSpPr>
        <p:spPr>
          <a:xfrm>
            <a:off x="1600200" y="1828800"/>
            <a:ext cx="6858000" cy="32004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BIZ UDPGothic" pitchFamily="34" charset="-122"/>
                <a:cs typeface="BIZ UDPGothic" pitchFamily="34" charset="-120"/>
              </a:rPr>
              <a:t>採用時点から「任期10年制」を適用（労働条件として明示）</a:t>
            </a:r>
            <a:endParaRPr lang="en-US" sz="1050" dirty="0"/>
          </a:p>
        </p:txBody>
      </p:sp>
      <p:sp>
        <p:nvSpPr>
          <p:cNvPr id="9" name="Shape 7"/>
          <p:cNvSpPr/>
          <p:nvPr/>
        </p:nvSpPr>
        <p:spPr>
          <a:xfrm>
            <a:off x="457200" y="2359152"/>
            <a:ext cx="8229600" cy="777240"/>
          </a:xfrm>
          <a:prstGeom prst="roundRect">
            <a:avLst>
              <a:gd name="adj" fmla="val 11765"/>
            </a:avLst>
          </a:prstGeom>
          <a:solidFill>
            <a:srgbClr val="FFFFFF"/>
          </a:solidFill>
          <a:ln/>
        </p:spPr>
      </p:sp>
      <p:sp>
        <p:nvSpPr>
          <p:cNvPr id="10" name="Text 8"/>
          <p:cNvSpPr/>
          <p:nvPr/>
        </p:nvSpPr>
        <p:spPr>
          <a:xfrm>
            <a:off x="640080" y="2496312"/>
            <a:ext cx="868680" cy="502920"/>
          </a:xfrm>
          <a:prstGeom prst="rect">
            <a:avLst/>
          </a:prstGeom>
          <a:noFill/>
          <a:ln/>
        </p:spPr>
        <p:txBody>
          <a:bodyPr wrap="square" rtlCol="0" anchor="ctr"/>
          <a:lstStyle/>
          <a:p>
            <a:pPr algn="ctr" indent="0" marL="0">
              <a:buNone/>
            </a:pPr>
            <a:r>
              <a:rPr lang="en-US" sz="1100" b="1" dirty="0">
                <a:solidFill>
                  <a:srgbClr val="C8161D"/>
                </a:solidFill>
                <a:latin typeface="Arial" pitchFamily="34" charset="0"/>
                <a:ea typeface="BIZ UDPGothic" pitchFamily="34" charset="-122"/>
                <a:cs typeface="BIZ UDPGothic" pitchFamily="34" charset="-120"/>
              </a:rPr>
              <a:t>早期</a:t>
            </a:r>
            <a:endParaRPr lang="en-US" sz="1100" dirty="0"/>
          </a:p>
        </p:txBody>
      </p:sp>
      <p:sp>
        <p:nvSpPr>
          <p:cNvPr id="11" name="Text 9"/>
          <p:cNvSpPr/>
          <p:nvPr/>
        </p:nvSpPr>
        <p:spPr>
          <a:xfrm>
            <a:off x="1600200" y="2450592"/>
            <a:ext cx="1920240" cy="27432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既存の任期付職員</a:t>
            </a:r>
            <a:endParaRPr lang="en-US" sz="1300" dirty="0"/>
          </a:p>
        </p:txBody>
      </p:sp>
      <p:sp>
        <p:nvSpPr>
          <p:cNvPr id="12" name="Text 10"/>
          <p:cNvSpPr/>
          <p:nvPr/>
        </p:nvSpPr>
        <p:spPr>
          <a:xfrm>
            <a:off x="1600200" y="2743200"/>
            <a:ext cx="6858000" cy="320040"/>
          </a:xfrm>
          <a:prstGeom prst="rect">
            <a:avLst/>
          </a:prstGeom>
          <a:noFill/>
          <a:ln/>
        </p:spPr>
        <p:txBody>
          <a:bodyPr wrap="square" rtlCol="0" anchor="ctr"/>
          <a:lstStyle/>
          <a:p>
            <a:pPr indent="0" marL="0">
              <a:buNone/>
            </a:pPr>
            <a:r>
              <a:rPr lang="en-US" sz="1050" dirty="0">
                <a:solidFill>
                  <a:srgbClr val="16181D"/>
                </a:solidFill>
                <a:latin typeface="Arial" pitchFamily="34" charset="0"/>
                <a:ea typeface="BIZ UDPGothic" pitchFamily="34" charset="-122"/>
                <a:cs typeface="BIZ UDPGothic" pitchFamily="34" charset="-120"/>
              </a:rPr>
              <a:t>「任期付職員の採用に関する法律」の枠組みを拡張し、一般行政職にも適用範囲を広げる</a:t>
            </a:r>
            <a:endParaRPr lang="en-US" sz="1050" dirty="0"/>
          </a:p>
        </p:txBody>
      </p:sp>
      <p:sp>
        <p:nvSpPr>
          <p:cNvPr id="13" name="Shape 11"/>
          <p:cNvSpPr/>
          <p:nvPr/>
        </p:nvSpPr>
        <p:spPr>
          <a:xfrm>
            <a:off x="457200" y="3273552"/>
            <a:ext cx="8229600" cy="777240"/>
          </a:xfrm>
          <a:prstGeom prst="roundRect">
            <a:avLst>
              <a:gd name="adj" fmla="val 11765"/>
            </a:avLst>
          </a:prstGeom>
          <a:solidFill>
            <a:srgbClr val="FFFFFF"/>
          </a:solidFill>
          <a:ln/>
        </p:spPr>
      </p:sp>
      <p:sp>
        <p:nvSpPr>
          <p:cNvPr id="14" name="Text 12"/>
          <p:cNvSpPr/>
          <p:nvPr/>
        </p:nvSpPr>
        <p:spPr>
          <a:xfrm>
            <a:off x="640080" y="3410712"/>
            <a:ext cx="868680" cy="502920"/>
          </a:xfrm>
          <a:prstGeom prst="rect">
            <a:avLst/>
          </a:prstGeom>
          <a:noFill/>
          <a:ln/>
        </p:spPr>
        <p:txBody>
          <a:bodyPr wrap="square" rtlCol="0" anchor="ctr"/>
          <a:lstStyle/>
          <a:p>
            <a:pPr algn="ctr" indent="0" marL="0">
              <a:buNone/>
            </a:pPr>
            <a:r>
              <a:rPr lang="en-US" sz="1100" b="1" dirty="0">
                <a:solidFill>
                  <a:srgbClr val="C8161D"/>
                </a:solidFill>
                <a:latin typeface="Arial" pitchFamily="34" charset="0"/>
                <a:ea typeface="BIZ UDPGothic" pitchFamily="34" charset="-122"/>
                <a:cs typeface="BIZ UDPGothic" pitchFamily="34" charset="-120"/>
              </a:rPr>
              <a:t>任意</a:t>
            </a:r>
            <a:endParaRPr lang="en-US" sz="1100" dirty="0"/>
          </a:p>
        </p:txBody>
      </p:sp>
      <p:sp>
        <p:nvSpPr>
          <p:cNvPr id="15" name="Text 13"/>
          <p:cNvSpPr/>
          <p:nvPr/>
        </p:nvSpPr>
        <p:spPr>
          <a:xfrm>
            <a:off x="1600200" y="3364992"/>
            <a:ext cx="1920240" cy="27432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現職職員</a:t>
            </a:r>
            <a:endParaRPr lang="en-US" sz="1300" dirty="0"/>
          </a:p>
        </p:txBody>
      </p:sp>
      <p:sp>
        <p:nvSpPr>
          <p:cNvPr id="16" name="Text 14"/>
          <p:cNvSpPr/>
          <p:nvPr/>
        </p:nvSpPr>
        <p:spPr>
          <a:xfrm>
            <a:off x="1600200" y="3657600"/>
            <a:ext cx="6858000" cy="320040"/>
          </a:xfrm>
          <a:prstGeom prst="rect">
            <a:avLst/>
          </a:prstGeom>
          <a:noFill/>
          <a:ln/>
        </p:spPr>
        <p:txBody>
          <a:bodyPr wrap="square" rtlCol="0" anchor="ctr"/>
          <a:lstStyle/>
          <a:p>
            <a:pPr indent="0" marL="0">
              <a:buNone/>
            </a:pPr>
            <a:r>
              <a:rPr lang="en-US" sz="1050" dirty="0">
                <a:solidFill>
                  <a:srgbClr val="16181D"/>
                </a:solidFill>
                <a:latin typeface="Arial" pitchFamily="34" charset="0"/>
                <a:ea typeface="BIZ UDPGothic" pitchFamily="34" charset="-122"/>
                <a:cs typeface="BIZ UDPGothic" pitchFamily="34" charset="-120"/>
              </a:rPr>
              <a:t>即時の身分変更は行わず、早期退職優遇（成功報酬の前倒し適用等）でソフトランディングを促す</a:t>
            </a:r>
            <a:endParaRPr lang="en-US" sz="1050" dirty="0"/>
          </a:p>
        </p:txBody>
      </p:sp>
      <p:sp>
        <p:nvSpPr>
          <p:cNvPr id="17" name="Shape 15"/>
          <p:cNvSpPr/>
          <p:nvPr/>
        </p:nvSpPr>
        <p:spPr>
          <a:xfrm>
            <a:off x="457200" y="4187952"/>
            <a:ext cx="8229600" cy="777240"/>
          </a:xfrm>
          <a:prstGeom prst="roundRect">
            <a:avLst>
              <a:gd name="adj" fmla="val 11765"/>
            </a:avLst>
          </a:prstGeom>
          <a:solidFill>
            <a:srgbClr val="FFFFFF"/>
          </a:solidFill>
          <a:ln/>
        </p:spPr>
      </p:sp>
      <p:sp>
        <p:nvSpPr>
          <p:cNvPr id="18" name="Text 16"/>
          <p:cNvSpPr/>
          <p:nvPr/>
        </p:nvSpPr>
        <p:spPr>
          <a:xfrm>
            <a:off x="640080" y="4325112"/>
            <a:ext cx="868680" cy="502920"/>
          </a:xfrm>
          <a:prstGeom prst="rect">
            <a:avLst/>
          </a:prstGeom>
          <a:noFill/>
          <a:ln/>
        </p:spPr>
        <p:txBody>
          <a:bodyPr wrap="square" rtlCol="0" anchor="ctr"/>
          <a:lstStyle/>
          <a:p>
            <a:pPr algn="ctr" indent="0" marL="0">
              <a:buNone/>
            </a:pPr>
            <a:r>
              <a:rPr lang="en-US" sz="1100" b="1" dirty="0">
                <a:solidFill>
                  <a:srgbClr val="C8161D"/>
                </a:solidFill>
                <a:latin typeface="Arial" pitchFamily="34" charset="0"/>
                <a:ea typeface="BIZ UDPGothic" pitchFamily="34" charset="-122"/>
                <a:cs typeface="BIZ UDPGothic" pitchFamily="34" charset="-120"/>
              </a:rPr>
              <a:t>長期</a:t>
            </a:r>
            <a:endParaRPr lang="en-US" sz="1100" dirty="0"/>
          </a:p>
        </p:txBody>
      </p:sp>
      <p:sp>
        <p:nvSpPr>
          <p:cNvPr id="19" name="Text 17"/>
          <p:cNvSpPr/>
          <p:nvPr/>
        </p:nvSpPr>
        <p:spPr>
          <a:xfrm>
            <a:off x="1600200" y="4279392"/>
            <a:ext cx="1920240" cy="27432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完全移行</a:t>
            </a:r>
            <a:endParaRPr lang="en-US" sz="1300" dirty="0"/>
          </a:p>
        </p:txBody>
      </p:sp>
      <p:sp>
        <p:nvSpPr>
          <p:cNvPr id="20" name="Text 18"/>
          <p:cNvSpPr/>
          <p:nvPr/>
        </p:nvSpPr>
        <p:spPr>
          <a:xfrm>
            <a:off x="1600200" y="4572000"/>
            <a:ext cx="6858000" cy="320040"/>
          </a:xfrm>
          <a:prstGeom prst="rect">
            <a:avLst/>
          </a:prstGeom>
          <a:noFill/>
          <a:ln/>
        </p:spPr>
        <p:txBody>
          <a:bodyPr wrap="square" rtlCol="0" anchor="ctr"/>
          <a:lstStyle/>
          <a:p>
            <a:pPr indent="0" marL="0">
              <a:buNone/>
            </a:pPr>
            <a:r>
              <a:rPr lang="en-US" sz="1050" dirty="0">
                <a:solidFill>
                  <a:srgbClr val="16181D"/>
                </a:solidFill>
                <a:latin typeface="Arial" pitchFamily="34" charset="0"/>
                <a:ea typeface="BIZ UDPGothic" pitchFamily="34" charset="-122"/>
                <a:cs typeface="BIZ UDPGothic" pitchFamily="34" charset="-120"/>
              </a:rPr>
              <a:t>新規採用世代が組織の大半を占めるまで、20〜30年規模の移行期間を想定</a:t>
            </a:r>
            <a:endParaRPr lang="en-US" sz="1050" dirty="0"/>
          </a:p>
        </p:txBody>
      </p:sp>
      <p:sp>
        <p:nvSpPr>
          <p:cNvPr id="21" name="Text 19"/>
          <p:cNvSpPr/>
          <p:nvPr/>
        </p:nvSpPr>
        <p:spPr>
          <a:xfrm>
            <a:off x="457200" y="5029200"/>
            <a:ext cx="8229600" cy="347472"/>
          </a:xfrm>
          <a:prstGeom prst="rect">
            <a:avLst/>
          </a:prstGeom>
          <a:noFill/>
          <a:ln/>
        </p:spPr>
        <p:txBody>
          <a:bodyPr wrap="square" rtlCol="0" anchor="ctr"/>
          <a:lstStyle/>
          <a:p>
            <a:pPr indent="0" marL="0">
              <a:buNone/>
            </a:pPr>
            <a:r>
              <a:rPr lang="en-US" sz="1000" i="1" dirty="0">
                <a:solidFill>
                  <a:srgbClr val="9AA0AA"/>
                </a:solidFill>
                <a:latin typeface="Arial" pitchFamily="34" charset="0"/>
                <a:ea typeface="BIZ UDPGothic" pitchFamily="34" charset="-122"/>
                <a:cs typeface="BIZ UDPGothic" pitchFamily="34" charset="-120"/>
              </a:rPr>
              <a:t>移行期間の設計こそがこのプランの実現可能性を左右する最重要論点。提言001の「失業給付3年＋再教育義務化」と同様の発想で、急激な変化ではなく丁寧な移行設計が必要。</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正直に伝える</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BIZ UDPGothic" pitchFamily="34" charset="-122"/>
                <a:cs typeface="BIZ UDPGothic" pitchFamily="34" charset="-120"/>
              </a:rPr>
              <a:t>うまくいかないリスクも正直に伝える</a:t>
            </a:r>
            <a:endParaRPr lang="en-US" sz="32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411480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6" name="Shape 4"/>
          <p:cNvSpPr/>
          <p:nvPr/>
        </p:nvSpPr>
        <p:spPr>
          <a:xfrm>
            <a:off x="621792" y="1554480"/>
            <a:ext cx="658368" cy="274320"/>
          </a:xfrm>
          <a:prstGeom prst="roundRect">
            <a:avLst>
              <a:gd name="adj" fmla="val 13333"/>
            </a:avLst>
          </a:prstGeom>
          <a:solidFill>
            <a:srgbClr val="C8161D"/>
          </a:solidFill>
          <a:ln/>
        </p:spPr>
      </p:sp>
      <p:sp>
        <p:nvSpPr>
          <p:cNvPr id="7" name="Text 5"/>
          <p:cNvSpPr/>
          <p:nvPr/>
        </p:nvSpPr>
        <p:spPr>
          <a:xfrm>
            <a:off x="621792" y="1554480"/>
            <a:ext cx="658368" cy="27432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BIZ UDPGothic" pitchFamily="34" charset="-122"/>
                <a:cs typeface="BIZ UDPGothic" pitchFamily="34" charset="-120"/>
              </a:rPr>
              <a:t>HIGH</a:t>
            </a:r>
            <a:endParaRPr lang="en-US" sz="800" dirty="0"/>
          </a:p>
        </p:txBody>
      </p:sp>
      <p:sp>
        <p:nvSpPr>
          <p:cNvPr id="8" name="Text 6"/>
          <p:cNvSpPr/>
          <p:nvPr/>
        </p:nvSpPr>
        <p:spPr>
          <a:xfrm>
            <a:off x="621792" y="1892808"/>
            <a:ext cx="3785616" cy="32004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現職公務員からの強い抵抗</a:t>
            </a:r>
            <a:endParaRPr lang="en-US" sz="1300" dirty="0"/>
          </a:p>
        </p:txBody>
      </p:sp>
      <p:sp>
        <p:nvSpPr>
          <p:cNvPr id="9" name="Text 7"/>
          <p:cNvSpPr/>
          <p:nvPr/>
        </p:nvSpPr>
        <p:spPr>
          <a:xfrm>
            <a:off x="621792" y="2240280"/>
            <a:ext cx="3785616" cy="777240"/>
          </a:xfrm>
          <a:prstGeom prst="rect">
            <a:avLst/>
          </a:prstGeom>
          <a:noFill/>
          <a:ln/>
        </p:spPr>
        <p:txBody>
          <a:bodyPr wrap="square" rtlCol="0" anchor="ctr"/>
          <a:lstStyle/>
          <a:p>
            <a:pPr indent="0" marL="0">
              <a:lnSpc>
                <a:spcPct val="130000"/>
              </a:lnSpc>
              <a:buNone/>
            </a:pPr>
            <a:r>
              <a:rPr lang="en-US" sz="1050" dirty="0">
                <a:solidFill>
                  <a:srgbClr val="16181D"/>
                </a:solidFill>
                <a:latin typeface="Arial" pitchFamily="34" charset="0"/>
                <a:ea typeface="BIZ UDPGothic" pitchFamily="34" charset="-122"/>
                <a:cs typeface="BIZ UDPGothic" pitchFamily="34" charset="-120"/>
              </a:rPr>
              <a:t>地公法の身分保障との衝突。給与・ボーナス削減は既得権益の解体であり、強力な組合・政治的抵抗が予想される。→ 段階的移行と丁寧な説明が必須。</a:t>
            </a:r>
            <a:endParaRPr lang="en-US" sz="1050" dirty="0"/>
          </a:p>
        </p:txBody>
      </p:sp>
      <p:sp>
        <p:nvSpPr>
          <p:cNvPr id="10" name="Shape 8"/>
          <p:cNvSpPr/>
          <p:nvPr/>
        </p:nvSpPr>
        <p:spPr>
          <a:xfrm>
            <a:off x="4754880" y="1417320"/>
            <a:ext cx="411480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11" name="Shape 9"/>
          <p:cNvSpPr/>
          <p:nvPr/>
        </p:nvSpPr>
        <p:spPr>
          <a:xfrm>
            <a:off x="4919472" y="1554480"/>
            <a:ext cx="658368" cy="274320"/>
          </a:xfrm>
          <a:prstGeom prst="roundRect">
            <a:avLst>
              <a:gd name="adj" fmla="val 13333"/>
            </a:avLst>
          </a:prstGeom>
          <a:solidFill>
            <a:srgbClr val="9AA0AA"/>
          </a:solidFill>
          <a:ln/>
        </p:spPr>
      </p:sp>
      <p:sp>
        <p:nvSpPr>
          <p:cNvPr id="12" name="Text 10"/>
          <p:cNvSpPr/>
          <p:nvPr/>
        </p:nvSpPr>
        <p:spPr>
          <a:xfrm>
            <a:off x="4919472" y="1554480"/>
            <a:ext cx="658368" cy="274320"/>
          </a:xfrm>
          <a:prstGeom prst="rect">
            <a:avLst/>
          </a:prstGeom>
          <a:noFill/>
          <a:ln/>
        </p:spPr>
        <p:txBody>
          <a:bodyPr wrap="square" rtlCol="0" anchor="ctr"/>
          <a:lstStyle/>
          <a:p>
            <a:pPr algn="ctr" indent="0" marL="0">
              <a:buNone/>
            </a:pPr>
            <a:r>
              <a:rPr lang="en-US" sz="800" b="1" dirty="0">
                <a:solidFill>
                  <a:srgbClr val="16181D"/>
                </a:solidFill>
                <a:latin typeface="Arial" pitchFamily="34" charset="0"/>
                <a:ea typeface="BIZ UDPGothic" pitchFamily="34" charset="-122"/>
                <a:cs typeface="BIZ UDPGothic" pitchFamily="34" charset="-120"/>
              </a:rPr>
              <a:t>MED</a:t>
            </a:r>
            <a:endParaRPr lang="en-US" sz="800" dirty="0"/>
          </a:p>
        </p:txBody>
      </p:sp>
      <p:sp>
        <p:nvSpPr>
          <p:cNvPr id="13" name="Text 11"/>
          <p:cNvSpPr/>
          <p:nvPr/>
        </p:nvSpPr>
        <p:spPr>
          <a:xfrm>
            <a:off x="4919472" y="1892808"/>
            <a:ext cx="3785616" cy="32004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専門知識の断絶リスク</a:t>
            </a:r>
            <a:endParaRPr lang="en-US" sz="1300" dirty="0"/>
          </a:p>
        </p:txBody>
      </p:sp>
      <p:sp>
        <p:nvSpPr>
          <p:cNvPr id="14" name="Text 12"/>
          <p:cNvSpPr/>
          <p:nvPr/>
        </p:nvSpPr>
        <p:spPr>
          <a:xfrm>
            <a:off x="4919472" y="2240280"/>
            <a:ext cx="3785616" cy="777240"/>
          </a:xfrm>
          <a:prstGeom prst="rect">
            <a:avLst/>
          </a:prstGeom>
          <a:noFill/>
          <a:ln/>
        </p:spPr>
        <p:txBody>
          <a:bodyPr wrap="square" rtlCol="0" anchor="ctr"/>
          <a:lstStyle/>
          <a:p>
            <a:pPr indent="0" marL="0">
              <a:lnSpc>
                <a:spcPct val="130000"/>
              </a:lnSpc>
              <a:buNone/>
            </a:pPr>
            <a:r>
              <a:rPr lang="en-US" sz="1050" dirty="0">
                <a:solidFill>
                  <a:srgbClr val="16181D"/>
                </a:solidFill>
                <a:latin typeface="Arial" pitchFamily="34" charset="0"/>
                <a:ea typeface="BIZ UDPGothic" pitchFamily="34" charset="-122"/>
                <a:cs typeface="BIZ UDPGothic" pitchFamily="34" charset="-120"/>
              </a:rPr>
              <a:t>10年で人材が入れ替わると、土木・建築・福祉等の専門ノウハウが失われる。→ 専門職トラック＋退任前1〜2年の引き継ぎペア制度で対応。</a:t>
            </a:r>
            <a:endParaRPr lang="en-US" sz="1050" dirty="0"/>
          </a:p>
        </p:txBody>
      </p:sp>
      <p:sp>
        <p:nvSpPr>
          <p:cNvPr id="15" name="Shape 13"/>
          <p:cNvSpPr/>
          <p:nvPr/>
        </p:nvSpPr>
        <p:spPr>
          <a:xfrm>
            <a:off x="457200" y="3291840"/>
            <a:ext cx="411480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16" name="Shape 14"/>
          <p:cNvSpPr/>
          <p:nvPr/>
        </p:nvSpPr>
        <p:spPr>
          <a:xfrm>
            <a:off x="621792" y="3429000"/>
            <a:ext cx="658368" cy="274320"/>
          </a:xfrm>
          <a:prstGeom prst="roundRect">
            <a:avLst>
              <a:gd name="adj" fmla="val 13333"/>
            </a:avLst>
          </a:prstGeom>
          <a:solidFill>
            <a:srgbClr val="9AA0AA"/>
          </a:solidFill>
          <a:ln/>
        </p:spPr>
      </p:sp>
      <p:sp>
        <p:nvSpPr>
          <p:cNvPr id="17" name="Text 15"/>
          <p:cNvSpPr/>
          <p:nvPr/>
        </p:nvSpPr>
        <p:spPr>
          <a:xfrm>
            <a:off x="621792" y="3429000"/>
            <a:ext cx="658368" cy="274320"/>
          </a:xfrm>
          <a:prstGeom prst="rect">
            <a:avLst/>
          </a:prstGeom>
          <a:noFill/>
          <a:ln/>
        </p:spPr>
        <p:txBody>
          <a:bodyPr wrap="square" rtlCol="0" anchor="ctr"/>
          <a:lstStyle/>
          <a:p>
            <a:pPr algn="ctr" indent="0" marL="0">
              <a:buNone/>
            </a:pPr>
            <a:r>
              <a:rPr lang="en-US" sz="800" b="1" dirty="0">
                <a:solidFill>
                  <a:srgbClr val="16181D"/>
                </a:solidFill>
                <a:latin typeface="Arial" pitchFamily="34" charset="0"/>
                <a:ea typeface="BIZ UDPGothic" pitchFamily="34" charset="-122"/>
                <a:cs typeface="BIZ UDPGothic" pitchFamily="34" charset="-120"/>
              </a:rPr>
              <a:t>MED</a:t>
            </a:r>
            <a:endParaRPr lang="en-US" sz="800" dirty="0"/>
          </a:p>
        </p:txBody>
      </p:sp>
      <p:sp>
        <p:nvSpPr>
          <p:cNvPr id="18" name="Text 16"/>
          <p:cNvSpPr/>
          <p:nvPr/>
        </p:nvSpPr>
        <p:spPr>
          <a:xfrm>
            <a:off x="621792" y="3767328"/>
            <a:ext cx="3785616" cy="32004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成功報酬の評価の公正性</a:t>
            </a:r>
            <a:endParaRPr lang="en-US" sz="1300" dirty="0"/>
          </a:p>
        </p:txBody>
      </p:sp>
      <p:sp>
        <p:nvSpPr>
          <p:cNvPr id="19" name="Text 17"/>
          <p:cNvSpPr/>
          <p:nvPr/>
        </p:nvSpPr>
        <p:spPr>
          <a:xfrm>
            <a:off x="621792" y="4114800"/>
            <a:ext cx="3785616" cy="777240"/>
          </a:xfrm>
          <a:prstGeom prst="rect">
            <a:avLst/>
          </a:prstGeom>
          <a:noFill/>
          <a:ln/>
        </p:spPr>
        <p:txBody>
          <a:bodyPr wrap="square" rtlCol="0" anchor="ctr"/>
          <a:lstStyle/>
          <a:p>
            <a:pPr indent="0" marL="0">
              <a:lnSpc>
                <a:spcPct val="130000"/>
              </a:lnSpc>
              <a:buNone/>
            </a:pPr>
            <a:r>
              <a:rPr lang="en-US" sz="1050" dirty="0">
                <a:solidFill>
                  <a:srgbClr val="16181D"/>
                </a:solidFill>
                <a:latin typeface="Arial" pitchFamily="34" charset="0"/>
                <a:ea typeface="BIZ UDPGothic" pitchFamily="34" charset="-122"/>
                <a:cs typeface="BIZ UDPGothic" pitchFamily="34" charset="-120"/>
              </a:rPr>
              <a:t>何をもって「成果」とするかの定義が難しい。恣意的な評価が入ると制度が形骸化する。→ 独立評価委員会の構成と評価基準の事前公開が鍵。</a:t>
            </a:r>
            <a:endParaRPr lang="en-US" sz="1050" dirty="0"/>
          </a:p>
        </p:txBody>
      </p:sp>
      <p:sp>
        <p:nvSpPr>
          <p:cNvPr id="20" name="Shape 18"/>
          <p:cNvSpPr/>
          <p:nvPr/>
        </p:nvSpPr>
        <p:spPr>
          <a:xfrm>
            <a:off x="4754880" y="3291840"/>
            <a:ext cx="411480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21" name="Shape 19"/>
          <p:cNvSpPr/>
          <p:nvPr/>
        </p:nvSpPr>
        <p:spPr>
          <a:xfrm>
            <a:off x="4919472" y="3429000"/>
            <a:ext cx="658368" cy="274320"/>
          </a:xfrm>
          <a:prstGeom prst="roundRect">
            <a:avLst>
              <a:gd name="adj" fmla="val 13333"/>
            </a:avLst>
          </a:prstGeom>
          <a:solidFill>
            <a:srgbClr val="C8161D"/>
          </a:solidFill>
          <a:ln/>
        </p:spPr>
      </p:sp>
      <p:sp>
        <p:nvSpPr>
          <p:cNvPr id="22" name="Text 20"/>
          <p:cNvSpPr/>
          <p:nvPr/>
        </p:nvSpPr>
        <p:spPr>
          <a:xfrm>
            <a:off x="4919472" y="3429000"/>
            <a:ext cx="658368" cy="27432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BIZ UDPGothic" pitchFamily="34" charset="-122"/>
                <a:cs typeface="BIZ UDPGothic" pitchFamily="34" charset="-120"/>
              </a:rPr>
              <a:t>HIGH</a:t>
            </a:r>
            <a:endParaRPr lang="en-US" sz="800" dirty="0"/>
          </a:p>
        </p:txBody>
      </p:sp>
      <p:sp>
        <p:nvSpPr>
          <p:cNvPr id="23" name="Text 21"/>
          <p:cNvSpPr/>
          <p:nvPr/>
        </p:nvSpPr>
        <p:spPr>
          <a:xfrm>
            <a:off x="4919472" y="3767328"/>
            <a:ext cx="3785616" cy="32004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過疎地での人材確保困難</a:t>
            </a:r>
            <a:endParaRPr lang="en-US" sz="1300" dirty="0"/>
          </a:p>
        </p:txBody>
      </p:sp>
      <p:sp>
        <p:nvSpPr>
          <p:cNvPr id="24" name="Text 22"/>
          <p:cNvSpPr/>
          <p:nvPr/>
        </p:nvSpPr>
        <p:spPr>
          <a:xfrm>
            <a:off x="4919472" y="4114800"/>
            <a:ext cx="3785616" cy="777240"/>
          </a:xfrm>
          <a:prstGeom prst="rect">
            <a:avLst/>
          </a:prstGeom>
          <a:noFill/>
          <a:ln/>
        </p:spPr>
        <p:txBody>
          <a:bodyPr wrap="square" rtlCol="0" anchor="ctr"/>
          <a:lstStyle/>
          <a:p>
            <a:pPr indent="0" marL="0">
              <a:lnSpc>
                <a:spcPct val="130000"/>
              </a:lnSpc>
              <a:buNone/>
            </a:pPr>
            <a:r>
              <a:rPr lang="en-US" sz="1050" dirty="0">
                <a:solidFill>
                  <a:srgbClr val="16181D"/>
                </a:solidFill>
                <a:latin typeface="Arial" pitchFamily="34" charset="0"/>
                <a:ea typeface="BIZ UDPGothic" pitchFamily="34" charset="-122"/>
                <a:cs typeface="BIZ UDPGothic" pitchFamily="34" charset="-120"/>
              </a:rPr>
              <a:t>成果連動型にすると、税収増の見込みが薄い過疎地では優秀な人材が集まらない可能性。→ 広域連携・共同任用の仕組みを選択肢として用意。</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哲学</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BIZ UDPGothic" pitchFamily="34" charset="-122"/>
                <a:cs typeface="BIZ UDPGothic" pitchFamily="34" charset="-120"/>
              </a:rPr>
              <a:t>この改革の考え方：3つの原則</a:t>
            </a:r>
            <a:endParaRPr lang="en-US" sz="32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8229600" cy="1051560"/>
          </a:xfrm>
          <a:prstGeom prst="roundRect">
            <a:avLst>
              <a:gd name="adj" fmla="val 8696"/>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45336"/>
            <a:ext cx="640080" cy="804672"/>
          </a:xfrm>
          <a:prstGeom prst="rect">
            <a:avLst/>
          </a:prstGeom>
          <a:noFill/>
          <a:ln/>
        </p:spPr>
        <p:txBody>
          <a:bodyPr wrap="square" rtlCol="0" anchor="ctr"/>
          <a:lstStyle/>
          <a:p>
            <a:pPr indent="0" marL="0">
              <a:buNone/>
            </a:pPr>
            <a:r>
              <a:rPr lang="en-US" sz="2800" b="1" dirty="0">
                <a:solidFill>
                  <a:srgbClr val="C8161D"/>
                </a:solidFill>
                <a:latin typeface="Arial" pitchFamily="34" charset="0"/>
                <a:ea typeface="BIZ UDPGothic" pitchFamily="34" charset="-122"/>
                <a:cs typeface="BIZ UDPGothic" pitchFamily="34" charset="-120"/>
              </a:rPr>
              <a:t>01</a:t>
            </a:r>
            <a:endParaRPr lang="en-US" sz="2800" dirty="0"/>
          </a:p>
        </p:txBody>
      </p:sp>
      <p:sp>
        <p:nvSpPr>
          <p:cNvPr id="7" name="Text 5"/>
          <p:cNvSpPr/>
          <p:nvPr/>
        </p:nvSpPr>
        <p:spPr>
          <a:xfrm>
            <a:off x="1417320" y="1527048"/>
            <a:ext cx="3200400" cy="841248"/>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市場原理に任せ</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出口設計だけ政治がやる</a:t>
            </a:r>
            <a:endParaRPr lang="en-US" sz="1500" dirty="0"/>
          </a:p>
        </p:txBody>
      </p:sp>
      <p:sp>
        <p:nvSpPr>
          <p:cNvPr id="8" name="Text 6"/>
          <p:cNvSpPr/>
          <p:nvPr/>
        </p:nvSpPr>
        <p:spPr>
          <a:xfrm>
            <a:off x="4754880" y="1527048"/>
            <a:ext cx="3749040" cy="841248"/>
          </a:xfrm>
          <a:prstGeom prst="rect">
            <a:avLst/>
          </a:prstGeom>
          <a:noFill/>
          <a:ln/>
        </p:spPr>
        <p:txBody>
          <a:bodyPr wrap="square" rtlCol="0" anchor="ctr"/>
          <a:lstStyle/>
          <a:p>
            <a:pPr indent="0" marL="0">
              <a:lnSpc>
                <a:spcPct val="135000"/>
              </a:lnSpc>
              <a:buNone/>
            </a:pPr>
            <a:r>
              <a:rPr lang="en-US" sz="1050" dirty="0">
                <a:solidFill>
                  <a:srgbClr val="4B515C"/>
                </a:solidFill>
                <a:latin typeface="Arial" pitchFamily="34" charset="0"/>
                <a:ea typeface="BIZ UDPGothic" pitchFamily="34" charset="-122"/>
                <a:cs typeface="BIZ UDPGothic" pitchFamily="34" charset="-120"/>
              </a:rPr>
              <a:t>公務員の給与も、地域の市場実態が決める。政治は「基準の設計」だけを担う。</a:t>
            </a:r>
            <a:endParaRPr lang="en-US" sz="1050" dirty="0"/>
          </a:p>
        </p:txBody>
      </p:sp>
      <p:sp>
        <p:nvSpPr>
          <p:cNvPr id="9" name="Shape 7"/>
          <p:cNvSpPr/>
          <p:nvPr/>
        </p:nvSpPr>
        <p:spPr>
          <a:xfrm>
            <a:off x="457200" y="2624328"/>
            <a:ext cx="8229600" cy="1051560"/>
          </a:xfrm>
          <a:prstGeom prst="roundRect">
            <a:avLst>
              <a:gd name="adj" fmla="val 8696"/>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640080" y="2752344"/>
            <a:ext cx="640080" cy="804672"/>
          </a:xfrm>
          <a:prstGeom prst="rect">
            <a:avLst/>
          </a:prstGeom>
          <a:noFill/>
          <a:ln/>
        </p:spPr>
        <p:txBody>
          <a:bodyPr wrap="square" rtlCol="0" anchor="ctr"/>
          <a:lstStyle/>
          <a:p>
            <a:pPr indent="0" marL="0">
              <a:buNone/>
            </a:pPr>
            <a:r>
              <a:rPr lang="en-US" sz="2800" b="1" dirty="0">
                <a:solidFill>
                  <a:srgbClr val="C8161D"/>
                </a:solidFill>
                <a:latin typeface="Arial" pitchFamily="34" charset="0"/>
                <a:ea typeface="BIZ UDPGothic" pitchFamily="34" charset="-122"/>
                <a:cs typeface="BIZ UDPGothic" pitchFamily="34" charset="-120"/>
              </a:rPr>
              <a:t>02</a:t>
            </a:r>
            <a:endParaRPr lang="en-US" sz="2800" dirty="0"/>
          </a:p>
        </p:txBody>
      </p:sp>
      <p:sp>
        <p:nvSpPr>
          <p:cNvPr id="11" name="Text 9"/>
          <p:cNvSpPr/>
          <p:nvPr/>
        </p:nvSpPr>
        <p:spPr>
          <a:xfrm>
            <a:off x="1417320" y="2734056"/>
            <a:ext cx="3200400" cy="841248"/>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頑張った人・</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稼げた地域が報われる</a:t>
            </a:r>
            <a:endParaRPr lang="en-US" sz="1500" dirty="0"/>
          </a:p>
        </p:txBody>
      </p:sp>
      <p:sp>
        <p:nvSpPr>
          <p:cNvPr id="12" name="Text 10"/>
          <p:cNvSpPr/>
          <p:nvPr/>
        </p:nvSpPr>
        <p:spPr>
          <a:xfrm>
            <a:off x="4754880" y="2734056"/>
            <a:ext cx="3749040" cy="841248"/>
          </a:xfrm>
          <a:prstGeom prst="rect">
            <a:avLst/>
          </a:prstGeom>
          <a:noFill/>
          <a:ln/>
        </p:spPr>
        <p:txBody>
          <a:bodyPr wrap="square" rtlCol="0" anchor="ctr"/>
          <a:lstStyle/>
          <a:p>
            <a:pPr indent="0" marL="0">
              <a:lnSpc>
                <a:spcPct val="135000"/>
              </a:lnSpc>
              <a:buNone/>
            </a:pPr>
            <a:r>
              <a:rPr lang="en-US" sz="1050" dirty="0">
                <a:solidFill>
                  <a:srgbClr val="4B515C"/>
                </a:solidFill>
                <a:latin typeface="Arial" pitchFamily="34" charset="0"/>
                <a:ea typeface="BIZ UDPGothic" pitchFamily="34" charset="-122"/>
                <a:cs typeface="BIZ UDPGothic" pitchFamily="34" charset="-120"/>
              </a:rPr>
              <a:t>成果を出した職員・税収を増やした自治体が100%報われる。既得権益（年功序列・終身雇用・一律給付）を解体する。</a:t>
            </a:r>
            <a:endParaRPr lang="en-US" sz="1050" dirty="0"/>
          </a:p>
        </p:txBody>
      </p:sp>
      <p:sp>
        <p:nvSpPr>
          <p:cNvPr id="13" name="Shape 11"/>
          <p:cNvSpPr/>
          <p:nvPr/>
        </p:nvSpPr>
        <p:spPr>
          <a:xfrm>
            <a:off x="457200" y="3831336"/>
            <a:ext cx="8229600" cy="1051560"/>
          </a:xfrm>
          <a:prstGeom prst="roundRect">
            <a:avLst>
              <a:gd name="adj" fmla="val 8696"/>
            </a:avLst>
          </a:prstGeom>
          <a:solidFill>
            <a:srgbClr val="FFFFFF"/>
          </a:solidFill>
          <a:ln/>
          <a:effectLst>
            <a:outerShdw sx="100000" sy="100000" kx="0" ky="0" algn="bl" rotWithShape="0" blurRad="127000" dist="38100" dir="2700000">
              <a:srgbClr val="000000">
                <a:alpha val="35000"/>
              </a:srgbClr>
            </a:outerShdw>
          </a:effectLst>
        </p:spPr>
      </p:sp>
      <p:sp>
        <p:nvSpPr>
          <p:cNvPr id="14" name="Text 12"/>
          <p:cNvSpPr/>
          <p:nvPr/>
        </p:nvSpPr>
        <p:spPr>
          <a:xfrm>
            <a:off x="640080" y="3959352"/>
            <a:ext cx="640080" cy="804672"/>
          </a:xfrm>
          <a:prstGeom prst="rect">
            <a:avLst/>
          </a:prstGeom>
          <a:noFill/>
          <a:ln/>
        </p:spPr>
        <p:txBody>
          <a:bodyPr wrap="square" rtlCol="0" anchor="ctr"/>
          <a:lstStyle/>
          <a:p>
            <a:pPr indent="0" marL="0">
              <a:buNone/>
            </a:pPr>
            <a:r>
              <a:rPr lang="en-US" sz="2800" b="1" dirty="0">
                <a:solidFill>
                  <a:srgbClr val="C8161D"/>
                </a:solidFill>
                <a:latin typeface="Arial" pitchFamily="34" charset="0"/>
                <a:ea typeface="BIZ UDPGothic" pitchFamily="34" charset="-122"/>
                <a:cs typeface="BIZ UDPGothic" pitchFamily="34" charset="-120"/>
              </a:rPr>
              <a:t>03</a:t>
            </a:r>
            <a:endParaRPr lang="en-US" sz="2800" dirty="0"/>
          </a:p>
        </p:txBody>
      </p:sp>
      <p:sp>
        <p:nvSpPr>
          <p:cNvPr id="15" name="Text 13"/>
          <p:cNvSpPr/>
          <p:nvPr/>
        </p:nvSpPr>
        <p:spPr>
          <a:xfrm>
            <a:off x="1417320" y="3941064"/>
            <a:ext cx="3200400" cy="841248"/>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官民が</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同じ船に乗る</a:t>
            </a:r>
            <a:endParaRPr lang="en-US" sz="1500" dirty="0"/>
          </a:p>
        </p:txBody>
      </p:sp>
      <p:sp>
        <p:nvSpPr>
          <p:cNvPr id="16" name="Text 14"/>
          <p:cNvSpPr/>
          <p:nvPr/>
        </p:nvSpPr>
        <p:spPr>
          <a:xfrm>
            <a:off x="4754880" y="3941064"/>
            <a:ext cx="3749040" cy="841248"/>
          </a:xfrm>
          <a:prstGeom prst="rect">
            <a:avLst/>
          </a:prstGeom>
          <a:noFill/>
          <a:ln/>
        </p:spPr>
        <p:txBody>
          <a:bodyPr wrap="square" rtlCol="0" anchor="ctr"/>
          <a:lstStyle/>
          <a:p>
            <a:pPr indent="0" marL="0">
              <a:lnSpc>
                <a:spcPct val="135000"/>
              </a:lnSpc>
              <a:buNone/>
            </a:pPr>
            <a:r>
              <a:rPr lang="en-US" sz="1050" dirty="0">
                <a:solidFill>
                  <a:srgbClr val="4B515C"/>
                </a:solidFill>
                <a:latin typeface="Arial" pitchFamily="34" charset="0"/>
                <a:ea typeface="BIZ UDPGothic" pitchFamily="34" charset="-122"/>
                <a:cs typeface="BIZ UDPGothic" pitchFamily="34" charset="-120"/>
              </a:rPr>
              <a:t>公務員が自分の給料を上げたければ、全力で地域住民や地元企業の所得を上げ、税収を増やすしかない設計。官が民の足を引っ張る構造を破壊する。</a:t>
            </a:r>
            <a:endParaRPr lang="en-US" sz="1050" dirty="0"/>
          </a:p>
        </p:txBody>
      </p:sp>
      <p:sp>
        <p:nvSpPr>
          <p:cNvPr id="17" name="Shape 15"/>
          <p:cNvSpPr/>
          <p:nvPr/>
        </p:nvSpPr>
        <p:spPr>
          <a:xfrm>
            <a:off x="457200" y="5074920"/>
            <a:ext cx="8229600" cy="201168"/>
          </a:xfrm>
          <a:prstGeom prst="roundRect">
            <a:avLst>
              <a:gd name="adj" fmla="val 18182"/>
            </a:avLst>
          </a:prstGeom>
          <a:solidFill>
            <a:srgbClr val="DDE0E6"/>
          </a:solidFill>
          <a:ln/>
        </p:spPr>
      </p:sp>
      <p:sp>
        <p:nvSpPr>
          <p:cNvPr id="18" name="Text 16"/>
          <p:cNvSpPr/>
          <p:nvPr/>
        </p:nvSpPr>
        <p:spPr>
          <a:xfrm>
            <a:off x="640080" y="5093208"/>
            <a:ext cx="7863840" cy="164592"/>
          </a:xfrm>
          <a:prstGeom prst="rect">
            <a:avLst/>
          </a:prstGeom>
          <a:noFill/>
          <a:ln/>
        </p:spPr>
        <p:txBody>
          <a:bodyPr wrap="square" rtlCol="0" anchor="ctr"/>
          <a:lstStyle/>
          <a:p>
            <a:pPr indent="0" marL="0">
              <a:buNone/>
            </a:pPr>
            <a:r>
              <a:rPr lang="en-US" sz="900" i="1" dirty="0">
                <a:solidFill>
                  <a:srgbClr val="16181D"/>
                </a:solidFill>
                <a:latin typeface="Arial" pitchFamily="34" charset="0"/>
                <a:ea typeface="BIZ UDPGothic" pitchFamily="34" charset="-122"/>
                <a:cs typeface="BIZ UDPGothic" pitchFamily="34" charset="-120"/>
              </a:rPr>
              <a:t>官が民の足を引っ張る構造を破壊し、官民が同じ船に乗って地域経済を回していく ── これが提言002の到達点</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548640"/>
            <a:ext cx="8229600" cy="1737360"/>
          </a:xfrm>
          <a:prstGeom prst="rect">
            <a:avLst/>
          </a:prstGeom>
          <a:noFill/>
          <a:ln/>
        </p:spPr>
        <p:txBody>
          <a:bodyPr wrap="square" rtlCol="0" anchor="ctr"/>
          <a:lstStyle/>
          <a:p>
            <a:pPr indent="0" marL="0">
              <a:lnSpc>
                <a:spcPct val="115000"/>
              </a:lnSpc>
              <a:buNone/>
            </a:pPr>
            <a:r>
              <a:rPr lang="en-US" sz="4000" b="1" dirty="0">
                <a:solidFill>
                  <a:srgbClr val="16181D"/>
                </a:solidFill>
                <a:latin typeface="Arial" pitchFamily="34" charset="0"/>
                <a:ea typeface="BIZ UDPGothic" pitchFamily="34" charset="-122"/>
                <a:cs typeface="BIZ UDPGothic" pitchFamily="34" charset="-120"/>
              </a:rPr>
              <a:t>このプランについて</a:t>
            </a:r>
            <a:endParaRPr lang="en-US" sz="4000" dirty="0"/>
          </a:p>
          <a:p>
            <a:pPr indent="0" marL="0">
              <a:lnSpc>
                <a:spcPct val="115000"/>
              </a:lnSpc>
              <a:buNone/>
            </a:pPr>
            <a:r>
              <a:rPr lang="en-US" sz="4000" b="1" dirty="0">
                <a:solidFill>
                  <a:srgbClr val="16181D"/>
                </a:solidFill>
                <a:latin typeface="Arial" pitchFamily="34" charset="0"/>
                <a:ea typeface="BIZ UDPGothic" pitchFamily="34" charset="-122"/>
                <a:cs typeface="BIZ UDPGothic" pitchFamily="34" charset="-120"/>
              </a:rPr>
              <a:t>どう思いますか？</a:t>
            </a:r>
            <a:endParaRPr lang="en-US" sz="4000" dirty="0"/>
          </a:p>
        </p:txBody>
      </p:sp>
      <p:sp>
        <p:nvSpPr>
          <p:cNvPr id="3" name="Shape 1"/>
          <p:cNvSpPr/>
          <p:nvPr/>
        </p:nvSpPr>
        <p:spPr>
          <a:xfrm>
            <a:off x="457200" y="2395728"/>
            <a:ext cx="8229600" cy="22860"/>
          </a:xfrm>
          <a:prstGeom prst="rect">
            <a:avLst/>
          </a:prstGeom>
          <a:solidFill>
            <a:srgbClr val="DDE0E6"/>
          </a:solidFill>
          <a:ln/>
        </p:spPr>
      </p:sp>
      <p:sp>
        <p:nvSpPr>
          <p:cNvPr id="4" name="Text 2"/>
          <p:cNvSpPr/>
          <p:nvPr/>
        </p:nvSpPr>
        <p:spPr>
          <a:xfrm>
            <a:off x="457200" y="2514600"/>
            <a:ext cx="8229600" cy="685800"/>
          </a:xfrm>
          <a:prstGeom prst="rect">
            <a:avLst/>
          </a:prstGeom>
          <a:noFill/>
          <a:ln/>
        </p:spPr>
        <p:txBody>
          <a:bodyPr wrap="square" rtlCol="0" anchor="ctr"/>
          <a:lstStyle/>
          <a:p>
            <a:pPr indent="0" marL="0">
              <a:lnSpc>
                <a:spcPct val="150000"/>
              </a:lnSpc>
              <a:buNone/>
            </a:pPr>
            <a:r>
              <a:rPr lang="en-US" sz="1400" dirty="0">
                <a:solidFill>
                  <a:srgbClr val="4B515C"/>
                </a:solidFill>
                <a:latin typeface="Arial" pitchFamily="34" charset="0"/>
                <a:ea typeface="BIZ UDPGothic" pitchFamily="34" charset="-122"/>
                <a:cs typeface="BIZ UDPGothic" pitchFamily="34" charset="-120"/>
              </a:rPr>
              <a:t>REBOOT JAPANは、市民が政策を議論するプラットフォームです。</a:t>
            </a:r>
            <a:endParaRPr lang="en-US" sz="1400" dirty="0"/>
          </a:p>
          <a:p>
            <a:pPr indent="0" marL="0">
              <a:lnSpc>
                <a:spcPct val="150000"/>
              </a:lnSpc>
              <a:buNone/>
            </a:pPr>
            <a:r>
              <a:rPr lang="en-US" sz="1400" dirty="0">
                <a:solidFill>
                  <a:srgbClr val="4B515C"/>
                </a:solidFill>
                <a:latin typeface="Arial" pitchFamily="34" charset="0"/>
                <a:ea typeface="BIZ UDPGothic" pitchFamily="34" charset="-122"/>
                <a:cs typeface="BIZ UDPGothic" pitchFamily="34" charset="-120"/>
              </a:rPr>
              <a:t>あなたの意見・反論・改善案をお待ちしています。</a:t>
            </a:r>
            <a:endParaRPr lang="en-US" sz="1400" dirty="0"/>
          </a:p>
        </p:txBody>
      </p:sp>
      <p:sp>
        <p:nvSpPr>
          <p:cNvPr id="5" name="Shape 3"/>
          <p:cNvSpPr/>
          <p:nvPr/>
        </p:nvSpPr>
        <p:spPr>
          <a:xfrm>
            <a:off x="457200" y="3291840"/>
            <a:ext cx="2715768"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21792" y="3410712"/>
            <a:ext cx="2395728" cy="384048"/>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 コメントする</a:t>
            </a:r>
            <a:endParaRPr lang="en-US" sz="1300" dirty="0"/>
          </a:p>
        </p:txBody>
      </p:sp>
      <p:sp>
        <p:nvSpPr>
          <p:cNvPr id="7" name="Text 5"/>
          <p:cNvSpPr/>
          <p:nvPr/>
        </p:nvSpPr>
        <p:spPr>
          <a:xfrm>
            <a:off x="621792" y="3840480"/>
            <a:ext cx="2395728" cy="822960"/>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サイト右上のボタンから</a:t>
            </a:r>
            <a:endParaRPr lang="en-US" sz="1050" dirty="0"/>
          </a:p>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この提言への意見を投稿</a:t>
            </a:r>
            <a:endParaRPr lang="en-US" sz="1050" dirty="0"/>
          </a:p>
        </p:txBody>
      </p:sp>
      <p:sp>
        <p:nvSpPr>
          <p:cNvPr id="8" name="Shape 6"/>
          <p:cNvSpPr/>
          <p:nvPr/>
        </p:nvSpPr>
        <p:spPr>
          <a:xfrm>
            <a:off x="3355848" y="3291840"/>
            <a:ext cx="2715768" cy="1508760"/>
          </a:xfrm>
          <a:prstGeom prst="roundRect">
            <a:avLst>
              <a:gd name="adj" fmla="val 6061"/>
            </a:avLst>
          </a:prstGeom>
          <a:solidFill>
            <a:srgbClr val="C8161D"/>
          </a:solidFill>
          <a:ln/>
          <a:effectLst>
            <a:outerShdw sx="100000" sy="100000" kx="0" ky="0" algn="bl" rotWithShape="0" blurRad="127000" dist="38100" dir="2700000">
              <a:srgbClr val="000000">
                <a:alpha val="35000"/>
              </a:srgbClr>
            </a:outerShdw>
          </a:effectLst>
        </p:spPr>
      </p:sp>
      <p:sp>
        <p:nvSpPr>
          <p:cNvPr id="9" name="Text 7"/>
          <p:cNvSpPr/>
          <p:nvPr/>
        </p:nvSpPr>
        <p:spPr>
          <a:xfrm>
            <a:off x="3520440" y="3410712"/>
            <a:ext cx="2395728" cy="38404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BIZ UDPGothic" pitchFamily="34" charset="-122"/>
                <a:cs typeface="BIZ UDPGothic" pitchFamily="34" charset="-120"/>
              </a:rPr>
              <a:t>📩 提言を投稿する</a:t>
            </a:r>
            <a:endParaRPr lang="en-US" sz="1300" dirty="0"/>
          </a:p>
        </p:txBody>
      </p:sp>
      <p:sp>
        <p:nvSpPr>
          <p:cNvPr id="10" name="Text 8"/>
          <p:cNvSpPr/>
          <p:nvPr/>
        </p:nvSpPr>
        <p:spPr>
          <a:xfrm>
            <a:off x="3520440" y="3840480"/>
            <a:ext cx="2395728" cy="822960"/>
          </a:xfrm>
          <a:prstGeom prst="rect">
            <a:avLst/>
          </a:prstGeom>
          <a:noFill/>
          <a:ln/>
        </p:spPr>
        <p:txBody>
          <a:bodyPr wrap="square" rtlCol="0" anchor="ctr"/>
          <a:lstStyle/>
          <a:p>
            <a:pPr indent="0" marL="0">
              <a:lnSpc>
                <a:spcPct val="130000"/>
              </a:lnSpc>
              <a:buNone/>
            </a:pPr>
            <a:r>
              <a:rPr lang="en-US" sz="1050" dirty="0">
                <a:solidFill>
                  <a:srgbClr val="FFFFFF"/>
                </a:solidFill>
                <a:latin typeface="Arial" pitchFamily="34" charset="0"/>
                <a:ea typeface="BIZ UDPGothic" pitchFamily="34" charset="-122"/>
                <a:cs typeface="BIZ UDPGothic" pitchFamily="34" charset="-120"/>
              </a:rPr>
              <a:t>あなた自身の政策提言を</a:t>
            </a:r>
            <a:endParaRPr lang="en-US" sz="1050" dirty="0"/>
          </a:p>
          <a:p>
            <a:pPr indent="0" marL="0">
              <a:lnSpc>
                <a:spcPct val="130000"/>
              </a:lnSpc>
              <a:buNone/>
            </a:pPr>
            <a:r>
              <a:rPr lang="en-US" sz="1050" dirty="0">
                <a:solidFill>
                  <a:srgbClr val="FFFFFF"/>
                </a:solidFill>
                <a:latin typeface="Arial" pitchFamily="34" charset="0"/>
                <a:ea typeface="BIZ UDPGothic" pitchFamily="34" charset="-122"/>
                <a:cs typeface="BIZ UDPGothic" pitchFamily="34" charset="-120"/>
              </a:rPr>
              <a:t>Googleフォームで送る</a:t>
            </a:r>
            <a:endParaRPr lang="en-US" sz="1050" dirty="0"/>
          </a:p>
        </p:txBody>
      </p:sp>
      <p:sp>
        <p:nvSpPr>
          <p:cNvPr id="11" name="Shape 9"/>
          <p:cNvSpPr/>
          <p:nvPr/>
        </p:nvSpPr>
        <p:spPr>
          <a:xfrm>
            <a:off x="6254496" y="3291840"/>
            <a:ext cx="2715768"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2" name="Text 10"/>
          <p:cNvSpPr/>
          <p:nvPr/>
        </p:nvSpPr>
        <p:spPr>
          <a:xfrm>
            <a:off x="6419088" y="3410712"/>
            <a:ext cx="2395728" cy="384048"/>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 シェアする</a:t>
            </a:r>
            <a:endParaRPr lang="en-US" sz="1300" dirty="0"/>
          </a:p>
        </p:txBody>
      </p:sp>
      <p:sp>
        <p:nvSpPr>
          <p:cNvPr id="13" name="Text 11"/>
          <p:cNvSpPr/>
          <p:nvPr/>
        </p:nvSpPr>
        <p:spPr>
          <a:xfrm>
            <a:off x="6419088" y="3840480"/>
            <a:ext cx="2395728" cy="822960"/>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このプランをSNSや</a:t>
            </a:r>
            <a:endParaRPr lang="en-US" sz="1050" dirty="0"/>
          </a:p>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友人・知人にシェア</a:t>
            </a:r>
            <a:endParaRPr lang="en-US" sz="1050" dirty="0"/>
          </a:p>
        </p:txBody>
      </p:sp>
      <p:sp>
        <p:nvSpPr>
          <p:cNvPr id="14" name="Text 12"/>
          <p:cNvSpPr/>
          <p:nvPr/>
        </p:nvSpPr>
        <p:spPr>
          <a:xfrm>
            <a:off x="457200" y="4892040"/>
            <a:ext cx="8229600" cy="228600"/>
          </a:xfrm>
          <a:prstGeom prst="rect">
            <a:avLst/>
          </a:prstGeom>
          <a:noFill/>
          <a:ln/>
        </p:spPr>
        <p:txBody>
          <a:bodyPr wrap="square" rtlCol="0" anchor="ctr"/>
          <a:lstStyle/>
          <a:p>
            <a:pPr algn="ctr" indent="0" marL="0">
              <a:buNone/>
            </a:pPr>
            <a:r>
              <a:rPr lang="en-US" sz="1000" dirty="0">
                <a:solidFill>
                  <a:srgbClr val="9AA0AA"/>
                </a:solidFill>
                <a:latin typeface="Arial" pitchFamily="34" charset="0"/>
                <a:ea typeface="BIZ UDPGothic" pitchFamily="34" charset="-122"/>
                <a:cs typeface="BIZ UDPGothic" pitchFamily="34" charset="-120"/>
              </a:rPr>
              <a:t>penny-wise-rgb.github.io/reboot-japan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提言002：地域経営型・公務員制度改革プラン（わかりやすい版）</dc:title>
  <dc:subject>PptxGenJS Presentation</dc:subject>
  <dc:creator>PptxGenJS</dc:creator>
  <cp:lastModifiedBy>PptxGenJS</cp:lastModifiedBy>
  <cp:revision>1</cp:revision>
  <dcterms:created xsi:type="dcterms:W3CDTF">2026-06-18T12:19:27Z</dcterms:created>
  <dcterms:modified xsi:type="dcterms:W3CDTF">2026-06-18T12:19:27Z</dcterms:modified>
</cp:coreProperties>
</file>