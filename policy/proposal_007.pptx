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C8161D"/>
          </a:solidFill>
          <a:ln w="12700">
            <a:solidFill>
              <a:srgbClr val="C8161D"/>
            </a:solidFill>
            <a:prstDash val="solid"/>
          </a:ln>
        </p:spPr>
      </p:sp>
      <p:sp>
        <p:nvSpPr>
          <p:cNvPr id="3" name="Text 1"/>
          <p:cNvSpPr/>
          <p:nvPr/>
        </p:nvSpPr>
        <p:spPr>
          <a:xfrm>
            <a:off x="685800" y="822960"/>
            <a:ext cx="8046720" cy="347472"/>
          </a:xfrm>
          <a:prstGeom prst="rect">
            <a:avLst/>
          </a:prstGeom>
          <a:noFill/>
          <a:ln/>
        </p:spPr>
        <p:txBody>
          <a:bodyPr wrap="square" lIns="0" tIns="0" rIns="0" bIns="0" rtlCol="0" anchor="ctr"/>
          <a:lstStyle/>
          <a:p>
            <a:pPr indent="0" marL="0">
              <a:buNone/>
            </a:pPr>
            <a:r>
              <a:rPr lang="en-US" sz="1000" b="1" spc="300" kern="0" dirty="0">
                <a:solidFill>
                  <a:srgbClr val="C8161D"/>
                </a:solidFill>
                <a:latin typeface="Arial" pitchFamily="34" charset="0"/>
                <a:ea typeface="BIZ UDPGothic" pitchFamily="34" charset="-122"/>
                <a:cs typeface="BIZ UDPGothic" pitchFamily="34" charset="-120"/>
              </a:rPr>
              <a:t>政策提言プラットフォーム ── 提言007</a:t>
            </a:r>
            <a:endParaRPr lang="en-US" sz="1000" dirty="0"/>
          </a:p>
        </p:txBody>
      </p:sp>
      <p:sp>
        <p:nvSpPr>
          <p:cNvPr id="4" name="Text 2"/>
          <p:cNvSpPr/>
          <p:nvPr/>
        </p:nvSpPr>
        <p:spPr>
          <a:xfrm>
            <a:off x="685800" y="1234440"/>
            <a:ext cx="8046720" cy="2377440"/>
          </a:xfrm>
          <a:prstGeom prst="rect">
            <a:avLst/>
          </a:prstGeom>
          <a:noFill/>
          <a:ln/>
        </p:spPr>
        <p:txBody>
          <a:bodyPr wrap="square" lIns="0" tIns="0" rIns="0" bIns="0" rtlCol="0" anchor="ctr"/>
          <a:lstStyle/>
          <a:p>
            <a:pPr indent="0" marL="0">
              <a:buNone/>
            </a:pPr>
            <a:r>
              <a:rPr lang="en-US" sz="3400" b="1" dirty="0">
                <a:solidFill>
                  <a:srgbClr val="16181D"/>
                </a:solidFill>
                <a:latin typeface="BIZ UDPGothic" pitchFamily="34" charset="0"/>
                <a:ea typeface="BIZ UDPGothic" pitchFamily="34" charset="-122"/>
                <a:cs typeface="BIZ UDPGothic" pitchFamily="34" charset="-120"/>
              </a:rPr>
              <a:t>教育・雇用一体型システム</a:t>
            </a:r>
            <a:endParaRPr lang="en-US" sz="3400" dirty="0"/>
          </a:p>
          <a:p>
            <a:pPr indent="0" marL="0">
              <a:buNone/>
            </a:pPr>
            <a:r>
              <a:rPr lang="en-US" sz="3400" b="1" dirty="0">
                <a:solidFill>
                  <a:srgbClr val="16181D"/>
                </a:solidFill>
                <a:latin typeface="BIZ UDPGothic" pitchFamily="34" charset="0"/>
                <a:ea typeface="BIZ UDPGothic" pitchFamily="34" charset="-122"/>
                <a:cs typeface="BIZ UDPGothic" pitchFamily="34" charset="-120"/>
              </a:rPr>
              <a:t>「21歳社会人スタート」</a:t>
            </a:r>
            <a:endParaRPr lang="en-US" sz="3400" dirty="0"/>
          </a:p>
          <a:p>
            <a:pPr indent="0" marL="0">
              <a:buNone/>
            </a:pPr>
            <a:r>
              <a:rPr lang="en-US" sz="3400" b="1" dirty="0">
                <a:solidFill>
                  <a:srgbClr val="16181D"/>
                </a:solidFill>
                <a:latin typeface="BIZ UDPGothic" pitchFamily="34" charset="0"/>
                <a:ea typeface="BIZ UDPGothic" pitchFamily="34" charset="-122"/>
                <a:cs typeface="BIZ UDPGothic" pitchFamily="34" charset="-120"/>
              </a:rPr>
              <a:t>への構造改革</a:t>
            </a:r>
            <a:endParaRPr lang="en-US" sz="3400" dirty="0"/>
          </a:p>
        </p:txBody>
      </p:sp>
      <p:sp>
        <p:nvSpPr>
          <p:cNvPr id="5" name="Shape 3"/>
          <p:cNvSpPr/>
          <p:nvPr/>
        </p:nvSpPr>
        <p:spPr>
          <a:xfrm>
            <a:off x="685800" y="3703320"/>
            <a:ext cx="7772400" cy="13716"/>
          </a:xfrm>
          <a:prstGeom prst="rect">
            <a:avLst/>
          </a:prstGeom>
          <a:solidFill>
            <a:srgbClr val="DDE0E6"/>
          </a:solidFill>
          <a:ln w="12700">
            <a:solidFill>
              <a:srgbClr val="DDE0E6"/>
            </a:solidFill>
            <a:prstDash val="solid"/>
          </a:ln>
        </p:spPr>
      </p:sp>
      <p:sp>
        <p:nvSpPr>
          <p:cNvPr id="6" name="Text 4"/>
          <p:cNvSpPr/>
          <p:nvPr/>
        </p:nvSpPr>
        <p:spPr>
          <a:xfrm>
            <a:off x="685800" y="3822192"/>
            <a:ext cx="8046720" cy="329184"/>
          </a:xfrm>
          <a:prstGeom prst="rect">
            <a:avLst/>
          </a:prstGeom>
          <a:noFill/>
          <a:ln/>
        </p:spPr>
        <p:txBody>
          <a:bodyPr wrap="square" lIns="0" tIns="0" rIns="0" bIns="0" rtlCol="0" anchor="ctr"/>
          <a:lstStyle/>
          <a:p>
            <a:pPr indent="0" marL="0">
              <a:buNone/>
            </a:pPr>
            <a:r>
              <a:rPr lang="en-US" sz="1100" dirty="0">
                <a:solidFill>
                  <a:srgbClr val="626875"/>
                </a:solidFill>
                <a:latin typeface="Arial" pitchFamily="34" charset="0"/>
                <a:ea typeface="BIZ UDPGothic" pitchFamily="34" charset="-122"/>
                <a:cs typeface="BIZ UDPGothic" pitchFamily="34" charset="-120"/>
              </a:rPr>
              <a:t>REBOOT JAPAN ── 市民による政策提言プラットフォーム</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PROBLEM</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大学が「就職のための通過儀礼」になっている</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71600"/>
            <a:ext cx="8229600" cy="950976"/>
          </a:xfrm>
          <a:prstGeom prst="roundRect">
            <a:avLst>
              <a:gd name="adj" fmla="val 7692"/>
            </a:avLst>
          </a:prstGeom>
          <a:solidFill>
            <a:srgbClr val="FFFFFF"/>
          </a:solidFill>
          <a:ln w="12700">
            <a:solidFill>
              <a:srgbClr val="DDE0E6"/>
            </a:solidFill>
            <a:prstDash val="solid"/>
          </a:ln>
        </p:spPr>
      </p:sp>
      <p:sp>
        <p:nvSpPr>
          <p:cNvPr id="6" name="Text 4"/>
          <p:cNvSpPr/>
          <p:nvPr/>
        </p:nvSpPr>
        <p:spPr>
          <a:xfrm>
            <a:off x="594360" y="1444752"/>
            <a:ext cx="640080" cy="804672"/>
          </a:xfrm>
          <a:prstGeom prst="rect">
            <a:avLst/>
          </a:prstGeom>
          <a:noFill/>
          <a:ln/>
        </p:spPr>
        <p:txBody>
          <a:bodyPr wrap="square" lIns="0" tIns="0" rIns="0" bIns="0" rtlCol="0" anchor="ctr"/>
          <a:lstStyle/>
          <a:p>
            <a:pPr algn="ctr" indent="0" marL="0">
              <a:buNone/>
            </a:pPr>
            <a:r>
              <a:rPr lang="en-US" sz="2600" b="1" dirty="0">
                <a:solidFill>
                  <a:srgbClr val="C8161D"/>
                </a:solidFill>
                <a:latin typeface="BIZ UDPGothic" pitchFamily="34" charset="0"/>
                <a:ea typeface="BIZ UDPGothic" pitchFamily="34" charset="-122"/>
                <a:cs typeface="BIZ UDPGothic" pitchFamily="34" charset="-120"/>
              </a:rPr>
              <a:t>01</a:t>
            </a:r>
            <a:endParaRPr lang="en-US" sz="2600" dirty="0"/>
          </a:p>
        </p:txBody>
      </p:sp>
      <p:sp>
        <p:nvSpPr>
          <p:cNvPr id="7" name="Shape 5"/>
          <p:cNvSpPr/>
          <p:nvPr/>
        </p:nvSpPr>
        <p:spPr>
          <a:xfrm>
            <a:off x="1298448" y="1536192"/>
            <a:ext cx="13716" cy="621792"/>
          </a:xfrm>
          <a:prstGeom prst="rect">
            <a:avLst/>
          </a:prstGeom>
          <a:solidFill>
            <a:srgbClr val="DDE0E6"/>
          </a:solidFill>
          <a:ln w="12700">
            <a:solidFill>
              <a:srgbClr val="DDE0E6"/>
            </a:solidFill>
            <a:prstDash val="solid"/>
          </a:ln>
        </p:spPr>
      </p:sp>
      <p:sp>
        <p:nvSpPr>
          <p:cNvPr id="8" name="Text 6"/>
          <p:cNvSpPr/>
          <p:nvPr/>
        </p:nvSpPr>
        <p:spPr>
          <a:xfrm>
            <a:off x="1444752" y="1463040"/>
            <a:ext cx="7040880" cy="329184"/>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流されて入るモラトリアム</a:t>
            </a:r>
            <a:endParaRPr lang="en-US" sz="1400" dirty="0"/>
          </a:p>
        </p:txBody>
      </p:sp>
      <p:sp>
        <p:nvSpPr>
          <p:cNvPr id="9" name="Text 7"/>
          <p:cNvSpPr/>
          <p:nvPr/>
        </p:nvSpPr>
        <p:spPr>
          <a:xfrm>
            <a:off x="1444752" y="1810512"/>
            <a:ext cx="704088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18歳が自覚なく「とりあえず大学」へ進学。4年間の実態は就職活動の準備期間にすぎない</a:t>
            </a:r>
            <a:endParaRPr lang="en-US" sz="1100" dirty="0"/>
          </a:p>
        </p:txBody>
      </p:sp>
      <p:sp>
        <p:nvSpPr>
          <p:cNvPr id="10" name="Shape 8"/>
          <p:cNvSpPr/>
          <p:nvPr/>
        </p:nvSpPr>
        <p:spPr>
          <a:xfrm>
            <a:off x="457200" y="2450592"/>
            <a:ext cx="8229600" cy="950976"/>
          </a:xfrm>
          <a:prstGeom prst="roundRect">
            <a:avLst>
              <a:gd name="adj" fmla="val 7692"/>
            </a:avLst>
          </a:prstGeom>
          <a:solidFill>
            <a:srgbClr val="FFFFFF"/>
          </a:solidFill>
          <a:ln w="12700">
            <a:solidFill>
              <a:srgbClr val="DDE0E6"/>
            </a:solidFill>
            <a:prstDash val="solid"/>
          </a:ln>
        </p:spPr>
      </p:sp>
      <p:sp>
        <p:nvSpPr>
          <p:cNvPr id="11" name="Text 9"/>
          <p:cNvSpPr/>
          <p:nvPr/>
        </p:nvSpPr>
        <p:spPr>
          <a:xfrm>
            <a:off x="594360" y="2523744"/>
            <a:ext cx="640080" cy="804672"/>
          </a:xfrm>
          <a:prstGeom prst="rect">
            <a:avLst/>
          </a:prstGeom>
          <a:noFill/>
          <a:ln/>
        </p:spPr>
        <p:txBody>
          <a:bodyPr wrap="square" lIns="0" tIns="0" rIns="0" bIns="0" rtlCol="0" anchor="ctr"/>
          <a:lstStyle/>
          <a:p>
            <a:pPr algn="ctr" indent="0" marL="0">
              <a:buNone/>
            </a:pPr>
            <a:r>
              <a:rPr lang="en-US" sz="2600" b="1" dirty="0">
                <a:solidFill>
                  <a:srgbClr val="C8161D"/>
                </a:solidFill>
                <a:latin typeface="BIZ UDPGothic" pitchFamily="34" charset="0"/>
                <a:ea typeface="BIZ UDPGothic" pitchFamily="34" charset="-122"/>
                <a:cs typeface="BIZ UDPGothic" pitchFamily="34" charset="-120"/>
              </a:rPr>
              <a:t>02</a:t>
            </a:r>
            <a:endParaRPr lang="en-US" sz="2600" dirty="0"/>
          </a:p>
        </p:txBody>
      </p:sp>
      <p:sp>
        <p:nvSpPr>
          <p:cNvPr id="12" name="Shape 10"/>
          <p:cNvSpPr/>
          <p:nvPr/>
        </p:nvSpPr>
        <p:spPr>
          <a:xfrm>
            <a:off x="1298448" y="2615184"/>
            <a:ext cx="13716" cy="621792"/>
          </a:xfrm>
          <a:prstGeom prst="rect">
            <a:avLst/>
          </a:prstGeom>
          <a:solidFill>
            <a:srgbClr val="DDE0E6"/>
          </a:solidFill>
          <a:ln w="12700">
            <a:solidFill>
              <a:srgbClr val="DDE0E6"/>
            </a:solidFill>
            <a:prstDash val="solid"/>
          </a:ln>
        </p:spPr>
      </p:sp>
      <p:sp>
        <p:nvSpPr>
          <p:cNvPr id="13" name="Text 11"/>
          <p:cNvSpPr/>
          <p:nvPr/>
        </p:nvSpPr>
        <p:spPr>
          <a:xfrm>
            <a:off x="1444752" y="2542032"/>
            <a:ext cx="7040880" cy="329184"/>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巨額の奨学金債務</a:t>
            </a:r>
            <a:endParaRPr lang="en-US" sz="1400" dirty="0"/>
          </a:p>
        </p:txBody>
      </p:sp>
      <p:sp>
        <p:nvSpPr>
          <p:cNvPr id="14" name="Text 12"/>
          <p:cNvSpPr/>
          <p:nvPr/>
        </p:nvSpPr>
        <p:spPr>
          <a:xfrm>
            <a:off x="1444752" y="2889504"/>
            <a:ext cx="704088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自覚のない期間のために数百万円の借金を背負い、社会人になる前から負債がスタートする</a:t>
            </a:r>
            <a:endParaRPr lang="en-US" sz="1100" dirty="0"/>
          </a:p>
        </p:txBody>
      </p:sp>
      <p:sp>
        <p:nvSpPr>
          <p:cNvPr id="15" name="Shape 13"/>
          <p:cNvSpPr/>
          <p:nvPr/>
        </p:nvSpPr>
        <p:spPr>
          <a:xfrm>
            <a:off x="457200" y="3529584"/>
            <a:ext cx="8229600" cy="950976"/>
          </a:xfrm>
          <a:prstGeom prst="roundRect">
            <a:avLst>
              <a:gd name="adj" fmla="val 7692"/>
            </a:avLst>
          </a:prstGeom>
          <a:solidFill>
            <a:srgbClr val="FFFFFF"/>
          </a:solidFill>
          <a:ln w="12700">
            <a:solidFill>
              <a:srgbClr val="DDE0E6"/>
            </a:solidFill>
            <a:prstDash val="solid"/>
          </a:ln>
        </p:spPr>
      </p:sp>
      <p:sp>
        <p:nvSpPr>
          <p:cNvPr id="16" name="Text 14"/>
          <p:cNvSpPr/>
          <p:nvPr/>
        </p:nvSpPr>
        <p:spPr>
          <a:xfrm>
            <a:off x="594360" y="3602736"/>
            <a:ext cx="640080" cy="804672"/>
          </a:xfrm>
          <a:prstGeom prst="rect">
            <a:avLst/>
          </a:prstGeom>
          <a:noFill/>
          <a:ln/>
        </p:spPr>
        <p:txBody>
          <a:bodyPr wrap="square" lIns="0" tIns="0" rIns="0" bIns="0" rtlCol="0" anchor="ctr"/>
          <a:lstStyle/>
          <a:p>
            <a:pPr algn="ctr" indent="0" marL="0">
              <a:buNone/>
            </a:pPr>
            <a:r>
              <a:rPr lang="en-US" sz="2600" b="1" dirty="0">
                <a:solidFill>
                  <a:srgbClr val="C8161D"/>
                </a:solidFill>
                <a:latin typeface="BIZ UDPGothic" pitchFamily="34" charset="0"/>
                <a:ea typeface="BIZ UDPGothic" pitchFamily="34" charset="-122"/>
                <a:cs typeface="BIZ UDPGothic" pitchFamily="34" charset="-120"/>
              </a:rPr>
              <a:t>03</a:t>
            </a:r>
            <a:endParaRPr lang="en-US" sz="2600" dirty="0"/>
          </a:p>
        </p:txBody>
      </p:sp>
      <p:sp>
        <p:nvSpPr>
          <p:cNvPr id="17" name="Shape 15"/>
          <p:cNvSpPr/>
          <p:nvPr/>
        </p:nvSpPr>
        <p:spPr>
          <a:xfrm>
            <a:off x="1298448" y="3694176"/>
            <a:ext cx="13716" cy="621792"/>
          </a:xfrm>
          <a:prstGeom prst="rect">
            <a:avLst/>
          </a:prstGeom>
          <a:solidFill>
            <a:srgbClr val="DDE0E6"/>
          </a:solidFill>
          <a:ln w="12700">
            <a:solidFill>
              <a:srgbClr val="DDE0E6"/>
            </a:solidFill>
            <a:prstDash val="solid"/>
          </a:ln>
        </p:spPr>
      </p:sp>
      <p:sp>
        <p:nvSpPr>
          <p:cNvPr id="18" name="Text 16"/>
          <p:cNvSpPr/>
          <p:nvPr/>
        </p:nvSpPr>
        <p:spPr>
          <a:xfrm>
            <a:off x="1444752" y="3621024"/>
            <a:ext cx="7040880" cy="329184"/>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「大卒」という空虚な基準</a:t>
            </a:r>
            <a:endParaRPr lang="en-US" sz="1400" dirty="0"/>
          </a:p>
        </p:txBody>
      </p:sp>
      <p:sp>
        <p:nvSpPr>
          <p:cNvPr id="19" name="Text 17"/>
          <p:cNvSpPr/>
          <p:nvPr/>
        </p:nvSpPr>
        <p:spPr>
          <a:xfrm>
            <a:off x="1444752" y="3968496"/>
            <a:ext cx="7040880" cy="40233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企業は中身ではなく肩書きで採用し、社会全体が「とりあえず大学」の強迫観念に縛られ続ける</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OVERVIEW</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600" b="1" dirty="0">
                <a:solidFill>
                  <a:srgbClr val="16181D"/>
                </a:solidFill>
                <a:latin typeface="BIZ UDPGothic" pitchFamily="34" charset="0"/>
                <a:ea typeface="BIZ UDPGothic" pitchFamily="34" charset="-122"/>
                <a:cs typeface="BIZ UDPGothic" pitchFamily="34" charset="-120"/>
              </a:rPr>
              <a:t>改革の全体像</a:t>
            </a:r>
            <a:endParaRPr lang="en-US" sz="36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高校3年間で教養を完結 → 18歳以降は目的と適性に応じて3ルートに完全分離</a:t>
            </a:r>
            <a:endParaRPr lang="en-US" sz="1100" dirty="0"/>
          </a:p>
        </p:txBody>
      </p:sp>
      <p:sp>
        <p:nvSpPr>
          <p:cNvPr id="6" name="Shape 4"/>
          <p:cNvSpPr/>
          <p:nvPr/>
        </p:nvSpPr>
        <p:spPr>
          <a:xfrm>
            <a:off x="457200" y="1719072"/>
            <a:ext cx="8229600" cy="658368"/>
          </a:xfrm>
          <a:prstGeom prst="roundRect">
            <a:avLst>
              <a:gd name="adj" fmla="val 11111"/>
            </a:avLst>
          </a:prstGeom>
          <a:solidFill>
            <a:srgbClr val="FFFFFF"/>
          </a:solidFill>
          <a:ln w="12700">
            <a:solidFill>
              <a:srgbClr val="DDE0E6"/>
            </a:solidFill>
            <a:prstDash val="solid"/>
          </a:ln>
        </p:spPr>
      </p:sp>
      <p:sp>
        <p:nvSpPr>
          <p:cNvPr id="7" name="Text 5"/>
          <p:cNvSpPr/>
          <p:nvPr/>
        </p:nvSpPr>
        <p:spPr>
          <a:xfrm>
            <a:off x="594360" y="1719072"/>
            <a:ext cx="7955280" cy="658368"/>
          </a:xfrm>
          <a:prstGeom prst="rect">
            <a:avLst/>
          </a:prstGeom>
          <a:noFill/>
          <a:ln/>
        </p:spPr>
        <p:txBody>
          <a:bodyPr wrap="square" lIns="0" tIns="0" rIns="0" bIns="0" rtlCol="0" anchor="ctr"/>
          <a:lstStyle/>
          <a:p>
            <a:pPr algn="ctr" indent="0" marL="0">
              <a:buNone/>
            </a:pPr>
            <a:r>
              <a:rPr lang="en-US" sz="1200" b="1" dirty="0">
                <a:solidFill>
                  <a:srgbClr val="16181D"/>
                </a:solidFill>
                <a:latin typeface="BIZ UDPGothic" pitchFamily="34" charset="0"/>
                <a:ea typeface="BIZ UDPGothic" pitchFamily="34" charset="-122"/>
                <a:cs typeface="BIZ UDPGothic" pitchFamily="34" charset="-120"/>
              </a:rPr>
              <a:t>【前提改革】高校教育の再設計（1年：基礎　2年：自由選択　3年：社会リテラシー）</a:t>
            </a:r>
            <a:endParaRPr lang="en-US" sz="1200" dirty="0"/>
          </a:p>
        </p:txBody>
      </p:sp>
      <p:sp>
        <p:nvSpPr>
          <p:cNvPr id="8" name="Text 6"/>
          <p:cNvSpPr/>
          <p:nvPr/>
        </p:nvSpPr>
        <p:spPr>
          <a:xfrm>
            <a:off x="3200400" y="2414016"/>
            <a:ext cx="2743200" cy="347472"/>
          </a:xfrm>
          <a:prstGeom prst="rect">
            <a:avLst/>
          </a:prstGeom>
          <a:noFill/>
          <a:ln/>
        </p:spPr>
        <p:txBody>
          <a:bodyPr wrap="square" lIns="0" tIns="0" rIns="0" bIns="0" rtlCol="0" anchor="ctr"/>
          <a:lstStyle/>
          <a:p>
            <a:pPr algn="ctr" indent="0" marL="0">
              <a:buNone/>
            </a:pPr>
            <a:r>
              <a:rPr lang="en-US" sz="1200" b="1" dirty="0">
                <a:solidFill>
                  <a:srgbClr val="C8161D"/>
                </a:solidFill>
                <a:latin typeface="Arial" pitchFamily="34" charset="0"/>
                <a:ea typeface="BIZ UDPGothic" pitchFamily="34" charset="-122"/>
                <a:cs typeface="BIZ UDPGothic" pitchFamily="34" charset="-120"/>
              </a:rPr>
              <a:t>↓  18歳  ↓</a:t>
            </a:r>
            <a:endParaRPr lang="en-US" sz="1200" dirty="0"/>
          </a:p>
        </p:txBody>
      </p:sp>
      <p:sp>
        <p:nvSpPr>
          <p:cNvPr id="9" name="Shape 7"/>
          <p:cNvSpPr/>
          <p:nvPr/>
        </p:nvSpPr>
        <p:spPr>
          <a:xfrm>
            <a:off x="457200" y="2816352"/>
            <a:ext cx="2651760" cy="2084832"/>
          </a:xfrm>
          <a:prstGeom prst="roundRect">
            <a:avLst>
              <a:gd name="adj" fmla="val 3509"/>
            </a:avLst>
          </a:prstGeom>
          <a:solidFill>
            <a:srgbClr val="FFFFFF"/>
          </a:solidFill>
          <a:ln w="12700">
            <a:solidFill>
              <a:srgbClr val="DDE0E6"/>
            </a:solidFill>
            <a:prstDash val="solid"/>
          </a:ln>
        </p:spPr>
      </p:sp>
      <p:sp>
        <p:nvSpPr>
          <p:cNvPr id="10" name="Shape 8"/>
          <p:cNvSpPr/>
          <p:nvPr/>
        </p:nvSpPr>
        <p:spPr>
          <a:xfrm>
            <a:off x="1325880" y="2926080"/>
            <a:ext cx="914400" cy="475488"/>
          </a:xfrm>
          <a:prstGeom prst="roundRect">
            <a:avLst>
              <a:gd name="adj" fmla="val 11538"/>
            </a:avLst>
          </a:prstGeom>
          <a:solidFill>
            <a:srgbClr val="C8161D"/>
          </a:solidFill>
          <a:ln w="12700">
            <a:solidFill>
              <a:srgbClr val="C8161D"/>
            </a:solidFill>
            <a:prstDash val="solid"/>
          </a:ln>
        </p:spPr>
      </p:sp>
      <p:sp>
        <p:nvSpPr>
          <p:cNvPr id="11" name="Text 9"/>
          <p:cNvSpPr/>
          <p:nvPr/>
        </p:nvSpPr>
        <p:spPr>
          <a:xfrm>
            <a:off x="1325880" y="2926080"/>
            <a:ext cx="914400"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①</a:t>
            </a:r>
            <a:endParaRPr lang="en-US" sz="1800" dirty="0"/>
          </a:p>
        </p:txBody>
      </p:sp>
      <p:sp>
        <p:nvSpPr>
          <p:cNvPr id="12" name="Text 10"/>
          <p:cNvSpPr/>
          <p:nvPr/>
        </p:nvSpPr>
        <p:spPr>
          <a:xfrm>
            <a:off x="566928" y="3456432"/>
            <a:ext cx="2432304" cy="658368"/>
          </a:xfrm>
          <a:prstGeom prst="rect">
            <a:avLst/>
          </a:prstGeom>
          <a:noFill/>
          <a:ln/>
        </p:spPr>
        <p:txBody>
          <a:bodyPr wrap="square" lIns="0" tIns="0" rIns="0" bIns="0" rtlCol="0" anchor="ctr"/>
          <a:lstStyle/>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マジョリティ</a:t>
            </a:r>
            <a:endParaRPr lang="en-US" sz="1300" dirty="0"/>
          </a:p>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標準ルート</a:t>
            </a:r>
            <a:endParaRPr lang="en-US" sz="1300" dirty="0"/>
          </a:p>
        </p:txBody>
      </p:sp>
      <p:sp>
        <p:nvSpPr>
          <p:cNvPr id="13" name="Text 11"/>
          <p:cNvSpPr/>
          <p:nvPr/>
        </p:nvSpPr>
        <p:spPr>
          <a:xfrm>
            <a:off x="566928" y="4133088"/>
            <a:ext cx="2432304" cy="694944"/>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9割の一般職</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専門学校2年</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21歳社会人スタート</a:t>
            </a:r>
            <a:endParaRPr lang="en-US" sz="1000" dirty="0"/>
          </a:p>
        </p:txBody>
      </p:sp>
      <p:sp>
        <p:nvSpPr>
          <p:cNvPr id="14" name="Shape 12"/>
          <p:cNvSpPr/>
          <p:nvPr/>
        </p:nvSpPr>
        <p:spPr>
          <a:xfrm>
            <a:off x="3310128" y="2816352"/>
            <a:ext cx="2651760" cy="2084832"/>
          </a:xfrm>
          <a:prstGeom prst="roundRect">
            <a:avLst>
              <a:gd name="adj" fmla="val 3509"/>
            </a:avLst>
          </a:prstGeom>
          <a:solidFill>
            <a:srgbClr val="E9EFF8"/>
          </a:solidFill>
          <a:ln w="12700">
            <a:solidFill>
              <a:srgbClr val="DDE0E6"/>
            </a:solidFill>
            <a:prstDash val="solid"/>
          </a:ln>
        </p:spPr>
      </p:sp>
      <p:sp>
        <p:nvSpPr>
          <p:cNvPr id="15" name="Shape 13"/>
          <p:cNvSpPr/>
          <p:nvPr/>
        </p:nvSpPr>
        <p:spPr>
          <a:xfrm>
            <a:off x="4178808" y="2926080"/>
            <a:ext cx="914400" cy="475488"/>
          </a:xfrm>
          <a:prstGeom prst="roundRect">
            <a:avLst>
              <a:gd name="adj" fmla="val 11538"/>
            </a:avLst>
          </a:prstGeom>
          <a:solidFill>
            <a:srgbClr val="C8161D"/>
          </a:solidFill>
          <a:ln w="12700">
            <a:solidFill>
              <a:srgbClr val="C8161D"/>
            </a:solidFill>
            <a:prstDash val="solid"/>
          </a:ln>
        </p:spPr>
      </p:sp>
      <p:sp>
        <p:nvSpPr>
          <p:cNvPr id="16" name="Text 14"/>
          <p:cNvSpPr/>
          <p:nvPr/>
        </p:nvSpPr>
        <p:spPr>
          <a:xfrm>
            <a:off x="4178808" y="2926080"/>
            <a:ext cx="914400"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②</a:t>
            </a:r>
            <a:endParaRPr lang="en-US" sz="1800" dirty="0"/>
          </a:p>
        </p:txBody>
      </p:sp>
      <p:sp>
        <p:nvSpPr>
          <p:cNvPr id="17" name="Text 15"/>
          <p:cNvSpPr/>
          <p:nvPr/>
        </p:nvSpPr>
        <p:spPr>
          <a:xfrm>
            <a:off x="3419856" y="3456432"/>
            <a:ext cx="2432304" cy="658368"/>
          </a:xfrm>
          <a:prstGeom prst="rect">
            <a:avLst/>
          </a:prstGeom>
          <a:noFill/>
          <a:ln/>
        </p:spPr>
        <p:txBody>
          <a:bodyPr wrap="square" lIns="0" tIns="0" rIns="0" bIns="0" rtlCol="0" anchor="ctr"/>
          <a:lstStyle/>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国家戦略</a:t>
            </a:r>
            <a:endParaRPr lang="en-US" sz="1300" dirty="0"/>
          </a:p>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特殊ルート</a:t>
            </a:r>
            <a:endParaRPr lang="en-US" sz="1300" dirty="0"/>
          </a:p>
        </p:txBody>
      </p:sp>
      <p:sp>
        <p:nvSpPr>
          <p:cNvPr id="18" name="Text 16"/>
          <p:cNvSpPr/>
          <p:nvPr/>
        </p:nvSpPr>
        <p:spPr>
          <a:xfrm>
            <a:off x="3419856" y="4133088"/>
            <a:ext cx="2432304" cy="694944"/>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医療・公安・防衛</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国費＋自費一部</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10年従事義務</a:t>
            </a:r>
            <a:endParaRPr lang="en-US" sz="1000" dirty="0"/>
          </a:p>
        </p:txBody>
      </p:sp>
      <p:sp>
        <p:nvSpPr>
          <p:cNvPr id="19" name="Shape 17"/>
          <p:cNvSpPr/>
          <p:nvPr/>
        </p:nvSpPr>
        <p:spPr>
          <a:xfrm>
            <a:off x="6163056" y="2816352"/>
            <a:ext cx="2651760" cy="2084832"/>
          </a:xfrm>
          <a:prstGeom prst="roundRect">
            <a:avLst>
              <a:gd name="adj" fmla="val 3509"/>
            </a:avLst>
          </a:prstGeom>
          <a:solidFill>
            <a:srgbClr val="FCEBEB"/>
          </a:solidFill>
          <a:ln w="12700">
            <a:solidFill>
              <a:srgbClr val="DDE0E6"/>
            </a:solidFill>
            <a:prstDash val="solid"/>
          </a:ln>
        </p:spPr>
      </p:sp>
      <p:sp>
        <p:nvSpPr>
          <p:cNvPr id="20" name="Shape 18"/>
          <p:cNvSpPr/>
          <p:nvPr/>
        </p:nvSpPr>
        <p:spPr>
          <a:xfrm>
            <a:off x="7031736" y="2926080"/>
            <a:ext cx="914400" cy="475488"/>
          </a:xfrm>
          <a:prstGeom prst="roundRect">
            <a:avLst>
              <a:gd name="adj" fmla="val 11538"/>
            </a:avLst>
          </a:prstGeom>
          <a:solidFill>
            <a:srgbClr val="C8161D"/>
          </a:solidFill>
          <a:ln w="12700">
            <a:solidFill>
              <a:srgbClr val="C8161D"/>
            </a:solidFill>
            <a:prstDash val="solid"/>
          </a:ln>
        </p:spPr>
      </p:sp>
      <p:sp>
        <p:nvSpPr>
          <p:cNvPr id="21" name="Text 19"/>
          <p:cNvSpPr/>
          <p:nvPr/>
        </p:nvSpPr>
        <p:spPr>
          <a:xfrm>
            <a:off x="7031736" y="2926080"/>
            <a:ext cx="914400" cy="475488"/>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BIZ UDPGothic" pitchFamily="34" charset="-122"/>
                <a:cs typeface="BIZ UDPGothic" pitchFamily="34" charset="-120"/>
              </a:rPr>
              <a:t>③</a:t>
            </a:r>
            <a:endParaRPr lang="en-US" sz="1800" dirty="0"/>
          </a:p>
        </p:txBody>
      </p:sp>
      <p:sp>
        <p:nvSpPr>
          <p:cNvPr id="22" name="Text 20"/>
          <p:cNvSpPr/>
          <p:nvPr/>
        </p:nvSpPr>
        <p:spPr>
          <a:xfrm>
            <a:off x="6272784" y="3456432"/>
            <a:ext cx="2432304" cy="658368"/>
          </a:xfrm>
          <a:prstGeom prst="rect">
            <a:avLst/>
          </a:prstGeom>
          <a:noFill/>
          <a:ln/>
        </p:spPr>
        <p:txBody>
          <a:bodyPr wrap="square" lIns="0" tIns="0" rIns="0" bIns="0" rtlCol="0" anchor="ctr"/>
          <a:lstStyle/>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天才・研究者</a:t>
            </a:r>
            <a:endParaRPr lang="en-US" sz="1300" dirty="0"/>
          </a:p>
          <a:p>
            <a:pPr algn="ctr" indent="0" marL="0">
              <a:buNone/>
            </a:pPr>
            <a:r>
              <a:rPr lang="en-US" sz="1300" b="1" dirty="0">
                <a:solidFill>
                  <a:srgbClr val="16181D"/>
                </a:solidFill>
                <a:latin typeface="BIZ UDPGothic" pitchFamily="34" charset="0"/>
                <a:ea typeface="BIZ UDPGothic" pitchFamily="34" charset="-122"/>
                <a:cs typeface="BIZ UDPGothic" pitchFamily="34" charset="-120"/>
              </a:rPr>
              <a:t>ルート</a:t>
            </a:r>
            <a:endParaRPr lang="en-US" sz="1300" dirty="0"/>
          </a:p>
        </p:txBody>
      </p:sp>
      <p:sp>
        <p:nvSpPr>
          <p:cNvPr id="23" name="Text 21"/>
          <p:cNvSpPr/>
          <p:nvPr/>
        </p:nvSpPr>
        <p:spPr>
          <a:xfrm>
            <a:off x="6272784" y="4133088"/>
            <a:ext cx="2432304" cy="694944"/>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上位数％</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国費完全無償</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18歳直通研究</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PREREQUISITE REFORM</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600" b="1" dirty="0">
                <a:solidFill>
                  <a:srgbClr val="16181D"/>
                </a:solidFill>
                <a:latin typeface="BIZ UDPGothic" pitchFamily="34" charset="0"/>
                <a:ea typeface="BIZ UDPGothic" pitchFamily="34" charset="-122"/>
                <a:cs typeface="BIZ UDPGothic" pitchFamily="34" charset="-120"/>
              </a:rPr>
              <a:t>高校教育の再設計：3学年の役割を明確に分離する</a:t>
            </a:r>
            <a:endParaRPr lang="en-US" sz="26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389888"/>
            <a:ext cx="8229600" cy="1024128"/>
          </a:xfrm>
          <a:prstGeom prst="roundRect">
            <a:avLst>
              <a:gd name="adj" fmla="val 7143"/>
            </a:avLst>
          </a:prstGeom>
          <a:solidFill>
            <a:srgbClr val="FFFFFF"/>
          </a:solidFill>
          <a:ln w="12700">
            <a:solidFill>
              <a:srgbClr val="DDE0E6"/>
            </a:solidFill>
            <a:prstDash val="solid"/>
          </a:ln>
        </p:spPr>
      </p:sp>
      <p:sp>
        <p:nvSpPr>
          <p:cNvPr id="6" name="Shape 4"/>
          <p:cNvSpPr/>
          <p:nvPr/>
        </p:nvSpPr>
        <p:spPr>
          <a:xfrm>
            <a:off x="594360" y="1645920"/>
            <a:ext cx="841248" cy="475488"/>
          </a:xfrm>
          <a:prstGeom prst="roundRect">
            <a:avLst>
              <a:gd name="adj" fmla="val 11538"/>
            </a:avLst>
          </a:prstGeom>
          <a:solidFill>
            <a:srgbClr val="C8161D"/>
          </a:solidFill>
          <a:ln w="12700">
            <a:solidFill>
              <a:srgbClr val="C8161D"/>
            </a:solidFill>
            <a:prstDash val="solid"/>
          </a:ln>
        </p:spPr>
      </p:sp>
      <p:sp>
        <p:nvSpPr>
          <p:cNvPr id="7" name="Text 5"/>
          <p:cNvSpPr/>
          <p:nvPr/>
        </p:nvSpPr>
        <p:spPr>
          <a:xfrm>
            <a:off x="594360" y="1645920"/>
            <a:ext cx="84124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BIZ UDPGothic" pitchFamily="34" charset="-122"/>
                <a:cs typeface="BIZ UDPGothic" pitchFamily="34" charset="-120"/>
              </a:rPr>
              <a:t>1年</a:t>
            </a:r>
            <a:endParaRPr lang="en-US" sz="1400" dirty="0"/>
          </a:p>
        </p:txBody>
      </p:sp>
      <p:sp>
        <p:nvSpPr>
          <p:cNvPr id="8" name="Text 6"/>
          <p:cNvSpPr/>
          <p:nvPr/>
        </p:nvSpPr>
        <p:spPr>
          <a:xfrm>
            <a:off x="1572768" y="1481328"/>
            <a:ext cx="6949440" cy="347472"/>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基礎教養の完成</a:t>
            </a:r>
            <a:endParaRPr lang="en-US" sz="1400" dirty="0"/>
          </a:p>
        </p:txBody>
      </p:sp>
      <p:sp>
        <p:nvSpPr>
          <p:cNvPr id="9" name="Text 7"/>
          <p:cNvSpPr/>
          <p:nvPr/>
        </p:nvSpPr>
        <p:spPr>
          <a:xfrm>
            <a:off x="1572768" y="1847088"/>
            <a:ext cx="6949440" cy="51206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中学教育の延長。全員が共通して持つべき土台を揃える。数学・国語・理科・社会の基礎を確実に完結させる。</a:t>
            </a:r>
            <a:endParaRPr lang="en-US" sz="1000" dirty="0"/>
          </a:p>
        </p:txBody>
      </p:sp>
      <p:sp>
        <p:nvSpPr>
          <p:cNvPr id="10" name="Shape 8"/>
          <p:cNvSpPr/>
          <p:nvPr/>
        </p:nvSpPr>
        <p:spPr>
          <a:xfrm>
            <a:off x="457200" y="2542032"/>
            <a:ext cx="8229600" cy="1024128"/>
          </a:xfrm>
          <a:prstGeom prst="roundRect">
            <a:avLst>
              <a:gd name="adj" fmla="val 7143"/>
            </a:avLst>
          </a:prstGeom>
          <a:solidFill>
            <a:srgbClr val="E9EFF8"/>
          </a:solidFill>
          <a:ln w="12700">
            <a:solidFill>
              <a:srgbClr val="DDE0E6"/>
            </a:solidFill>
            <a:prstDash val="solid"/>
          </a:ln>
        </p:spPr>
      </p:sp>
      <p:sp>
        <p:nvSpPr>
          <p:cNvPr id="11" name="Shape 9"/>
          <p:cNvSpPr/>
          <p:nvPr/>
        </p:nvSpPr>
        <p:spPr>
          <a:xfrm>
            <a:off x="594360" y="2798064"/>
            <a:ext cx="841248" cy="475488"/>
          </a:xfrm>
          <a:prstGeom prst="roundRect">
            <a:avLst>
              <a:gd name="adj" fmla="val 11538"/>
            </a:avLst>
          </a:prstGeom>
          <a:solidFill>
            <a:srgbClr val="C8161D"/>
          </a:solidFill>
          <a:ln w="12700">
            <a:solidFill>
              <a:srgbClr val="C8161D"/>
            </a:solidFill>
            <a:prstDash val="solid"/>
          </a:ln>
        </p:spPr>
      </p:sp>
      <p:sp>
        <p:nvSpPr>
          <p:cNvPr id="12" name="Text 10"/>
          <p:cNvSpPr/>
          <p:nvPr/>
        </p:nvSpPr>
        <p:spPr>
          <a:xfrm>
            <a:off x="594360" y="2798064"/>
            <a:ext cx="84124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BIZ UDPGothic" pitchFamily="34" charset="-122"/>
                <a:cs typeface="BIZ UDPGothic" pitchFamily="34" charset="-120"/>
              </a:rPr>
              <a:t>2年</a:t>
            </a:r>
            <a:endParaRPr lang="en-US" sz="1400" dirty="0"/>
          </a:p>
        </p:txBody>
      </p:sp>
      <p:sp>
        <p:nvSpPr>
          <p:cNvPr id="13" name="Text 11"/>
          <p:cNvSpPr/>
          <p:nvPr/>
        </p:nvSpPr>
        <p:spPr>
          <a:xfrm>
            <a:off x="1572768" y="2633472"/>
            <a:ext cx="6949440" cy="347472"/>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興味の探索</a:t>
            </a:r>
            <a:endParaRPr lang="en-US" sz="1400" dirty="0"/>
          </a:p>
        </p:txBody>
      </p:sp>
      <p:sp>
        <p:nvSpPr>
          <p:cNvPr id="14" name="Text 12"/>
          <p:cNvSpPr/>
          <p:nvPr/>
        </p:nvSpPr>
        <p:spPr>
          <a:xfrm>
            <a:off x="1572768" y="2999232"/>
            <a:ext cx="6949440" cy="51206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文理の壁を完全に撤廃し、数学・哲学・経済学入門・文学・生物学・心理学・歴史などアカデミック教養系科目から本人が自由に組み合わせる。「将来の専門を決める」段階ではなく、自分が何に興味があるかを発見する段階。</a:t>
            </a:r>
            <a:endParaRPr lang="en-US" sz="1000" dirty="0"/>
          </a:p>
        </p:txBody>
      </p:sp>
      <p:sp>
        <p:nvSpPr>
          <p:cNvPr id="15" name="Shape 13"/>
          <p:cNvSpPr/>
          <p:nvPr/>
        </p:nvSpPr>
        <p:spPr>
          <a:xfrm>
            <a:off x="457200" y="3694176"/>
            <a:ext cx="8229600" cy="1024128"/>
          </a:xfrm>
          <a:prstGeom prst="roundRect">
            <a:avLst>
              <a:gd name="adj" fmla="val 7143"/>
            </a:avLst>
          </a:prstGeom>
          <a:solidFill>
            <a:srgbClr val="E9EFF8"/>
          </a:solidFill>
          <a:ln w="12700">
            <a:solidFill>
              <a:srgbClr val="DDE0E6"/>
            </a:solidFill>
            <a:prstDash val="solid"/>
          </a:ln>
        </p:spPr>
      </p:sp>
      <p:sp>
        <p:nvSpPr>
          <p:cNvPr id="16" name="Shape 14"/>
          <p:cNvSpPr/>
          <p:nvPr/>
        </p:nvSpPr>
        <p:spPr>
          <a:xfrm>
            <a:off x="594360" y="3950208"/>
            <a:ext cx="841248" cy="475488"/>
          </a:xfrm>
          <a:prstGeom prst="roundRect">
            <a:avLst>
              <a:gd name="adj" fmla="val 11538"/>
            </a:avLst>
          </a:prstGeom>
          <a:solidFill>
            <a:srgbClr val="C8161D"/>
          </a:solidFill>
          <a:ln w="12700">
            <a:solidFill>
              <a:srgbClr val="C8161D"/>
            </a:solidFill>
            <a:prstDash val="solid"/>
          </a:ln>
        </p:spPr>
      </p:sp>
      <p:sp>
        <p:nvSpPr>
          <p:cNvPr id="17" name="Text 15"/>
          <p:cNvSpPr/>
          <p:nvPr/>
        </p:nvSpPr>
        <p:spPr>
          <a:xfrm>
            <a:off x="594360" y="3950208"/>
            <a:ext cx="841248" cy="475488"/>
          </a:xfrm>
          <a:prstGeom prst="rect">
            <a:avLst/>
          </a:prstGeom>
          <a:noFill/>
          <a:ln/>
        </p:spPr>
        <p:txBody>
          <a:bodyPr wrap="square" lIns="0" tIns="0" rIns="0" bIns="0" rtlCol="0" anchor="ctr"/>
          <a:lstStyle/>
          <a:p>
            <a:pPr algn="ctr" indent="0" marL="0">
              <a:buNone/>
            </a:pPr>
            <a:r>
              <a:rPr lang="en-US" sz="1400" b="1" dirty="0">
                <a:solidFill>
                  <a:srgbClr val="FFFFFF"/>
                </a:solidFill>
                <a:latin typeface="Arial" pitchFamily="34" charset="0"/>
                <a:ea typeface="BIZ UDPGothic" pitchFamily="34" charset="-122"/>
                <a:cs typeface="BIZ UDPGothic" pitchFamily="34" charset="-120"/>
              </a:rPr>
              <a:t>3年</a:t>
            </a:r>
            <a:endParaRPr lang="en-US" sz="1400" dirty="0"/>
          </a:p>
        </p:txBody>
      </p:sp>
      <p:sp>
        <p:nvSpPr>
          <p:cNvPr id="18" name="Text 16"/>
          <p:cNvSpPr/>
          <p:nvPr/>
        </p:nvSpPr>
        <p:spPr>
          <a:xfrm>
            <a:off x="1572768" y="3785616"/>
            <a:ext cx="6949440" cy="347472"/>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社会リテラシー</a:t>
            </a:r>
            <a:endParaRPr lang="en-US" sz="1400" dirty="0"/>
          </a:p>
        </p:txBody>
      </p:sp>
      <p:sp>
        <p:nvSpPr>
          <p:cNvPr id="19" name="Text 17"/>
          <p:cNvSpPr/>
          <p:nvPr/>
        </p:nvSpPr>
        <p:spPr>
          <a:xfrm>
            <a:off x="1572768" y="4151376"/>
            <a:ext cx="6949440" cy="512064"/>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税制・選挙制度・国会・社会保障・セーフティネット等を学ぶ。「どのルートを選んでも、失敗しても、やり直せる」という事実を制度として理解させ、根拠のある選択を18歳にさせる。</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HIGH SCHOOL — YEAR 2</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600" b="1" dirty="0">
                <a:solidFill>
                  <a:srgbClr val="16181D"/>
                </a:solidFill>
                <a:latin typeface="BIZ UDPGothic" pitchFamily="34" charset="0"/>
                <a:ea typeface="BIZ UDPGothic" pitchFamily="34" charset="-122"/>
                <a:cs typeface="BIZ UDPGothic" pitchFamily="34" charset="-120"/>
              </a:rPr>
              <a:t>2年生：文理の壁を撤廃した自由選択</a:t>
            </a:r>
            <a:endParaRPr lang="en-US" sz="36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「将来の専門を決める」ではなく「自分の興味を発見する」段階として位置づける</a:t>
            </a:r>
            <a:endParaRPr lang="en-US" sz="1100" dirty="0"/>
          </a:p>
        </p:txBody>
      </p:sp>
      <p:sp>
        <p:nvSpPr>
          <p:cNvPr id="6" name="Shape 4"/>
          <p:cNvSpPr/>
          <p:nvPr/>
        </p:nvSpPr>
        <p:spPr>
          <a:xfrm>
            <a:off x="457200" y="1737360"/>
            <a:ext cx="4114800" cy="3200400"/>
          </a:xfrm>
          <a:prstGeom prst="roundRect">
            <a:avLst>
              <a:gd name="adj" fmla="val 2286"/>
            </a:avLst>
          </a:prstGeom>
          <a:solidFill>
            <a:srgbClr val="FCEBEB"/>
          </a:solidFill>
          <a:ln w="12700">
            <a:solidFill>
              <a:srgbClr val="DDE0E6"/>
            </a:solidFill>
            <a:prstDash val="solid"/>
          </a:ln>
        </p:spPr>
      </p:sp>
      <p:sp>
        <p:nvSpPr>
          <p:cNvPr id="7" name="Text 5"/>
          <p:cNvSpPr/>
          <p:nvPr/>
        </p:nvSpPr>
        <p:spPr>
          <a:xfrm>
            <a:off x="640080" y="1865376"/>
            <a:ext cx="3749040" cy="365760"/>
          </a:xfrm>
          <a:prstGeom prst="rect">
            <a:avLst/>
          </a:prstGeom>
          <a:noFill/>
          <a:ln/>
        </p:spPr>
        <p:txBody>
          <a:bodyPr wrap="square" lIns="0" tIns="0" rIns="0" bIns="0" rtlCol="0" anchor="ctr"/>
          <a:lstStyle/>
          <a:p>
            <a:pPr indent="0" marL="0">
              <a:buNone/>
            </a:pPr>
            <a:r>
              <a:rPr lang="en-US" sz="1500" b="1" dirty="0">
                <a:solidFill>
                  <a:srgbClr val="C8161D"/>
                </a:solidFill>
                <a:latin typeface="BIZ UDPGothic" pitchFamily="34" charset="0"/>
                <a:ea typeface="BIZ UDPGothic" pitchFamily="34" charset="-122"/>
                <a:cs typeface="BIZ UDPGothic" pitchFamily="34" charset="-120"/>
              </a:rPr>
              <a:t>現行</a:t>
            </a:r>
            <a:endParaRPr lang="en-US" sz="1500" dirty="0"/>
          </a:p>
        </p:txBody>
      </p:sp>
      <p:sp>
        <p:nvSpPr>
          <p:cNvPr id="8" name="Text 6"/>
          <p:cNvSpPr/>
          <p:nvPr/>
        </p:nvSpPr>
        <p:spPr>
          <a:xfrm>
            <a:off x="640080" y="2304288"/>
            <a:ext cx="3749040" cy="2523744"/>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文系・理系という人工的な分類</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受験科目に縛られた選択</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得意不得意より「大学の要求」が優先</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2年時点で進路が半ば固定される</a:t>
            </a:r>
            <a:endParaRPr lang="en-US" sz="1100" dirty="0"/>
          </a:p>
        </p:txBody>
      </p:sp>
      <p:sp>
        <p:nvSpPr>
          <p:cNvPr id="9" name="Shape 7"/>
          <p:cNvSpPr/>
          <p:nvPr/>
        </p:nvSpPr>
        <p:spPr>
          <a:xfrm>
            <a:off x="4892040" y="1737360"/>
            <a:ext cx="4114800" cy="3200400"/>
          </a:xfrm>
          <a:prstGeom prst="roundRect">
            <a:avLst>
              <a:gd name="adj" fmla="val 2286"/>
            </a:avLst>
          </a:prstGeom>
          <a:solidFill>
            <a:srgbClr val="E9EFF8"/>
          </a:solidFill>
          <a:ln w="12700">
            <a:solidFill>
              <a:srgbClr val="DDE0E6"/>
            </a:solidFill>
            <a:prstDash val="solid"/>
          </a:ln>
        </p:spPr>
      </p:sp>
      <p:sp>
        <p:nvSpPr>
          <p:cNvPr id="10" name="Text 8"/>
          <p:cNvSpPr/>
          <p:nvPr/>
        </p:nvSpPr>
        <p:spPr>
          <a:xfrm>
            <a:off x="5074920" y="1865376"/>
            <a:ext cx="3749040" cy="365760"/>
          </a:xfrm>
          <a:prstGeom prst="rect">
            <a:avLst/>
          </a:prstGeom>
          <a:noFill/>
          <a:ln/>
        </p:spPr>
        <p:txBody>
          <a:bodyPr wrap="square" lIns="0" tIns="0" rIns="0" bIns="0" rtlCol="0" anchor="ctr"/>
          <a:lstStyle/>
          <a:p>
            <a:pPr indent="0" marL="0">
              <a:buNone/>
            </a:pPr>
            <a:r>
              <a:rPr lang="en-US" sz="1500" b="1" dirty="0">
                <a:solidFill>
                  <a:srgbClr val="1D4F91"/>
                </a:solidFill>
                <a:latin typeface="BIZ UDPGothic" pitchFamily="34" charset="0"/>
                <a:ea typeface="BIZ UDPGothic" pitchFamily="34" charset="-122"/>
                <a:cs typeface="BIZ UDPGothic" pitchFamily="34" charset="-120"/>
              </a:rPr>
              <a:t>改革後</a:t>
            </a:r>
            <a:endParaRPr lang="en-US" sz="1500" dirty="0"/>
          </a:p>
        </p:txBody>
      </p:sp>
      <p:sp>
        <p:nvSpPr>
          <p:cNvPr id="11" name="Text 9"/>
          <p:cNvSpPr/>
          <p:nvPr/>
        </p:nvSpPr>
        <p:spPr>
          <a:xfrm>
            <a:off x="5074920" y="2304288"/>
            <a:ext cx="3749040" cy="2523744"/>
          </a:xfrm>
          <a:prstGeom prst="rect">
            <a:avLst/>
          </a:prstGeom>
          <a:noFill/>
          <a:ln/>
        </p:spPr>
        <p:txBody>
          <a:bodyPr wrap="square" lIns="0" tIns="0" rIns="0" bIns="0" rtlCol="0" anchor="t"/>
          <a:lstStyle/>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文理の壁を完全撤廃</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数学・哲学・経済学・文学・生物学・心理学・歴史等から自由に組み合わせ</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「好き」「面白い」を軸にした探索</a:t>
            </a:r>
            <a:endParaRPr lang="en-US" sz="1100" dirty="0"/>
          </a:p>
          <a:p>
            <a:pPr marL="342900" indent="-342900">
              <a:spcAft>
                <a:spcPts val="800"/>
              </a:spcAft>
              <a:buSzPct val="100000"/>
              <a:buChar char="•"/>
            </a:pPr>
            <a:r>
              <a:rPr lang="en-US" sz="1100" dirty="0">
                <a:solidFill>
                  <a:srgbClr val="2B2F36"/>
                </a:solidFill>
                <a:latin typeface="Arial" pitchFamily="34" charset="0"/>
                <a:ea typeface="BIZ UDPGothic" pitchFamily="34" charset="-122"/>
                <a:cs typeface="BIZ UDPGothic" pitchFamily="34" charset="-120"/>
              </a:rPr>
              <a:t>料理・音楽・アートは守備範囲外（独学・専門学校に委ねる）</a:t>
            </a:r>
            <a:endParaRPr lang="en-US" sz="1100" dirty="0"/>
          </a:p>
        </p:txBody>
      </p:sp>
      <p:sp>
        <p:nvSpPr>
          <p:cNvPr id="12" name="Text 10"/>
          <p:cNvSpPr/>
          <p:nvPr/>
        </p:nvSpPr>
        <p:spPr>
          <a:xfrm>
            <a:off x="4169664" y="2651760"/>
            <a:ext cx="713232" cy="713232"/>
          </a:xfrm>
          <a:prstGeom prst="rect">
            <a:avLst/>
          </a:prstGeom>
          <a:noFill/>
          <a:ln/>
        </p:spPr>
        <p:txBody>
          <a:bodyPr wrap="square" lIns="0" tIns="0" rIns="0" bIns="0" rtlCol="0" anchor="ctr"/>
          <a:lstStyle/>
          <a:p>
            <a:pPr algn="ctr" indent="0" marL="0">
              <a:buNone/>
            </a:pPr>
            <a:r>
              <a:rPr lang="en-US" sz="3600" dirty="0">
                <a:solidFill>
                  <a:srgbClr val="C8161D"/>
                </a:solidFill>
                <a:latin typeface="Arial" pitchFamily="34" charset="0"/>
                <a:ea typeface="BIZ UDPGothic" pitchFamily="34" charset="-122"/>
                <a:cs typeface="BIZ UDPGothic" pitchFamily="34" charset="-120"/>
              </a:rPr>
              <a:t>→</a:t>
            </a:r>
            <a:endParaRPr lang="en-US" sz="3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HIGH SCHOOL — YEAR 3</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3年生：社会リテラシー ── 失敗を恐れず選択できる土台</a:t>
            </a:r>
            <a:endParaRPr lang="en-US" sz="24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現在の18歳は、社会の仕組みを何も知らないまま人生の岐路に立たされている。</a:t>
            </a:r>
            <a:endParaRPr lang="en-US" sz="1100" dirty="0"/>
          </a:p>
        </p:txBody>
      </p:sp>
      <p:sp>
        <p:nvSpPr>
          <p:cNvPr id="6" name="Shape 4"/>
          <p:cNvSpPr/>
          <p:nvPr/>
        </p:nvSpPr>
        <p:spPr>
          <a:xfrm>
            <a:off x="457200" y="1755648"/>
            <a:ext cx="4114800" cy="1243584"/>
          </a:xfrm>
          <a:prstGeom prst="roundRect">
            <a:avLst>
              <a:gd name="adj" fmla="val 5882"/>
            </a:avLst>
          </a:prstGeom>
          <a:solidFill>
            <a:srgbClr val="FFFFFF"/>
          </a:solidFill>
          <a:ln w="12700">
            <a:solidFill>
              <a:srgbClr val="DDE0E6"/>
            </a:solidFill>
            <a:prstDash val="solid"/>
          </a:ln>
        </p:spPr>
      </p:sp>
      <p:sp>
        <p:nvSpPr>
          <p:cNvPr id="7" name="Text 5"/>
          <p:cNvSpPr/>
          <p:nvPr/>
        </p:nvSpPr>
        <p:spPr>
          <a:xfrm>
            <a:off x="640080" y="1883664"/>
            <a:ext cx="3749040" cy="384048"/>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税制・確定申告</a:t>
            </a:r>
            <a:endParaRPr lang="en-US" sz="1400" dirty="0"/>
          </a:p>
        </p:txBody>
      </p:sp>
      <p:sp>
        <p:nvSpPr>
          <p:cNvPr id="8" name="Text 6"/>
          <p:cNvSpPr/>
          <p:nvPr/>
        </p:nvSpPr>
        <p:spPr>
          <a:xfrm>
            <a:off x="640080" y="2286000"/>
            <a:ext cx="3749040" cy="60350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所得税・消費税・住民税の仕組み。自分が払う税金を自分で理解する</a:t>
            </a:r>
            <a:endParaRPr lang="en-US" sz="1100" dirty="0"/>
          </a:p>
        </p:txBody>
      </p:sp>
      <p:sp>
        <p:nvSpPr>
          <p:cNvPr id="9" name="Shape 7"/>
          <p:cNvSpPr/>
          <p:nvPr/>
        </p:nvSpPr>
        <p:spPr>
          <a:xfrm>
            <a:off x="4800600" y="1755648"/>
            <a:ext cx="4114800" cy="1243584"/>
          </a:xfrm>
          <a:prstGeom prst="roundRect">
            <a:avLst>
              <a:gd name="adj" fmla="val 5882"/>
            </a:avLst>
          </a:prstGeom>
          <a:solidFill>
            <a:srgbClr val="FFFFFF"/>
          </a:solidFill>
          <a:ln w="12700">
            <a:solidFill>
              <a:srgbClr val="DDE0E6"/>
            </a:solidFill>
            <a:prstDash val="solid"/>
          </a:ln>
        </p:spPr>
      </p:sp>
      <p:sp>
        <p:nvSpPr>
          <p:cNvPr id="10" name="Text 8"/>
          <p:cNvSpPr/>
          <p:nvPr/>
        </p:nvSpPr>
        <p:spPr>
          <a:xfrm>
            <a:off x="4983480" y="1883664"/>
            <a:ext cx="3749040" cy="384048"/>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選挙・国会制度</a:t>
            </a:r>
            <a:endParaRPr lang="en-US" sz="1400" dirty="0"/>
          </a:p>
        </p:txBody>
      </p:sp>
      <p:sp>
        <p:nvSpPr>
          <p:cNvPr id="11" name="Text 9"/>
          <p:cNvSpPr/>
          <p:nvPr/>
        </p:nvSpPr>
        <p:spPr>
          <a:xfrm>
            <a:off x="4983480" y="2286000"/>
            <a:ext cx="3749040" cy="60350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一票の重さと選挙の仕組み。民主主義の参加者として機能するための基礎知識</a:t>
            </a:r>
            <a:endParaRPr lang="en-US" sz="1100" dirty="0"/>
          </a:p>
        </p:txBody>
      </p:sp>
      <p:sp>
        <p:nvSpPr>
          <p:cNvPr id="12" name="Shape 10"/>
          <p:cNvSpPr/>
          <p:nvPr/>
        </p:nvSpPr>
        <p:spPr>
          <a:xfrm>
            <a:off x="457200" y="3145536"/>
            <a:ext cx="4114800" cy="1243584"/>
          </a:xfrm>
          <a:prstGeom prst="roundRect">
            <a:avLst>
              <a:gd name="adj" fmla="val 5882"/>
            </a:avLst>
          </a:prstGeom>
          <a:solidFill>
            <a:srgbClr val="FFFFFF"/>
          </a:solidFill>
          <a:ln w="12700">
            <a:solidFill>
              <a:srgbClr val="DDE0E6"/>
            </a:solidFill>
            <a:prstDash val="solid"/>
          </a:ln>
        </p:spPr>
      </p:sp>
      <p:sp>
        <p:nvSpPr>
          <p:cNvPr id="13" name="Text 11"/>
          <p:cNvSpPr/>
          <p:nvPr/>
        </p:nvSpPr>
        <p:spPr>
          <a:xfrm>
            <a:off x="640080" y="3273552"/>
            <a:ext cx="3749040" cy="384048"/>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社会保障制度</a:t>
            </a:r>
            <a:endParaRPr lang="en-US" sz="1400" dirty="0"/>
          </a:p>
        </p:txBody>
      </p:sp>
      <p:sp>
        <p:nvSpPr>
          <p:cNvPr id="14" name="Text 12"/>
          <p:cNvSpPr/>
          <p:nvPr/>
        </p:nvSpPr>
        <p:spPr>
          <a:xfrm>
            <a:off x="640080" y="3675888"/>
            <a:ext cx="3749040" cy="60350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年金・健康保険・失業給付・生活保護の全体像。「網の目」の存在を知る</a:t>
            </a:r>
            <a:endParaRPr lang="en-US" sz="1100" dirty="0"/>
          </a:p>
        </p:txBody>
      </p:sp>
      <p:sp>
        <p:nvSpPr>
          <p:cNvPr id="15" name="Shape 13"/>
          <p:cNvSpPr/>
          <p:nvPr/>
        </p:nvSpPr>
        <p:spPr>
          <a:xfrm>
            <a:off x="4800600" y="3145536"/>
            <a:ext cx="4114800" cy="1243584"/>
          </a:xfrm>
          <a:prstGeom prst="roundRect">
            <a:avLst>
              <a:gd name="adj" fmla="val 5882"/>
            </a:avLst>
          </a:prstGeom>
          <a:solidFill>
            <a:srgbClr val="FFFFFF"/>
          </a:solidFill>
          <a:ln w="12700">
            <a:solidFill>
              <a:srgbClr val="DDE0E6"/>
            </a:solidFill>
            <a:prstDash val="solid"/>
          </a:ln>
        </p:spPr>
      </p:sp>
      <p:sp>
        <p:nvSpPr>
          <p:cNvPr id="16" name="Text 14"/>
          <p:cNvSpPr/>
          <p:nvPr/>
        </p:nvSpPr>
        <p:spPr>
          <a:xfrm>
            <a:off x="4983480" y="3273552"/>
            <a:ext cx="3749040" cy="384048"/>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セーフティネット</a:t>
            </a:r>
            <a:endParaRPr lang="en-US" sz="1400" dirty="0"/>
          </a:p>
        </p:txBody>
      </p:sp>
      <p:sp>
        <p:nvSpPr>
          <p:cNvPr id="17" name="Text 15"/>
          <p:cNvSpPr/>
          <p:nvPr/>
        </p:nvSpPr>
        <p:spPr>
          <a:xfrm>
            <a:off x="4983480" y="3675888"/>
            <a:ext cx="3749040" cy="60350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失敗しても、路頭に迷わない制度が存在することを制度として学ぶ</a:t>
            </a:r>
            <a:endParaRPr lang="en-US" sz="1100" dirty="0"/>
          </a:p>
        </p:txBody>
      </p:sp>
      <p:sp>
        <p:nvSpPr>
          <p:cNvPr id="18" name="Shape 16"/>
          <p:cNvSpPr/>
          <p:nvPr/>
        </p:nvSpPr>
        <p:spPr>
          <a:xfrm>
            <a:off x="457200" y="4645152"/>
            <a:ext cx="8229600" cy="384048"/>
          </a:xfrm>
          <a:prstGeom prst="roundRect">
            <a:avLst>
              <a:gd name="adj" fmla="val 19048"/>
            </a:avLst>
          </a:prstGeom>
          <a:solidFill>
            <a:srgbClr val="FFFFFF"/>
          </a:solidFill>
          <a:ln w="12700">
            <a:solidFill>
              <a:srgbClr val="DDE0E6"/>
            </a:solidFill>
            <a:prstDash val="solid"/>
          </a:ln>
        </p:spPr>
      </p:sp>
      <p:sp>
        <p:nvSpPr>
          <p:cNvPr id="19" name="Text 17"/>
          <p:cNvSpPr/>
          <p:nvPr/>
        </p:nvSpPr>
        <p:spPr>
          <a:xfrm>
            <a:off x="594360" y="4645152"/>
            <a:ext cx="7955280" cy="384048"/>
          </a:xfrm>
          <a:prstGeom prst="rect">
            <a:avLst/>
          </a:prstGeom>
          <a:noFill/>
          <a:ln/>
        </p:spPr>
        <p:txBody>
          <a:bodyPr wrap="square" lIns="0" tIns="0" rIns="0" bIns="0" rtlCol="0" anchor="ctr"/>
          <a:lstStyle/>
          <a:p>
            <a:pPr algn="ctr" indent="0" marL="0">
              <a:buNone/>
            </a:pPr>
            <a:r>
              <a:rPr lang="en-US" sz="1100" b="1" dirty="0">
                <a:solidFill>
                  <a:srgbClr val="16181D"/>
                </a:solidFill>
                <a:latin typeface="BIZ UDPGothic" pitchFamily="34" charset="0"/>
                <a:ea typeface="BIZ UDPGothic" pitchFamily="34" charset="-122"/>
                <a:cs typeface="BIZ UDPGothic" pitchFamily="34" charset="-120"/>
              </a:rPr>
              <a:t>目的：「どのルートを選んでも、失敗しても、やり直せる」という事実を制度として理解させる</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ROUTE 01</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マジョリティ・標準ルート ── 9割の一般職</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481328"/>
            <a:ext cx="3931920" cy="1005840"/>
          </a:xfrm>
          <a:prstGeom prst="roundRect">
            <a:avLst>
              <a:gd name="adj" fmla="val 7273"/>
            </a:avLst>
          </a:prstGeom>
          <a:solidFill>
            <a:srgbClr val="FFFFFF"/>
          </a:solidFill>
          <a:ln w="12700">
            <a:solidFill>
              <a:srgbClr val="DDE0E6"/>
            </a:solidFill>
            <a:prstDash val="solid"/>
          </a:ln>
        </p:spPr>
      </p:sp>
      <p:sp>
        <p:nvSpPr>
          <p:cNvPr id="6" name="Text 4"/>
          <p:cNvSpPr/>
          <p:nvPr/>
        </p:nvSpPr>
        <p:spPr>
          <a:xfrm>
            <a:off x="594360" y="1572768"/>
            <a:ext cx="3657600" cy="475488"/>
          </a:xfrm>
          <a:prstGeom prst="rect">
            <a:avLst/>
          </a:prstGeom>
          <a:noFill/>
          <a:ln/>
        </p:spPr>
        <p:txBody>
          <a:bodyPr wrap="square" lIns="0" tIns="0" rIns="0" bIns="0" rtlCol="0" anchor="ctr"/>
          <a:lstStyle/>
          <a:p>
            <a:pPr algn="ctr" indent="0" marL="0">
              <a:buNone/>
            </a:pPr>
            <a:r>
              <a:rPr lang="en-US" sz="1500" b="1" dirty="0">
                <a:solidFill>
                  <a:srgbClr val="16181D"/>
                </a:solidFill>
                <a:latin typeface="BIZ UDPGothic" pitchFamily="34" charset="0"/>
                <a:ea typeface="BIZ UDPGothic" pitchFamily="34" charset="-122"/>
                <a:cs typeface="BIZ UDPGothic" pitchFamily="34" charset="-120"/>
              </a:rPr>
              <a:t>高校3年</a:t>
            </a:r>
            <a:endParaRPr lang="en-US" sz="1500" dirty="0"/>
          </a:p>
        </p:txBody>
      </p:sp>
      <p:sp>
        <p:nvSpPr>
          <p:cNvPr id="7" name="Text 5"/>
          <p:cNvSpPr/>
          <p:nvPr/>
        </p:nvSpPr>
        <p:spPr>
          <a:xfrm>
            <a:off x="594360" y="2048256"/>
            <a:ext cx="3657600" cy="384048"/>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教養・探索・社会リテラシー</a:t>
            </a:r>
            <a:endParaRPr lang="en-US" sz="1000" dirty="0"/>
          </a:p>
        </p:txBody>
      </p:sp>
      <p:sp>
        <p:nvSpPr>
          <p:cNvPr id="8" name="Text 6"/>
          <p:cNvSpPr/>
          <p:nvPr/>
        </p:nvSpPr>
        <p:spPr>
          <a:xfrm>
            <a:off x="1645920" y="2505456"/>
            <a:ext cx="914400" cy="292608"/>
          </a:xfrm>
          <a:prstGeom prst="rect">
            <a:avLst/>
          </a:prstGeom>
          <a:noFill/>
          <a:ln/>
        </p:spPr>
        <p:txBody>
          <a:bodyPr wrap="square" lIns="0" tIns="0" rIns="0" bIns="0" rtlCol="0" anchor="ctr"/>
          <a:lstStyle/>
          <a:p>
            <a:pPr algn="ctr" indent="0" marL="0">
              <a:buNone/>
            </a:pPr>
            <a:r>
              <a:rPr lang="en-US" sz="1800" dirty="0">
                <a:solidFill>
                  <a:srgbClr val="C8161D"/>
                </a:solidFill>
                <a:latin typeface="Arial" pitchFamily="34" charset="0"/>
                <a:ea typeface="BIZ UDPGothic" pitchFamily="34" charset="-122"/>
                <a:cs typeface="BIZ UDPGothic" pitchFamily="34" charset="-120"/>
              </a:rPr>
              <a:t>↓</a:t>
            </a:r>
            <a:endParaRPr lang="en-US" sz="1800" dirty="0"/>
          </a:p>
        </p:txBody>
      </p:sp>
      <p:sp>
        <p:nvSpPr>
          <p:cNvPr id="9" name="Shape 7"/>
          <p:cNvSpPr/>
          <p:nvPr/>
        </p:nvSpPr>
        <p:spPr>
          <a:xfrm>
            <a:off x="457200" y="2633472"/>
            <a:ext cx="3931920" cy="1005840"/>
          </a:xfrm>
          <a:prstGeom prst="roundRect">
            <a:avLst>
              <a:gd name="adj" fmla="val 7273"/>
            </a:avLst>
          </a:prstGeom>
          <a:solidFill>
            <a:srgbClr val="FFFFFF"/>
          </a:solidFill>
          <a:ln w="12700">
            <a:solidFill>
              <a:srgbClr val="DDE0E6"/>
            </a:solidFill>
            <a:prstDash val="solid"/>
          </a:ln>
        </p:spPr>
      </p:sp>
      <p:sp>
        <p:nvSpPr>
          <p:cNvPr id="10" name="Text 8"/>
          <p:cNvSpPr/>
          <p:nvPr/>
        </p:nvSpPr>
        <p:spPr>
          <a:xfrm>
            <a:off x="594360" y="2724912"/>
            <a:ext cx="3657600" cy="475488"/>
          </a:xfrm>
          <a:prstGeom prst="rect">
            <a:avLst/>
          </a:prstGeom>
          <a:noFill/>
          <a:ln/>
        </p:spPr>
        <p:txBody>
          <a:bodyPr wrap="square" lIns="0" tIns="0" rIns="0" bIns="0" rtlCol="0" anchor="ctr"/>
          <a:lstStyle/>
          <a:p>
            <a:pPr algn="ctr" indent="0" marL="0">
              <a:buNone/>
            </a:pPr>
            <a:r>
              <a:rPr lang="en-US" sz="1500" b="1" dirty="0">
                <a:solidFill>
                  <a:srgbClr val="16181D"/>
                </a:solidFill>
                <a:latin typeface="BIZ UDPGothic" pitchFamily="34" charset="0"/>
                <a:ea typeface="BIZ UDPGothic" pitchFamily="34" charset="-122"/>
                <a:cs typeface="BIZ UDPGothic" pitchFamily="34" charset="-120"/>
              </a:rPr>
              <a:t>専門学校2年</a:t>
            </a:r>
            <a:endParaRPr lang="en-US" sz="1500" dirty="0"/>
          </a:p>
        </p:txBody>
      </p:sp>
      <p:sp>
        <p:nvSpPr>
          <p:cNvPr id="11" name="Text 9"/>
          <p:cNvSpPr/>
          <p:nvPr/>
        </p:nvSpPr>
        <p:spPr>
          <a:xfrm>
            <a:off x="594360" y="3200400"/>
            <a:ext cx="3657600" cy="384048"/>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実務直結スキルを徹底習得</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IT・AI・簿記・高度技術等</a:t>
            </a:r>
            <a:endParaRPr lang="en-US" sz="1000" dirty="0"/>
          </a:p>
        </p:txBody>
      </p:sp>
      <p:sp>
        <p:nvSpPr>
          <p:cNvPr id="12" name="Text 10"/>
          <p:cNvSpPr/>
          <p:nvPr/>
        </p:nvSpPr>
        <p:spPr>
          <a:xfrm>
            <a:off x="1645920" y="3657600"/>
            <a:ext cx="914400" cy="292608"/>
          </a:xfrm>
          <a:prstGeom prst="rect">
            <a:avLst/>
          </a:prstGeom>
          <a:noFill/>
          <a:ln/>
        </p:spPr>
        <p:txBody>
          <a:bodyPr wrap="square" lIns="0" tIns="0" rIns="0" bIns="0" rtlCol="0" anchor="ctr"/>
          <a:lstStyle/>
          <a:p>
            <a:pPr algn="ctr" indent="0" marL="0">
              <a:buNone/>
            </a:pPr>
            <a:r>
              <a:rPr lang="en-US" sz="1800" dirty="0">
                <a:solidFill>
                  <a:srgbClr val="C8161D"/>
                </a:solidFill>
                <a:latin typeface="Arial" pitchFamily="34" charset="0"/>
                <a:ea typeface="BIZ UDPGothic" pitchFamily="34" charset="-122"/>
                <a:cs typeface="BIZ UDPGothic" pitchFamily="34" charset="-120"/>
              </a:rPr>
              <a:t>↓</a:t>
            </a:r>
            <a:endParaRPr lang="en-US" sz="1800" dirty="0"/>
          </a:p>
        </p:txBody>
      </p:sp>
      <p:sp>
        <p:nvSpPr>
          <p:cNvPr id="13" name="Shape 11"/>
          <p:cNvSpPr/>
          <p:nvPr/>
        </p:nvSpPr>
        <p:spPr>
          <a:xfrm>
            <a:off x="457200" y="3785616"/>
            <a:ext cx="3931920" cy="1005840"/>
          </a:xfrm>
          <a:prstGeom prst="roundRect">
            <a:avLst>
              <a:gd name="adj" fmla="val 7273"/>
            </a:avLst>
          </a:prstGeom>
          <a:solidFill>
            <a:srgbClr val="E9EFF8"/>
          </a:solidFill>
          <a:ln w="12700">
            <a:solidFill>
              <a:srgbClr val="DDE0E6"/>
            </a:solidFill>
            <a:prstDash val="solid"/>
          </a:ln>
        </p:spPr>
      </p:sp>
      <p:sp>
        <p:nvSpPr>
          <p:cNvPr id="14" name="Text 12"/>
          <p:cNvSpPr/>
          <p:nvPr/>
        </p:nvSpPr>
        <p:spPr>
          <a:xfrm>
            <a:off x="594360" y="3877056"/>
            <a:ext cx="3657600" cy="475488"/>
          </a:xfrm>
          <a:prstGeom prst="rect">
            <a:avLst/>
          </a:prstGeom>
          <a:noFill/>
          <a:ln/>
        </p:spPr>
        <p:txBody>
          <a:bodyPr wrap="square" lIns="0" tIns="0" rIns="0" bIns="0" rtlCol="0" anchor="ctr"/>
          <a:lstStyle/>
          <a:p>
            <a:pPr algn="ctr" indent="0" marL="0">
              <a:buNone/>
            </a:pPr>
            <a:r>
              <a:rPr lang="en-US" sz="1800" b="1" dirty="0">
                <a:solidFill>
                  <a:srgbClr val="1D4F91"/>
                </a:solidFill>
                <a:latin typeface="BIZ UDPGothic" pitchFamily="34" charset="0"/>
                <a:ea typeface="BIZ UDPGothic" pitchFamily="34" charset="-122"/>
                <a:cs typeface="BIZ UDPGothic" pitchFamily="34" charset="-120"/>
              </a:rPr>
              <a:t>21歳</a:t>
            </a:r>
            <a:endParaRPr lang="en-US" sz="1800" dirty="0"/>
          </a:p>
          <a:p>
            <a:pPr algn="ctr" indent="0" marL="0">
              <a:buNone/>
            </a:pPr>
            <a:r>
              <a:rPr lang="en-US" sz="1800" b="1" dirty="0">
                <a:solidFill>
                  <a:srgbClr val="1D4F91"/>
                </a:solidFill>
                <a:latin typeface="BIZ UDPGothic" pitchFamily="34" charset="0"/>
                <a:ea typeface="BIZ UDPGothic" pitchFamily="34" charset="-122"/>
                <a:cs typeface="BIZ UDPGothic" pitchFamily="34" charset="-120"/>
              </a:rPr>
              <a:t>社会人スタート</a:t>
            </a:r>
            <a:endParaRPr lang="en-US" sz="1800" dirty="0"/>
          </a:p>
        </p:txBody>
      </p:sp>
      <p:sp>
        <p:nvSpPr>
          <p:cNvPr id="15" name="Text 13"/>
          <p:cNvSpPr/>
          <p:nvPr/>
        </p:nvSpPr>
        <p:spPr>
          <a:xfrm>
            <a:off x="594360" y="4352544"/>
            <a:ext cx="3657600" cy="384048"/>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即戦力として就職</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奨学金債務なし</a:t>
            </a:r>
            <a:endParaRPr lang="en-US" sz="1000" dirty="0"/>
          </a:p>
        </p:txBody>
      </p:sp>
      <p:sp>
        <p:nvSpPr>
          <p:cNvPr id="16" name="Shape 14"/>
          <p:cNvSpPr/>
          <p:nvPr/>
        </p:nvSpPr>
        <p:spPr>
          <a:xfrm>
            <a:off x="4754880" y="1481328"/>
            <a:ext cx="3931920" cy="3310128"/>
          </a:xfrm>
          <a:prstGeom prst="roundRect">
            <a:avLst>
              <a:gd name="adj" fmla="val 2210"/>
            </a:avLst>
          </a:prstGeom>
          <a:solidFill>
            <a:srgbClr val="FFFFFF"/>
          </a:solidFill>
          <a:ln w="12700">
            <a:solidFill>
              <a:srgbClr val="DDE0E6"/>
            </a:solidFill>
            <a:prstDash val="solid"/>
          </a:ln>
        </p:spPr>
      </p:sp>
      <p:sp>
        <p:nvSpPr>
          <p:cNvPr id="17" name="Text 15"/>
          <p:cNvSpPr/>
          <p:nvPr/>
        </p:nvSpPr>
        <p:spPr>
          <a:xfrm>
            <a:off x="4892040" y="1591056"/>
            <a:ext cx="3657600" cy="365760"/>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このルートが9割の標準</a:t>
            </a:r>
            <a:endParaRPr lang="en-US" sz="1300" dirty="0"/>
          </a:p>
        </p:txBody>
      </p:sp>
      <p:sp>
        <p:nvSpPr>
          <p:cNvPr id="18" name="Text 16"/>
          <p:cNvSpPr/>
          <p:nvPr/>
        </p:nvSpPr>
        <p:spPr>
          <a:xfrm>
            <a:off x="4892040" y="2029968"/>
            <a:ext cx="3657600" cy="2194560"/>
          </a:xfrm>
          <a:prstGeom prst="rect">
            <a:avLst/>
          </a:prstGeom>
          <a:noFill/>
          <a:ln/>
        </p:spPr>
        <p:txBody>
          <a:bodyPr wrap="square" lIns="0" tIns="0" rIns="0" bIns="0" rtlCol="0" anchor="t"/>
          <a:lstStyle/>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ほとんどの職種に大卒は不要</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21歳で即戦力・奨学金ゼロで社会へ</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専門2年間で実務スキルを集中習得</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「大学の肩書き」より「実務力」で勝負</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ROUTE 01 — SAFETY NET</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標準ルートのセーフティネット：2段階の柔軟性</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417320"/>
            <a:ext cx="8229600" cy="1554480"/>
          </a:xfrm>
          <a:prstGeom prst="roundRect">
            <a:avLst>
              <a:gd name="adj" fmla="val 4706"/>
            </a:avLst>
          </a:prstGeom>
          <a:solidFill>
            <a:srgbClr val="FFFFFF"/>
          </a:solidFill>
          <a:ln w="12700">
            <a:solidFill>
              <a:srgbClr val="DDE0E6"/>
            </a:solidFill>
            <a:prstDash val="solid"/>
          </a:ln>
        </p:spPr>
      </p:sp>
      <p:sp>
        <p:nvSpPr>
          <p:cNvPr id="6" name="Shape 4"/>
          <p:cNvSpPr/>
          <p:nvPr/>
        </p:nvSpPr>
        <p:spPr>
          <a:xfrm>
            <a:off x="594360" y="1600200"/>
            <a:ext cx="1371600" cy="420624"/>
          </a:xfrm>
          <a:prstGeom prst="roundRect">
            <a:avLst>
              <a:gd name="adj" fmla="val 13043"/>
            </a:avLst>
          </a:prstGeom>
          <a:solidFill>
            <a:srgbClr val="C8161D"/>
          </a:solidFill>
          <a:ln w="12700">
            <a:solidFill>
              <a:srgbClr val="C8161D"/>
            </a:solidFill>
            <a:prstDash val="solid"/>
          </a:ln>
        </p:spPr>
      </p:sp>
      <p:sp>
        <p:nvSpPr>
          <p:cNvPr id="7" name="Text 5"/>
          <p:cNvSpPr/>
          <p:nvPr/>
        </p:nvSpPr>
        <p:spPr>
          <a:xfrm>
            <a:off x="594360" y="1600200"/>
            <a:ext cx="13716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BIZ UDPGothic" pitchFamily="34" charset="-122"/>
                <a:cs typeface="BIZ UDPGothic" pitchFamily="34" charset="-120"/>
              </a:rPr>
              <a:t>転科の自由</a:t>
            </a:r>
            <a:endParaRPr lang="en-US" sz="1200" dirty="0"/>
          </a:p>
        </p:txBody>
      </p:sp>
      <p:sp>
        <p:nvSpPr>
          <p:cNvPr id="8" name="Text 6"/>
          <p:cNvSpPr/>
          <p:nvPr/>
        </p:nvSpPr>
        <p:spPr>
          <a:xfrm>
            <a:off x="2121408" y="1600200"/>
            <a:ext cx="6400800" cy="347472"/>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1年目終了時点で発動可能</a:t>
            </a:r>
            <a:endParaRPr lang="en-US" sz="1200" dirty="0"/>
          </a:p>
        </p:txBody>
      </p:sp>
      <p:sp>
        <p:nvSpPr>
          <p:cNvPr id="9" name="Text 7"/>
          <p:cNvSpPr/>
          <p:nvPr/>
        </p:nvSpPr>
        <p:spPr>
          <a:xfrm>
            <a:off x="621792" y="2093976"/>
            <a:ext cx="7900416" cy="78638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18歳時点で選んだ専門が合わないと感じた場合、ペナルティなしで別の専門コースへ転科・リセットできる。「合わなかった」は失敗ではなく、自己発見のプロセスとして制度が受け止める。</a:t>
            </a:r>
            <a:endParaRPr lang="en-US" sz="1100" dirty="0"/>
          </a:p>
        </p:txBody>
      </p:sp>
      <p:sp>
        <p:nvSpPr>
          <p:cNvPr id="10" name="Shape 8"/>
          <p:cNvSpPr/>
          <p:nvPr/>
        </p:nvSpPr>
        <p:spPr>
          <a:xfrm>
            <a:off x="457200" y="3136392"/>
            <a:ext cx="8229600" cy="1554480"/>
          </a:xfrm>
          <a:prstGeom prst="roundRect">
            <a:avLst>
              <a:gd name="adj" fmla="val 4706"/>
            </a:avLst>
          </a:prstGeom>
          <a:solidFill>
            <a:srgbClr val="FFFFFF"/>
          </a:solidFill>
          <a:ln w="12700">
            <a:solidFill>
              <a:srgbClr val="DDE0E6"/>
            </a:solidFill>
            <a:prstDash val="solid"/>
          </a:ln>
        </p:spPr>
      </p:sp>
      <p:sp>
        <p:nvSpPr>
          <p:cNvPr id="11" name="Shape 9"/>
          <p:cNvSpPr/>
          <p:nvPr/>
        </p:nvSpPr>
        <p:spPr>
          <a:xfrm>
            <a:off x="594360" y="3319272"/>
            <a:ext cx="1371600" cy="420624"/>
          </a:xfrm>
          <a:prstGeom prst="roundRect">
            <a:avLst>
              <a:gd name="adj" fmla="val 13043"/>
            </a:avLst>
          </a:prstGeom>
          <a:solidFill>
            <a:srgbClr val="C8161D"/>
          </a:solidFill>
          <a:ln w="12700">
            <a:solidFill>
              <a:srgbClr val="C8161D"/>
            </a:solidFill>
            <a:prstDash val="solid"/>
          </a:ln>
        </p:spPr>
      </p:sp>
      <p:sp>
        <p:nvSpPr>
          <p:cNvPr id="12" name="Text 10"/>
          <p:cNvSpPr/>
          <p:nvPr/>
        </p:nvSpPr>
        <p:spPr>
          <a:xfrm>
            <a:off x="594360" y="3319272"/>
            <a:ext cx="1371600" cy="420624"/>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BIZ UDPGothic" pitchFamily="34" charset="-122"/>
                <a:cs typeface="BIZ UDPGothic" pitchFamily="34" charset="-120"/>
              </a:rPr>
              <a:t>延長の自由</a:t>
            </a:r>
            <a:endParaRPr lang="en-US" sz="1200" dirty="0"/>
          </a:p>
        </p:txBody>
      </p:sp>
      <p:sp>
        <p:nvSpPr>
          <p:cNvPr id="13" name="Text 11"/>
          <p:cNvSpPr/>
          <p:nvPr/>
        </p:nvSpPr>
        <p:spPr>
          <a:xfrm>
            <a:off x="2121408" y="3319272"/>
            <a:ext cx="6400800" cy="347472"/>
          </a:xfrm>
          <a:prstGeom prst="rect">
            <a:avLst/>
          </a:prstGeom>
          <a:noFill/>
          <a:ln/>
        </p:spPr>
        <p:txBody>
          <a:bodyPr wrap="square" lIns="0" tIns="0" rIns="0" bIns="0" rtlCol="0" anchor="ctr"/>
          <a:lstStyle/>
          <a:p>
            <a:pPr indent="0" marL="0">
              <a:buNone/>
            </a:pPr>
            <a:r>
              <a:rPr lang="en-US" sz="1200" b="1" dirty="0">
                <a:solidFill>
                  <a:srgbClr val="16181D"/>
                </a:solidFill>
                <a:latin typeface="BIZ UDPGothic" pitchFamily="34" charset="0"/>
                <a:ea typeface="BIZ UDPGothic" pitchFamily="34" charset="-122"/>
                <a:cs typeface="BIZ UDPGothic" pitchFamily="34" charset="-120"/>
              </a:rPr>
              <a:t>本人の主体的選択で発動</a:t>
            </a:r>
            <a:endParaRPr lang="en-US" sz="1200" dirty="0"/>
          </a:p>
        </p:txBody>
      </p:sp>
      <p:sp>
        <p:nvSpPr>
          <p:cNvPr id="14" name="Text 12"/>
          <p:cNvSpPr/>
          <p:nvPr/>
        </p:nvSpPr>
        <p:spPr>
          <a:xfrm>
            <a:off x="621792" y="3813048"/>
            <a:ext cx="7900416" cy="78638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人間的な猶予が必要な場合は専門学校の延長（再入学等）を認める。さらに3年行けば24歳——現行の大卒と年齢は変わらない。しかしそれは「流された4年」ではなく「自ら選んだ猶予」であり、そこには自覚と責任が生まれる。</a:t>
            </a:r>
            <a:endParaRPr lang="en-US" sz="1100" dirty="0"/>
          </a:p>
        </p:txBody>
      </p:sp>
      <p:sp>
        <p:nvSpPr>
          <p:cNvPr id="15" name="Shape 13"/>
          <p:cNvSpPr/>
          <p:nvPr/>
        </p:nvSpPr>
        <p:spPr>
          <a:xfrm>
            <a:off x="457200" y="4736592"/>
            <a:ext cx="8229600" cy="329184"/>
          </a:xfrm>
          <a:prstGeom prst="roundRect">
            <a:avLst>
              <a:gd name="adj" fmla="val 22222"/>
            </a:avLst>
          </a:prstGeom>
          <a:solidFill>
            <a:srgbClr val="FFFFFF"/>
          </a:solidFill>
          <a:ln w="12700">
            <a:solidFill>
              <a:srgbClr val="DDE0E6"/>
            </a:solidFill>
            <a:prstDash val="solid"/>
          </a:ln>
        </p:spPr>
      </p:sp>
      <p:sp>
        <p:nvSpPr>
          <p:cNvPr id="16" name="Text 14"/>
          <p:cNvSpPr/>
          <p:nvPr/>
        </p:nvSpPr>
        <p:spPr>
          <a:xfrm>
            <a:off x="594360" y="4736592"/>
            <a:ext cx="7955280" cy="329184"/>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「失敗してもやり直せる」を制度として保障することで、18歳の選択の重さを適切な水準に下げる</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ROUTE 02</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国家戦略・特殊ルート ── 医療・公安・防衛職</a:t>
            </a:r>
            <a:endParaRPr lang="en-US" sz="28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命の担保・国家安全保障に関わる職種に限り、18歳から専門高等教育機関への進学を維持・推奨する</a:t>
            </a:r>
            <a:endParaRPr lang="en-US" sz="1100" dirty="0"/>
          </a:p>
        </p:txBody>
      </p:sp>
      <p:sp>
        <p:nvSpPr>
          <p:cNvPr id="6" name="Shape 4"/>
          <p:cNvSpPr/>
          <p:nvPr/>
        </p:nvSpPr>
        <p:spPr>
          <a:xfrm>
            <a:off x="457200" y="1755648"/>
            <a:ext cx="8229600" cy="932688"/>
          </a:xfrm>
          <a:prstGeom prst="roundRect">
            <a:avLst>
              <a:gd name="adj" fmla="val 7843"/>
            </a:avLst>
          </a:prstGeom>
          <a:solidFill>
            <a:srgbClr val="FFFFFF"/>
          </a:solidFill>
          <a:ln w="12700">
            <a:solidFill>
              <a:srgbClr val="DDE0E6"/>
            </a:solidFill>
            <a:prstDash val="solid"/>
          </a:ln>
        </p:spPr>
      </p:sp>
      <p:sp>
        <p:nvSpPr>
          <p:cNvPr id="7" name="Shape 5"/>
          <p:cNvSpPr/>
          <p:nvPr/>
        </p:nvSpPr>
        <p:spPr>
          <a:xfrm>
            <a:off x="594360" y="1956816"/>
            <a:ext cx="621792" cy="530352"/>
          </a:xfrm>
          <a:prstGeom prst="roundRect">
            <a:avLst>
              <a:gd name="adj" fmla="val 10345"/>
            </a:avLst>
          </a:prstGeom>
          <a:solidFill>
            <a:srgbClr val="C8161D"/>
          </a:solidFill>
          <a:ln w="12700">
            <a:solidFill>
              <a:srgbClr val="C8161D"/>
            </a:solidFill>
            <a:prstDash val="solid"/>
          </a:ln>
        </p:spPr>
      </p:sp>
      <p:sp>
        <p:nvSpPr>
          <p:cNvPr id="8" name="Text 6"/>
          <p:cNvSpPr/>
          <p:nvPr/>
        </p:nvSpPr>
        <p:spPr>
          <a:xfrm>
            <a:off x="594360" y="1956816"/>
            <a:ext cx="62179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Gothic" pitchFamily="34" charset="0"/>
                <a:ea typeface="BIZ UDPGothic" pitchFamily="34" charset="-122"/>
                <a:cs typeface="BIZ UDPGothic" pitchFamily="34" charset="-120"/>
              </a:rPr>
              <a:t>医</a:t>
            </a:r>
            <a:endParaRPr lang="en-US" sz="1800" dirty="0"/>
          </a:p>
        </p:txBody>
      </p:sp>
      <p:sp>
        <p:nvSpPr>
          <p:cNvPr id="9" name="Text 7"/>
          <p:cNvSpPr/>
          <p:nvPr/>
        </p:nvSpPr>
        <p:spPr>
          <a:xfrm>
            <a:off x="1353312" y="1847088"/>
            <a:ext cx="7132320" cy="347472"/>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医師・薬剤師・高度看護師</a:t>
            </a:r>
            <a:endParaRPr lang="en-US" sz="1400" dirty="0"/>
          </a:p>
        </p:txBody>
      </p:sp>
      <p:sp>
        <p:nvSpPr>
          <p:cNvPr id="10" name="Text 8"/>
          <p:cNvSpPr/>
          <p:nvPr/>
        </p:nvSpPr>
        <p:spPr>
          <a:xfrm>
            <a:off x="1353312" y="2231136"/>
            <a:ext cx="713232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命に関わる判断には高度な専門知識と倫理観が不可欠</a:t>
            </a:r>
            <a:endParaRPr lang="en-US" sz="1100" dirty="0"/>
          </a:p>
        </p:txBody>
      </p:sp>
      <p:sp>
        <p:nvSpPr>
          <p:cNvPr id="11" name="Shape 9"/>
          <p:cNvSpPr/>
          <p:nvPr/>
        </p:nvSpPr>
        <p:spPr>
          <a:xfrm>
            <a:off x="457200" y="2816352"/>
            <a:ext cx="8229600" cy="932688"/>
          </a:xfrm>
          <a:prstGeom prst="roundRect">
            <a:avLst>
              <a:gd name="adj" fmla="val 7843"/>
            </a:avLst>
          </a:prstGeom>
          <a:solidFill>
            <a:srgbClr val="FFFFFF"/>
          </a:solidFill>
          <a:ln w="12700">
            <a:solidFill>
              <a:srgbClr val="DDE0E6"/>
            </a:solidFill>
            <a:prstDash val="solid"/>
          </a:ln>
        </p:spPr>
      </p:sp>
      <p:sp>
        <p:nvSpPr>
          <p:cNvPr id="12" name="Shape 10"/>
          <p:cNvSpPr/>
          <p:nvPr/>
        </p:nvSpPr>
        <p:spPr>
          <a:xfrm>
            <a:off x="594360" y="3017520"/>
            <a:ext cx="621792" cy="530352"/>
          </a:xfrm>
          <a:prstGeom prst="roundRect">
            <a:avLst>
              <a:gd name="adj" fmla="val 10345"/>
            </a:avLst>
          </a:prstGeom>
          <a:solidFill>
            <a:srgbClr val="C8161D"/>
          </a:solidFill>
          <a:ln w="12700">
            <a:solidFill>
              <a:srgbClr val="C8161D"/>
            </a:solidFill>
            <a:prstDash val="solid"/>
          </a:ln>
        </p:spPr>
      </p:sp>
      <p:sp>
        <p:nvSpPr>
          <p:cNvPr id="13" name="Text 11"/>
          <p:cNvSpPr/>
          <p:nvPr/>
        </p:nvSpPr>
        <p:spPr>
          <a:xfrm>
            <a:off x="594360" y="3017520"/>
            <a:ext cx="62179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Gothic" pitchFamily="34" charset="0"/>
                <a:ea typeface="BIZ UDPGothic" pitchFamily="34" charset="-122"/>
                <a:cs typeface="BIZ UDPGothic" pitchFamily="34" charset="-120"/>
              </a:rPr>
              <a:t>警</a:t>
            </a:r>
            <a:endParaRPr lang="en-US" sz="1800" dirty="0"/>
          </a:p>
        </p:txBody>
      </p:sp>
      <p:sp>
        <p:nvSpPr>
          <p:cNvPr id="14" name="Text 12"/>
          <p:cNvSpPr/>
          <p:nvPr/>
        </p:nvSpPr>
        <p:spPr>
          <a:xfrm>
            <a:off x="1353312" y="2907792"/>
            <a:ext cx="7132320" cy="347472"/>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警察・消防</a:t>
            </a:r>
            <a:endParaRPr lang="en-US" sz="1400" dirty="0"/>
          </a:p>
        </p:txBody>
      </p:sp>
      <p:sp>
        <p:nvSpPr>
          <p:cNvPr id="15" name="Text 13"/>
          <p:cNvSpPr/>
          <p:nvPr/>
        </p:nvSpPr>
        <p:spPr>
          <a:xfrm>
            <a:off x="1353312" y="3291840"/>
            <a:ext cx="713232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国民の安全を守る職務には組織訓練と強固な規律が必要</a:t>
            </a:r>
            <a:endParaRPr lang="en-US" sz="1100" dirty="0"/>
          </a:p>
        </p:txBody>
      </p:sp>
      <p:sp>
        <p:nvSpPr>
          <p:cNvPr id="16" name="Shape 14"/>
          <p:cNvSpPr/>
          <p:nvPr/>
        </p:nvSpPr>
        <p:spPr>
          <a:xfrm>
            <a:off x="457200" y="3877056"/>
            <a:ext cx="8229600" cy="932688"/>
          </a:xfrm>
          <a:prstGeom prst="roundRect">
            <a:avLst>
              <a:gd name="adj" fmla="val 7843"/>
            </a:avLst>
          </a:prstGeom>
          <a:solidFill>
            <a:srgbClr val="FFFFFF"/>
          </a:solidFill>
          <a:ln w="12700">
            <a:solidFill>
              <a:srgbClr val="DDE0E6"/>
            </a:solidFill>
            <a:prstDash val="solid"/>
          </a:ln>
        </p:spPr>
      </p:sp>
      <p:sp>
        <p:nvSpPr>
          <p:cNvPr id="17" name="Shape 15"/>
          <p:cNvSpPr/>
          <p:nvPr/>
        </p:nvSpPr>
        <p:spPr>
          <a:xfrm>
            <a:off x="594360" y="4078224"/>
            <a:ext cx="621792" cy="530352"/>
          </a:xfrm>
          <a:prstGeom prst="roundRect">
            <a:avLst>
              <a:gd name="adj" fmla="val 10345"/>
            </a:avLst>
          </a:prstGeom>
          <a:solidFill>
            <a:srgbClr val="C8161D"/>
          </a:solidFill>
          <a:ln w="12700">
            <a:solidFill>
              <a:srgbClr val="C8161D"/>
            </a:solidFill>
            <a:prstDash val="solid"/>
          </a:ln>
        </p:spPr>
      </p:sp>
      <p:sp>
        <p:nvSpPr>
          <p:cNvPr id="18" name="Text 16"/>
          <p:cNvSpPr/>
          <p:nvPr/>
        </p:nvSpPr>
        <p:spPr>
          <a:xfrm>
            <a:off x="594360" y="4078224"/>
            <a:ext cx="621792" cy="530352"/>
          </a:xfrm>
          <a:prstGeom prst="rect">
            <a:avLst/>
          </a:prstGeom>
          <a:noFill/>
          <a:ln/>
        </p:spPr>
        <p:txBody>
          <a:bodyPr wrap="square" lIns="0" tIns="0" rIns="0" bIns="0" rtlCol="0" anchor="ctr"/>
          <a:lstStyle/>
          <a:p>
            <a:pPr algn="ctr" indent="0" marL="0">
              <a:buNone/>
            </a:pPr>
            <a:r>
              <a:rPr lang="en-US" sz="1800" b="1" dirty="0">
                <a:solidFill>
                  <a:srgbClr val="FFFFFF"/>
                </a:solidFill>
                <a:latin typeface="BIZ UDPGothic" pitchFamily="34" charset="0"/>
                <a:ea typeface="BIZ UDPGothic" pitchFamily="34" charset="-122"/>
                <a:cs typeface="BIZ UDPGothic" pitchFamily="34" charset="-120"/>
              </a:rPr>
              <a:t>防</a:t>
            </a:r>
            <a:endParaRPr lang="en-US" sz="1800" dirty="0"/>
          </a:p>
        </p:txBody>
      </p:sp>
      <p:sp>
        <p:nvSpPr>
          <p:cNvPr id="19" name="Text 17"/>
          <p:cNvSpPr/>
          <p:nvPr/>
        </p:nvSpPr>
        <p:spPr>
          <a:xfrm>
            <a:off x="1353312" y="3968496"/>
            <a:ext cx="7132320" cy="347472"/>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自衛隊（防衛大学校等）</a:t>
            </a:r>
            <a:endParaRPr lang="en-US" sz="1400" dirty="0"/>
          </a:p>
        </p:txBody>
      </p:sp>
      <p:sp>
        <p:nvSpPr>
          <p:cNvPr id="20" name="Text 18"/>
          <p:cNvSpPr/>
          <p:nvPr/>
        </p:nvSpPr>
        <p:spPr>
          <a:xfrm>
            <a:off x="1353312" y="4352544"/>
            <a:ext cx="7132320" cy="347472"/>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国家安全保障の担い手として、高度な専門教育と任官訓練が前提</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ROUTE 02 — FUNDING</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600" b="1" dirty="0">
                <a:solidFill>
                  <a:srgbClr val="16181D"/>
                </a:solidFill>
                <a:latin typeface="BIZ UDPGothic" pitchFamily="34" charset="0"/>
                <a:ea typeface="BIZ UDPGothic" pitchFamily="34" charset="-122"/>
                <a:cs typeface="BIZ UDPGothic" pitchFamily="34" charset="-120"/>
              </a:rPr>
              <a:t>国費で育てた以上、10年は国に返す</a:t>
            </a:r>
            <a:endParaRPr lang="en-US" sz="36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417320"/>
            <a:ext cx="2651760" cy="3108960"/>
          </a:xfrm>
          <a:prstGeom prst="roundRect">
            <a:avLst>
              <a:gd name="adj" fmla="val 2759"/>
            </a:avLst>
          </a:prstGeom>
          <a:solidFill>
            <a:srgbClr val="FFFFFF"/>
          </a:solidFill>
          <a:ln w="12700">
            <a:solidFill>
              <a:srgbClr val="DDE0E6"/>
            </a:solidFill>
            <a:prstDash val="solid"/>
          </a:ln>
        </p:spPr>
      </p:sp>
      <p:sp>
        <p:nvSpPr>
          <p:cNvPr id="6" name="Text 4"/>
          <p:cNvSpPr/>
          <p:nvPr/>
        </p:nvSpPr>
        <p:spPr>
          <a:xfrm>
            <a:off x="594360" y="1554480"/>
            <a:ext cx="2377440" cy="438912"/>
          </a:xfrm>
          <a:prstGeom prst="rect">
            <a:avLst/>
          </a:prstGeom>
          <a:noFill/>
          <a:ln/>
        </p:spPr>
        <p:txBody>
          <a:bodyPr wrap="square" lIns="0" tIns="0" rIns="0" bIns="0" rtlCol="0" anchor="ctr"/>
          <a:lstStyle/>
          <a:p>
            <a:pPr algn="ctr" indent="0" marL="0">
              <a:buNone/>
            </a:pPr>
            <a:r>
              <a:rPr lang="en-US" sz="1500" b="1" dirty="0">
                <a:solidFill>
                  <a:srgbClr val="16181D"/>
                </a:solidFill>
                <a:latin typeface="BIZ UDPGothic" pitchFamily="34" charset="0"/>
                <a:ea typeface="BIZ UDPGothic" pitchFamily="34" charset="-122"/>
                <a:cs typeface="BIZ UDPGothic" pitchFamily="34" charset="-120"/>
              </a:rPr>
              <a:t>費用負担</a:t>
            </a:r>
            <a:endParaRPr lang="en-US" sz="1500" dirty="0"/>
          </a:p>
        </p:txBody>
      </p:sp>
      <p:sp>
        <p:nvSpPr>
          <p:cNvPr id="7" name="Shape 5"/>
          <p:cNvSpPr/>
          <p:nvPr/>
        </p:nvSpPr>
        <p:spPr>
          <a:xfrm>
            <a:off x="868680" y="2029968"/>
            <a:ext cx="1828800" cy="10973"/>
          </a:xfrm>
          <a:prstGeom prst="rect">
            <a:avLst/>
          </a:prstGeom>
          <a:solidFill>
            <a:srgbClr val="DDE0E6"/>
          </a:solidFill>
          <a:ln w="12700">
            <a:solidFill>
              <a:srgbClr val="DDE0E6"/>
            </a:solidFill>
            <a:prstDash val="solid"/>
          </a:ln>
        </p:spPr>
      </p:sp>
      <p:sp>
        <p:nvSpPr>
          <p:cNvPr id="8" name="Text 6"/>
          <p:cNvSpPr/>
          <p:nvPr/>
        </p:nvSpPr>
        <p:spPr>
          <a:xfrm>
            <a:off x="594360" y="2139696"/>
            <a:ext cx="2377440" cy="2212848"/>
          </a:xfrm>
          <a:prstGeom prst="rect">
            <a:avLst/>
          </a:prstGeom>
          <a:noFill/>
          <a:ln/>
        </p:spPr>
        <p:txBody>
          <a:bodyPr wrap="square" lIns="0" tIns="0" rIns="0" bIns="0" rtlCol="0" anchor="ctr"/>
          <a:lstStyle/>
          <a:p>
            <a:pPr algn="ctr" indent="0" marL="0">
              <a:buNone/>
            </a:pPr>
            <a:r>
              <a:rPr lang="en-US" sz="1100" dirty="0">
                <a:solidFill>
                  <a:srgbClr val="2B2F36"/>
                </a:solidFill>
                <a:latin typeface="Arial" pitchFamily="34" charset="0"/>
                <a:ea typeface="BIZ UDPGothic" pitchFamily="34" charset="-122"/>
                <a:cs typeface="BIZ UDPGothic" pitchFamily="34" charset="-120"/>
              </a:rPr>
              <a:t>基本は国費。</a:t>
            </a:r>
            <a:endParaRPr lang="en-US" sz="1100" dirty="0"/>
          </a:p>
          <a:p>
            <a:pPr algn="ctr" indent="0" marL="0">
              <a:buNone/>
            </a:pPr>
            <a:r>
              <a:rPr lang="en-US" sz="1100" dirty="0">
                <a:solidFill>
                  <a:srgbClr val="2B2F36"/>
                </a:solidFill>
                <a:latin typeface="Arial" pitchFamily="34" charset="0"/>
                <a:ea typeface="BIZ UDPGothic" pitchFamily="34" charset="-122"/>
                <a:cs typeface="BIZ UDPGothic" pitchFamily="34" charset="-120"/>
              </a:rPr>
              <a:t>専門学校程度の学費のみ自費負担。</a:t>
            </a:r>
            <a:endParaRPr lang="en-US" sz="1100" dirty="0"/>
          </a:p>
          <a:p>
            <a:pPr algn="ctr" indent="0" marL="0">
              <a:buNone/>
            </a:pPr>
            <a:r>
              <a:rPr lang="en-US" sz="1100" dirty="0">
                <a:solidFill>
                  <a:srgbClr val="2B2F36"/>
                </a:solidFill>
                <a:latin typeface="Arial" pitchFamily="34" charset="0"/>
                <a:ea typeface="BIZ UDPGothic" pitchFamily="34" charset="-122"/>
                <a:cs typeface="BIZ UDPGothic" pitchFamily="34" charset="-120"/>
              </a:rPr>
              <a:t>親の経済力に関係なく、意志と適性で進める。</a:t>
            </a:r>
            <a:endParaRPr lang="en-US" sz="1100" dirty="0"/>
          </a:p>
        </p:txBody>
      </p:sp>
      <p:sp>
        <p:nvSpPr>
          <p:cNvPr id="9" name="Shape 7"/>
          <p:cNvSpPr/>
          <p:nvPr/>
        </p:nvSpPr>
        <p:spPr>
          <a:xfrm>
            <a:off x="3310128" y="1417320"/>
            <a:ext cx="2651760" cy="3108960"/>
          </a:xfrm>
          <a:prstGeom prst="roundRect">
            <a:avLst>
              <a:gd name="adj" fmla="val 2759"/>
            </a:avLst>
          </a:prstGeom>
          <a:solidFill>
            <a:srgbClr val="FFFFFF"/>
          </a:solidFill>
          <a:ln w="12700">
            <a:solidFill>
              <a:srgbClr val="DDE0E6"/>
            </a:solidFill>
            <a:prstDash val="solid"/>
          </a:ln>
        </p:spPr>
      </p:sp>
      <p:sp>
        <p:nvSpPr>
          <p:cNvPr id="10" name="Text 8"/>
          <p:cNvSpPr/>
          <p:nvPr/>
        </p:nvSpPr>
        <p:spPr>
          <a:xfrm>
            <a:off x="3447288" y="1554480"/>
            <a:ext cx="2377440" cy="438912"/>
          </a:xfrm>
          <a:prstGeom prst="rect">
            <a:avLst/>
          </a:prstGeom>
          <a:noFill/>
          <a:ln/>
        </p:spPr>
        <p:txBody>
          <a:bodyPr wrap="square" lIns="0" tIns="0" rIns="0" bIns="0" rtlCol="0" anchor="ctr"/>
          <a:lstStyle/>
          <a:p>
            <a:pPr algn="ctr" indent="0" marL="0">
              <a:buNone/>
            </a:pPr>
            <a:r>
              <a:rPr lang="en-US" sz="1500" b="1" dirty="0">
                <a:solidFill>
                  <a:srgbClr val="C8161D"/>
                </a:solidFill>
                <a:latin typeface="BIZ UDPGothic" pitchFamily="34" charset="0"/>
                <a:ea typeface="BIZ UDPGothic" pitchFamily="34" charset="-122"/>
                <a:cs typeface="BIZ UDPGothic" pitchFamily="34" charset="-120"/>
              </a:rPr>
              <a:t>従事義務</a:t>
            </a:r>
            <a:endParaRPr lang="en-US" sz="1500" dirty="0"/>
          </a:p>
        </p:txBody>
      </p:sp>
      <p:sp>
        <p:nvSpPr>
          <p:cNvPr id="11" name="Shape 9"/>
          <p:cNvSpPr/>
          <p:nvPr/>
        </p:nvSpPr>
        <p:spPr>
          <a:xfrm>
            <a:off x="3721608" y="2029968"/>
            <a:ext cx="1828800" cy="10973"/>
          </a:xfrm>
          <a:prstGeom prst="rect">
            <a:avLst/>
          </a:prstGeom>
          <a:solidFill>
            <a:srgbClr val="DDE0E6"/>
          </a:solidFill>
          <a:ln w="12700">
            <a:solidFill>
              <a:srgbClr val="DDE0E6"/>
            </a:solidFill>
            <a:prstDash val="solid"/>
          </a:ln>
        </p:spPr>
      </p:sp>
      <p:sp>
        <p:nvSpPr>
          <p:cNvPr id="12" name="Text 10"/>
          <p:cNvSpPr/>
          <p:nvPr/>
        </p:nvSpPr>
        <p:spPr>
          <a:xfrm>
            <a:off x="3447288" y="2139696"/>
            <a:ext cx="2377440" cy="2212848"/>
          </a:xfrm>
          <a:prstGeom prst="rect">
            <a:avLst/>
          </a:prstGeom>
          <a:noFill/>
          <a:ln/>
        </p:spPr>
        <p:txBody>
          <a:bodyPr wrap="square" lIns="0" tIns="0" rIns="0" bIns="0" rtlCol="0" anchor="ctr"/>
          <a:lstStyle/>
          <a:p>
            <a:pPr algn="ctr" indent="0" marL="0">
              <a:buNone/>
            </a:pPr>
            <a:r>
              <a:rPr lang="en-US" sz="1100" dirty="0">
                <a:solidFill>
                  <a:srgbClr val="2B2F36"/>
                </a:solidFill>
                <a:latin typeface="Arial" pitchFamily="34" charset="0"/>
                <a:ea typeface="BIZ UDPGothic" pitchFamily="34" charset="-122"/>
                <a:cs typeface="BIZ UDPGothic" pitchFamily="34" charset="-120"/>
              </a:rPr>
              <a:t>卒業・任官後10年間（医療・公安・防衛ともに共通）。シンプルで明快な原則。</a:t>
            </a:r>
            <a:endParaRPr lang="en-US" sz="1100" dirty="0"/>
          </a:p>
        </p:txBody>
      </p:sp>
      <p:sp>
        <p:nvSpPr>
          <p:cNvPr id="13" name="Shape 11"/>
          <p:cNvSpPr/>
          <p:nvPr/>
        </p:nvSpPr>
        <p:spPr>
          <a:xfrm>
            <a:off x="6163056" y="1417320"/>
            <a:ext cx="2651760" cy="3108960"/>
          </a:xfrm>
          <a:prstGeom prst="roundRect">
            <a:avLst>
              <a:gd name="adj" fmla="val 2759"/>
            </a:avLst>
          </a:prstGeom>
          <a:solidFill>
            <a:srgbClr val="FFFFFF"/>
          </a:solidFill>
          <a:ln w="12700">
            <a:solidFill>
              <a:srgbClr val="DDE0E6"/>
            </a:solidFill>
            <a:prstDash val="solid"/>
          </a:ln>
        </p:spPr>
      </p:sp>
      <p:sp>
        <p:nvSpPr>
          <p:cNvPr id="14" name="Text 12"/>
          <p:cNvSpPr/>
          <p:nvPr/>
        </p:nvSpPr>
        <p:spPr>
          <a:xfrm>
            <a:off x="6300216" y="1554480"/>
            <a:ext cx="2377440" cy="438912"/>
          </a:xfrm>
          <a:prstGeom prst="rect">
            <a:avLst/>
          </a:prstGeom>
          <a:noFill/>
          <a:ln/>
        </p:spPr>
        <p:txBody>
          <a:bodyPr wrap="square" lIns="0" tIns="0" rIns="0" bIns="0" rtlCol="0" anchor="ctr"/>
          <a:lstStyle/>
          <a:p>
            <a:pPr algn="ctr" indent="0" marL="0">
              <a:buNone/>
            </a:pPr>
            <a:r>
              <a:rPr lang="en-US" sz="1500" b="1" dirty="0">
                <a:solidFill>
                  <a:srgbClr val="1D4F91"/>
                </a:solidFill>
                <a:latin typeface="BIZ UDPGothic" pitchFamily="34" charset="0"/>
                <a:ea typeface="BIZ UDPGothic" pitchFamily="34" charset="-122"/>
                <a:cs typeface="BIZ UDPGothic" pitchFamily="34" charset="-120"/>
              </a:rPr>
              <a:t>義務終了後</a:t>
            </a:r>
            <a:endParaRPr lang="en-US" sz="1500" dirty="0"/>
          </a:p>
        </p:txBody>
      </p:sp>
      <p:sp>
        <p:nvSpPr>
          <p:cNvPr id="15" name="Shape 13"/>
          <p:cNvSpPr/>
          <p:nvPr/>
        </p:nvSpPr>
        <p:spPr>
          <a:xfrm>
            <a:off x="6574536" y="2029968"/>
            <a:ext cx="1828800" cy="10973"/>
          </a:xfrm>
          <a:prstGeom prst="rect">
            <a:avLst/>
          </a:prstGeom>
          <a:solidFill>
            <a:srgbClr val="DDE0E6"/>
          </a:solidFill>
          <a:ln w="12700">
            <a:solidFill>
              <a:srgbClr val="DDE0E6"/>
            </a:solidFill>
            <a:prstDash val="solid"/>
          </a:ln>
        </p:spPr>
      </p:sp>
      <p:sp>
        <p:nvSpPr>
          <p:cNvPr id="16" name="Text 14"/>
          <p:cNvSpPr/>
          <p:nvPr/>
        </p:nvSpPr>
        <p:spPr>
          <a:xfrm>
            <a:off x="6300216" y="2139696"/>
            <a:ext cx="2377440" cy="2212848"/>
          </a:xfrm>
          <a:prstGeom prst="rect">
            <a:avLst/>
          </a:prstGeom>
          <a:noFill/>
          <a:ln/>
        </p:spPr>
        <p:txBody>
          <a:bodyPr wrap="square" lIns="0" tIns="0" rIns="0" bIns="0" rtlCol="0" anchor="ctr"/>
          <a:lstStyle/>
          <a:p>
            <a:pPr algn="ctr" indent="0" marL="0">
              <a:buNone/>
            </a:pPr>
            <a:r>
              <a:rPr lang="en-US" sz="1100" dirty="0">
                <a:solidFill>
                  <a:srgbClr val="2B2F36"/>
                </a:solidFill>
                <a:latin typeface="Arial" pitchFamily="34" charset="0"/>
                <a:ea typeface="BIZ UDPGothic" pitchFamily="34" charset="-122"/>
                <a:cs typeface="BIZ UDPGothic" pitchFamily="34" charset="-120"/>
              </a:rPr>
              <a:t>完全自由。民間転職・開業・海外移住を含め一切の制限なし。余計な縛りをつけない。</a:t>
            </a:r>
            <a:endParaRPr lang="en-US" sz="1100" dirty="0"/>
          </a:p>
        </p:txBody>
      </p:sp>
      <p:sp>
        <p:nvSpPr>
          <p:cNvPr id="17" name="Shape 15"/>
          <p:cNvSpPr/>
          <p:nvPr/>
        </p:nvSpPr>
        <p:spPr>
          <a:xfrm>
            <a:off x="457200" y="4663440"/>
            <a:ext cx="8229600" cy="384048"/>
          </a:xfrm>
          <a:prstGeom prst="roundRect">
            <a:avLst>
              <a:gd name="adj" fmla="val 19048"/>
            </a:avLst>
          </a:prstGeom>
          <a:solidFill>
            <a:srgbClr val="FFFFFF"/>
          </a:solidFill>
          <a:ln w="12700">
            <a:solidFill>
              <a:srgbClr val="DDE0E6"/>
            </a:solidFill>
            <a:prstDash val="solid"/>
          </a:ln>
        </p:spPr>
      </p:sp>
      <p:sp>
        <p:nvSpPr>
          <p:cNvPr id="18" name="Text 16"/>
          <p:cNvSpPr/>
          <p:nvPr/>
        </p:nvSpPr>
        <p:spPr>
          <a:xfrm>
            <a:off x="594360" y="4663440"/>
            <a:ext cx="7955280" cy="384048"/>
          </a:xfrm>
          <a:prstGeom prst="rect">
            <a:avLst/>
          </a:prstGeom>
          <a:noFill/>
          <a:ln/>
        </p:spPr>
        <p:txBody>
          <a:bodyPr wrap="square" lIns="0" tIns="0" rIns="0" bIns="0" rtlCol="0" anchor="ctr"/>
          <a:lstStyle/>
          <a:p>
            <a:pPr algn="ctr" indent="0" marL="0">
              <a:buNone/>
            </a:pPr>
            <a:r>
              <a:rPr lang="en-US" sz="1100" b="1" dirty="0">
                <a:solidFill>
                  <a:srgbClr val="16181D"/>
                </a:solidFill>
                <a:latin typeface="BIZ UDPGothic" pitchFamily="34" charset="0"/>
                <a:ea typeface="BIZ UDPGothic" pitchFamily="34" charset="-122"/>
                <a:cs typeface="BIZ UDPGothic" pitchFamily="34" charset="-120"/>
              </a:rPr>
              <a:t>「国費で育てる」＝「10年で返す」。シンプルな原則が制度への信頼をつくる</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ROUTE 03</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000" b="1" dirty="0">
                <a:solidFill>
                  <a:srgbClr val="16181D"/>
                </a:solidFill>
                <a:latin typeface="BIZ UDPGothic" pitchFamily="34" charset="0"/>
                <a:ea typeface="BIZ UDPGothic" pitchFamily="34" charset="-122"/>
                <a:cs typeface="BIZ UDPGothic" pitchFamily="34" charset="-120"/>
              </a:rPr>
              <a:t>天才・研究者ルート ── 上位数％のトップインテリジェンス</a:t>
            </a:r>
            <a:endParaRPr lang="en-US" sz="20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25880"/>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高校卒業時点で突出した才能・成果を示した人材を国費で選抜。親の経済力に関係なく10代から最先端研究へ。</a:t>
            </a:r>
            <a:endParaRPr lang="en-US" sz="1100" dirty="0"/>
          </a:p>
        </p:txBody>
      </p:sp>
      <p:sp>
        <p:nvSpPr>
          <p:cNvPr id="6" name="Shape 4"/>
          <p:cNvSpPr/>
          <p:nvPr/>
        </p:nvSpPr>
        <p:spPr>
          <a:xfrm>
            <a:off x="457200" y="1719072"/>
            <a:ext cx="4023360" cy="3108960"/>
          </a:xfrm>
          <a:prstGeom prst="roundRect">
            <a:avLst>
              <a:gd name="adj" fmla="val 2353"/>
            </a:avLst>
          </a:prstGeom>
          <a:solidFill>
            <a:srgbClr val="FFFFFF"/>
          </a:solidFill>
          <a:ln w="12700">
            <a:solidFill>
              <a:srgbClr val="DDE0E6"/>
            </a:solidFill>
            <a:prstDash val="solid"/>
          </a:ln>
        </p:spPr>
      </p:sp>
      <p:sp>
        <p:nvSpPr>
          <p:cNvPr id="7" name="Text 5"/>
          <p:cNvSpPr/>
          <p:nvPr/>
        </p:nvSpPr>
        <p:spPr>
          <a:xfrm>
            <a:off x="594360" y="1828800"/>
            <a:ext cx="3749040" cy="365760"/>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制度設計</a:t>
            </a:r>
            <a:endParaRPr lang="en-US" sz="1400" dirty="0"/>
          </a:p>
        </p:txBody>
      </p:sp>
      <p:sp>
        <p:nvSpPr>
          <p:cNvPr id="8" name="Text 6"/>
          <p:cNvSpPr/>
          <p:nvPr/>
        </p:nvSpPr>
        <p:spPr>
          <a:xfrm>
            <a:off x="594360" y="2249424"/>
            <a:ext cx="3749040" cy="2468880"/>
          </a:xfrm>
          <a:prstGeom prst="rect">
            <a:avLst/>
          </a:prstGeom>
          <a:noFill/>
          <a:ln/>
        </p:spPr>
        <p:txBody>
          <a:bodyPr wrap="square" lIns="0" tIns="0" rIns="0" bIns="0" rtlCol="0" anchor="t"/>
          <a:lstStyle/>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対象：数学・物理・文学・AIアルゴリズム等で突出した才能・成果</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行程：高校3年 → 最高峰研究型大学・大学院へ直行</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費用：完全無償（国費選抜）</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選抜：高校卒業時点の研究成果・実績で判定</a:t>
            </a:r>
            <a:endParaRPr lang="en-US" sz="1100" dirty="0"/>
          </a:p>
        </p:txBody>
      </p:sp>
      <p:sp>
        <p:nvSpPr>
          <p:cNvPr id="9" name="Shape 7"/>
          <p:cNvSpPr/>
          <p:nvPr/>
        </p:nvSpPr>
        <p:spPr>
          <a:xfrm>
            <a:off x="4663440" y="1719072"/>
            <a:ext cx="4023360" cy="3108960"/>
          </a:xfrm>
          <a:prstGeom prst="roundRect">
            <a:avLst>
              <a:gd name="adj" fmla="val 2353"/>
            </a:avLst>
          </a:prstGeom>
          <a:solidFill>
            <a:srgbClr val="FCEBEB"/>
          </a:solidFill>
          <a:ln w="12700">
            <a:solidFill>
              <a:srgbClr val="DDE0E6"/>
            </a:solidFill>
            <a:prstDash val="solid"/>
          </a:ln>
        </p:spPr>
      </p:sp>
      <p:sp>
        <p:nvSpPr>
          <p:cNvPr id="10" name="Text 8"/>
          <p:cNvSpPr/>
          <p:nvPr/>
        </p:nvSpPr>
        <p:spPr>
          <a:xfrm>
            <a:off x="4800600" y="1828800"/>
            <a:ext cx="3749040" cy="365760"/>
          </a:xfrm>
          <a:prstGeom prst="rect">
            <a:avLst/>
          </a:prstGeom>
          <a:noFill/>
          <a:ln/>
        </p:spPr>
        <p:txBody>
          <a:bodyPr wrap="square" lIns="0" tIns="0" rIns="0" bIns="0" rtlCol="0" anchor="ctr"/>
          <a:lstStyle/>
          <a:p>
            <a:pPr indent="0" marL="0">
              <a:buNone/>
            </a:pPr>
            <a:r>
              <a:rPr lang="en-US" sz="1400" b="1" dirty="0">
                <a:solidFill>
                  <a:srgbClr val="1D4F91"/>
                </a:solidFill>
                <a:latin typeface="BIZ UDPGothic" pitchFamily="34" charset="0"/>
                <a:ea typeface="BIZ UDPGothic" pitchFamily="34" charset="-122"/>
                <a:cs typeface="BIZ UDPGothic" pitchFamily="34" charset="-120"/>
              </a:rPr>
              <a:t>改革の効果</a:t>
            </a:r>
            <a:endParaRPr lang="en-US" sz="1400" dirty="0"/>
          </a:p>
        </p:txBody>
      </p:sp>
      <p:sp>
        <p:nvSpPr>
          <p:cNvPr id="11" name="Text 9"/>
          <p:cNvSpPr/>
          <p:nvPr/>
        </p:nvSpPr>
        <p:spPr>
          <a:xfrm>
            <a:off x="4800600" y="2249424"/>
            <a:ext cx="3749040" cy="2468880"/>
          </a:xfrm>
          <a:prstGeom prst="rect">
            <a:avLst/>
          </a:prstGeom>
          <a:noFill/>
          <a:ln/>
        </p:spPr>
        <p:txBody>
          <a:bodyPr wrap="square" lIns="0" tIns="0" rIns="0" bIns="0" rtlCol="0" anchor="t"/>
          <a:lstStyle/>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大学の絶対数を激減させる根拠になる</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浮いた私学助成金をトップ研究機関の研究開発費へ全額投入</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「才能があれば家庭の経済力は関係ない」を制度として実現</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日本の研究力・国際競争力の再建</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UNIVERSITY PROBLEM</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400" b="1" dirty="0">
                <a:solidFill>
                  <a:srgbClr val="16181D"/>
                </a:solidFill>
                <a:latin typeface="BIZ UDPGothic" pitchFamily="34" charset="0"/>
                <a:ea typeface="BIZ UDPGothic" pitchFamily="34" charset="-122"/>
                <a:cs typeface="BIZ UDPGothic" pitchFamily="34" charset="-120"/>
              </a:rPr>
              <a:t>大学制度の現状：「人気取り」が経営軸になっている</a:t>
            </a:r>
            <a:endParaRPr lang="en-US" sz="24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417320"/>
            <a:ext cx="4114800" cy="1426464"/>
          </a:xfrm>
          <a:prstGeom prst="roundRect">
            <a:avLst>
              <a:gd name="adj" fmla="val 5128"/>
            </a:avLst>
          </a:prstGeom>
          <a:solidFill>
            <a:srgbClr val="FFFFFF"/>
          </a:solidFill>
          <a:ln w="12700">
            <a:solidFill>
              <a:srgbClr val="DDE0E6"/>
            </a:solidFill>
            <a:prstDash val="solid"/>
          </a:ln>
        </p:spPr>
      </p:sp>
      <p:sp>
        <p:nvSpPr>
          <p:cNvPr id="6" name="Text 4"/>
          <p:cNvSpPr/>
          <p:nvPr/>
        </p:nvSpPr>
        <p:spPr>
          <a:xfrm>
            <a:off x="594360" y="1581912"/>
            <a:ext cx="3840480" cy="694944"/>
          </a:xfrm>
          <a:prstGeom prst="rect">
            <a:avLst/>
          </a:prstGeom>
          <a:noFill/>
          <a:ln/>
        </p:spPr>
        <p:txBody>
          <a:bodyPr wrap="square" lIns="0" tIns="0" rIns="0" bIns="0" rtlCol="0" anchor="ctr"/>
          <a:lstStyle/>
          <a:p>
            <a:pPr algn="ctr" indent="0" marL="0">
              <a:buNone/>
            </a:pPr>
            <a:r>
              <a:rPr lang="en-US" sz="2800" b="1" dirty="0">
                <a:solidFill>
                  <a:srgbClr val="C8161D"/>
                </a:solidFill>
                <a:latin typeface="BIZ UDPGothic" pitchFamily="34" charset="0"/>
                <a:ea typeface="BIZ UDPGothic" pitchFamily="34" charset="-122"/>
                <a:cs typeface="BIZ UDPGothic" pitchFamily="34" charset="-120"/>
              </a:rPr>
              <a:t>約800校</a:t>
            </a:r>
            <a:endParaRPr lang="en-US" sz="2800" dirty="0"/>
          </a:p>
        </p:txBody>
      </p:sp>
      <p:sp>
        <p:nvSpPr>
          <p:cNvPr id="7" name="Text 5"/>
          <p:cNvSpPr/>
          <p:nvPr/>
        </p:nvSpPr>
        <p:spPr>
          <a:xfrm>
            <a:off x="594360" y="2313432"/>
            <a:ext cx="3840480" cy="402336"/>
          </a:xfrm>
          <a:prstGeom prst="rect">
            <a:avLst/>
          </a:prstGeom>
          <a:noFill/>
          <a:ln/>
        </p:spPr>
        <p:txBody>
          <a:bodyPr wrap="square" lIns="0" tIns="0" rIns="0" bIns="0" rtlCol="0" anchor="ctr"/>
          <a:lstStyle/>
          <a:p>
            <a:pPr algn="ctr" indent="0" marL="0">
              <a:buNone/>
            </a:pPr>
            <a:r>
              <a:rPr lang="en-US" sz="1200" dirty="0">
                <a:solidFill>
                  <a:srgbClr val="2B2F36"/>
                </a:solidFill>
                <a:latin typeface="Arial" pitchFamily="34" charset="0"/>
                <a:ea typeface="BIZ UDPGothic" pitchFamily="34" charset="-122"/>
                <a:cs typeface="BIZ UDPGothic" pitchFamily="34" charset="-120"/>
              </a:rPr>
              <a:t>日本の大学数</a:t>
            </a:r>
            <a:endParaRPr lang="en-US" sz="1200" dirty="0"/>
          </a:p>
        </p:txBody>
      </p:sp>
      <p:sp>
        <p:nvSpPr>
          <p:cNvPr id="8" name="Shape 6"/>
          <p:cNvSpPr/>
          <p:nvPr/>
        </p:nvSpPr>
        <p:spPr>
          <a:xfrm>
            <a:off x="4800600" y="1417320"/>
            <a:ext cx="4114800" cy="1426464"/>
          </a:xfrm>
          <a:prstGeom prst="roundRect">
            <a:avLst>
              <a:gd name="adj" fmla="val 5128"/>
            </a:avLst>
          </a:prstGeom>
          <a:solidFill>
            <a:srgbClr val="FFFFFF"/>
          </a:solidFill>
          <a:ln w="12700">
            <a:solidFill>
              <a:srgbClr val="DDE0E6"/>
            </a:solidFill>
            <a:prstDash val="solid"/>
          </a:ln>
        </p:spPr>
      </p:sp>
      <p:sp>
        <p:nvSpPr>
          <p:cNvPr id="9" name="Text 7"/>
          <p:cNvSpPr/>
          <p:nvPr/>
        </p:nvSpPr>
        <p:spPr>
          <a:xfrm>
            <a:off x="4937760" y="1581912"/>
            <a:ext cx="3840480" cy="694944"/>
          </a:xfrm>
          <a:prstGeom prst="rect">
            <a:avLst/>
          </a:prstGeom>
          <a:noFill/>
          <a:ln/>
        </p:spPr>
        <p:txBody>
          <a:bodyPr wrap="square" lIns="0" tIns="0" rIns="0" bIns="0" rtlCol="0" anchor="ctr"/>
          <a:lstStyle/>
          <a:p>
            <a:pPr algn="ctr" indent="0" marL="0">
              <a:buNone/>
            </a:pPr>
            <a:r>
              <a:rPr lang="en-US" sz="2800" b="1" dirty="0">
                <a:solidFill>
                  <a:srgbClr val="C8161D"/>
                </a:solidFill>
                <a:latin typeface="BIZ UDPGothic" pitchFamily="34" charset="0"/>
                <a:ea typeface="BIZ UDPGothic" pitchFamily="34" charset="-122"/>
                <a:cs typeface="BIZ UDPGothic" pitchFamily="34" charset="-120"/>
              </a:rPr>
              <a:t>約4割</a:t>
            </a:r>
            <a:endParaRPr lang="en-US" sz="2800" dirty="0"/>
          </a:p>
        </p:txBody>
      </p:sp>
      <p:sp>
        <p:nvSpPr>
          <p:cNvPr id="10" name="Text 8"/>
          <p:cNvSpPr/>
          <p:nvPr/>
        </p:nvSpPr>
        <p:spPr>
          <a:xfrm>
            <a:off x="4937760" y="2313432"/>
            <a:ext cx="3840480" cy="402336"/>
          </a:xfrm>
          <a:prstGeom prst="rect">
            <a:avLst/>
          </a:prstGeom>
          <a:noFill/>
          <a:ln/>
        </p:spPr>
        <p:txBody>
          <a:bodyPr wrap="square" lIns="0" tIns="0" rIns="0" bIns="0" rtlCol="0" anchor="ctr"/>
          <a:lstStyle/>
          <a:p>
            <a:pPr algn="ctr" indent="0" marL="0">
              <a:buNone/>
            </a:pPr>
            <a:r>
              <a:rPr lang="en-US" sz="1200" dirty="0">
                <a:solidFill>
                  <a:srgbClr val="2B2F36"/>
                </a:solidFill>
                <a:latin typeface="Arial" pitchFamily="34" charset="0"/>
                <a:ea typeface="BIZ UDPGothic" pitchFamily="34" charset="-122"/>
                <a:cs typeface="BIZ UDPGothic" pitchFamily="34" charset="-120"/>
              </a:rPr>
              <a:t>定員割れ大学の割合</a:t>
            </a:r>
            <a:endParaRPr lang="en-US" sz="1200" dirty="0"/>
          </a:p>
        </p:txBody>
      </p:sp>
      <p:sp>
        <p:nvSpPr>
          <p:cNvPr id="11" name="Shape 9"/>
          <p:cNvSpPr/>
          <p:nvPr/>
        </p:nvSpPr>
        <p:spPr>
          <a:xfrm>
            <a:off x="457200" y="2990088"/>
            <a:ext cx="4114800" cy="1426464"/>
          </a:xfrm>
          <a:prstGeom prst="roundRect">
            <a:avLst>
              <a:gd name="adj" fmla="val 5128"/>
            </a:avLst>
          </a:prstGeom>
          <a:solidFill>
            <a:srgbClr val="FFFFFF"/>
          </a:solidFill>
          <a:ln w="12700">
            <a:solidFill>
              <a:srgbClr val="DDE0E6"/>
            </a:solidFill>
            <a:prstDash val="solid"/>
          </a:ln>
        </p:spPr>
      </p:sp>
      <p:sp>
        <p:nvSpPr>
          <p:cNvPr id="12" name="Text 10"/>
          <p:cNvSpPr/>
          <p:nvPr/>
        </p:nvSpPr>
        <p:spPr>
          <a:xfrm>
            <a:off x="594360" y="3154680"/>
            <a:ext cx="3840480" cy="694944"/>
          </a:xfrm>
          <a:prstGeom prst="rect">
            <a:avLst/>
          </a:prstGeom>
          <a:noFill/>
          <a:ln/>
        </p:spPr>
        <p:txBody>
          <a:bodyPr wrap="square" lIns="0" tIns="0" rIns="0" bIns="0" rtlCol="0" anchor="ctr"/>
          <a:lstStyle/>
          <a:p>
            <a:pPr algn="ctr" indent="0" marL="0">
              <a:buNone/>
            </a:pPr>
            <a:r>
              <a:rPr lang="en-US" sz="2800" b="1" dirty="0">
                <a:solidFill>
                  <a:srgbClr val="C8161D"/>
                </a:solidFill>
                <a:latin typeface="BIZ UDPGothic" pitchFamily="34" charset="0"/>
                <a:ea typeface="BIZ UDPGothic" pitchFamily="34" charset="-122"/>
                <a:cs typeface="BIZ UDPGothic" pitchFamily="34" charset="-120"/>
              </a:rPr>
              <a:t>数百万円</a:t>
            </a:r>
            <a:endParaRPr lang="en-US" sz="2800" dirty="0"/>
          </a:p>
        </p:txBody>
      </p:sp>
      <p:sp>
        <p:nvSpPr>
          <p:cNvPr id="13" name="Text 11"/>
          <p:cNvSpPr/>
          <p:nvPr/>
        </p:nvSpPr>
        <p:spPr>
          <a:xfrm>
            <a:off x="594360" y="3886200"/>
            <a:ext cx="3840480" cy="402336"/>
          </a:xfrm>
          <a:prstGeom prst="rect">
            <a:avLst/>
          </a:prstGeom>
          <a:noFill/>
          <a:ln/>
        </p:spPr>
        <p:txBody>
          <a:bodyPr wrap="square" lIns="0" tIns="0" rIns="0" bIns="0" rtlCol="0" anchor="ctr"/>
          <a:lstStyle/>
          <a:p>
            <a:pPr algn="ctr" indent="0" marL="0">
              <a:buNone/>
            </a:pPr>
            <a:r>
              <a:rPr lang="en-US" sz="1200" dirty="0">
                <a:solidFill>
                  <a:srgbClr val="2B2F36"/>
                </a:solidFill>
                <a:latin typeface="Arial" pitchFamily="34" charset="0"/>
                <a:ea typeface="BIZ UDPGothic" pitchFamily="34" charset="-122"/>
                <a:cs typeface="BIZ UDPGothic" pitchFamily="34" charset="-120"/>
              </a:rPr>
              <a:t>私立医学部6年間の学費</a:t>
            </a:r>
            <a:endParaRPr lang="en-US" sz="1200" dirty="0"/>
          </a:p>
        </p:txBody>
      </p:sp>
      <p:sp>
        <p:nvSpPr>
          <p:cNvPr id="14" name="Shape 12"/>
          <p:cNvSpPr/>
          <p:nvPr/>
        </p:nvSpPr>
        <p:spPr>
          <a:xfrm>
            <a:off x="4800600" y="2990088"/>
            <a:ext cx="4114800" cy="1426464"/>
          </a:xfrm>
          <a:prstGeom prst="roundRect">
            <a:avLst>
              <a:gd name="adj" fmla="val 5128"/>
            </a:avLst>
          </a:prstGeom>
          <a:solidFill>
            <a:srgbClr val="FFFFFF"/>
          </a:solidFill>
          <a:ln w="12700">
            <a:solidFill>
              <a:srgbClr val="DDE0E6"/>
            </a:solidFill>
            <a:prstDash val="solid"/>
          </a:ln>
        </p:spPr>
      </p:sp>
      <p:sp>
        <p:nvSpPr>
          <p:cNvPr id="15" name="Text 13"/>
          <p:cNvSpPr/>
          <p:nvPr/>
        </p:nvSpPr>
        <p:spPr>
          <a:xfrm>
            <a:off x="4937760" y="3154680"/>
            <a:ext cx="3840480" cy="694944"/>
          </a:xfrm>
          <a:prstGeom prst="rect">
            <a:avLst/>
          </a:prstGeom>
          <a:noFill/>
          <a:ln/>
        </p:spPr>
        <p:txBody>
          <a:bodyPr wrap="square" lIns="0" tIns="0" rIns="0" bIns="0" rtlCol="0" anchor="ctr"/>
          <a:lstStyle/>
          <a:p>
            <a:pPr algn="ctr" indent="0" marL="0">
              <a:buNone/>
            </a:pPr>
            <a:r>
              <a:rPr lang="en-US" sz="2800" b="1" dirty="0">
                <a:solidFill>
                  <a:srgbClr val="C8161D"/>
                </a:solidFill>
                <a:latin typeface="BIZ UDPGothic" pitchFamily="34" charset="0"/>
                <a:ea typeface="BIZ UDPGothic" pitchFamily="34" charset="-122"/>
                <a:cs typeface="BIZ UDPGothic" pitchFamily="34" charset="-120"/>
              </a:rPr>
              <a:t>1〜2兆円</a:t>
            </a:r>
            <a:endParaRPr lang="en-US" sz="2800" dirty="0"/>
          </a:p>
        </p:txBody>
      </p:sp>
      <p:sp>
        <p:nvSpPr>
          <p:cNvPr id="16" name="Text 14"/>
          <p:cNvSpPr/>
          <p:nvPr/>
        </p:nvSpPr>
        <p:spPr>
          <a:xfrm>
            <a:off x="4937760" y="3886200"/>
            <a:ext cx="3840480" cy="402336"/>
          </a:xfrm>
          <a:prstGeom prst="rect">
            <a:avLst/>
          </a:prstGeom>
          <a:noFill/>
          <a:ln/>
        </p:spPr>
        <p:txBody>
          <a:bodyPr wrap="square" lIns="0" tIns="0" rIns="0" bIns="0" rtlCol="0" anchor="ctr"/>
          <a:lstStyle/>
          <a:p>
            <a:pPr algn="ctr" indent="0" marL="0">
              <a:buNone/>
            </a:pPr>
            <a:r>
              <a:rPr lang="en-US" sz="1200" dirty="0">
                <a:solidFill>
                  <a:srgbClr val="2B2F36"/>
                </a:solidFill>
                <a:latin typeface="Arial" pitchFamily="34" charset="0"/>
                <a:ea typeface="BIZ UDPGothic" pitchFamily="34" charset="-122"/>
                <a:cs typeface="BIZ UDPGothic" pitchFamily="34" charset="-120"/>
              </a:rPr>
              <a:t>年間の私学助成金規模</a:t>
            </a:r>
            <a:endParaRPr lang="en-US" sz="1200" dirty="0"/>
          </a:p>
        </p:txBody>
      </p:sp>
      <p:sp>
        <p:nvSpPr>
          <p:cNvPr id="17" name="Shape 15"/>
          <p:cNvSpPr/>
          <p:nvPr/>
        </p:nvSpPr>
        <p:spPr>
          <a:xfrm>
            <a:off x="457200" y="4645152"/>
            <a:ext cx="8229600" cy="384048"/>
          </a:xfrm>
          <a:prstGeom prst="roundRect">
            <a:avLst>
              <a:gd name="adj" fmla="val 19048"/>
            </a:avLst>
          </a:prstGeom>
          <a:solidFill>
            <a:srgbClr val="FCEBEB"/>
          </a:solidFill>
          <a:ln w="12700">
            <a:solidFill>
              <a:srgbClr val="DDE0E6"/>
            </a:solidFill>
            <a:prstDash val="solid"/>
          </a:ln>
        </p:spPr>
      </p:sp>
      <p:sp>
        <p:nvSpPr>
          <p:cNvPr id="18" name="Text 16"/>
          <p:cNvSpPr/>
          <p:nvPr/>
        </p:nvSpPr>
        <p:spPr>
          <a:xfrm>
            <a:off x="594360" y="4645152"/>
            <a:ext cx="7955280" cy="384048"/>
          </a:xfrm>
          <a:prstGeom prst="rect">
            <a:avLst/>
          </a:prstGeom>
          <a:noFill/>
          <a:ln/>
        </p:spPr>
        <p:txBody>
          <a:bodyPr wrap="square" lIns="0" tIns="0" rIns="0" bIns="0" rtlCol="0" anchor="ctr"/>
          <a:lstStyle/>
          <a:p>
            <a:pPr algn="ctr" indent="0" marL="0">
              <a:buNone/>
            </a:pPr>
            <a:r>
              <a:rPr lang="en-US" sz="1100" dirty="0">
                <a:solidFill>
                  <a:srgbClr val="2B2F36"/>
                </a:solidFill>
                <a:latin typeface="Arial" pitchFamily="34" charset="0"/>
                <a:ea typeface="BIZ UDPGothic" pitchFamily="34" charset="-122"/>
                <a:cs typeface="BIZ UDPGothic" pitchFamily="34" charset="-120"/>
              </a:rPr>
              <a:t>私学助成金が競争力のない大学を延命させ、「人気取り」が大学経営の主軸になっている</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UNIVERSITY REFORM</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200" b="1" dirty="0">
                <a:solidFill>
                  <a:srgbClr val="16181D"/>
                </a:solidFill>
                <a:latin typeface="BIZ UDPGothic" pitchFamily="34" charset="0"/>
                <a:ea typeface="BIZ UDPGothic" pitchFamily="34" charset="-122"/>
                <a:cs typeface="BIZ UDPGothic" pitchFamily="34" charset="-120"/>
              </a:rPr>
              <a:t>大学削減：5年移行計画</a:t>
            </a:r>
            <a:endParaRPr lang="en-US" sz="32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298448"/>
            <a:ext cx="8229600" cy="310896"/>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偏差値60を分岐点に。助成金削減と強制転換の2本立てで確実に進める。</a:t>
            </a:r>
            <a:endParaRPr lang="en-US" sz="1100" dirty="0"/>
          </a:p>
        </p:txBody>
      </p:sp>
      <p:sp>
        <p:nvSpPr>
          <p:cNvPr id="6" name="Shape 4"/>
          <p:cNvSpPr/>
          <p:nvPr/>
        </p:nvSpPr>
        <p:spPr>
          <a:xfrm>
            <a:off x="457200" y="1719072"/>
            <a:ext cx="8229600" cy="914400"/>
          </a:xfrm>
          <a:prstGeom prst="roundRect">
            <a:avLst>
              <a:gd name="adj" fmla="val 8000"/>
            </a:avLst>
          </a:prstGeom>
          <a:solidFill>
            <a:srgbClr val="FFFFFF"/>
          </a:solidFill>
          <a:ln w="12700">
            <a:solidFill>
              <a:srgbClr val="DDE0E6"/>
            </a:solidFill>
            <a:prstDash val="solid"/>
          </a:ln>
        </p:spPr>
      </p:sp>
      <p:sp>
        <p:nvSpPr>
          <p:cNvPr id="7" name="Shape 5"/>
          <p:cNvSpPr/>
          <p:nvPr/>
        </p:nvSpPr>
        <p:spPr>
          <a:xfrm>
            <a:off x="594360" y="1920240"/>
            <a:ext cx="1371600" cy="475488"/>
          </a:xfrm>
          <a:prstGeom prst="roundRect">
            <a:avLst>
              <a:gd name="adj" fmla="val 11538"/>
            </a:avLst>
          </a:prstGeom>
          <a:solidFill>
            <a:srgbClr val="C8161D"/>
          </a:solidFill>
          <a:ln w="12700">
            <a:solidFill>
              <a:srgbClr val="C8161D"/>
            </a:solidFill>
            <a:prstDash val="solid"/>
          </a:ln>
        </p:spPr>
      </p:sp>
      <p:sp>
        <p:nvSpPr>
          <p:cNvPr id="8" name="Text 6"/>
          <p:cNvSpPr/>
          <p:nvPr/>
        </p:nvSpPr>
        <p:spPr>
          <a:xfrm>
            <a:off x="594360" y="1920240"/>
            <a:ext cx="137160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移行開始</a:t>
            </a:r>
            <a:endParaRPr lang="en-US" sz="1100" dirty="0"/>
          </a:p>
        </p:txBody>
      </p:sp>
      <p:sp>
        <p:nvSpPr>
          <p:cNvPr id="9" name="Text 7"/>
          <p:cNvSpPr/>
          <p:nvPr/>
        </p:nvSpPr>
        <p:spPr>
          <a:xfrm>
            <a:off x="2121408" y="1810512"/>
            <a:ext cx="6400800" cy="347472"/>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転換対象の指定</a:t>
            </a:r>
            <a:endParaRPr lang="en-US" sz="1400" dirty="0"/>
          </a:p>
        </p:txBody>
      </p:sp>
      <p:sp>
        <p:nvSpPr>
          <p:cNvPr id="10" name="Text 8"/>
          <p:cNvSpPr/>
          <p:nvPr/>
        </p:nvSpPr>
        <p:spPr>
          <a:xfrm>
            <a:off x="2121408" y="2194560"/>
            <a:ext cx="6400800" cy="36576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偏差値60未満の大学・学部を転換対象に指定。制度の全内容を公表し、各大学が対応を検討できる環境を整える。</a:t>
            </a:r>
            <a:endParaRPr lang="en-US" sz="1000" dirty="0"/>
          </a:p>
        </p:txBody>
      </p:sp>
      <p:sp>
        <p:nvSpPr>
          <p:cNvPr id="11" name="Shape 9"/>
          <p:cNvSpPr/>
          <p:nvPr/>
        </p:nvSpPr>
        <p:spPr>
          <a:xfrm>
            <a:off x="457200" y="2761488"/>
            <a:ext cx="8229600" cy="914400"/>
          </a:xfrm>
          <a:prstGeom prst="roundRect">
            <a:avLst>
              <a:gd name="adj" fmla="val 8000"/>
            </a:avLst>
          </a:prstGeom>
          <a:solidFill>
            <a:srgbClr val="FFFFFF"/>
          </a:solidFill>
          <a:ln w="12700">
            <a:solidFill>
              <a:srgbClr val="DDE0E6"/>
            </a:solidFill>
            <a:prstDash val="solid"/>
          </a:ln>
        </p:spPr>
      </p:sp>
      <p:sp>
        <p:nvSpPr>
          <p:cNvPr id="12" name="Shape 10"/>
          <p:cNvSpPr/>
          <p:nvPr/>
        </p:nvSpPr>
        <p:spPr>
          <a:xfrm>
            <a:off x="594360" y="2962656"/>
            <a:ext cx="1371600" cy="475488"/>
          </a:xfrm>
          <a:prstGeom prst="roundRect">
            <a:avLst>
              <a:gd name="adj" fmla="val 11538"/>
            </a:avLst>
          </a:prstGeom>
          <a:solidFill>
            <a:srgbClr val="C8161D"/>
          </a:solidFill>
          <a:ln w="12700">
            <a:solidFill>
              <a:srgbClr val="C8161D"/>
            </a:solidFill>
            <a:prstDash val="solid"/>
          </a:ln>
        </p:spPr>
      </p:sp>
      <p:sp>
        <p:nvSpPr>
          <p:cNvPr id="13" name="Text 11"/>
          <p:cNvSpPr/>
          <p:nvPr/>
        </p:nvSpPr>
        <p:spPr>
          <a:xfrm>
            <a:off x="594360" y="2962656"/>
            <a:ext cx="137160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1〜5年目</a:t>
            </a:r>
            <a:endParaRPr lang="en-US" sz="1100" dirty="0"/>
          </a:p>
        </p:txBody>
      </p:sp>
      <p:sp>
        <p:nvSpPr>
          <p:cNvPr id="14" name="Text 12"/>
          <p:cNvSpPr/>
          <p:nvPr/>
        </p:nvSpPr>
        <p:spPr>
          <a:xfrm>
            <a:off x="2121408" y="2852928"/>
            <a:ext cx="6400800" cy="347472"/>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助成金を年20%ずつ削減</a:t>
            </a:r>
            <a:endParaRPr lang="en-US" sz="1400" dirty="0"/>
          </a:p>
        </p:txBody>
      </p:sp>
      <p:sp>
        <p:nvSpPr>
          <p:cNvPr id="15" name="Text 13"/>
          <p:cNvSpPr/>
          <p:nvPr/>
        </p:nvSpPr>
        <p:spPr>
          <a:xfrm>
            <a:off x="2121408" y="3236976"/>
            <a:ext cx="6400800" cy="36576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毎年20%ずつカット。5年目にゼロ。段階的な圧力をかけることで急激な混乱を避けながら確実に絞る。</a:t>
            </a:r>
            <a:endParaRPr lang="en-US" sz="1000" dirty="0"/>
          </a:p>
        </p:txBody>
      </p:sp>
      <p:sp>
        <p:nvSpPr>
          <p:cNvPr id="16" name="Shape 14"/>
          <p:cNvSpPr/>
          <p:nvPr/>
        </p:nvSpPr>
        <p:spPr>
          <a:xfrm>
            <a:off x="457200" y="3803904"/>
            <a:ext cx="8229600" cy="914400"/>
          </a:xfrm>
          <a:prstGeom prst="roundRect">
            <a:avLst>
              <a:gd name="adj" fmla="val 8000"/>
            </a:avLst>
          </a:prstGeom>
          <a:solidFill>
            <a:srgbClr val="FFFFFF"/>
          </a:solidFill>
          <a:ln w="12700">
            <a:solidFill>
              <a:srgbClr val="DDE0E6"/>
            </a:solidFill>
            <a:prstDash val="solid"/>
          </a:ln>
        </p:spPr>
      </p:sp>
      <p:sp>
        <p:nvSpPr>
          <p:cNvPr id="17" name="Shape 15"/>
          <p:cNvSpPr/>
          <p:nvPr/>
        </p:nvSpPr>
        <p:spPr>
          <a:xfrm>
            <a:off x="594360" y="4005072"/>
            <a:ext cx="1371600" cy="475488"/>
          </a:xfrm>
          <a:prstGeom prst="roundRect">
            <a:avLst>
              <a:gd name="adj" fmla="val 11538"/>
            </a:avLst>
          </a:prstGeom>
          <a:solidFill>
            <a:srgbClr val="C8161D"/>
          </a:solidFill>
          <a:ln w="12700">
            <a:solidFill>
              <a:srgbClr val="C8161D"/>
            </a:solidFill>
            <a:prstDash val="solid"/>
          </a:ln>
        </p:spPr>
      </p:sp>
      <p:sp>
        <p:nvSpPr>
          <p:cNvPr id="18" name="Text 16"/>
          <p:cNvSpPr/>
          <p:nvPr/>
        </p:nvSpPr>
        <p:spPr>
          <a:xfrm>
            <a:off x="594360" y="4005072"/>
            <a:ext cx="1371600" cy="475488"/>
          </a:xfrm>
          <a:prstGeom prst="rect">
            <a:avLst/>
          </a:prstGeom>
          <a:noFill/>
          <a:ln/>
        </p:spPr>
        <p:txBody>
          <a:bodyPr wrap="square" lIns="0" tIns="0" rIns="0" bIns="0" rtlCol="0" anchor="ctr"/>
          <a:lstStyle/>
          <a:p>
            <a:pPr algn="ctr" indent="0" marL="0">
              <a:buNone/>
            </a:pPr>
            <a:r>
              <a:rPr lang="en-US" sz="1100" b="1" dirty="0">
                <a:solidFill>
                  <a:srgbClr val="FFFFFF"/>
                </a:solidFill>
                <a:latin typeface="Arial" pitchFamily="34" charset="0"/>
                <a:ea typeface="BIZ UDPGothic" pitchFamily="34" charset="-122"/>
                <a:cs typeface="BIZ UDPGothic" pitchFamily="34" charset="-120"/>
              </a:rPr>
              <a:t>4・5年目</a:t>
            </a:r>
            <a:endParaRPr lang="en-US" sz="1100" dirty="0"/>
          </a:p>
        </p:txBody>
      </p:sp>
      <p:sp>
        <p:nvSpPr>
          <p:cNvPr id="19" name="Text 17"/>
          <p:cNvSpPr/>
          <p:nvPr/>
        </p:nvSpPr>
        <p:spPr>
          <a:xfrm>
            <a:off x="2121408" y="3895344"/>
            <a:ext cx="6400800" cy="347472"/>
          </a:xfrm>
          <a:prstGeom prst="rect">
            <a:avLst/>
          </a:prstGeom>
          <a:noFill/>
          <a:ln/>
        </p:spPr>
        <p:txBody>
          <a:bodyPr wrap="square" lIns="0" tIns="0" rIns="0" bIns="0" rtlCol="0" anchor="ctr"/>
          <a:lstStyle/>
          <a:p>
            <a:pPr indent="0" marL="0">
              <a:buNone/>
            </a:pPr>
            <a:r>
              <a:rPr lang="en-US" sz="1400" b="1" dirty="0">
                <a:solidFill>
                  <a:srgbClr val="16181D"/>
                </a:solidFill>
                <a:latin typeface="BIZ UDPGothic" pitchFamily="34" charset="0"/>
                <a:ea typeface="BIZ UDPGothic" pitchFamily="34" charset="-122"/>
                <a:cs typeface="BIZ UDPGothic" pitchFamily="34" charset="-120"/>
              </a:rPr>
              <a:t>強制転換トリガー</a:t>
            </a:r>
            <a:endParaRPr lang="en-US" sz="1400" dirty="0"/>
          </a:p>
        </p:txBody>
      </p:sp>
      <p:sp>
        <p:nvSpPr>
          <p:cNvPr id="20" name="Text 18"/>
          <p:cNvSpPr/>
          <p:nvPr/>
        </p:nvSpPr>
        <p:spPr>
          <a:xfrm>
            <a:off x="2121408" y="4279392"/>
            <a:ext cx="6400800" cy="365760"/>
          </a:xfrm>
          <a:prstGeom prst="rect">
            <a:avLst/>
          </a:prstGeom>
          <a:noFill/>
          <a:ln/>
        </p:spPr>
        <p:txBody>
          <a:bodyPr wrap="square" lIns="0" tIns="0" rIns="0" bIns="0" rtlCol="0" anchor="ctr"/>
          <a:lstStyle/>
          <a:p>
            <a:pPr indent="0" marL="0">
              <a:buNone/>
            </a:pPr>
            <a:r>
              <a:rPr lang="en-US" sz="1000" dirty="0">
                <a:solidFill>
                  <a:srgbClr val="2B2F36"/>
                </a:solidFill>
                <a:latin typeface="Arial" pitchFamily="34" charset="0"/>
                <a:ea typeface="BIZ UDPGothic" pitchFamily="34" charset="-122"/>
                <a:cs typeface="BIZ UDPGothic" pitchFamily="34" charset="-120"/>
              </a:rPr>
              <a:t>移行期間最後の2年間に定員割れが発生した場合、専門学校への転換を強制。助成金ゼロでも定員を満たせた大学は存続を認める。</a:t>
            </a:r>
            <a:endParaRPr lang="en-US" sz="1000" dirty="0"/>
          </a:p>
        </p:txBody>
      </p:sp>
      <p:sp>
        <p:nvSpPr>
          <p:cNvPr id="21" name="Shape 19"/>
          <p:cNvSpPr/>
          <p:nvPr/>
        </p:nvSpPr>
        <p:spPr>
          <a:xfrm>
            <a:off x="457200" y="4846320"/>
            <a:ext cx="8229600" cy="201168"/>
          </a:xfrm>
          <a:prstGeom prst="roundRect">
            <a:avLst>
              <a:gd name="adj" fmla="val 36364"/>
            </a:avLst>
          </a:prstGeom>
          <a:solidFill>
            <a:srgbClr val="FFFFFF"/>
          </a:solidFill>
          <a:ln w="12700">
            <a:solidFill>
              <a:srgbClr val="DDE0E6"/>
            </a:solidFill>
            <a:prstDash val="solid"/>
          </a:ln>
        </p:spPr>
      </p:sp>
      <p:sp>
        <p:nvSpPr>
          <p:cNvPr id="22" name="Text 20"/>
          <p:cNvSpPr/>
          <p:nvPr/>
        </p:nvSpPr>
        <p:spPr>
          <a:xfrm>
            <a:off x="594360" y="4846320"/>
            <a:ext cx="7955280" cy="201168"/>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助成金ゼロでも学生が来るなら、それは本物の需要。市場の審判を最終的な判定者にする。</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UNIVERSITY REFORM — DETAIL</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2000" b="1" dirty="0">
                <a:solidFill>
                  <a:srgbClr val="16181D"/>
                </a:solidFill>
                <a:latin typeface="BIZ UDPGothic" pitchFamily="34" charset="0"/>
                <a:ea typeface="BIZ UDPGothic" pitchFamily="34" charset="-122"/>
                <a:cs typeface="BIZ UDPGothic" pitchFamily="34" charset="-120"/>
              </a:rPr>
              <a:t>偏差値60以上は存続。ただし競争軸を「人気」から「研究力」へ</a:t>
            </a:r>
            <a:endParaRPr lang="en-US" sz="20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417320"/>
            <a:ext cx="4114800" cy="2926080"/>
          </a:xfrm>
          <a:prstGeom prst="roundRect">
            <a:avLst>
              <a:gd name="adj" fmla="val 2500"/>
            </a:avLst>
          </a:prstGeom>
          <a:solidFill>
            <a:srgbClr val="FCEBEB"/>
          </a:solidFill>
          <a:ln w="12700">
            <a:solidFill>
              <a:srgbClr val="DDE0E6"/>
            </a:solidFill>
            <a:prstDash val="solid"/>
          </a:ln>
        </p:spPr>
      </p:sp>
      <p:sp>
        <p:nvSpPr>
          <p:cNvPr id="6" name="Text 4"/>
          <p:cNvSpPr/>
          <p:nvPr/>
        </p:nvSpPr>
        <p:spPr>
          <a:xfrm>
            <a:off x="640080" y="1554480"/>
            <a:ext cx="3749040" cy="384048"/>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現行の競争軸</a:t>
            </a:r>
            <a:endParaRPr lang="en-US" sz="1400" dirty="0"/>
          </a:p>
        </p:txBody>
      </p:sp>
      <p:sp>
        <p:nvSpPr>
          <p:cNvPr id="7" name="Text 5"/>
          <p:cNvSpPr/>
          <p:nvPr/>
        </p:nvSpPr>
        <p:spPr>
          <a:xfrm>
            <a:off x="640080" y="2011680"/>
            <a:ext cx="3749040" cy="219456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2B2F36"/>
                </a:solidFill>
                <a:latin typeface="Arial" pitchFamily="34" charset="0"/>
                <a:ea typeface="BIZ UDPGothic" pitchFamily="34" charset="-122"/>
                <a:cs typeface="BIZ UDPGothic" pitchFamily="34" charset="-120"/>
              </a:rPr>
              <a:t>志願者数・偏差値の高さ</a:t>
            </a:r>
            <a:endParaRPr lang="en-US" sz="1200" dirty="0"/>
          </a:p>
          <a:p>
            <a:pPr marL="342900" indent="-342900">
              <a:spcAft>
                <a:spcPts val="1200"/>
              </a:spcAft>
              <a:buSzPct val="100000"/>
              <a:buChar char="•"/>
            </a:pPr>
            <a:r>
              <a:rPr lang="en-US" sz="1200" dirty="0">
                <a:solidFill>
                  <a:srgbClr val="2B2F36"/>
                </a:solidFill>
                <a:latin typeface="Arial" pitchFamily="34" charset="0"/>
                <a:ea typeface="BIZ UDPGothic" pitchFamily="34" charset="-122"/>
                <a:cs typeface="BIZ UDPGothic" pitchFamily="34" charset="-120"/>
              </a:rPr>
              <a:t>キャンパスの立地・設備の豪華さ</a:t>
            </a:r>
            <a:endParaRPr lang="en-US" sz="1200" dirty="0"/>
          </a:p>
          <a:p>
            <a:pPr marL="342900" indent="-342900">
              <a:spcAft>
                <a:spcPts val="1200"/>
              </a:spcAft>
              <a:buSzPct val="100000"/>
              <a:buChar char="•"/>
            </a:pPr>
            <a:r>
              <a:rPr lang="en-US" sz="1200" dirty="0">
                <a:solidFill>
                  <a:srgbClr val="2B2F36"/>
                </a:solidFill>
                <a:latin typeface="Arial" pitchFamily="34" charset="0"/>
                <a:ea typeface="BIZ UDPGothic" pitchFamily="34" charset="-122"/>
                <a:cs typeface="BIZ UDPGothic" pitchFamily="34" charset="-120"/>
              </a:rPr>
              <a:t>就職実績・有名企業への輩出数</a:t>
            </a:r>
            <a:endParaRPr lang="en-US" sz="1200" dirty="0"/>
          </a:p>
          <a:p>
            <a:pPr marL="342900" indent="-342900">
              <a:spcAft>
                <a:spcPts val="1200"/>
              </a:spcAft>
              <a:buSzPct val="100000"/>
              <a:buChar char="•"/>
            </a:pPr>
            <a:r>
              <a:rPr lang="en-US" sz="1200" dirty="0">
                <a:solidFill>
                  <a:srgbClr val="2B2F36"/>
                </a:solidFill>
                <a:latin typeface="Arial" pitchFamily="34" charset="0"/>
                <a:ea typeface="BIZ UDPGothic" pitchFamily="34" charset="-122"/>
                <a:cs typeface="BIZ UDPGothic" pitchFamily="34" charset="-120"/>
              </a:rPr>
              <a:t>CM・広報への投資</a:t>
            </a:r>
            <a:endParaRPr lang="en-US" sz="1200" dirty="0"/>
          </a:p>
        </p:txBody>
      </p:sp>
      <p:sp>
        <p:nvSpPr>
          <p:cNvPr id="8" name="Shape 6"/>
          <p:cNvSpPr/>
          <p:nvPr/>
        </p:nvSpPr>
        <p:spPr>
          <a:xfrm>
            <a:off x="4892040" y="1417320"/>
            <a:ext cx="4114800" cy="2926080"/>
          </a:xfrm>
          <a:prstGeom prst="roundRect">
            <a:avLst>
              <a:gd name="adj" fmla="val 2500"/>
            </a:avLst>
          </a:prstGeom>
          <a:solidFill>
            <a:srgbClr val="E9EFF8"/>
          </a:solidFill>
          <a:ln w="12700">
            <a:solidFill>
              <a:srgbClr val="DDE0E6"/>
            </a:solidFill>
            <a:prstDash val="solid"/>
          </a:ln>
        </p:spPr>
      </p:sp>
      <p:sp>
        <p:nvSpPr>
          <p:cNvPr id="9" name="Text 7"/>
          <p:cNvSpPr/>
          <p:nvPr/>
        </p:nvSpPr>
        <p:spPr>
          <a:xfrm>
            <a:off x="5074920" y="1554480"/>
            <a:ext cx="3749040" cy="384048"/>
          </a:xfrm>
          <a:prstGeom prst="rect">
            <a:avLst/>
          </a:prstGeom>
          <a:noFill/>
          <a:ln/>
        </p:spPr>
        <p:txBody>
          <a:bodyPr wrap="square" lIns="0" tIns="0" rIns="0" bIns="0" rtlCol="0" anchor="ctr"/>
          <a:lstStyle/>
          <a:p>
            <a:pPr indent="0" marL="0">
              <a:buNone/>
            </a:pPr>
            <a:r>
              <a:rPr lang="en-US" sz="1400" b="1" dirty="0">
                <a:solidFill>
                  <a:srgbClr val="1D4F91"/>
                </a:solidFill>
                <a:latin typeface="BIZ UDPGothic" pitchFamily="34" charset="0"/>
                <a:ea typeface="BIZ UDPGothic" pitchFamily="34" charset="-122"/>
                <a:cs typeface="BIZ UDPGothic" pitchFamily="34" charset="-120"/>
              </a:rPr>
              <a:t>改革後の競争軸</a:t>
            </a:r>
            <a:endParaRPr lang="en-US" sz="1400" dirty="0"/>
          </a:p>
        </p:txBody>
      </p:sp>
      <p:sp>
        <p:nvSpPr>
          <p:cNvPr id="10" name="Text 8"/>
          <p:cNvSpPr/>
          <p:nvPr/>
        </p:nvSpPr>
        <p:spPr>
          <a:xfrm>
            <a:off x="5074920" y="2011680"/>
            <a:ext cx="3749040" cy="2194560"/>
          </a:xfrm>
          <a:prstGeom prst="rect">
            <a:avLst/>
          </a:prstGeom>
          <a:noFill/>
          <a:ln/>
        </p:spPr>
        <p:txBody>
          <a:bodyPr wrap="square" lIns="0" tIns="0" rIns="0" bIns="0" rtlCol="0" anchor="t"/>
          <a:lstStyle/>
          <a:p>
            <a:pPr marL="342900" indent="-342900">
              <a:spcAft>
                <a:spcPts val="1200"/>
              </a:spcAft>
              <a:buSzPct val="100000"/>
              <a:buChar char="•"/>
            </a:pPr>
            <a:r>
              <a:rPr lang="en-US" sz="1200" dirty="0">
                <a:solidFill>
                  <a:srgbClr val="2B2F36"/>
                </a:solidFill>
                <a:latin typeface="Arial" pitchFamily="34" charset="0"/>
                <a:ea typeface="BIZ UDPGothic" pitchFamily="34" charset="-122"/>
                <a:cs typeface="BIZ UDPGothic" pitchFamily="34" charset="-120"/>
              </a:rPr>
              <a:t>論文数・被引用数</a:t>
            </a:r>
            <a:endParaRPr lang="en-US" sz="1200" dirty="0"/>
          </a:p>
          <a:p>
            <a:pPr marL="342900" indent="-342900">
              <a:spcAft>
                <a:spcPts val="1200"/>
              </a:spcAft>
              <a:buSzPct val="100000"/>
              <a:buChar char="•"/>
            </a:pPr>
            <a:r>
              <a:rPr lang="en-US" sz="1200" dirty="0">
                <a:solidFill>
                  <a:srgbClr val="2B2F36"/>
                </a:solidFill>
                <a:latin typeface="Arial" pitchFamily="34" charset="0"/>
                <a:ea typeface="BIZ UDPGothic" pitchFamily="34" charset="-122"/>
                <a:cs typeface="BIZ UDPGothic" pitchFamily="34" charset="-120"/>
              </a:rPr>
              <a:t>特許取得・産学連携実績</a:t>
            </a:r>
            <a:endParaRPr lang="en-US" sz="1200" dirty="0"/>
          </a:p>
          <a:p>
            <a:pPr marL="342900" indent="-342900">
              <a:spcAft>
                <a:spcPts val="1200"/>
              </a:spcAft>
              <a:buSzPct val="100000"/>
              <a:buChar char="•"/>
            </a:pPr>
            <a:r>
              <a:rPr lang="en-US" sz="1200" dirty="0">
                <a:solidFill>
                  <a:srgbClr val="2B2F36"/>
                </a:solidFill>
                <a:latin typeface="Arial" pitchFamily="34" charset="0"/>
                <a:ea typeface="BIZ UDPGothic" pitchFamily="34" charset="-122"/>
                <a:cs typeface="BIZ UDPGothic" pitchFamily="34" charset="-120"/>
              </a:rPr>
              <a:t>国際共同研究の件数</a:t>
            </a:r>
            <a:endParaRPr lang="en-US" sz="1200" dirty="0"/>
          </a:p>
          <a:p>
            <a:pPr marL="342900" indent="-342900">
              <a:spcAft>
                <a:spcPts val="1200"/>
              </a:spcAft>
              <a:buSzPct val="100000"/>
              <a:buChar char="•"/>
            </a:pPr>
            <a:r>
              <a:rPr lang="en-US" sz="1200" dirty="0">
                <a:solidFill>
                  <a:srgbClr val="2B2F36"/>
                </a:solidFill>
                <a:latin typeface="Arial" pitchFamily="34" charset="0"/>
                <a:ea typeface="BIZ UDPGothic" pitchFamily="34" charset="-122"/>
                <a:cs typeface="BIZ UDPGothic" pitchFamily="34" charset="-120"/>
              </a:rPr>
              <a:t>国からの研究費配分額（成果連動）</a:t>
            </a:r>
            <a:endParaRPr lang="en-US" sz="1200" dirty="0"/>
          </a:p>
        </p:txBody>
      </p:sp>
      <p:sp>
        <p:nvSpPr>
          <p:cNvPr id="11" name="Text 9"/>
          <p:cNvSpPr/>
          <p:nvPr/>
        </p:nvSpPr>
        <p:spPr>
          <a:xfrm>
            <a:off x="4169664" y="2468880"/>
            <a:ext cx="713232" cy="713232"/>
          </a:xfrm>
          <a:prstGeom prst="rect">
            <a:avLst/>
          </a:prstGeom>
          <a:noFill/>
          <a:ln/>
        </p:spPr>
        <p:txBody>
          <a:bodyPr wrap="square" lIns="0" tIns="0" rIns="0" bIns="0" rtlCol="0" anchor="ctr"/>
          <a:lstStyle/>
          <a:p>
            <a:pPr algn="ctr" indent="0" marL="0">
              <a:buNone/>
            </a:pPr>
            <a:r>
              <a:rPr lang="en-US" sz="3600" dirty="0">
                <a:solidFill>
                  <a:srgbClr val="C8161D"/>
                </a:solidFill>
                <a:latin typeface="Arial" pitchFamily="34" charset="0"/>
                <a:ea typeface="BIZ UDPGothic" pitchFamily="34" charset="-122"/>
                <a:cs typeface="BIZ UDPGothic" pitchFamily="34" charset="-120"/>
              </a:rPr>
              <a:t>→</a:t>
            </a:r>
            <a:endParaRPr lang="en-US" sz="3600" dirty="0"/>
          </a:p>
        </p:txBody>
      </p:sp>
      <p:sp>
        <p:nvSpPr>
          <p:cNvPr id="12" name="Shape 10"/>
          <p:cNvSpPr/>
          <p:nvPr/>
        </p:nvSpPr>
        <p:spPr>
          <a:xfrm>
            <a:off x="457200" y="4462272"/>
            <a:ext cx="8229600" cy="566928"/>
          </a:xfrm>
          <a:prstGeom prst="roundRect">
            <a:avLst>
              <a:gd name="adj" fmla="val 12903"/>
            </a:avLst>
          </a:prstGeom>
          <a:solidFill>
            <a:srgbClr val="FFFFFF"/>
          </a:solidFill>
          <a:ln w="12700">
            <a:solidFill>
              <a:srgbClr val="DDE0E6"/>
            </a:solidFill>
            <a:prstDash val="solid"/>
          </a:ln>
        </p:spPr>
      </p:sp>
      <p:sp>
        <p:nvSpPr>
          <p:cNvPr id="13" name="Text 11"/>
          <p:cNvSpPr/>
          <p:nvPr/>
        </p:nvSpPr>
        <p:spPr>
          <a:xfrm>
            <a:off x="594360" y="4480560"/>
            <a:ext cx="7955280" cy="530352"/>
          </a:xfrm>
          <a:prstGeom prst="rect">
            <a:avLst/>
          </a:prstGeom>
          <a:noFill/>
          <a:ln/>
        </p:spPr>
        <p:txBody>
          <a:bodyPr wrap="square" lIns="0" tIns="0" rIns="0" bIns="0" rtlCol="0" anchor="ctr"/>
          <a:lstStyle/>
          <a:p>
            <a:pPr algn="ctr" indent="0" marL="0">
              <a:buNone/>
            </a:pPr>
            <a:r>
              <a:rPr lang="en-US" sz="1000" dirty="0">
                <a:solidFill>
                  <a:srgbClr val="2B2F36"/>
                </a:solidFill>
                <a:latin typeface="Arial" pitchFamily="34" charset="0"/>
                <a:ea typeface="BIZ UDPGothic" pitchFamily="34" charset="-122"/>
                <a:cs typeface="BIZ UDPGothic" pitchFamily="34" charset="-120"/>
              </a:rPr>
              <a:t>助成金ゼロ化＋研究費の傾斜配分を組み合わせることで、大学は「人気取り」では生き残れなくなる。</a:t>
            </a:r>
            <a:endParaRPr lang="en-US" sz="1000" dirty="0"/>
          </a:p>
          <a:p>
            <a:pPr algn="ctr" indent="0" marL="0">
              <a:buNone/>
            </a:pPr>
            <a:r>
              <a:rPr lang="en-US" sz="1000" dirty="0">
                <a:solidFill>
                  <a:srgbClr val="2B2F36"/>
                </a:solidFill>
                <a:latin typeface="Arial" pitchFamily="34" charset="0"/>
                <a:ea typeface="BIZ UDPGothic" pitchFamily="34" charset="-122"/>
                <a:cs typeface="BIZ UDPGothic" pitchFamily="34" charset="-120"/>
              </a:rPr>
              <a:t>本物の研究力を持つ機関だけが国費の恩恵を受ける。</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UNIVERSITY — AFTER</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600" b="1" dirty="0">
                <a:solidFill>
                  <a:srgbClr val="16181D"/>
                </a:solidFill>
                <a:latin typeface="BIZ UDPGothic" pitchFamily="34" charset="0"/>
                <a:ea typeface="BIZ UDPGothic" pitchFamily="34" charset="-122"/>
                <a:cs typeface="BIZ UDPGothic" pitchFamily="34" charset="-120"/>
              </a:rPr>
              <a:t>改革後の大学の姿</a:t>
            </a:r>
            <a:endParaRPr lang="en-US" sz="36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417320"/>
            <a:ext cx="8229600" cy="1042416"/>
          </a:xfrm>
          <a:prstGeom prst="roundRect">
            <a:avLst>
              <a:gd name="adj" fmla="val 7018"/>
            </a:avLst>
          </a:prstGeom>
          <a:solidFill>
            <a:srgbClr val="E9EFF8"/>
          </a:solidFill>
          <a:ln w="12700">
            <a:solidFill>
              <a:srgbClr val="DDE0E6"/>
            </a:solidFill>
            <a:prstDash val="solid"/>
          </a:ln>
        </p:spPr>
      </p:sp>
      <p:sp>
        <p:nvSpPr>
          <p:cNvPr id="6" name="Shape 4"/>
          <p:cNvSpPr/>
          <p:nvPr/>
        </p:nvSpPr>
        <p:spPr>
          <a:xfrm>
            <a:off x="594360" y="1600200"/>
            <a:ext cx="2011680" cy="438912"/>
          </a:xfrm>
          <a:prstGeom prst="roundRect">
            <a:avLst>
              <a:gd name="adj" fmla="val 12500"/>
            </a:avLst>
          </a:prstGeom>
          <a:solidFill>
            <a:srgbClr val="C8161D"/>
          </a:solidFill>
          <a:ln w="12700">
            <a:solidFill>
              <a:srgbClr val="C8161D"/>
            </a:solidFill>
            <a:prstDash val="solid"/>
          </a:ln>
        </p:spPr>
      </p:sp>
      <p:sp>
        <p:nvSpPr>
          <p:cNvPr id="7" name="Text 5"/>
          <p:cNvSpPr/>
          <p:nvPr/>
        </p:nvSpPr>
        <p:spPr>
          <a:xfrm>
            <a:off x="594360" y="1600200"/>
            <a:ext cx="20116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BIZ UDPGothic" pitchFamily="34" charset="-122"/>
                <a:cs typeface="BIZ UDPGothic" pitchFamily="34" charset="-120"/>
              </a:rPr>
              <a:t>トップ研究大学</a:t>
            </a:r>
            <a:endParaRPr lang="en-US" sz="1200" dirty="0"/>
          </a:p>
        </p:txBody>
      </p:sp>
      <p:sp>
        <p:nvSpPr>
          <p:cNvPr id="8" name="Text 6"/>
          <p:cNvSpPr/>
          <p:nvPr/>
        </p:nvSpPr>
        <p:spPr>
          <a:xfrm>
            <a:off x="2761488" y="1600200"/>
            <a:ext cx="2286000" cy="438912"/>
          </a:xfrm>
          <a:prstGeom prst="rect">
            <a:avLst/>
          </a:prstGeom>
          <a:noFill/>
          <a:ln/>
        </p:spPr>
        <p:txBody>
          <a:bodyPr wrap="square" lIns="0" tIns="0" rIns="0" bIns="0" rtlCol="0" anchor="ctr"/>
          <a:lstStyle/>
          <a:p>
            <a:pPr indent="0" marL="0">
              <a:buNone/>
            </a:pPr>
            <a:r>
              <a:rPr lang="en-US" sz="1300" b="1" dirty="0">
                <a:solidFill>
                  <a:srgbClr val="1D4F91"/>
                </a:solidFill>
                <a:latin typeface="BIZ UDPGothic" pitchFamily="34" charset="0"/>
                <a:ea typeface="BIZ UDPGothic" pitchFamily="34" charset="-122"/>
                <a:cs typeface="BIZ UDPGothic" pitchFamily="34" charset="-120"/>
              </a:rPr>
              <a:t>大幅増強</a:t>
            </a:r>
            <a:endParaRPr lang="en-US" sz="1300" dirty="0"/>
          </a:p>
        </p:txBody>
      </p:sp>
      <p:sp>
        <p:nvSpPr>
          <p:cNvPr id="9" name="Text 7"/>
          <p:cNvSpPr/>
          <p:nvPr/>
        </p:nvSpPr>
        <p:spPr>
          <a:xfrm>
            <a:off x="621792" y="2075688"/>
            <a:ext cx="7863840" cy="32918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世界と戦う研究拠点。ルート③選抜者と社会人リカレントの受け皿。国費（研究力連動）で強化。</a:t>
            </a:r>
            <a:endParaRPr lang="en-US" sz="1100" dirty="0"/>
          </a:p>
        </p:txBody>
      </p:sp>
      <p:sp>
        <p:nvSpPr>
          <p:cNvPr id="10" name="Shape 8"/>
          <p:cNvSpPr/>
          <p:nvPr/>
        </p:nvSpPr>
        <p:spPr>
          <a:xfrm>
            <a:off x="457200" y="2587752"/>
            <a:ext cx="8229600" cy="1042416"/>
          </a:xfrm>
          <a:prstGeom prst="roundRect">
            <a:avLst>
              <a:gd name="adj" fmla="val 7018"/>
            </a:avLst>
          </a:prstGeom>
          <a:solidFill>
            <a:srgbClr val="E9EFF8"/>
          </a:solidFill>
          <a:ln w="12700">
            <a:solidFill>
              <a:srgbClr val="DDE0E6"/>
            </a:solidFill>
            <a:prstDash val="solid"/>
          </a:ln>
        </p:spPr>
      </p:sp>
      <p:sp>
        <p:nvSpPr>
          <p:cNvPr id="11" name="Shape 9"/>
          <p:cNvSpPr/>
          <p:nvPr/>
        </p:nvSpPr>
        <p:spPr>
          <a:xfrm>
            <a:off x="594360" y="2770632"/>
            <a:ext cx="2011680" cy="438912"/>
          </a:xfrm>
          <a:prstGeom prst="roundRect">
            <a:avLst>
              <a:gd name="adj" fmla="val 12500"/>
            </a:avLst>
          </a:prstGeom>
          <a:solidFill>
            <a:srgbClr val="C8161D"/>
          </a:solidFill>
          <a:ln w="12700">
            <a:solidFill>
              <a:srgbClr val="C8161D"/>
            </a:solidFill>
            <a:prstDash val="solid"/>
          </a:ln>
        </p:spPr>
      </p:sp>
      <p:sp>
        <p:nvSpPr>
          <p:cNvPr id="12" name="Text 10"/>
          <p:cNvSpPr/>
          <p:nvPr/>
        </p:nvSpPr>
        <p:spPr>
          <a:xfrm>
            <a:off x="594360" y="2770632"/>
            <a:ext cx="20116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BIZ UDPGothic" pitchFamily="34" charset="-122"/>
                <a:cs typeface="BIZ UDPGothic" pitchFamily="34" charset="-120"/>
              </a:rPr>
              <a:t>専門大学・大学校</a:t>
            </a:r>
            <a:endParaRPr lang="en-US" sz="1200" dirty="0"/>
          </a:p>
        </p:txBody>
      </p:sp>
      <p:sp>
        <p:nvSpPr>
          <p:cNvPr id="13" name="Text 11"/>
          <p:cNvSpPr/>
          <p:nvPr/>
        </p:nvSpPr>
        <p:spPr>
          <a:xfrm>
            <a:off x="2761488" y="2770632"/>
            <a:ext cx="2286000" cy="438912"/>
          </a:xfrm>
          <a:prstGeom prst="rect">
            <a:avLst/>
          </a:prstGeom>
          <a:noFill/>
          <a:ln/>
        </p:spPr>
        <p:txBody>
          <a:bodyPr wrap="square" lIns="0" tIns="0" rIns="0" bIns="0" rtlCol="0" anchor="ctr"/>
          <a:lstStyle/>
          <a:p>
            <a:pPr indent="0" marL="0">
              <a:buNone/>
            </a:pPr>
            <a:r>
              <a:rPr lang="en-US" sz="1300" b="1" dirty="0">
                <a:solidFill>
                  <a:srgbClr val="1D4F91"/>
                </a:solidFill>
                <a:latin typeface="BIZ UDPGothic" pitchFamily="34" charset="0"/>
                <a:ea typeface="BIZ UDPGothic" pitchFamily="34" charset="-122"/>
                <a:cs typeface="BIZ UDPGothic" pitchFamily="34" charset="-120"/>
              </a:rPr>
              <a:t>維持</a:t>
            </a:r>
            <a:endParaRPr lang="en-US" sz="1300" dirty="0"/>
          </a:p>
        </p:txBody>
      </p:sp>
      <p:sp>
        <p:nvSpPr>
          <p:cNvPr id="14" name="Text 12"/>
          <p:cNvSpPr/>
          <p:nvPr/>
        </p:nvSpPr>
        <p:spPr>
          <a:xfrm>
            <a:off x="621792" y="3246120"/>
            <a:ext cx="7863840" cy="32918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国家資格・高度専門職の育成（ルート②）。医学部・防衛大学校・看護大学等。国費でルート②授業料を補助。</a:t>
            </a:r>
            <a:endParaRPr lang="en-US" sz="1100" dirty="0"/>
          </a:p>
        </p:txBody>
      </p:sp>
      <p:sp>
        <p:nvSpPr>
          <p:cNvPr id="15" name="Shape 13"/>
          <p:cNvSpPr/>
          <p:nvPr/>
        </p:nvSpPr>
        <p:spPr>
          <a:xfrm>
            <a:off x="457200" y="3758184"/>
            <a:ext cx="8229600" cy="1042416"/>
          </a:xfrm>
          <a:prstGeom prst="roundRect">
            <a:avLst>
              <a:gd name="adj" fmla="val 7018"/>
            </a:avLst>
          </a:prstGeom>
          <a:solidFill>
            <a:srgbClr val="FFF4DB"/>
          </a:solidFill>
          <a:ln w="12700">
            <a:solidFill>
              <a:srgbClr val="DDE0E6"/>
            </a:solidFill>
            <a:prstDash val="solid"/>
          </a:ln>
        </p:spPr>
      </p:sp>
      <p:sp>
        <p:nvSpPr>
          <p:cNvPr id="16" name="Shape 14"/>
          <p:cNvSpPr/>
          <p:nvPr/>
        </p:nvSpPr>
        <p:spPr>
          <a:xfrm>
            <a:off x="594360" y="3941064"/>
            <a:ext cx="2011680" cy="438912"/>
          </a:xfrm>
          <a:prstGeom prst="roundRect">
            <a:avLst>
              <a:gd name="adj" fmla="val 12500"/>
            </a:avLst>
          </a:prstGeom>
          <a:solidFill>
            <a:srgbClr val="C8161D"/>
          </a:solidFill>
          <a:ln w="12700">
            <a:solidFill>
              <a:srgbClr val="C8161D"/>
            </a:solidFill>
            <a:prstDash val="solid"/>
          </a:ln>
        </p:spPr>
      </p:sp>
      <p:sp>
        <p:nvSpPr>
          <p:cNvPr id="17" name="Text 15"/>
          <p:cNvSpPr/>
          <p:nvPr/>
        </p:nvSpPr>
        <p:spPr>
          <a:xfrm>
            <a:off x="594360" y="3941064"/>
            <a:ext cx="2011680" cy="438912"/>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BIZ UDPGothic" pitchFamily="34" charset="-122"/>
                <a:cs typeface="BIZ UDPGothic" pitchFamily="34" charset="-120"/>
              </a:rPr>
              <a:t>転換専門学校</a:t>
            </a:r>
            <a:endParaRPr lang="en-US" sz="1200" dirty="0"/>
          </a:p>
        </p:txBody>
      </p:sp>
      <p:sp>
        <p:nvSpPr>
          <p:cNvPr id="18" name="Text 16"/>
          <p:cNvSpPr/>
          <p:nvPr/>
        </p:nvSpPr>
        <p:spPr>
          <a:xfrm>
            <a:off x="2761488" y="3941064"/>
            <a:ext cx="2286000" cy="438912"/>
          </a:xfrm>
          <a:prstGeom prst="rect">
            <a:avLst/>
          </a:prstGeom>
          <a:noFill/>
          <a:ln/>
        </p:spPr>
        <p:txBody>
          <a:bodyPr wrap="square" lIns="0" tIns="0" rIns="0" bIns="0" rtlCol="0" anchor="ctr"/>
          <a:lstStyle/>
          <a:p>
            <a:pPr indent="0" marL="0">
              <a:buNone/>
            </a:pPr>
            <a:r>
              <a:rPr lang="en-US" sz="1300" b="1" dirty="0">
                <a:solidFill>
                  <a:srgbClr val="9A6200"/>
                </a:solidFill>
                <a:latin typeface="BIZ UDPGothic" pitchFamily="34" charset="0"/>
                <a:ea typeface="BIZ UDPGothic" pitchFamily="34" charset="-122"/>
                <a:cs typeface="BIZ UDPGothic" pitchFamily="34" charset="-120"/>
              </a:rPr>
              <a:t>偏差値60未満から転換</a:t>
            </a:r>
            <a:endParaRPr lang="en-US" sz="1300" dirty="0"/>
          </a:p>
        </p:txBody>
      </p:sp>
      <p:sp>
        <p:nvSpPr>
          <p:cNvPr id="19" name="Text 17"/>
          <p:cNvSpPr/>
          <p:nvPr/>
        </p:nvSpPr>
        <p:spPr>
          <a:xfrm>
            <a:off x="621792" y="4416552"/>
            <a:ext cx="7863840" cy="329184"/>
          </a:xfrm>
          <a:prstGeom prst="rect">
            <a:avLst/>
          </a:prstGeom>
          <a:noFill/>
          <a:ln/>
        </p:spPr>
        <p:txBody>
          <a:bodyPr wrap="square" lIns="0" tIns="0" rIns="0" bIns="0" rtlCol="0" anchor="ctr"/>
          <a:lstStyle/>
          <a:p>
            <a:pPr indent="0" marL="0">
              <a:buNone/>
            </a:pPr>
            <a:r>
              <a:rPr lang="en-US" sz="1100" dirty="0">
                <a:solidFill>
                  <a:srgbClr val="2B2F36"/>
                </a:solidFill>
                <a:latin typeface="Arial" pitchFamily="34" charset="0"/>
                <a:ea typeface="BIZ UDPGothic" pitchFamily="34" charset="-122"/>
                <a:cs typeface="BIZ UDPGothic" pitchFamily="34" charset="-120"/>
              </a:rPr>
              <a:t>ルート①（9割）の受け皿として機能。実務直結スキルを2年間で習得する場へ。自費中心。</a:t>
            </a:r>
            <a:endParaRPr lang="en-US" sz="1100" dirty="0"/>
          </a:p>
        </p:txBody>
      </p:sp>
      <p:sp>
        <p:nvSpPr>
          <p:cNvPr id="20" name="Shape 18"/>
          <p:cNvSpPr/>
          <p:nvPr/>
        </p:nvSpPr>
        <p:spPr>
          <a:xfrm>
            <a:off x="457200" y="5010912"/>
            <a:ext cx="8229600" cy="54864"/>
          </a:xfrm>
          <a:prstGeom prst="roundRect">
            <a:avLst>
              <a:gd name="adj" fmla="val 133333"/>
            </a:avLst>
          </a:prstGeom>
          <a:solidFill>
            <a:srgbClr val="DDE0E6"/>
          </a:solidFill>
          <a:ln w="12700">
            <a:solidFill>
              <a:srgbClr val="DDE0E6"/>
            </a:solidFill>
            <a:prstDash val="solid"/>
          </a:ln>
        </p:spPr>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SOCIAL INFRASTRUCTURE 01</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600" b="1" dirty="0">
                <a:solidFill>
                  <a:srgbClr val="16181D"/>
                </a:solidFill>
                <a:latin typeface="BIZ UDPGothic" pitchFamily="34" charset="0"/>
                <a:ea typeface="BIZ UDPGothic" pitchFamily="34" charset="-122"/>
                <a:cs typeface="BIZ UDPGothic" pitchFamily="34" charset="-120"/>
              </a:rPr>
              <a:t>奨学金問題の根本解決</a:t>
            </a:r>
            <a:endParaRPr lang="en-US" sz="36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Text 3"/>
          <p:cNvSpPr/>
          <p:nvPr/>
        </p:nvSpPr>
        <p:spPr>
          <a:xfrm>
            <a:off x="457200" y="1353312"/>
            <a:ext cx="3840480" cy="329184"/>
          </a:xfrm>
          <a:prstGeom prst="rect">
            <a:avLst/>
          </a:prstGeom>
          <a:noFill/>
          <a:ln/>
        </p:spPr>
        <p:txBody>
          <a:bodyPr wrap="square" lIns="0" tIns="0" rIns="0" bIns="0" rtlCol="0" anchor="ctr"/>
          <a:lstStyle/>
          <a:p>
            <a:pPr indent="0" marL="0">
              <a:buNone/>
            </a:pPr>
            <a:r>
              <a:rPr lang="en-US" sz="1300" b="1" dirty="0">
                <a:solidFill>
                  <a:srgbClr val="C8161D"/>
                </a:solidFill>
                <a:latin typeface="BIZ UDPGothic" pitchFamily="34" charset="0"/>
                <a:ea typeface="BIZ UDPGothic" pitchFamily="34" charset="-122"/>
                <a:cs typeface="BIZ UDPGothic" pitchFamily="34" charset="-120"/>
              </a:rPr>
              <a:t>現在の構造</a:t>
            </a:r>
            <a:endParaRPr lang="en-US" sz="1300" dirty="0"/>
          </a:p>
        </p:txBody>
      </p:sp>
      <p:sp>
        <p:nvSpPr>
          <p:cNvPr id="6" name="Text 4"/>
          <p:cNvSpPr/>
          <p:nvPr/>
        </p:nvSpPr>
        <p:spPr>
          <a:xfrm>
            <a:off x="457200" y="1719072"/>
            <a:ext cx="3840480" cy="1828800"/>
          </a:xfrm>
          <a:prstGeom prst="rect">
            <a:avLst/>
          </a:prstGeom>
          <a:noFill/>
          <a:ln/>
        </p:spPr>
        <p:txBody>
          <a:bodyPr wrap="square" lIns="0" tIns="0" rIns="0" bIns="0" rtlCol="0" anchor="ctr"/>
          <a:lstStyle/>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「大卒でないとまともな職に就けない」という強迫観念</a:t>
            </a:r>
            <a:endParaRPr lang="en-US" sz="1100" dirty="0"/>
          </a:p>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 自覚なく「とりあえず大学」へ</a:t>
            </a:r>
            <a:endParaRPr lang="en-US" sz="1100" dirty="0"/>
          </a:p>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 数百万円の奨学金を借りる</a:t>
            </a:r>
            <a:endParaRPr lang="en-US" sz="1100" dirty="0"/>
          </a:p>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 社会人になる前から負債スタート</a:t>
            </a:r>
            <a:endParaRPr lang="en-US" sz="1100" dirty="0"/>
          </a:p>
        </p:txBody>
      </p:sp>
      <p:sp>
        <p:nvSpPr>
          <p:cNvPr id="7" name="Text 5"/>
          <p:cNvSpPr/>
          <p:nvPr/>
        </p:nvSpPr>
        <p:spPr>
          <a:xfrm>
            <a:off x="4846320" y="1353312"/>
            <a:ext cx="3840480" cy="329184"/>
          </a:xfrm>
          <a:prstGeom prst="rect">
            <a:avLst/>
          </a:prstGeom>
          <a:noFill/>
          <a:ln/>
        </p:spPr>
        <p:txBody>
          <a:bodyPr wrap="square" lIns="0" tIns="0" rIns="0" bIns="0" rtlCol="0" anchor="ctr"/>
          <a:lstStyle/>
          <a:p>
            <a:pPr indent="0" marL="0">
              <a:buNone/>
            </a:pPr>
            <a:r>
              <a:rPr lang="en-US" sz="1300" b="1" dirty="0">
                <a:solidFill>
                  <a:srgbClr val="1D4F91"/>
                </a:solidFill>
                <a:latin typeface="BIZ UDPGothic" pitchFamily="34" charset="0"/>
                <a:ea typeface="BIZ UDPGothic" pitchFamily="34" charset="-122"/>
                <a:cs typeface="BIZ UDPGothic" pitchFamily="34" charset="-120"/>
              </a:rPr>
              <a:t>改革後の構造</a:t>
            </a:r>
            <a:endParaRPr lang="en-US" sz="1300" dirty="0"/>
          </a:p>
        </p:txBody>
      </p:sp>
      <p:sp>
        <p:nvSpPr>
          <p:cNvPr id="8" name="Text 6"/>
          <p:cNvSpPr/>
          <p:nvPr/>
        </p:nvSpPr>
        <p:spPr>
          <a:xfrm>
            <a:off x="4846320" y="1719072"/>
            <a:ext cx="3840480" cy="1828800"/>
          </a:xfrm>
          <a:prstGeom prst="rect">
            <a:avLst/>
          </a:prstGeom>
          <a:noFill/>
          <a:ln/>
        </p:spPr>
        <p:txBody>
          <a:bodyPr wrap="square" lIns="0" tIns="0" rIns="0" bIns="0" rtlCol="0" anchor="ctr"/>
          <a:lstStyle/>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21歳で実務スキルを持って社会人スタート</a:t>
            </a:r>
            <a:endParaRPr lang="en-US" sz="1100" dirty="0"/>
          </a:p>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 奨学金ゼロで収入が始まる</a:t>
            </a:r>
            <a:endParaRPr lang="en-US" sz="1100" dirty="0"/>
          </a:p>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 学びたくなったら自費・企業支援で学ぶ</a:t>
            </a:r>
            <a:endParaRPr lang="en-US" sz="1100" dirty="0"/>
          </a:p>
          <a:p>
            <a:pPr indent="0" marL="0">
              <a:spcAft>
                <a:spcPts val="600"/>
              </a:spcAft>
              <a:buNone/>
            </a:pPr>
            <a:r>
              <a:rPr lang="en-US" sz="1100" dirty="0">
                <a:solidFill>
                  <a:srgbClr val="2B2F36"/>
                </a:solidFill>
                <a:latin typeface="Arial" pitchFamily="34" charset="0"/>
                <a:ea typeface="BIZ UDPGothic" pitchFamily="34" charset="-122"/>
                <a:cs typeface="BIZ UDPGothic" pitchFamily="34" charset="-120"/>
              </a:rPr>
              <a:t>→ 経済格差による教育格差が消滅する</a:t>
            </a:r>
            <a:endParaRPr lang="en-US" sz="1100" dirty="0"/>
          </a:p>
        </p:txBody>
      </p:sp>
      <p:sp>
        <p:nvSpPr>
          <p:cNvPr id="9" name="Text 7"/>
          <p:cNvSpPr/>
          <p:nvPr/>
        </p:nvSpPr>
        <p:spPr>
          <a:xfrm>
            <a:off x="4023360" y="2103120"/>
            <a:ext cx="914400" cy="731520"/>
          </a:xfrm>
          <a:prstGeom prst="rect">
            <a:avLst/>
          </a:prstGeom>
          <a:noFill/>
          <a:ln/>
        </p:spPr>
        <p:txBody>
          <a:bodyPr wrap="square" lIns="0" tIns="0" rIns="0" bIns="0" rtlCol="0" anchor="ctr"/>
          <a:lstStyle/>
          <a:p>
            <a:pPr algn="ctr" indent="0" marL="0">
              <a:buNone/>
            </a:pPr>
            <a:r>
              <a:rPr lang="en-US" sz="4000" dirty="0">
                <a:solidFill>
                  <a:srgbClr val="C8161D"/>
                </a:solidFill>
                <a:latin typeface="Arial" pitchFamily="34" charset="0"/>
                <a:ea typeface="BIZ UDPGothic" pitchFamily="34" charset="-122"/>
                <a:cs typeface="BIZ UDPGothic" pitchFamily="34" charset="-120"/>
              </a:rPr>
              <a:t>→</a:t>
            </a:r>
            <a:endParaRPr lang="en-US" sz="4000" dirty="0"/>
          </a:p>
        </p:txBody>
      </p:sp>
      <p:sp>
        <p:nvSpPr>
          <p:cNvPr id="10" name="Shape 8"/>
          <p:cNvSpPr/>
          <p:nvPr/>
        </p:nvSpPr>
        <p:spPr>
          <a:xfrm>
            <a:off x="457200" y="3749040"/>
            <a:ext cx="8229600" cy="694944"/>
          </a:xfrm>
          <a:prstGeom prst="roundRect">
            <a:avLst>
              <a:gd name="adj" fmla="val 10526"/>
            </a:avLst>
          </a:prstGeom>
          <a:solidFill>
            <a:srgbClr val="E9EFF8"/>
          </a:solidFill>
          <a:ln w="12700">
            <a:solidFill>
              <a:srgbClr val="DDE0E6"/>
            </a:solidFill>
            <a:prstDash val="solid"/>
          </a:ln>
        </p:spPr>
      </p:sp>
      <p:sp>
        <p:nvSpPr>
          <p:cNvPr id="11" name="Text 9"/>
          <p:cNvSpPr/>
          <p:nvPr/>
        </p:nvSpPr>
        <p:spPr>
          <a:xfrm>
            <a:off x="594360" y="3749040"/>
            <a:ext cx="7955280" cy="694944"/>
          </a:xfrm>
          <a:prstGeom prst="rect">
            <a:avLst/>
          </a:prstGeom>
          <a:noFill/>
          <a:ln/>
        </p:spPr>
        <p:txBody>
          <a:bodyPr wrap="square" lIns="0" tIns="0" rIns="0" bIns="0" rtlCol="0" anchor="ctr"/>
          <a:lstStyle/>
          <a:p>
            <a:pPr algn="ctr" indent="0" marL="0">
              <a:buNone/>
            </a:pPr>
            <a:r>
              <a:rPr lang="en-US" sz="1600" b="1" dirty="0">
                <a:solidFill>
                  <a:srgbClr val="1D4F91"/>
                </a:solidFill>
                <a:latin typeface="BIZ UDPGothic" pitchFamily="34" charset="0"/>
                <a:ea typeface="BIZ UDPGothic" pitchFamily="34" charset="-122"/>
                <a:cs typeface="BIZ UDPGothic" pitchFamily="34" charset="-120"/>
              </a:rPr>
              <a:t>「経済格差による教育格差」という概念そのものが社会から消滅する</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6F8"/>
        </a:solidFill>
      </p:bgPr>
    </p:bg>
    <p:spTree>
      <p:nvGrpSpPr>
        <p:cNvPr id="1" name=""/>
        <p:cNvGrpSpPr/>
        <p:nvPr/>
      </p:nvGrpSpPr>
      <p:grpSpPr>
        <a:xfrm>
          <a:off x="0" y="0"/>
          <a:ext cx="0" cy="0"/>
          <a:chOff x="0" y="0"/>
          <a:chExt cx="0" cy="0"/>
        </a:xfrm>
      </p:grpSpPr>
      <p:sp>
        <p:nvSpPr>
          <p:cNvPr id="2" name="Text 0"/>
          <p:cNvSpPr/>
          <p:nvPr/>
        </p:nvSpPr>
        <p:spPr>
          <a:xfrm>
            <a:off x="457200" y="256032"/>
            <a:ext cx="8229600" cy="256032"/>
          </a:xfrm>
          <a:prstGeom prst="rect">
            <a:avLst/>
          </a:prstGeom>
          <a:noFill/>
          <a:ln/>
        </p:spPr>
        <p:txBody>
          <a:bodyPr wrap="square" lIns="0" tIns="0" rIns="0" bIns="0" rtlCol="0" anchor="ctr"/>
          <a:lstStyle/>
          <a:p>
            <a:pPr indent="0" marL="0">
              <a:buNone/>
            </a:pPr>
            <a:r>
              <a:rPr lang="en-US" sz="900" b="1" spc="400" kern="0" dirty="0">
                <a:solidFill>
                  <a:srgbClr val="C8161D"/>
                </a:solidFill>
                <a:latin typeface="Arial" pitchFamily="34" charset="0"/>
                <a:ea typeface="BIZ UDPGothic" pitchFamily="34" charset="-122"/>
                <a:cs typeface="BIZ UDPGothic" pitchFamily="34" charset="-120"/>
              </a:rPr>
              <a:t>SOCIAL INFRASTRUCTURE 02</a:t>
            </a:r>
            <a:endParaRPr lang="en-US" sz="900" dirty="0"/>
          </a:p>
        </p:txBody>
      </p:sp>
      <p:sp>
        <p:nvSpPr>
          <p:cNvPr id="3" name="Text 1"/>
          <p:cNvSpPr/>
          <p:nvPr/>
        </p:nvSpPr>
        <p:spPr>
          <a:xfrm>
            <a:off x="457200" y="512064"/>
            <a:ext cx="8229600" cy="658368"/>
          </a:xfrm>
          <a:prstGeom prst="rect">
            <a:avLst/>
          </a:prstGeom>
          <a:noFill/>
          <a:ln/>
        </p:spPr>
        <p:txBody>
          <a:bodyPr wrap="square" lIns="0" tIns="0" rIns="0" bIns="0" rtlCol="0" anchor="ctr"/>
          <a:lstStyle/>
          <a:p>
            <a:pPr indent="0" marL="0">
              <a:buNone/>
            </a:pPr>
            <a:r>
              <a:rPr lang="en-US" sz="3600" b="1" dirty="0">
                <a:solidFill>
                  <a:srgbClr val="16181D"/>
                </a:solidFill>
                <a:latin typeface="BIZ UDPGothic" pitchFamily="34" charset="0"/>
                <a:ea typeface="BIZ UDPGothic" pitchFamily="34" charset="-122"/>
                <a:cs typeface="BIZ UDPGothic" pitchFamily="34" charset="-120"/>
              </a:rPr>
              <a:t>社会人の「必要駆動型」リカレント教育</a:t>
            </a:r>
            <a:endParaRPr lang="en-US" sz="3600" dirty="0"/>
          </a:p>
        </p:txBody>
      </p:sp>
      <p:sp>
        <p:nvSpPr>
          <p:cNvPr id="4" name="Shape 2"/>
          <p:cNvSpPr/>
          <p:nvPr/>
        </p:nvSpPr>
        <p:spPr>
          <a:xfrm>
            <a:off x="457200" y="1225296"/>
            <a:ext cx="8229600" cy="13716"/>
          </a:xfrm>
          <a:prstGeom prst="rect">
            <a:avLst/>
          </a:prstGeom>
          <a:solidFill>
            <a:srgbClr val="DDE0E6"/>
          </a:solidFill>
          <a:ln w="12700">
            <a:solidFill>
              <a:srgbClr val="DDE0E6"/>
            </a:solidFill>
            <a:prstDash val="solid"/>
          </a:ln>
        </p:spPr>
      </p:sp>
      <p:sp>
        <p:nvSpPr>
          <p:cNvPr id="5" name="Shape 3"/>
          <p:cNvSpPr/>
          <p:nvPr/>
        </p:nvSpPr>
        <p:spPr>
          <a:xfrm>
            <a:off x="457200" y="1417320"/>
            <a:ext cx="1499616" cy="1280160"/>
          </a:xfrm>
          <a:prstGeom prst="roundRect">
            <a:avLst>
              <a:gd name="adj" fmla="val 5714"/>
            </a:avLst>
          </a:prstGeom>
          <a:solidFill>
            <a:srgbClr val="FFFFFF"/>
          </a:solidFill>
          <a:ln w="12700">
            <a:solidFill>
              <a:srgbClr val="DDE0E6"/>
            </a:solidFill>
            <a:prstDash val="solid"/>
          </a:ln>
        </p:spPr>
      </p:sp>
      <p:sp>
        <p:nvSpPr>
          <p:cNvPr id="6" name="Text 4"/>
          <p:cNvSpPr/>
          <p:nvPr/>
        </p:nvSpPr>
        <p:spPr>
          <a:xfrm>
            <a:off x="530352" y="1417320"/>
            <a:ext cx="1353312" cy="1280160"/>
          </a:xfrm>
          <a:prstGeom prst="rect">
            <a:avLst/>
          </a:prstGeom>
          <a:noFill/>
          <a:ln/>
        </p:spPr>
        <p:txBody>
          <a:bodyPr wrap="square" lIns="0" tIns="0" rIns="0" bIns="0" rtlCol="0" anchor="ctr"/>
          <a:lstStyle/>
          <a:p>
            <a:pPr algn="ctr" indent="0" marL="0">
              <a:buNone/>
            </a:pPr>
            <a:r>
              <a:rPr lang="en-US" sz="1000" dirty="0">
                <a:solidFill>
                  <a:srgbClr val="16181D"/>
                </a:solidFill>
                <a:latin typeface="Arial" pitchFamily="34" charset="0"/>
                <a:ea typeface="BIZ UDPGothic" pitchFamily="34" charset="-122"/>
                <a:cs typeface="BIZ UDPGothic" pitchFamily="34" charset="-120"/>
              </a:rPr>
              <a:t>社会に出る</a:t>
            </a:r>
            <a:endParaRPr lang="en-US" sz="1000" dirty="0"/>
          </a:p>
          <a:p>
            <a:pPr algn="ctr" indent="0" marL="0">
              <a:buNone/>
            </a:pPr>
            <a:r>
              <a:rPr lang="en-US" sz="1000" dirty="0">
                <a:solidFill>
                  <a:srgbClr val="16181D"/>
                </a:solidFill>
                <a:latin typeface="Arial" pitchFamily="34" charset="0"/>
                <a:ea typeface="BIZ UDPGothic" pitchFamily="34" charset="-122"/>
                <a:cs typeface="BIZ UDPGothic" pitchFamily="34" charset="-120"/>
              </a:rPr>
              <a:t>（21歳）</a:t>
            </a:r>
            <a:endParaRPr lang="en-US" sz="1000" dirty="0"/>
          </a:p>
        </p:txBody>
      </p:sp>
      <p:sp>
        <p:nvSpPr>
          <p:cNvPr id="7" name="Text 5"/>
          <p:cNvSpPr/>
          <p:nvPr/>
        </p:nvSpPr>
        <p:spPr>
          <a:xfrm>
            <a:off x="1956816" y="1828800"/>
            <a:ext cx="182880" cy="457200"/>
          </a:xfrm>
          <a:prstGeom prst="rect">
            <a:avLst/>
          </a:prstGeom>
          <a:noFill/>
          <a:ln/>
        </p:spPr>
        <p:txBody>
          <a:bodyPr wrap="square" lIns="0" tIns="0" rIns="0" bIns="0" rtlCol="0" anchor="ctr"/>
          <a:lstStyle/>
          <a:p>
            <a:pPr algn="ctr" indent="0" marL="0">
              <a:buNone/>
            </a:pPr>
            <a:r>
              <a:rPr lang="en-US" sz="1400" dirty="0">
                <a:solidFill>
                  <a:srgbClr val="C8161D"/>
                </a:solidFill>
                <a:latin typeface="Arial" pitchFamily="34" charset="0"/>
                <a:ea typeface="BIZ UDPGothic" pitchFamily="34" charset="-122"/>
                <a:cs typeface="BIZ UDPGothic" pitchFamily="34" charset="-120"/>
              </a:rPr>
              <a:t>→</a:t>
            </a:r>
            <a:endParaRPr lang="en-US" sz="1400" dirty="0"/>
          </a:p>
        </p:txBody>
      </p:sp>
      <p:sp>
        <p:nvSpPr>
          <p:cNvPr id="8" name="Shape 6"/>
          <p:cNvSpPr/>
          <p:nvPr/>
        </p:nvSpPr>
        <p:spPr>
          <a:xfrm>
            <a:off x="2139696" y="1417320"/>
            <a:ext cx="1499616" cy="1280160"/>
          </a:xfrm>
          <a:prstGeom prst="roundRect">
            <a:avLst>
              <a:gd name="adj" fmla="val 5714"/>
            </a:avLst>
          </a:prstGeom>
          <a:solidFill>
            <a:srgbClr val="FFFFFF"/>
          </a:solidFill>
          <a:ln w="12700">
            <a:solidFill>
              <a:srgbClr val="DDE0E6"/>
            </a:solidFill>
            <a:prstDash val="solid"/>
          </a:ln>
        </p:spPr>
      </p:sp>
      <p:sp>
        <p:nvSpPr>
          <p:cNvPr id="9" name="Text 7"/>
          <p:cNvSpPr/>
          <p:nvPr/>
        </p:nvSpPr>
        <p:spPr>
          <a:xfrm>
            <a:off x="2212848" y="1417320"/>
            <a:ext cx="1353312" cy="1280160"/>
          </a:xfrm>
          <a:prstGeom prst="rect">
            <a:avLst/>
          </a:prstGeom>
          <a:noFill/>
          <a:ln/>
        </p:spPr>
        <p:txBody>
          <a:bodyPr wrap="square" lIns="0" tIns="0" rIns="0" bIns="0" rtlCol="0" anchor="ctr"/>
          <a:lstStyle/>
          <a:p>
            <a:pPr algn="ctr" indent="0" marL="0">
              <a:buNone/>
            </a:pPr>
            <a:r>
              <a:rPr lang="en-US" sz="1000" dirty="0">
                <a:solidFill>
                  <a:srgbClr val="16181D"/>
                </a:solidFill>
                <a:latin typeface="Arial" pitchFamily="34" charset="0"/>
                <a:ea typeface="BIZ UDPGothic" pitchFamily="34" charset="-122"/>
                <a:cs typeface="BIZ UDPGothic" pitchFamily="34" charset="-120"/>
              </a:rPr>
              <a:t>現実の壁に</a:t>
            </a:r>
            <a:endParaRPr lang="en-US" sz="1000" dirty="0"/>
          </a:p>
          <a:p>
            <a:pPr algn="ctr" indent="0" marL="0">
              <a:buNone/>
            </a:pPr>
            <a:r>
              <a:rPr lang="en-US" sz="1000" dirty="0">
                <a:solidFill>
                  <a:srgbClr val="16181D"/>
                </a:solidFill>
                <a:latin typeface="Arial" pitchFamily="34" charset="0"/>
                <a:ea typeface="BIZ UDPGothic" pitchFamily="34" charset="-122"/>
                <a:cs typeface="BIZ UDPGothic" pitchFamily="34" charset="-120"/>
              </a:rPr>
              <a:t>ぶつかる</a:t>
            </a:r>
            <a:endParaRPr lang="en-US" sz="1000" dirty="0"/>
          </a:p>
        </p:txBody>
      </p:sp>
      <p:sp>
        <p:nvSpPr>
          <p:cNvPr id="10" name="Text 8"/>
          <p:cNvSpPr/>
          <p:nvPr/>
        </p:nvSpPr>
        <p:spPr>
          <a:xfrm>
            <a:off x="3639312" y="1828800"/>
            <a:ext cx="182880" cy="457200"/>
          </a:xfrm>
          <a:prstGeom prst="rect">
            <a:avLst/>
          </a:prstGeom>
          <a:noFill/>
          <a:ln/>
        </p:spPr>
        <p:txBody>
          <a:bodyPr wrap="square" lIns="0" tIns="0" rIns="0" bIns="0" rtlCol="0" anchor="ctr"/>
          <a:lstStyle/>
          <a:p>
            <a:pPr algn="ctr" indent="0" marL="0">
              <a:buNone/>
            </a:pPr>
            <a:r>
              <a:rPr lang="en-US" sz="1400" dirty="0">
                <a:solidFill>
                  <a:srgbClr val="C8161D"/>
                </a:solidFill>
                <a:latin typeface="Arial" pitchFamily="34" charset="0"/>
                <a:ea typeface="BIZ UDPGothic" pitchFamily="34" charset="-122"/>
                <a:cs typeface="BIZ UDPGothic" pitchFamily="34" charset="-120"/>
              </a:rPr>
              <a:t>→</a:t>
            </a:r>
            <a:endParaRPr lang="en-US" sz="1400" dirty="0"/>
          </a:p>
        </p:txBody>
      </p:sp>
      <p:sp>
        <p:nvSpPr>
          <p:cNvPr id="11" name="Shape 9"/>
          <p:cNvSpPr/>
          <p:nvPr/>
        </p:nvSpPr>
        <p:spPr>
          <a:xfrm>
            <a:off x="3822192" y="1417320"/>
            <a:ext cx="1499616" cy="1280160"/>
          </a:xfrm>
          <a:prstGeom prst="roundRect">
            <a:avLst>
              <a:gd name="adj" fmla="val 5714"/>
            </a:avLst>
          </a:prstGeom>
          <a:solidFill>
            <a:srgbClr val="E9EFF8"/>
          </a:solidFill>
          <a:ln w="12700">
            <a:solidFill>
              <a:srgbClr val="DDE0E6"/>
            </a:solidFill>
            <a:prstDash val="solid"/>
          </a:ln>
        </p:spPr>
      </p:sp>
      <p:sp>
        <p:nvSpPr>
          <p:cNvPr id="12" name="Text 10"/>
          <p:cNvSpPr/>
          <p:nvPr/>
        </p:nvSpPr>
        <p:spPr>
          <a:xfrm>
            <a:off x="3895344" y="1417320"/>
            <a:ext cx="1353312" cy="1280160"/>
          </a:xfrm>
          <a:prstGeom prst="rect">
            <a:avLst/>
          </a:prstGeom>
          <a:noFill/>
          <a:ln/>
        </p:spPr>
        <p:txBody>
          <a:bodyPr wrap="square" lIns="0" tIns="0" rIns="0" bIns="0" rtlCol="0" anchor="ctr"/>
          <a:lstStyle/>
          <a:p>
            <a:pPr algn="ctr" indent="0" marL="0">
              <a:buNone/>
            </a:pPr>
            <a:r>
              <a:rPr lang="en-US" sz="1000" dirty="0">
                <a:solidFill>
                  <a:srgbClr val="16181D"/>
                </a:solidFill>
                <a:latin typeface="Arial" pitchFamily="34" charset="0"/>
                <a:ea typeface="BIZ UDPGothic" pitchFamily="34" charset="-122"/>
                <a:cs typeface="BIZ UDPGothic" pitchFamily="34" charset="-120"/>
              </a:rPr>
              <a:t>必要なスキルが</a:t>
            </a:r>
            <a:endParaRPr lang="en-US" sz="1000" dirty="0"/>
          </a:p>
          <a:p>
            <a:pPr algn="ctr" indent="0" marL="0">
              <a:buNone/>
            </a:pPr>
            <a:r>
              <a:rPr lang="en-US" sz="1000" dirty="0">
                <a:solidFill>
                  <a:srgbClr val="16181D"/>
                </a:solidFill>
                <a:latin typeface="Arial" pitchFamily="34" charset="0"/>
                <a:ea typeface="BIZ UDPGothic" pitchFamily="34" charset="-122"/>
                <a:cs typeface="BIZ UDPGothic" pitchFamily="34" charset="-120"/>
              </a:rPr>
              <a:t>明確になる</a:t>
            </a:r>
            <a:endParaRPr lang="en-US" sz="1000" dirty="0"/>
          </a:p>
        </p:txBody>
      </p:sp>
      <p:sp>
        <p:nvSpPr>
          <p:cNvPr id="13" name="Text 11"/>
          <p:cNvSpPr/>
          <p:nvPr/>
        </p:nvSpPr>
        <p:spPr>
          <a:xfrm>
            <a:off x="5321808" y="1828800"/>
            <a:ext cx="182880" cy="457200"/>
          </a:xfrm>
          <a:prstGeom prst="rect">
            <a:avLst/>
          </a:prstGeom>
          <a:noFill/>
          <a:ln/>
        </p:spPr>
        <p:txBody>
          <a:bodyPr wrap="square" lIns="0" tIns="0" rIns="0" bIns="0" rtlCol="0" anchor="ctr"/>
          <a:lstStyle/>
          <a:p>
            <a:pPr algn="ctr" indent="0" marL="0">
              <a:buNone/>
            </a:pPr>
            <a:r>
              <a:rPr lang="en-US" sz="1400" dirty="0">
                <a:solidFill>
                  <a:srgbClr val="C8161D"/>
                </a:solidFill>
                <a:latin typeface="Arial" pitchFamily="34" charset="0"/>
                <a:ea typeface="BIZ UDPGothic" pitchFamily="34" charset="-122"/>
                <a:cs typeface="BIZ UDPGothic" pitchFamily="34" charset="-120"/>
              </a:rPr>
              <a:t>→</a:t>
            </a:r>
            <a:endParaRPr lang="en-US" sz="1400" dirty="0"/>
          </a:p>
        </p:txBody>
      </p:sp>
      <p:sp>
        <p:nvSpPr>
          <p:cNvPr id="14" name="Shape 12"/>
          <p:cNvSpPr/>
          <p:nvPr/>
        </p:nvSpPr>
        <p:spPr>
          <a:xfrm>
            <a:off x="5504688" y="1417320"/>
            <a:ext cx="1499616" cy="1280160"/>
          </a:xfrm>
          <a:prstGeom prst="roundRect">
            <a:avLst>
              <a:gd name="adj" fmla="val 5714"/>
            </a:avLst>
          </a:prstGeom>
          <a:solidFill>
            <a:srgbClr val="E9EFF8"/>
          </a:solidFill>
          <a:ln w="12700">
            <a:solidFill>
              <a:srgbClr val="DDE0E6"/>
            </a:solidFill>
            <a:prstDash val="solid"/>
          </a:ln>
        </p:spPr>
      </p:sp>
      <p:sp>
        <p:nvSpPr>
          <p:cNvPr id="15" name="Text 13"/>
          <p:cNvSpPr/>
          <p:nvPr/>
        </p:nvSpPr>
        <p:spPr>
          <a:xfrm>
            <a:off x="5577840" y="1417320"/>
            <a:ext cx="1353312" cy="1280160"/>
          </a:xfrm>
          <a:prstGeom prst="rect">
            <a:avLst/>
          </a:prstGeom>
          <a:noFill/>
          <a:ln/>
        </p:spPr>
        <p:txBody>
          <a:bodyPr wrap="square" lIns="0" tIns="0" rIns="0" bIns="0" rtlCol="0" anchor="ctr"/>
          <a:lstStyle/>
          <a:p>
            <a:pPr algn="ctr" indent="0" marL="0">
              <a:buNone/>
            </a:pPr>
            <a:r>
              <a:rPr lang="en-US" sz="1000" dirty="0">
                <a:solidFill>
                  <a:srgbClr val="16181D"/>
                </a:solidFill>
                <a:latin typeface="Arial" pitchFamily="34" charset="0"/>
                <a:ea typeface="BIZ UDPGothic" pitchFamily="34" charset="-122"/>
                <a:cs typeface="BIZ UDPGothic" pitchFamily="34" charset="-120"/>
              </a:rPr>
              <a:t>主体的意志で</a:t>
            </a:r>
            <a:endParaRPr lang="en-US" sz="1000" dirty="0"/>
          </a:p>
          <a:p>
            <a:pPr algn="ctr" indent="0" marL="0">
              <a:buNone/>
            </a:pPr>
            <a:r>
              <a:rPr lang="en-US" sz="1000" dirty="0">
                <a:solidFill>
                  <a:srgbClr val="16181D"/>
                </a:solidFill>
                <a:latin typeface="Arial" pitchFamily="34" charset="0"/>
                <a:ea typeface="BIZ UDPGothic" pitchFamily="34" charset="-122"/>
                <a:cs typeface="BIZ UDPGothic" pitchFamily="34" charset="-120"/>
              </a:rPr>
              <a:t>大学へ</a:t>
            </a:r>
            <a:endParaRPr lang="en-US" sz="1000" dirty="0"/>
          </a:p>
        </p:txBody>
      </p:sp>
      <p:sp>
        <p:nvSpPr>
          <p:cNvPr id="16" name="Text 14"/>
          <p:cNvSpPr/>
          <p:nvPr/>
        </p:nvSpPr>
        <p:spPr>
          <a:xfrm>
            <a:off x="7004304" y="1828800"/>
            <a:ext cx="182880" cy="457200"/>
          </a:xfrm>
          <a:prstGeom prst="rect">
            <a:avLst/>
          </a:prstGeom>
          <a:noFill/>
          <a:ln/>
        </p:spPr>
        <p:txBody>
          <a:bodyPr wrap="square" lIns="0" tIns="0" rIns="0" bIns="0" rtlCol="0" anchor="ctr"/>
          <a:lstStyle/>
          <a:p>
            <a:pPr algn="ctr" indent="0" marL="0">
              <a:buNone/>
            </a:pPr>
            <a:r>
              <a:rPr lang="en-US" sz="1400" dirty="0">
                <a:solidFill>
                  <a:srgbClr val="C8161D"/>
                </a:solidFill>
                <a:latin typeface="Arial" pitchFamily="34" charset="0"/>
                <a:ea typeface="BIZ UDPGothic" pitchFamily="34" charset="-122"/>
                <a:cs typeface="BIZ UDPGothic" pitchFamily="34" charset="-120"/>
              </a:rPr>
              <a:t>→</a:t>
            </a:r>
            <a:endParaRPr lang="en-US" sz="1400" dirty="0"/>
          </a:p>
        </p:txBody>
      </p:sp>
      <p:sp>
        <p:nvSpPr>
          <p:cNvPr id="17" name="Shape 15"/>
          <p:cNvSpPr/>
          <p:nvPr/>
        </p:nvSpPr>
        <p:spPr>
          <a:xfrm>
            <a:off x="7187184" y="1417320"/>
            <a:ext cx="1499616" cy="1280160"/>
          </a:xfrm>
          <a:prstGeom prst="roundRect">
            <a:avLst>
              <a:gd name="adj" fmla="val 5714"/>
            </a:avLst>
          </a:prstGeom>
          <a:solidFill>
            <a:srgbClr val="E9EFF8"/>
          </a:solidFill>
          <a:ln w="12700">
            <a:solidFill>
              <a:srgbClr val="DDE0E6"/>
            </a:solidFill>
            <a:prstDash val="solid"/>
          </a:ln>
        </p:spPr>
      </p:sp>
      <p:sp>
        <p:nvSpPr>
          <p:cNvPr id="18" name="Text 16"/>
          <p:cNvSpPr/>
          <p:nvPr/>
        </p:nvSpPr>
        <p:spPr>
          <a:xfrm>
            <a:off x="7260336" y="1417320"/>
            <a:ext cx="1353312" cy="1280160"/>
          </a:xfrm>
          <a:prstGeom prst="rect">
            <a:avLst/>
          </a:prstGeom>
          <a:noFill/>
          <a:ln/>
        </p:spPr>
        <p:txBody>
          <a:bodyPr wrap="square" lIns="0" tIns="0" rIns="0" bIns="0" rtlCol="0" anchor="ctr"/>
          <a:lstStyle/>
          <a:p>
            <a:pPr algn="ctr" indent="0" marL="0">
              <a:buNone/>
            </a:pPr>
            <a:r>
              <a:rPr lang="en-US" sz="1000" dirty="0">
                <a:solidFill>
                  <a:srgbClr val="16181D"/>
                </a:solidFill>
                <a:latin typeface="Arial" pitchFamily="34" charset="0"/>
                <a:ea typeface="BIZ UDPGothic" pitchFamily="34" charset="-122"/>
                <a:cs typeface="BIZ UDPGothic" pitchFamily="34" charset="-120"/>
              </a:rPr>
              <a:t>スキルを得て</a:t>
            </a:r>
            <a:endParaRPr lang="en-US" sz="1000" dirty="0"/>
          </a:p>
          <a:p>
            <a:pPr algn="ctr" indent="0" marL="0">
              <a:buNone/>
            </a:pPr>
            <a:r>
              <a:rPr lang="en-US" sz="1000" dirty="0">
                <a:solidFill>
                  <a:srgbClr val="16181D"/>
                </a:solidFill>
                <a:latin typeface="Arial" pitchFamily="34" charset="0"/>
                <a:ea typeface="BIZ UDPGothic" pitchFamily="34" charset="-122"/>
                <a:cs typeface="BIZ UDPGothic" pitchFamily="34" charset="-120"/>
              </a:rPr>
              <a:t>職場に戻る</a:t>
            </a:r>
            <a:endParaRPr lang="en-US" sz="1000" dirty="0"/>
          </a:p>
        </p:txBody>
      </p:sp>
      <p:sp>
        <p:nvSpPr>
          <p:cNvPr id="19" name="Text 17"/>
          <p:cNvSpPr/>
          <p:nvPr/>
        </p:nvSpPr>
        <p:spPr>
          <a:xfrm>
            <a:off x="457200" y="2834640"/>
            <a:ext cx="8229600" cy="384048"/>
          </a:xfrm>
          <a:prstGeom prst="rect">
            <a:avLst/>
          </a:prstGeom>
          <a:noFill/>
          <a:ln/>
        </p:spPr>
        <p:txBody>
          <a:bodyPr wrap="square" lIns="0" tIns="0" rIns="0" bIns="0" rtlCol="0" anchor="ctr"/>
          <a:lstStyle/>
          <a:p>
            <a:pPr indent="0" marL="0">
              <a:buNone/>
            </a:pPr>
            <a:r>
              <a:rPr lang="en-US" sz="1400" b="1" dirty="0">
                <a:solidFill>
                  <a:srgbClr val="C8161D"/>
                </a:solidFill>
                <a:latin typeface="BIZ UDPGothic" pitchFamily="34" charset="0"/>
                <a:ea typeface="BIZ UDPGothic" pitchFamily="34" charset="-122"/>
                <a:cs typeface="BIZ UDPGothic" pitchFamily="34" charset="-120"/>
              </a:rPr>
              <a:t>法的な保護・推奨の範囲</a:t>
            </a:r>
            <a:endParaRPr lang="en-US" sz="1400" dirty="0"/>
          </a:p>
        </p:txBody>
      </p:sp>
      <p:sp>
        <p:nvSpPr>
          <p:cNvPr id="20" name="Text 18"/>
          <p:cNvSpPr/>
          <p:nvPr/>
        </p:nvSpPr>
        <p:spPr>
          <a:xfrm>
            <a:off x="457200" y="3255264"/>
            <a:ext cx="8229600" cy="1737360"/>
          </a:xfrm>
          <a:prstGeom prst="rect">
            <a:avLst/>
          </a:prstGeom>
          <a:noFill/>
          <a:ln/>
        </p:spPr>
        <p:txBody>
          <a:bodyPr wrap="square" lIns="0" tIns="0" rIns="0" bIns="0" rtlCol="0" anchor="t"/>
          <a:lstStyle/>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休職・進学中も昇進・異動・経済面において一切の社会的デメリットを被らないよう法的に保護</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企業によるリカレント教育支援（費用補助・休職制度）を義務化または強力に推奨</a:t>
            </a:r>
            <a:endParaRPr lang="en-US" sz="1100" dirty="0"/>
          </a:p>
          <a:p>
            <a:pPr marL="342900" indent="-342900">
              <a:spcAft>
                <a:spcPts val="1000"/>
              </a:spcAft>
              <a:buSzPct val="100000"/>
              <a:buChar char="•"/>
            </a:pPr>
            <a:r>
              <a:rPr lang="en-US" sz="1100" dirty="0">
                <a:solidFill>
                  <a:srgbClr val="2B2F36"/>
                </a:solidFill>
                <a:latin typeface="Arial" pitchFamily="34" charset="0"/>
                <a:ea typeface="BIZ UDPGothic" pitchFamily="34" charset="-122"/>
                <a:cs typeface="BIZ UDPGothic" pitchFamily="34" charset="-120"/>
              </a:rPr>
              <a:t>格上げされた大学は「18歳の通過儀礼」ではなく「本物の学びを求める者が来る場」として機能する</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5F6F8"/>
        </a:solidFill>
      </p:bgPr>
    </p:bg>
    <p:spTree>
      <p:nvGrpSpPr>
        <p:cNvPr id="1" name=""/>
        <p:cNvGrpSpPr/>
        <p:nvPr/>
      </p:nvGrpSpPr>
      <p:grpSpPr>
        <a:xfrm>
          <a:off x="0" y="0"/>
          <a:ext cx="0" cy="0"/>
          <a:chOff x="0" y="0"/>
          <a:chExt cx="0" cy="0"/>
        </a:xfrm>
      </p:grpSpPr>
      <p:sp>
        <p:nvSpPr>
          <p:cNvPr id="2" name="Shape 0"/>
          <p:cNvSpPr/>
          <p:nvPr/>
        </p:nvSpPr>
        <p:spPr>
          <a:xfrm>
            <a:off x="0" y="0"/>
            <a:ext cx="457200" cy="5143500"/>
          </a:xfrm>
          <a:prstGeom prst="rect">
            <a:avLst/>
          </a:prstGeom>
          <a:solidFill>
            <a:srgbClr val="C8161D"/>
          </a:solidFill>
          <a:ln w="12700">
            <a:solidFill>
              <a:srgbClr val="C8161D"/>
            </a:solidFill>
            <a:prstDash val="solid"/>
          </a:ln>
        </p:spPr>
      </p:sp>
      <p:sp>
        <p:nvSpPr>
          <p:cNvPr id="3" name="Text 1"/>
          <p:cNvSpPr/>
          <p:nvPr/>
        </p:nvSpPr>
        <p:spPr>
          <a:xfrm>
            <a:off x="685800" y="457200"/>
            <a:ext cx="8046720" cy="329184"/>
          </a:xfrm>
          <a:prstGeom prst="rect">
            <a:avLst/>
          </a:prstGeom>
          <a:noFill/>
          <a:ln/>
        </p:spPr>
        <p:txBody>
          <a:bodyPr wrap="square" lIns="0" tIns="0" rIns="0" bIns="0" rtlCol="0" anchor="ctr"/>
          <a:lstStyle/>
          <a:p>
            <a:pPr indent="0" marL="0">
              <a:buNone/>
            </a:pPr>
            <a:r>
              <a:rPr lang="en-US" sz="1000" b="1" spc="300" kern="0" dirty="0">
                <a:solidFill>
                  <a:srgbClr val="C8161D"/>
                </a:solidFill>
                <a:latin typeface="Arial" pitchFamily="34" charset="0"/>
                <a:ea typeface="BIZ UDPGothic" pitchFamily="34" charset="-122"/>
                <a:cs typeface="BIZ UDPGothic" pitchFamily="34" charset="-120"/>
              </a:rPr>
              <a:t>REBOOT JAPAN ── 提言007　まとめ</a:t>
            </a:r>
            <a:endParaRPr lang="en-US" sz="1000" dirty="0"/>
          </a:p>
        </p:txBody>
      </p:sp>
      <p:sp>
        <p:nvSpPr>
          <p:cNvPr id="4" name="Text 2"/>
          <p:cNvSpPr/>
          <p:nvPr/>
        </p:nvSpPr>
        <p:spPr>
          <a:xfrm>
            <a:off x="685800" y="868680"/>
            <a:ext cx="8046720" cy="2377440"/>
          </a:xfrm>
          <a:prstGeom prst="rect">
            <a:avLst/>
          </a:prstGeom>
          <a:noFill/>
          <a:ln/>
        </p:spPr>
        <p:txBody>
          <a:bodyPr wrap="square" lIns="0" tIns="0" rIns="0" bIns="0" rtlCol="0" anchor="ctr"/>
          <a:lstStyle/>
          <a:p>
            <a:pPr indent="0" marL="0">
              <a:buNone/>
            </a:pPr>
            <a:r>
              <a:rPr lang="en-US" sz="2800" b="1" dirty="0">
                <a:solidFill>
                  <a:srgbClr val="16181D"/>
                </a:solidFill>
                <a:latin typeface="BIZ UDPGothic" pitchFamily="34" charset="0"/>
                <a:ea typeface="BIZ UDPGothic" pitchFamily="34" charset="-122"/>
                <a:cs typeface="BIZ UDPGothic" pitchFamily="34" charset="-120"/>
              </a:rPr>
              <a:t>「18歳の偏差値」で</a:t>
            </a:r>
            <a:endParaRPr lang="en-US" sz="2800" dirty="0"/>
          </a:p>
          <a:p>
            <a:pPr indent="0" marL="0">
              <a:buNone/>
            </a:pPr>
            <a:r>
              <a:rPr lang="en-US" sz="2800" b="1" dirty="0">
                <a:solidFill>
                  <a:srgbClr val="16181D"/>
                </a:solidFill>
                <a:latin typeface="BIZ UDPGothic" pitchFamily="34" charset="0"/>
                <a:ea typeface="BIZ UDPGothic" pitchFamily="34" charset="-122"/>
                <a:cs typeface="BIZ UDPGothic" pitchFamily="34" charset="-120"/>
              </a:rPr>
              <a:t>人生が決まる国から、</a:t>
            </a:r>
            <a:endParaRPr lang="en-US" sz="2800" dirty="0"/>
          </a:p>
          <a:p>
            <a:pPr indent="0" marL="0">
              <a:buNone/>
            </a:pPr>
            <a:r>
              <a:rPr lang="en-US" sz="2800" b="1" dirty="0">
                <a:solidFill>
                  <a:srgbClr val="16181D"/>
                </a:solidFill>
                <a:latin typeface="BIZ UDPGothic" pitchFamily="34" charset="0"/>
                <a:ea typeface="BIZ UDPGothic" pitchFamily="34" charset="-122"/>
                <a:cs typeface="BIZ UDPGothic" pitchFamily="34" charset="-120"/>
              </a:rPr>
              <a:t>「何歳からでも自分を</a:t>
            </a:r>
            <a:endParaRPr lang="en-US" sz="2800" dirty="0"/>
          </a:p>
          <a:p>
            <a:pPr indent="0" marL="0">
              <a:buNone/>
            </a:pPr>
            <a:r>
              <a:rPr lang="en-US" sz="2800" b="1" dirty="0">
                <a:solidFill>
                  <a:srgbClr val="16181D"/>
                </a:solidFill>
                <a:latin typeface="BIZ UDPGothic" pitchFamily="34" charset="0"/>
                <a:ea typeface="BIZ UDPGothic" pitchFamily="34" charset="-122"/>
                <a:cs typeface="BIZ UDPGothic" pitchFamily="34" charset="-120"/>
              </a:rPr>
              <a:t>アップデートできる国」へ。</a:t>
            </a:r>
            <a:endParaRPr lang="en-US" sz="2800" dirty="0"/>
          </a:p>
        </p:txBody>
      </p:sp>
      <p:sp>
        <p:nvSpPr>
          <p:cNvPr id="5" name="Shape 3"/>
          <p:cNvSpPr/>
          <p:nvPr/>
        </p:nvSpPr>
        <p:spPr>
          <a:xfrm>
            <a:off x="685800" y="3337560"/>
            <a:ext cx="7772400" cy="13716"/>
          </a:xfrm>
          <a:prstGeom prst="rect">
            <a:avLst/>
          </a:prstGeom>
          <a:solidFill>
            <a:srgbClr val="DDE0E6"/>
          </a:solidFill>
          <a:ln w="12700">
            <a:solidFill>
              <a:srgbClr val="DDE0E6"/>
            </a:solidFill>
            <a:prstDash val="solid"/>
          </a:ln>
        </p:spPr>
      </p:sp>
      <p:sp>
        <p:nvSpPr>
          <p:cNvPr id="6" name="Text 4"/>
          <p:cNvSpPr/>
          <p:nvPr/>
        </p:nvSpPr>
        <p:spPr>
          <a:xfrm>
            <a:off x="685800" y="3456432"/>
            <a:ext cx="8046720" cy="1572768"/>
          </a:xfrm>
          <a:prstGeom prst="rect">
            <a:avLst/>
          </a:prstGeom>
          <a:noFill/>
          <a:ln/>
        </p:spPr>
        <p:txBody>
          <a:bodyPr wrap="square" lIns="0" tIns="0" rIns="0" bIns="0" rtlCol="0" anchor="ctr"/>
          <a:lstStyle/>
          <a:p>
            <a:pPr indent="0" marL="0">
              <a:spcAft>
                <a:spcPts val="300"/>
              </a:spcAft>
              <a:buNone/>
            </a:pPr>
            <a:r>
              <a:rPr lang="en-US" sz="1100" dirty="0">
                <a:solidFill>
                  <a:srgbClr val="2B2F36"/>
                </a:solidFill>
                <a:latin typeface="Arial" pitchFamily="34" charset="0"/>
                <a:ea typeface="BIZ UDPGothic" pitchFamily="34" charset="-122"/>
                <a:cs typeface="BIZ UDPGothic" pitchFamily="34" charset="-120"/>
              </a:rPr>
              <a:t>高校3年を「基礎→探索→社会リテラシー」に再設計</a:t>
            </a:r>
            <a:endParaRPr lang="en-US" sz="1100" dirty="0"/>
          </a:p>
          <a:p>
            <a:pPr indent="0" marL="0">
              <a:spcAft>
                <a:spcPts val="300"/>
              </a:spcAft>
              <a:buNone/>
            </a:pPr>
            <a:r>
              <a:rPr lang="en-US" sz="1100" dirty="0">
                <a:solidFill>
                  <a:srgbClr val="2B2F36"/>
                </a:solidFill>
                <a:latin typeface="Arial" pitchFamily="34" charset="0"/>
                <a:ea typeface="BIZ UDPGothic" pitchFamily="34" charset="-122"/>
                <a:cs typeface="BIZ UDPGothic" pitchFamily="34" charset="-120"/>
              </a:rPr>
              <a:t>9割は専門学校2年で21歳社会人スタート（ルート①）</a:t>
            </a:r>
            <a:endParaRPr lang="en-US" sz="1100" dirty="0"/>
          </a:p>
          <a:p>
            <a:pPr indent="0" marL="0">
              <a:spcAft>
                <a:spcPts val="300"/>
              </a:spcAft>
              <a:buNone/>
            </a:pPr>
            <a:r>
              <a:rPr lang="en-US" sz="1100" dirty="0">
                <a:solidFill>
                  <a:srgbClr val="2B2F36"/>
                </a:solidFill>
                <a:latin typeface="Arial" pitchFamily="34" charset="0"/>
                <a:ea typeface="BIZ UDPGothic" pitchFamily="34" charset="-122"/>
                <a:cs typeface="BIZ UDPGothic" pitchFamily="34" charset="-120"/>
              </a:rPr>
              <a:t>医療・公安・防衛は国費＋10年従事義務（ルート②）</a:t>
            </a:r>
            <a:endParaRPr lang="en-US" sz="1100" dirty="0"/>
          </a:p>
          <a:p>
            <a:pPr indent="0" marL="0">
              <a:spcAft>
                <a:spcPts val="300"/>
              </a:spcAft>
              <a:buNone/>
            </a:pPr>
            <a:r>
              <a:rPr lang="en-US" sz="1100" dirty="0">
                <a:solidFill>
                  <a:srgbClr val="2B2F36"/>
                </a:solidFill>
                <a:latin typeface="Arial" pitchFamily="34" charset="0"/>
                <a:ea typeface="BIZ UDPGothic" pitchFamily="34" charset="-122"/>
                <a:cs typeface="BIZ UDPGothic" pitchFamily="34" charset="-120"/>
              </a:rPr>
              <a:t>上位数％は国費完全無償で研究へ直行（ルート③）</a:t>
            </a:r>
            <a:endParaRPr lang="en-US" sz="1100" dirty="0"/>
          </a:p>
          <a:p>
            <a:pPr indent="0" marL="0">
              <a:spcAft>
                <a:spcPts val="300"/>
              </a:spcAft>
              <a:buNone/>
            </a:pPr>
            <a:r>
              <a:rPr lang="en-US" sz="1100" dirty="0">
                <a:solidFill>
                  <a:srgbClr val="2B2F36"/>
                </a:solidFill>
                <a:latin typeface="Arial" pitchFamily="34" charset="0"/>
                <a:ea typeface="BIZ UDPGothic" pitchFamily="34" charset="-122"/>
                <a:cs typeface="BIZ UDPGothic" pitchFamily="34" charset="-120"/>
              </a:rPr>
              <a:t>大学を偏差値60基準で5年かけて削減・研究力競争軸へ転換</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提言007：教育・雇用一体型システム「21歳社会人スタート」への構造改革</dc:title>
  <dc:subject>PptxGenJS Presentation</dc:subject>
  <dc:creator>PptxGenJS</dc:creator>
  <cp:lastModifiedBy>PptxGenJS</cp:lastModifiedBy>
  <cp:revision>1</cp:revision>
  <dcterms:created xsi:type="dcterms:W3CDTF">2026-06-28T09:56:35Z</dcterms:created>
  <dcterms:modified xsi:type="dcterms:W3CDTF">2026-06-28T09:56:35Z</dcterms:modified>
</cp:coreProperties>
</file>