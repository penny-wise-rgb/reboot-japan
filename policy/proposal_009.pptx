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777240"/>
            <a:ext cx="8046720" cy="347472"/>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政策提言プラットフォーム ── 提言009</a:t>
            </a:r>
            <a:endParaRPr lang="en-US" sz="1000" dirty="0"/>
          </a:p>
        </p:txBody>
      </p:sp>
      <p:sp>
        <p:nvSpPr>
          <p:cNvPr id="4" name="Text 2"/>
          <p:cNvSpPr/>
          <p:nvPr/>
        </p:nvSpPr>
        <p:spPr>
          <a:xfrm>
            <a:off x="685800" y="1188720"/>
            <a:ext cx="8046720" cy="2194560"/>
          </a:xfrm>
          <a:prstGeom prst="rect">
            <a:avLst/>
          </a:prstGeom>
          <a:noFill/>
          <a:ln/>
        </p:spPr>
        <p:txBody>
          <a:bodyPr wrap="square" lIns="0" tIns="0" rIns="0" bIns="0" rtlCol="0" anchor="ctr"/>
          <a:lstStyle/>
          <a:p>
            <a:pPr indent="0" marL="0">
              <a:buNone/>
            </a:pPr>
            <a:r>
              <a:rPr lang="en-US" sz="3000" b="1" dirty="0">
                <a:solidFill>
                  <a:srgbClr val="16181D"/>
                </a:solidFill>
                <a:latin typeface="BIZ UDPGothic" pitchFamily="34" charset="0"/>
                <a:ea typeface="BIZ UDPGothic" pitchFamily="34" charset="-122"/>
                <a:cs typeface="BIZ UDPGothic" pitchFamily="34" charset="-120"/>
              </a:rPr>
              <a:t>高校教育の「全面公立化」と</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地方財政傾斜配分による</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地方創生戦略</a:t>
            </a:r>
            <a:endParaRPr lang="en-US" sz="3000" dirty="0"/>
          </a:p>
        </p:txBody>
      </p:sp>
      <p:sp>
        <p:nvSpPr>
          <p:cNvPr id="5" name="Text 3"/>
          <p:cNvSpPr/>
          <p:nvPr/>
        </p:nvSpPr>
        <p:spPr>
          <a:xfrm>
            <a:off x="685800" y="3456432"/>
            <a:ext cx="8046720" cy="347472"/>
          </a:xfrm>
          <a:prstGeom prst="rect">
            <a:avLst/>
          </a:prstGeom>
          <a:noFill/>
          <a:ln/>
        </p:spPr>
        <p:txBody>
          <a:bodyPr wrap="square" lIns="0" tIns="0" rIns="0" bIns="0" rtlCol="0" anchor="ctr"/>
          <a:lstStyle/>
          <a:p>
            <a:pPr indent="0" marL="0">
              <a:buNone/>
            </a:pPr>
            <a:r>
              <a:rPr lang="en-US" sz="1200" dirty="0">
                <a:solidFill>
                  <a:srgbClr val="626875"/>
                </a:solidFill>
                <a:latin typeface="Arial" pitchFamily="34" charset="0"/>
                <a:ea typeface="BIZ UDPGothic" pitchFamily="34" charset="-122"/>
                <a:cs typeface="BIZ UDPGothic" pitchFamily="34" charset="-120"/>
              </a:rPr>
              <a:t>～年間6,800億円のバラマキを回収し、地方の未来を創るコモンズへ投資せよ～</a:t>
            </a:r>
            <a:endParaRPr lang="en-US" sz="1200" dirty="0"/>
          </a:p>
        </p:txBody>
      </p:sp>
      <p:sp>
        <p:nvSpPr>
          <p:cNvPr id="6" name="Shape 4"/>
          <p:cNvSpPr/>
          <p:nvPr/>
        </p:nvSpPr>
        <p:spPr>
          <a:xfrm>
            <a:off x="685800" y="3877056"/>
            <a:ext cx="7772400" cy="13716"/>
          </a:xfrm>
          <a:prstGeom prst="rect">
            <a:avLst/>
          </a:prstGeom>
          <a:solidFill>
            <a:srgbClr val="DDE0E6"/>
          </a:solidFill>
          <a:ln w="12700">
            <a:solidFill>
              <a:srgbClr val="DDE0E6"/>
            </a:solidFill>
            <a:prstDash val="solid"/>
          </a:ln>
        </p:spPr>
      </p:sp>
      <p:sp>
        <p:nvSpPr>
          <p:cNvPr id="7" name="Text 5"/>
          <p:cNvSpPr/>
          <p:nvPr/>
        </p:nvSpPr>
        <p:spPr>
          <a:xfrm>
            <a:off x="685800" y="3986784"/>
            <a:ext cx="8046720" cy="310896"/>
          </a:xfrm>
          <a:prstGeom prst="rect">
            <a:avLst/>
          </a:prstGeom>
          <a:noFill/>
          <a:ln/>
        </p:spPr>
        <p:txBody>
          <a:bodyPr wrap="square" lIns="0" tIns="0" rIns="0" bIns="0" rtlCol="0" anchor="ctr"/>
          <a:lstStyle/>
          <a:p>
            <a:pPr indent="0" marL="0">
              <a:buNone/>
            </a:pPr>
            <a:r>
              <a:rPr lang="en-US" sz="1100" dirty="0">
                <a:solidFill>
                  <a:srgbClr val="626875"/>
                </a:solidFill>
                <a:latin typeface="Arial" pitchFamily="34" charset="0"/>
                <a:ea typeface="BIZ UDPGothic" pitchFamily="34" charset="-122"/>
                <a:cs typeface="BIZ UDPGothic" pitchFamily="34" charset="-120"/>
              </a:rPr>
              <a:t>REBOOT JAPAN ── 市民による政策提言プラットフォーム</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高校は「実質的な義務教育」である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621792"/>
          </a:xfrm>
          <a:prstGeom prst="roundRect">
            <a:avLst>
              <a:gd name="adj" fmla="val 11765"/>
            </a:avLst>
          </a:prstGeom>
          <a:solidFill>
            <a:srgbClr val="FCEBEB"/>
          </a:solidFill>
          <a:ln w="12700">
            <a:solidFill>
              <a:srgbClr val="DDE0E6"/>
            </a:solidFill>
            <a:prstDash val="solid"/>
          </a:ln>
        </p:spPr>
      </p:sp>
      <p:sp>
        <p:nvSpPr>
          <p:cNvPr id="6" name="Text 4"/>
          <p:cNvSpPr/>
          <p:nvPr/>
        </p:nvSpPr>
        <p:spPr>
          <a:xfrm>
            <a:off x="594360" y="1426464"/>
            <a:ext cx="7955280" cy="51206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高校進学率 98.8%。高校はすでに「選別のための機関」ではなく、18歳の成人を社会へ送り出す最後のセーフティネットだ。</a:t>
            </a:r>
            <a:endParaRPr lang="en-US" sz="1300" dirty="0"/>
          </a:p>
        </p:txBody>
      </p:sp>
      <p:sp>
        <p:nvSpPr>
          <p:cNvPr id="7" name="Shape 5"/>
          <p:cNvSpPr/>
          <p:nvPr/>
        </p:nvSpPr>
        <p:spPr>
          <a:xfrm>
            <a:off x="457200" y="2139696"/>
            <a:ext cx="8229600" cy="786384"/>
          </a:xfrm>
          <a:prstGeom prst="roundRect">
            <a:avLst>
              <a:gd name="adj" fmla="val 9302"/>
            </a:avLst>
          </a:prstGeom>
          <a:solidFill>
            <a:srgbClr val="FFFFFF"/>
          </a:solidFill>
          <a:ln w="12700">
            <a:solidFill>
              <a:srgbClr val="DDE0E6"/>
            </a:solidFill>
            <a:prstDash val="solid"/>
          </a:ln>
        </p:spPr>
      </p:sp>
      <p:sp>
        <p:nvSpPr>
          <p:cNvPr id="8" name="Text 6"/>
          <p:cNvSpPr/>
          <p:nvPr/>
        </p:nvSpPr>
        <p:spPr>
          <a:xfrm>
            <a:off x="594360" y="2212848"/>
            <a:ext cx="640080" cy="640080"/>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01</a:t>
            </a:r>
            <a:endParaRPr lang="en-US" sz="2000" dirty="0"/>
          </a:p>
        </p:txBody>
      </p:sp>
      <p:sp>
        <p:nvSpPr>
          <p:cNvPr id="9" name="Shape 7"/>
          <p:cNvSpPr/>
          <p:nvPr/>
        </p:nvSpPr>
        <p:spPr>
          <a:xfrm>
            <a:off x="1298448" y="2267712"/>
            <a:ext cx="13716" cy="530352"/>
          </a:xfrm>
          <a:prstGeom prst="rect">
            <a:avLst/>
          </a:prstGeom>
          <a:solidFill>
            <a:srgbClr val="DDE0E6"/>
          </a:solidFill>
          <a:ln w="12700">
            <a:solidFill>
              <a:srgbClr val="DDE0E6"/>
            </a:solidFill>
            <a:prstDash val="solid"/>
          </a:ln>
        </p:spPr>
      </p:sp>
      <p:sp>
        <p:nvSpPr>
          <p:cNvPr id="10" name="Text 8"/>
          <p:cNvSpPr/>
          <p:nvPr/>
        </p:nvSpPr>
        <p:spPr>
          <a:xfrm>
            <a:off x="1444752" y="2212848"/>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年間6,830億円の公費が私立に流れている</a:t>
            </a:r>
            <a:endParaRPr lang="en-US" sz="1300" dirty="0"/>
          </a:p>
        </p:txBody>
      </p:sp>
      <p:sp>
        <p:nvSpPr>
          <p:cNvPr id="11" name="Text 9"/>
          <p:cNvSpPr/>
          <p:nvPr/>
        </p:nvSpPr>
        <p:spPr>
          <a:xfrm>
            <a:off x="1444752" y="2523744"/>
            <a:ext cx="708660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就学支援金5,824億円＋私学助成1,006億円。税金が私立高校の延命に使われ続けている</a:t>
            </a:r>
            <a:endParaRPr lang="en-US" sz="1000" dirty="0"/>
          </a:p>
        </p:txBody>
      </p:sp>
      <p:sp>
        <p:nvSpPr>
          <p:cNvPr id="12" name="Shape 10"/>
          <p:cNvSpPr/>
          <p:nvPr/>
        </p:nvSpPr>
        <p:spPr>
          <a:xfrm>
            <a:off x="457200" y="3054096"/>
            <a:ext cx="8229600" cy="786384"/>
          </a:xfrm>
          <a:prstGeom prst="roundRect">
            <a:avLst>
              <a:gd name="adj" fmla="val 9302"/>
            </a:avLst>
          </a:prstGeom>
          <a:solidFill>
            <a:srgbClr val="FFFFFF"/>
          </a:solidFill>
          <a:ln w="12700">
            <a:solidFill>
              <a:srgbClr val="DDE0E6"/>
            </a:solidFill>
            <a:prstDash val="solid"/>
          </a:ln>
        </p:spPr>
      </p:sp>
      <p:sp>
        <p:nvSpPr>
          <p:cNvPr id="13" name="Text 11"/>
          <p:cNvSpPr/>
          <p:nvPr/>
        </p:nvSpPr>
        <p:spPr>
          <a:xfrm>
            <a:off x="594360" y="3127248"/>
            <a:ext cx="640080" cy="640080"/>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02</a:t>
            </a:r>
            <a:endParaRPr lang="en-US" sz="2000" dirty="0"/>
          </a:p>
        </p:txBody>
      </p:sp>
      <p:sp>
        <p:nvSpPr>
          <p:cNvPr id="14" name="Shape 12"/>
          <p:cNvSpPr/>
          <p:nvPr/>
        </p:nvSpPr>
        <p:spPr>
          <a:xfrm>
            <a:off x="1298448" y="3182112"/>
            <a:ext cx="13716" cy="530352"/>
          </a:xfrm>
          <a:prstGeom prst="rect">
            <a:avLst/>
          </a:prstGeom>
          <a:solidFill>
            <a:srgbClr val="DDE0E6"/>
          </a:solidFill>
          <a:ln w="12700">
            <a:solidFill>
              <a:srgbClr val="DDE0E6"/>
            </a:solidFill>
            <a:prstDash val="solid"/>
          </a:ln>
        </p:spPr>
      </p:sp>
      <p:sp>
        <p:nvSpPr>
          <p:cNvPr id="15" name="Text 13"/>
          <p:cNvSpPr/>
          <p:nvPr/>
        </p:nvSpPr>
        <p:spPr>
          <a:xfrm>
            <a:off x="1444752" y="3127248"/>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親の財力・生まれた地域で教育格差が生まれる</a:t>
            </a:r>
            <a:endParaRPr lang="en-US" sz="1300" dirty="0"/>
          </a:p>
        </p:txBody>
      </p:sp>
      <p:sp>
        <p:nvSpPr>
          <p:cNvPr id="16" name="Text 14"/>
          <p:cNvSpPr/>
          <p:nvPr/>
        </p:nvSpPr>
        <p:spPr>
          <a:xfrm>
            <a:off x="1444752" y="3438144"/>
            <a:ext cx="708660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公立より私立が「良い教育」という構図が固定化し、教育機会の不平等が再生産される</a:t>
            </a:r>
            <a:endParaRPr lang="en-US" sz="1000" dirty="0"/>
          </a:p>
        </p:txBody>
      </p:sp>
      <p:sp>
        <p:nvSpPr>
          <p:cNvPr id="17" name="Shape 15"/>
          <p:cNvSpPr/>
          <p:nvPr/>
        </p:nvSpPr>
        <p:spPr>
          <a:xfrm>
            <a:off x="457200" y="3968496"/>
            <a:ext cx="8229600" cy="786384"/>
          </a:xfrm>
          <a:prstGeom prst="roundRect">
            <a:avLst>
              <a:gd name="adj" fmla="val 9302"/>
            </a:avLst>
          </a:prstGeom>
          <a:solidFill>
            <a:srgbClr val="FFFFFF"/>
          </a:solidFill>
          <a:ln w="12700">
            <a:solidFill>
              <a:srgbClr val="DDE0E6"/>
            </a:solidFill>
            <a:prstDash val="solid"/>
          </a:ln>
        </p:spPr>
      </p:sp>
      <p:sp>
        <p:nvSpPr>
          <p:cNvPr id="18" name="Text 16"/>
          <p:cNvSpPr/>
          <p:nvPr/>
        </p:nvSpPr>
        <p:spPr>
          <a:xfrm>
            <a:off x="594360" y="4041648"/>
            <a:ext cx="640080" cy="640080"/>
          </a:xfrm>
          <a:prstGeom prst="rect">
            <a:avLst/>
          </a:prstGeom>
          <a:noFill/>
          <a:ln/>
        </p:spPr>
        <p:txBody>
          <a:bodyPr wrap="square" lIns="0" tIns="0" rIns="0" bIns="0" rtlCol="0" anchor="ctr"/>
          <a:lstStyle/>
          <a:p>
            <a:pPr algn="ctr" indent="0" marL="0">
              <a:buNone/>
            </a:pPr>
            <a:r>
              <a:rPr lang="en-US" sz="2000" b="1" dirty="0">
                <a:solidFill>
                  <a:srgbClr val="C8161D"/>
                </a:solidFill>
                <a:latin typeface="BIZ UDPGothic" pitchFamily="34" charset="0"/>
                <a:ea typeface="BIZ UDPGothic" pitchFamily="34" charset="-122"/>
                <a:cs typeface="BIZ UDPGothic" pitchFamily="34" charset="-120"/>
              </a:rPr>
              <a:t>03</a:t>
            </a:r>
            <a:endParaRPr lang="en-US" sz="2000" dirty="0"/>
          </a:p>
        </p:txBody>
      </p:sp>
      <p:sp>
        <p:nvSpPr>
          <p:cNvPr id="19" name="Shape 17"/>
          <p:cNvSpPr/>
          <p:nvPr/>
        </p:nvSpPr>
        <p:spPr>
          <a:xfrm>
            <a:off x="1298448" y="4096512"/>
            <a:ext cx="13716" cy="530352"/>
          </a:xfrm>
          <a:prstGeom prst="rect">
            <a:avLst/>
          </a:prstGeom>
          <a:solidFill>
            <a:srgbClr val="DDE0E6"/>
          </a:solidFill>
          <a:ln w="12700">
            <a:solidFill>
              <a:srgbClr val="DDE0E6"/>
            </a:solidFill>
            <a:prstDash val="solid"/>
          </a:ln>
        </p:spPr>
      </p:sp>
      <p:sp>
        <p:nvSpPr>
          <p:cNvPr id="20" name="Text 18"/>
          <p:cNvSpPr/>
          <p:nvPr/>
        </p:nvSpPr>
        <p:spPr>
          <a:xfrm>
            <a:off x="1444752" y="4041648"/>
            <a:ext cx="7086600" cy="29260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地方の教育環境が都市部より劣る構造</a:t>
            </a:r>
            <a:endParaRPr lang="en-US" sz="1300" dirty="0"/>
          </a:p>
        </p:txBody>
      </p:sp>
      <p:sp>
        <p:nvSpPr>
          <p:cNvPr id="21" name="Text 19"/>
          <p:cNvSpPr/>
          <p:nvPr/>
        </p:nvSpPr>
        <p:spPr>
          <a:xfrm>
            <a:off x="1444752" y="4352544"/>
            <a:ext cx="708660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人口・予算が都市部に集中し、地方の教育環境の劣化が若年世帯の都市流出を加速させている</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OVERVIEW</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改革の3つの核心</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6,830億円を回収し、教員給与を最優先で引き上げ。傾斜配分と住民投票で地方を再生する。</a:t>
            </a:r>
            <a:endParaRPr lang="en-US" sz="1100" dirty="0"/>
          </a:p>
        </p:txBody>
      </p:sp>
      <p:sp>
        <p:nvSpPr>
          <p:cNvPr id="6" name="Shape 4"/>
          <p:cNvSpPr/>
          <p:nvPr/>
        </p:nvSpPr>
        <p:spPr>
          <a:xfrm>
            <a:off x="457200" y="1737360"/>
            <a:ext cx="2697480" cy="3200400"/>
          </a:xfrm>
          <a:prstGeom prst="roundRect">
            <a:avLst>
              <a:gd name="adj" fmla="val 2712"/>
            </a:avLst>
          </a:prstGeom>
          <a:solidFill>
            <a:srgbClr val="FCEBEB"/>
          </a:solidFill>
          <a:ln w="12700">
            <a:solidFill>
              <a:srgbClr val="DDE0E6"/>
            </a:solidFill>
            <a:prstDash val="solid"/>
          </a:ln>
        </p:spPr>
      </p:sp>
      <p:sp>
        <p:nvSpPr>
          <p:cNvPr id="7" name="Shape 5"/>
          <p:cNvSpPr/>
          <p:nvPr/>
        </p:nvSpPr>
        <p:spPr>
          <a:xfrm>
            <a:off x="1344168" y="1883664"/>
            <a:ext cx="914400" cy="512064"/>
          </a:xfrm>
          <a:prstGeom prst="roundRect">
            <a:avLst>
              <a:gd name="adj" fmla="val 10714"/>
            </a:avLst>
          </a:prstGeom>
          <a:solidFill>
            <a:srgbClr val="C8161D"/>
          </a:solidFill>
          <a:ln w="12700">
            <a:solidFill>
              <a:srgbClr val="C8161D"/>
            </a:solidFill>
            <a:prstDash val="solid"/>
          </a:ln>
        </p:spPr>
      </p:sp>
      <p:sp>
        <p:nvSpPr>
          <p:cNvPr id="8" name="Text 6"/>
          <p:cNvSpPr/>
          <p:nvPr/>
        </p:nvSpPr>
        <p:spPr>
          <a:xfrm>
            <a:off x="1344168" y="1883664"/>
            <a:ext cx="914400"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BIZ UDPGothic" pitchFamily="34" charset="-122"/>
                <a:cs typeface="BIZ UDPGothic" pitchFamily="34" charset="-120"/>
              </a:rPr>
              <a:t>①</a:t>
            </a:r>
            <a:endParaRPr lang="en-US" sz="2000" dirty="0"/>
          </a:p>
        </p:txBody>
      </p:sp>
      <p:sp>
        <p:nvSpPr>
          <p:cNvPr id="9" name="Text 7"/>
          <p:cNvSpPr/>
          <p:nvPr/>
        </p:nvSpPr>
        <p:spPr>
          <a:xfrm>
            <a:off x="566928" y="2487168"/>
            <a:ext cx="2478024" cy="74980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私立補助金の</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全面廃止と公立化</a:t>
            </a:r>
            <a:endParaRPr lang="en-US" sz="1300" dirty="0"/>
          </a:p>
        </p:txBody>
      </p:sp>
      <p:sp>
        <p:nvSpPr>
          <p:cNvPr id="10" name="Shape 8"/>
          <p:cNvSpPr/>
          <p:nvPr/>
        </p:nvSpPr>
        <p:spPr>
          <a:xfrm>
            <a:off x="822960" y="3255264"/>
            <a:ext cx="1965960" cy="10973"/>
          </a:xfrm>
          <a:prstGeom prst="rect">
            <a:avLst/>
          </a:prstGeom>
          <a:solidFill>
            <a:srgbClr val="DDE0E6"/>
          </a:solidFill>
          <a:ln w="12700">
            <a:solidFill>
              <a:srgbClr val="DDE0E6"/>
            </a:solidFill>
            <a:prstDash val="solid"/>
          </a:ln>
        </p:spPr>
      </p:sp>
      <p:sp>
        <p:nvSpPr>
          <p:cNvPr id="11" name="Text 9"/>
          <p:cNvSpPr/>
          <p:nvPr/>
        </p:nvSpPr>
        <p:spPr>
          <a:xfrm>
            <a:off x="566928" y="3346704"/>
            <a:ext cx="247802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6,830億円を回収</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教員給与引き上げ最優先</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廃校でなく転換・移行3年</a:t>
            </a:r>
            <a:endParaRPr lang="en-US" sz="1000" dirty="0"/>
          </a:p>
        </p:txBody>
      </p:sp>
      <p:sp>
        <p:nvSpPr>
          <p:cNvPr id="12" name="Shape 10"/>
          <p:cNvSpPr/>
          <p:nvPr/>
        </p:nvSpPr>
        <p:spPr>
          <a:xfrm>
            <a:off x="3355848" y="1737360"/>
            <a:ext cx="2697480" cy="3200400"/>
          </a:xfrm>
          <a:prstGeom prst="roundRect">
            <a:avLst>
              <a:gd name="adj" fmla="val 2712"/>
            </a:avLst>
          </a:prstGeom>
          <a:solidFill>
            <a:srgbClr val="E9EFF8"/>
          </a:solidFill>
          <a:ln w="12700">
            <a:solidFill>
              <a:srgbClr val="DDE0E6"/>
            </a:solidFill>
            <a:prstDash val="solid"/>
          </a:ln>
        </p:spPr>
      </p:sp>
      <p:sp>
        <p:nvSpPr>
          <p:cNvPr id="13" name="Shape 11"/>
          <p:cNvSpPr/>
          <p:nvPr/>
        </p:nvSpPr>
        <p:spPr>
          <a:xfrm>
            <a:off x="4242816" y="1883664"/>
            <a:ext cx="914400" cy="512064"/>
          </a:xfrm>
          <a:prstGeom prst="roundRect">
            <a:avLst>
              <a:gd name="adj" fmla="val 10714"/>
            </a:avLst>
          </a:prstGeom>
          <a:solidFill>
            <a:srgbClr val="C8161D"/>
          </a:solidFill>
          <a:ln w="12700">
            <a:solidFill>
              <a:srgbClr val="C8161D"/>
            </a:solidFill>
            <a:prstDash val="solid"/>
          </a:ln>
        </p:spPr>
      </p:sp>
      <p:sp>
        <p:nvSpPr>
          <p:cNvPr id="14" name="Text 12"/>
          <p:cNvSpPr/>
          <p:nvPr/>
        </p:nvSpPr>
        <p:spPr>
          <a:xfrm>
            <a:off x="4242816" y="1883664"/>
            <a:ext cx="914400"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BIZ UDPGothic" pitchFamily="34" charset="-122"/>
                <a:cs typeface="BIZ UDPGothic" pitchFamily="34" charset="-120"/>
              </a:rPr>
              <a:t>②</a:t>
            </a:r>
            <a:endParaRPr lang="en-US" sz="2000" dirty="0"/>
          </a:p>
        </p:txBody>
      </p:sp>
      <p:sp>
        <p:nvSpPr>
          <p:cNvPr id="15" name="Text 13"/>
          <p:cNvSpPr/>
          <p:nvPr/>
        </p:nvSpPr>
        <p:spPr>
          <a:xfrm>
            <a:off x="3465576" y="2487168"/>
            <a:ext cx="2478024" cy="74980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過疎地傾斜配分と</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80/20分割設計</a:t>
            </a:r>
            <a:endParaRPr lang="en-US" sz="1300" dirty="0"/>
          </a:p>
        </p:txBody>
      </p:sp>
      <p:sp>
        <p:nvSpPr>
          <p:cNvPr id="16" name="Shape 14"/>
          <p:cNvSpPr/>
          <p:nvPr/>
        </p:nvSpPr>
        <p:spPr>
          <a:xfrm>
            <a:off x="3721608" y="3255264"/>
            <a:ext cx="1965960" cy="10973"/>
          </a:xfrm>
          <a:prstGeom prst="rect">
            <a:avLst/>
          </a:prstGeom>
          <a:solidFill>
            <a:srgbClr val="DDE0E6"/>
          </a:solidFill>
          <a:ln w="12700">
            <a:solidFill>
              <a:srgbClr val="DDE0E6"/>
            </a:solidFill>
            <a:prstDash val="solid"/>
          </a:ln>
        </p:spPr>
      </p:sp>
      <p:sp>
        <p:nvSpPr>
          <p:cNvPr id="17" name="Text 15"/>
          <p:cNvSpPr/>
          <p:nvPr/>
        </p:nvSpPr>
        <p:spPr>
          <a:xfrm>
            <a:off x="3465576" y="3346704"/>
            <a:ext cx="247802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80%→学校</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20%→インフラ・企業誘致</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住民投票で使途確定</a:t>
            </a:r>
            <a:endParaRPr lang="en-US" sz="1000" dirty="0"/>
          </a:p>
        </p:txBody>
      </p:sp>
      <p:sp>
        <p:nvSpPr>
          <p:cNvPr id="18" name="Shape 16"/>
          <p:cNvSpPr/>
          <p:nvPr/>
        </p:nvSpPr>
        <p:spPr>
          <a:xfrm>
            <a:off x="6254496" y="1737360"/>
            <a:ext cx="2697480" cy="3200400"/>
          </a:xfrm>
          <a:prstGeom prst="roundRect">
            <a:avLst>
              <a:gd name="adj" fmla="val 2712"/>
            </a:avLst>
          </a:prstGeom>
          <a:solidFill>
            <a:srgbClr val="E9EFF8"/>
          </a:solidFill>
          <a:ln w="12700">
            <a:solidFill>
              <a:srgbClr val="DDE0E6"/>
            </a:solidFill>
            <a:prstDash val="solid"/>
          </a:ln>
        </p:spPr>
      </p:sp>
      <p:sp>
        <p:nvSpPr>
          <p:cNvPr id="19" name="Shape 17"/>
          <p:cNvSpPr/>
          <p:nvPr/>
        </p:nvSpPr>
        <p:spPr>
          <a:xfrm>
            <a:off x="7141464" y="1883664"/>
            <a:ext cx="914400" cy="512064"/>
          </a:xfrm>
          <a:prstGeom prst="roundRect">
            <a:avLst>
              <a:gd name="adj" fmla="val 10714"/>
            </a:avLst>
          </a:prstGeom>
          <a:solidFill>
            <a:srgbClr val="C8161D"/>
          </a:solidFill>
          <a:ln w="12700">
            <a:solidFill>
              <a:srgbClr val="C8161D"/>
            </a:solidFill>
            <a:prstDash val="solid"/>
          </a:ln>
        </p:spPr>
      </p:sp>
      <p:sp>
        <p:nvSpPr>
          <p:cNvPr id="20" name="Text 18"/>
          <p:cNvSpPr/>
          <p:nvPr/>
        </p:nvSpPr>
        <p:spPr>
          <a:xfrm>
            <a:off x="7141464" y="1883664"/>
            <a:ext cx="914400"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BIZ UDPGothic" pitchFamily="34" charset="-122"/>
                <a:cs typeface="BIZ UDPGothic" pitchFamily="34" charset="-120"/>
              </a:rPr>
              <a:t>③</a:t>
            </a:r>
            <a:endParaRPr lang="en-US" sz="2000" dirty="0"/>
          </a:p>
        </p:txBody>
      </p:sp>
      <p:sp>
        <p:nvSpPr>
          <p:cNvPr id="21" name="Text 19"/>
          <p:cNvSpPr/>
          <p:nvPr/>
        </p:nvSpPr>
        <p:spPr>
          <a:xfrm>
            <a:off x="6364224" y="2487168"/>
            <a:ext cx="2478024" cy="74980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教育権限の</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国→都道府県・学校委譲</a:t>
            </a:r>
            <a:endParaRPr lang="en-US" sz="1300" dirty="0"/>
          </a:p>
        </p:txBody>
      </p:sp>
      <p:sp>
        <p:nvSpPr>
          <p:cNvPr id="22" name="Shape 20"/>
          <p:cNvSpPr/>
          <p:nvPr/>
        </p:nvSpPr>
        <p:spPr>
          <a:xfrm>
            <a:off x="6620256" y="3255264"/>
            <a:ext cx="1965960" cy="10973"/>
          </a:xfrm>
          <a:prstGeom prst="rect">
            <a:avLst/>
          </a:prstGeom>
          <a:solidFill>
            <a:srgbClr val="DDE0E6"/>
          </a:solidFill>
          <a:ln w="12700">
            <a:solidFill>
              <a:srgbClr val="DDE0E6"/>
            </a:solidFill>
            <a:prstDash val="solid"/>
          </a:ln>
        </p:spPr>
      </p:sp>
      <p:sp>
        <p:nvSpPr>
          <p:cNvPr id="23" name="Text 21"/>
          <p:cNvSpPr/>
          <p:nvPr/>
        </p:nvSpPr>
        <p:spPr>
          <a:xfrm>
            <a:off x="6364224" y="3346704"/>
            <a:ext cx="247802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学習指導要領廃止</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地域産業連動の</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専門学部創設</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私立補助金の全面廃止：6,830億円を回収する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822960"/>
          </a:xfrm>
          <a:prstGeom prst="roundRect">
            <a:avLst>
              <a:gd name="adj" fmla="val 8889"/>
            </a:avLst>
          </a:prstGeom>
          <a:solidFill>
            <a:srgbClr val="FCEBEB"/>
          </a:solidFill>
          <a:ln w="12700">
            <a:solidFill>
              <a:srgbClr val="DDE0E6"/>
            </a:solidFill>
            <a:prstDash val="solid"/>
          </a:ln>
        </p:spPr>
      </p:sp>
      <p:sp>
        <p:nvSpPr>
          <p:cNvPr id="6" name="Text 4"/>
          <p:cNvSpPr/>
          <p:nvPr/>
        </p:nvSpPr>
        <p:spPr>
          <a:xfrm>
            <a:off x="594360" y="1463040"/>
            <a:ext cx="5943600" cy="676656"/>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高等学校等就学支援金（私立・所得制限撤廃分）</a:t>
            </a:r>
            <a:endParaRPr lang="en-US" sz="1400" dirty="0"/>
          </a:p>
        </p:txBody>
      </p:sp>
      <p:sp>
        <p:nvSpPr>
          <p:cNvPr id="7" name="Text 5"/>
          <p:cNvSpPr/>
          <p:nvPr/>
        </p:nvSpPr>
        <p:spPr>
          <a:xfrm>
            <a:off x="6583680" y="1463040"/>
            <a:ext cx="1920240" cy="676656"/>
          </a:xfrm>
          <a:prstGeom prst="rect">
            <a:avLst/>
          </a:prstGeom>
          <a:noFill/>
          <a:ln/>
        </p:spPr>
        <p:txBody>
          <a:bodyPr wrap="square" lIns="0" tIns="0" rIns="0" bIns="0" rtlCol="0" anchor="ctr"/>
          <a:lstStyle/>
          <a:p>
            <a:pPr algn="r" indent="0" marL="0">
              <a:buNone/>
            </a:pPr>
            <a:r>
              <a:rPr lang="en-US" sz="1800" b="1" dirty="0">
                <a:solidFill>
                  <a:srgbClr val="C8161D"/>
                </a:solidFill>
                <a:latin typeface="BIZ UDPGothic" pitchFamily="34" charset="0"/>
                <a:ea typeface="BIZ UDPGothic" pitchFamily="34" charset="-122"/>
                <a:cs typeface="BIZ UDPGothic" pitchFamily="34" charset="-120"/>
              </a:rPr>
              <a:t>5,824億円</a:t>
            </a:r>
            <a:endParaRPr lang="en-US" sz="1800" dirty="0"/>
          </a:p>
        </p:txBody>
      </p:sp>
      <p:sp>
        <p:nvSpPr>
          <p:cNvPr id="8" name="Shape 6"/>
          <p:cNvSpPr/>
          <p:nvPr/>
        </p:nvSpPr>
        <p:spPr>
          <a:xfrm>
            <a:off x="457200" y="2377440"/>
            <a:ext cx="8229600" cy="822960"/>
          </a:xfrm>
          <a:prstGeom prst="roundRect">
            <a:avLst>
              <a:gd name="adj" fmla="val 8889"/>
            </a:avLst>
          </a:prstGeom>
          <a:solidFill>
            <a:srgbClr val="FCEBEB"/>
          </a:solidFill>
          <a:ln w="12700">
            <a:solidFill>
              <a:srgbClr val="DDE0E6"/>
            </a:solidFill>
            <a:prstDash val="solid"/>
          </a:ln>
        </p:spPr>
      </p:sp>
      <p:sp>
        <p:nvSpPr>
          <p:cNvPr id="9" name="Text 7"/>
          <p:cNvSpPr/>
          <p:nvPr/>
        </p:nvSpPr>
        <p:spPr>
          <a:xfrm>
            <a:off x="594360" y="2450592"/>
            <a:ext cx="5943600" cy="676656"/>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私立高等学校等経常費助成費（私学助成）</a:t>
            </a:r>
            <a:endParaRPr lang="en-US" sz="1400" dirty="0"/>
          </a:p>
        </p:txBody>
      </p:sp>
      <p:sp>
        <p:nvSpPr>
          <p:cNvPr id="10" name="Text 8"/>
          <p:cNvSpPr/>
          <p:nvPr/>
        </p:nvSpPr>
        <p:spPr>
          <a:xfrm>
            <a:off x="6583680" y="2450592"/>
            <a:ext cx="1920240" cy="676656"/>
          </a:xfrm>
          <a:prstGeom prst="rect">
            <a:avLst/>
          </a:prstGeom>
          <a:noFill/>
          <a:ln/>
        </p:spPr>
        <p:txBody>
          <a:bodyPr wrap="square" lIns="0" tIns="0" rIns="0" bIns="0" rtlCol="0" anchor="ctr"/>
          <a:lstStyle/>
          <a:p>
            <a:pPr algn="r" indent="0" marL="0">
              <a:buNone/>
            </a:pPr>
            <a:r>
              <a:rPr lang="en-US" sz="1800" b="1" dirty="0">
                <a:solidFill>
                  <a:srgbClr val="C8161D"/>
                </a:solidFill>
                <a:latin typeface="BIZ UDPGothic" pitchFamily="34" charset="0"/>
                <a:ea typeface="BIZ UDPGothic" pitchFamily="34" charset="-122"/>
                <a:cs typeface="BIZ UDPGothic" pitchFamily="34" charset="-120"/>
              </a:rPr>
              <a:t>1,006億円</a:t>
            </a:r>
            <a:endParaRPr lang="en-US" sz="1800" dirty="0"/>
          </a:p>
        </p:txBody>
      </p:sp>
      <p:sp>
        <p:nvSpPr>
          <p:cNvPr id="11" name="Shape 9"/>
          <p:cNvSpPr/>
          <p:nvPr/>
        </p:nvSpPr>
        <p:spPr>
          <a:xfrm>
            <a:off x="457200" y="3401568"/>
            <a:ext cx="8229600" cy="548640"/>
          </a:xfrm>
          <a:prstGeom prst="roundRect">
            <a:avLst>
              <a:gd name="adj" fmla="val 10000"/>
            </a:avLst>
          </a:prstGeom>
          <a:solidFill>
            <a:srgbClr val="C8161D"/>
          </a:solidFill>
          <a:ln w="12700">
            <a:solidFill>
              <a:srgbClr val="C8161D"/>
            </a:solidFill>
            <a:prstDash val="solid"/>
          </a:ln>
        </p:spPr>
      </p:sp>
      <p:sp>
        <p:nvSpPr>
          <p:cNvPr id="12" name="Text 10"/>
          <p:cNvSpPr/>
          <p:nvPr/>
        </p:nvSpPr>
        <p:spPr>
          <a:xfrm>
            <a:off x="457200" y="3401568"/>
            <a:ext cx="8229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廃止合計　約6,830億円　→　全額を公立高校・地域インフラへ集中投資</a:t>
            </a:r>
            <a:endParaRPr lang="en-US" sz="1500" dirty="0"/>
          </a:p>
        </p:txBody>
      </p:sp>
      <p:sp>
        <p:nvSpPr>
          <p:cNvPr id="13" name="Shape 11"/>
          <p:cNvSpPr/>
          <p:nvPr/>
        </p:nvSpPr>
        <p:spPr>
          <a:xfrm>
            <a:off x="457200" y="4078224"/>
            <a:ext cx="8229600" cy="914400"/>
          </a:xfrm>
          <a:prstGeom prst="roundRect">
            <a:avLst>
              <a:gd name="adj" fmla="val 8000"/>
            </a:avLst>
          </a:prstGeom>
          <a:solidFill>
            <a:srgbClr val="E9EFF8"/>
          </a:solidFill>
          <a:ln w="12700">
            <a:solidFill>
              <a:srgbClr val="DDE0E6"/>
            </a:solidFill>
            <a:prstDash val="solid"/>
          </a:ln>
        </p:spPr>
      </p:sp>
      <p:sp>
        <p:nvSpPr>
          <p:cNvPr id="14" name="Text 12"/>
          <p:cNvSpPr/>
          <p:nvPr/>
        </p:nvSpPr>
        <p:spPr>
          <a:xfrm>
            <a:off x="594360" y="4133088"/>
            <a:ext cx="795528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回収した予算の使い方：まず最初に教員給与の引き上げに充当（約850億円）→ 残りを80/20分割へ</a:t>
            </a:r>
            <a:endParaRPr lang="en-US" sz="1200" dirty="0"/>
          </a:p>
        </p:txBody>
      </p:sp>
      <p:sp>
        <p:nvSpPr>
          <p:cNvPr id="15" name="Text 13"/>
          <p:cNvSpPr/>
          <p:nvPr/>
        </p:nvSpPr>
        <p:spPr>
          <a:xfrm>
            <a:off x="594360" y="4498848"/>
            <a:ext cx="7955280" cy="40233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教育の質は教師の質で決まる。給与引き上げが最優先財源である。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01 — PRIORITY</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教員給与の抜本的引き上げ：人に教えることは尊い</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9377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人に教えるという行為は、本来尊いものである。その価値を給与水準に反映させる。優秀な若者が教職を真剣に選択肢に入れる水準まで引き上げることで、数年後に質の高い人材が教育現場に流入する。</a:t>
            </a:r>
            <a:endParaRPr lang="en-US" sz="1100" dirty="0"/>
          </a:p>
        </p:txBody>
      </p:sp>
      <p:sp>
        <p:nvSpPr>
          <p:cNvPr id="6" name="Shape 4"/>
          <p:cNvSpPr/>
          <p:nvPr/>
        </p:nvSpPr>
        <p:spPr>
          <a:xfrm>
            <a:off x="457200" y="1938528"/>
            <a:ext cx="8229600" cy="768096"/>
          </a:xfrm>
          <a:prstGeom prst="roundRect">
            <a:avLst>
              <a:gd name="adj" fmla="val 9524"/>
            </a:avLst>
          </a:prstGeom>
          <a:solidFill>
            <a:srgbClr val="FFFFFF"/>
          </a:solidFill>
          <a:ln w="12700">
            <a:solidFill>
              <a:srgbClr val="DDE0E6"/>
            </a:solidFill>
            <a:prstDash val="solid"/>
          </a:ln>
        </p:spPr>
      </p:sp>
      <p:sp>
        <p:nvSpPr>
          <p:cNvPr id="7" name="Shape 5"/>
          <p:cNvSpPr/>
          <p:nvPr/>
        </p:nvSpPr>
        <p:spPr>
          <a:xfrm>
            <a:off x="594360" y="2103120"/>
            <a:ext cx="1645920" cy="438912"/>
          </a:xfrm>
          <a:prstGeom prst="roundRect">
            <a:avLst>
              <a:gd name="adj" fmla="val 12500"/>
            </a:avLst>
          </a:prstGeom>
          <a:solidFill>
            <a:srgbClr val="C8161D"/>
          </a:solidFill>
          <a:ln w="12700">
            <a:solidFill>
              <a:srgbClr val="C8161D"/>
            </a:solidFill>
            <a:prstDash val="solid"/>
          </a:ln>
        </p:spPr>
      </p:sp>
      <p:sp>
        <p:nvSpPr>
          <p:cNvPr id="8" name="Text 6"/>
          <p:cNvSpPr/>
          <p:nvPr/>
        </p:nvSpPr>
        <p:spPr>
          <a:xfrm>
            <a:off x="594360" y="2103120"/>
            <a:ext cx="1645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高校教員</a:t>
            </a:r>
            <a:endParaRPr lang="en-US" sz="1100" dirty="0"/>
          </a:p>
        </p:txBody>
      </p:sp>
      <p:sp>
        <p:nvSpPr>
          <p:cNvPr id="9" name="Text 7"/>
          <p:cNvSpPr/>
          <p:nvPr/>
        </p:nvSpPr>
        <p:spPr>
          <a:xfrm>
            <a:off x="2377440" y="1993392"/>
            <a:ext cx="2103120" cy="658368"/>
          </a:xfrm>
          <a:prstGeom prst="rect">
            <a:avLst/>
          </a:prstGeom>
          <a:noFill/>
          <a:ln/>
        </p:spPr>
        <p:txBody>
          <a:bodyPr wrap="square" lIns="0" tIns="0" rIns="0" bIns="0" rtlCol="0" anchor="ctr"/>
          <a:lstStyle/>
          <a:p>
            <a:pPr algn="ctr" indent="0" marL="0">
              <a:buNone/>
            </a:pPr>
            <a:r>
              <a:rPr lang="en-US" sz="1100" dirty="0">
                <a:solidFill>
                  <a:srgbClr val="16181D"/>
                </a:solidFill>
                <a:latin typeface="Arial" pitchFamily="34" charset="0"/>
                <a:ea typeface="BIZ UDPGothic" pitchFamily="34" charset="-122"/>
                <a:cs typeface="BIZ UDPGothic" pitchFamily="34" charset="-120"/>
              </a:rPr>
              <a:t>上位10%（90パーセンタイル）</a:t>
            </a:r>
            <a:endParaRPr lang="en-US" sz="1100" dirty="0"/>
          </a:p>
        </p:txBody>
      </p:sp>
      <p:sp>
        <p:nvSpPr>
          <p:cNvPr id="10" name="Text 8"/>
          <p:cNvSpPr/>
          <p:nvPr/>
        </p:nvSpPr>
        <p:spPr>
          <a:xfrm>
            <a:off x="4535424" y="1993392"/>
            <a:ext cx="2194560" cy="658368"/>
          </a:xfrm>
          <a:prstGeom prst="rect">
            <a:avLst/>
          </a:prstGeom>
          <a:noFill/>
          <a:ln/>
        </p:spPr>
        <p:txBody>
          <a:bodyPr wrap="square" lIns="0" tIns="0" rIns="0" bIns="0" rtlCol="0" anchor="ctr"/>
          <a:lstStyle/>
          <a:p>
            <a:pPr algn="ctr" indent="0" marL="0">
              <a:buNone/>
            </a:pPr>
            <a:r>
              <a:rPr lang="en-US" sz="1400" b="1" dirty="0">
                <a:solidFill>
                  <a:srgbClr val="16181D"/>
                </a:solidFill>
                <a:latin typeface="BIZ UDPGothic" pitchFamily="34" charset="0"/>
                <a:ea typeface="BIZ UDPGothic" pitchFamily="34" charset="-122"/>
                <a:cs typeface="BIZ UDPGothic" pitchFamily="34" charset="-120"/>
              </a:rPr>
              <a:t>約1,000〜1,100万円</a:t>
            </a:r>
            <a:endParaRPr lang="en-US" sz="1400" dirty="0"/>
          </a:p>
        </p:txBody>
      </p:sp>
      <p:sp>
        <p:nvSpPr>
          <p:cNvPr id="11" name="Text 9"/>
          <p:cNvSpPr/>
          <p:nvPr/>
        </p:nvSpPr>
        <p:spPr>
          <a:xfrm>
            <a:off x="6784848" y="2084832"/>
            <a:ext cx="1828800" cy="475488"/>
          </a:xfrm>
          <a:prstGeom prst="rect">
            <a:avLst/>
          </a:prstGeom>
          <a:noFill/>
          <a:ln/>
        </p:spPr>
        <p:txBody>
          <a:bodyPr wrap="square" lIns="0" tIns="0" rIns="0" bIns="0" rtlCol="0" anchor="ctr"/>
          <a:lstStyle/>
          <a:p>
            <a:pPr algn="r" indent="0" marL="0">
              <a:buNone/>
            </a:pPr>
            <a:r>
              <a:rPr lang="en-US" sz="900" dirty="0">
                <a:solidFill>
                  <a:srgbClr val="626875"/>
                </a:solidFill>
                <a:latin typeface="Arial" pitchFamily="34" charset="0"/>
                <a:ea typeface="BIZ UDPGothic" pitchFamily="34" charset="-122"/>
                <a:cs typeface="BIZ UDPGothic" pitchFamily="34" charset="-120"/>
              </a:rPr>
              <a:t>現行約650万円 → 約1.6倍</a:t>
            </a:r>
            <a:endParaRPr lang="en-US" sz="900" dirty="0"/>
          </a:p>
        </p:txBody>
      </p:sp>
      <p:sp>
        <p:nvSpPr>
          <p:cNvPr id="12" name="Shape 10"/>
          <p:cNvSpPr/>
          <p:nvPr/>
        </p:nvSpPr>
        <p:spPr>
          <a:xfrm>
            <a:off x="457200" y="2834640"/>
            <a:ext cx="8229600" cy="768096"/>
          </a:xfrm>
          <a:prstGeom prst="roundRect">
            <a:avLst>
              <a:gd name="adj" fmla="val 9524"/>
            </a:avLst>
          </a:prstGeom>
          <a:solidFill>
            <a:srgbClr val="E9EFF8"/>
          </a:solidFill>
          <a:ln w="12700">
            <a:solidFill>
              <a:srgbClr val="DDE0E6"/>
            </a:solidFill>
            <a:prstDash val="solid"/>
          </a:ln>
        </p:spPr>
      </p:sp>
      <p:sp>
        <p:nvSpPr>
          <p:cNvPr id="13" name="Shape 11"/>
          <p:cNvSpPr/>
          <p:nvPr/>
        </p:nvSpPr>
        <p:spPr>
          <a:xfrm>
            <a:off x="594360" y="2999232"/>
            <a:ext cx="1645920" cy="438912"/>
          </a:xfrm>
          <a:prstGeom prst="roundRect">
            <a:avLst>
              <a:gd name="adj" fmla="val 12500"/>
            </a:avLst>
          </a:prstGeom>
          <a:solidFill>
            <a:srgbClr val="C8161D"/>
          </a:solidFill>
          <a:ln w="12700">
            <a:solidFill>
              <a:srgbClr val="C8161D"/>
            </a:solidFill>
            <a:prstDash val="solid"/>
          </a:ln>
        </p:spPr>
      </p:sp>
      <p:sp>
        <p:nvSpPr>
          <p:cNvPr id="14" name="Text 12"/>
          <p:cNvSpPr/>
          <p:nvPr/>
        </p:nvSpPr>
        <p:spPr>
          <a:xfrm>
            <a:off x="594360" y="2999232"/>
            <a:ext cx="1645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大学教授（標準）</a:t>
            </a:r>
            <a:endParaRPr lang="en-US" sz="1100" dirty="0"/>
          </a:p>
        </p:txBody>
      </p:sp>
      <p:sp>
        <p:nvSpPr>
          <p:cNvPr id="15" name="Text 13"/>
          <p:cNvSpPr/>
          <p:nvPr/>
        </p:nvSpPr>
        <p:spPr>
          <a:xfrm>
            <a:off x="2377440" y="2889504"/>
            <a:ext cx="2103120" cy="658368"/>
          </a:xfrm>
          <a:prstGeom prst="rect">
            <a:avLst/>
          </a:prstGeom>
          <a:noFill/>
          <a:ln/>
        </p:spPr>
        <p:txBody>
          <a:bodyPr wrap="square" lIns="0" tIns="0" rIns="0" bIns="0" rtlCol="0" anchor="ctr"/>
          <a:lstStyle/>
          <a:p>
            <a:pPr algn="ctr" indent="0" marL="0">
              <a:buNone/>
            </a:pPr>
            <a:r>
              <a:rPr lang="en-US" sz="1100" dirty="0">
                <a:solidFill>
                  <a:srgbClr val="1D4F91"/>
                </a:solidFill>
                <a:latin typeface="Arial" pitchFamily="34" charset="0"/>
                <a:ea typeface="BIZ UDPGothic" pitchFamily="34" charset="-122"/>
                <a:cs typeface="BIZ UDPGothic" pitchFamily="34" charset="-120"/>
              </a:rPr>
              <a:t>上位5〜10%</a:t>
            </a:r>
            <a:endParaRPr lang="en-US" sz="1100" dirty="0"/>
          </a:p>
        </p:txBody>
      </p:sp>
      <p:sp>
        <p:nvSpPr>
          <p:cNvPr id="16" name="Text 14"/>
          <p:cNvSpPr/>
          <p:nvPr/>
        </p:nvSpPr>
        <p:spPr>
          <a:xfrm>
            <a:off x="4535424" y="2889504"/>
            <a:ext cx="2194560" cy="658368"/>
          </a:xfrm>
          <a:prstGeom prst="rect">
            <a:avLst/>
          </a:prstGeom>
          <a:noFill/>
          <a:ln/>
        </p:spPr>
        <p:txBody>
          <a:bodyPr wrap="square" lIns="0" tIns="0" rIns="0" bIns="0" rtlCol="0" anchor="ctr"/>
          <a:lstStyle/>
          <a:p>
            <a:pPr algn="ctr" indent="0" marL="0">
              <a:buNone/>
            </a:pPr>
            <a:r>
              <a:rPr lang="en-US" sz="1400" b="1" dirty="0">
                <a:solidFill>
                  <a:srgbClr val="1D4F91"/>
                </a:solidFill>
                <a:latin typeface="BIZ UDPGothic" pitchFamily="34" charset="0"/>
                <a:ea typeface="BIZ UDPGothic" pitchFamily="34" charset="-122"/>
                <a:cs typeface="BIZ UDPGothic" pitchFamily="34" charset="-120"/>
              </a:rPr>
              <a:t>約1,100〜1,500万円</a:t>
            </a:r>
            <a:endParaRPr lang="en-US" sz="1400" dirty="0"/>
          </a:p>
        </p:txBody>
      </p:sp>
      <p:sp>
        <p:nvSpPr>
          <p:cNvPr id="17" name="Text 15"/>
          <p:cNvSpPr/>
          <p:nvPr/>
        </p:nvSpPr>
        <p:spPr>
          <a:xfrm>
            <a:off x="6784848" y="2980944"/>
            <a:ext cx="1828800" cy="475488"/>
          </a:xfrm>
          <a:prstGeom prst="rect">
            <a:avLst/>
          </a:prstGeom>
          <a:noFill/>
          <a:ln/>
        </p:spPr>
        <p:txBody>
          <a:bodyPr wrap="square" lIns="0" tIns="0" rIns="0" bIns="0" rtlCol="0" anchor="ctr"/>
          <a:lstStyle/>
          <a:p>
            <a:pPr algn="r" indent="0" marL="0">
              <a:buNone/>
            </a:pPr>
            <a:r>
              <a:rPr lang="en-US" sz="900" dirty="0">
                <a:solidFill>
                  <a:srgbClr val="626875"/>
                </a:solidFill>
                <a:latin typeface="Arial" pitchFamily="34" charset="0"/>
                <a:ea typeface="BIZ UDPGothic" pitchFamily="34" charset="-122"/>
                <a:cs typeface="BIZ UDPGothic" pitchFamily="34" charset="-120"/>
              </a:rPr>
              <a:t>現行約1,100万円 → 上限引き上げ</a:t>
            </a:r>
            <a:endParaRPr lang="en-US" sz="900" dirty="0"/>
          </a:p>
        </p:txBody>
      </p:sp>
      <p:sp>
        <p:nvSpPr>
          <p:cNvPr id="18" name="Shape 16"/>
          <p:cNvSpPr/>
          <p:nvPr/>
        </p:nvSpPr>
        <p:spPr>
          <a:xfrm>
            <a:off x="457200" y="3730752"/>
            <a:ext cx="8229600" cy="768096"/>
          </a:xfrm>
          <a:prstGeom prst="roundRect">
            <a:avLst>
              <a:gd name="adj" fmla="val 9524"/>
            </a:avLst>
          </a:prstGeom>
          <a:solidFill>
            <a:srgbClr val="FFF4DB"/>
          </a:solidFill>
          <a:ln w="12700">
            <a:solidFill>
              <a:srgbClr val="DDE0E6"/>
            </a:solidFill>
            <a:prstDash val="solid"/>
          </a:ln>
        </p:spPr>
      </p:sp>
      <p:sp>
        <p:nvSpPr>
          <p:cNvPr id="19" name="Shape 17"/>
          <p:cNvSpPr/>
          <p:nvPr/>
        </p:nvSpPr>
        <p:spPr>
          <a:xfrm>
            <a:off x="594360" y="3895344"/>
            <a:ext cx="1645920" cy="438912"/>
          </a:xfrm>
          <a:prstGeom prst="roundRect">
            <a:avLst>
              <a:gd name="adj" fmla="val 12500"/>
            </a:avLst>
          </a:prstGeom>
          <a:solidFill>
            <a:srgbClr val="C8161D"/>
          </a:solidFill>
          <a:ln w="12700">
            <a:solidFill>
              <a:srgbClr val="C8161D"/>
            </a:solidFill>
            <a:prstDash val="solid"/>
          </a:ln>
        </p:spPr>
      </p:sp>
      <p:sp>
        <p:nvSpPr>
          <p:cNvPr id="20" name="Text 18"/>
          <p:cNvSpPr/>
          <p:nvPr/>
        </p:nvSpPr>
        <p:spPr>
          <a:xfrm>
            <a:off x="594360" y="3895344"/>
            <a:ext cx="1645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世界的研究者</a:t>
            </a:r>
            <a:endParaRPr lang="en-US" sz="1100" dirty="0"/>
          </a:p>
        </p:txBody>
      </p:sp>
      <p:sp>
        <p:nvSpPr>
          <p:cNvPr id="21" name="Text 19"/>
          <p:cNvSpPr/>
          <p:nvPr/>
        </p:nvSpPr>
        <p:spPr>
          <a:xfrm>
            <a:off x="2377440" y="3785616"/>
            <a:ext cx="2103120" cy="658368"/>
          </a:xfrm>
          <a:prstGeom prst="rect">
            <a:avLst/>
          </a:prstGeom>
          <a:noFill/>
          <a:ln/>
        </p:spPr>
        <p:txBody>
          <a:bodyPr wrap="square" lIns="0" tIns="0" rIns="0" bIns="0" rtlCol="0" anchor="ctr"/>
          <a:lstStyle/>
          <a:p>
            <a:pPr algn="ctr" indent="0" marL="0">
              <a:buNone/>
            </a:pPr>
            <a:r>
              <a:rPr lang="en-US" sz="1100" dirty="0">
                <a:solidFill>
                  <a:srgbClr val="9A6200"/>
                </a:solidFill>
                <a:latin typeface="Arial" pitchFamily="34" charset="0"/>
                <a:ea typeface="BIZ UDPGothic" pitchFamily="34" charset="-122"/>
                <a:cs typeface="BIZ UDPGothic" pitchFamily="34" charset="-120"/>
              </a:rPr>
              <a:t>上位1%（99パーセンタイル）</a:t>
            </a:r>
            <a:endParaRPr lang="en-US" sz="1100" dirty="0"/>
          </a:p>
        </p:txBody>
      </p:sp>
      <p:sp>
        <p:nvSpPr>
          <p:cNvPr id="22" name="Text 20"/>
          <p:cNvSpPr/>
          <p:nvPr/>
        </p:nvSpPr>
        <p:spPr>
          <a:xfrm>
            <a:off x="4535424" y="3785616"/>
            <a:ext cx="2194560" cy="658368"/>
          </a:xfrm>
          <a:prstGeom prst="rect">
            <a:avLst/>
          </a:prstGeom>
          <a:noFill/>
          <a:ln/>
        </p:spPr>
        <p:txBody>
          <a:bodyPr wrap="square" lIns="0" tIns="0" rIns="0" bIns="0" rtlCol="0" anchor="ctr"/>
          <a:lstStyle/>
          <a:p>
            <a:pPr algn="ctr" indent="0" marL="0">
              <a:buNone/>
            </a:pPr>
            <a:r>
              <a:rPr lang="en-US" sz="1400" b="1" dirty="0">
                <a:solidFill>
                  <a:srgbClr val="9A6200"/>
                </a:solidFill>
                <a:latin typeface="BIZ UDPGothic" pitchFamily="34" charset="0"/>
                <a:ea typeface="BIZ UDPGothic" pitchFamily="34" charset="-122"/>
                <a:cs typeface="BIZ UDPGothic" pitchFamily="34" charset="-120"/>
              </a:rPr>
              <a:t>約3,000万円〜</a:t>
            </a:r>
            <a:endParaRPr lang="en-US" sz="1400" dirty="0"/>
          </a:p>
        </p:txBody>
      </p:sp>
      <p:sp>
        <p:nvSpPr>
          <p:cNvPr id="23" name="Text 21"/>
          <p:cNvSpPr/>
          <p:nvPr/>
        </p:nvSpPr>
        <p:spPr>
          <a:xfrm>
            <a:off x="6784848" y="3877056"/>
            <a:ext cx="1828800" cy="475488"/>
          </a:xfrm>
          <a:prstGeom prst="rect">
            <a:avLst/>
          </a:prstGeom>
          <a:noFill/>
          <a:ln/>
        </p:spPr>
        <p:txBody>
          <a:bodyPr wrap="square" lIns="0" tIns="0" rIns="0" bIns="0" rtlCol="0" anchor="ctr"/>
          <a:lstStyle/>
          <a:p>
            <a:pPr algn="r" indent="0" marL="0">
              <a:buNone/>
            </a:pPr>
            <a:r>
              <a:rPr lang="en-US" sz="900" dirty="0">
                <a:solidFill>
                  <a:srgbClr val="626875"/>
                </a:solidFill>
                <a:latin typeface="Arial" pitchFamily="34" charset="0"/>
                <a:ea typeface="BIZ UDPGothic" pitchFamily="34" charset="-122"/>
                <a:cs typeface="BIZ UDPGothic" pitchFamily="34" charset="-120"/>
              </a:rPr>
              <a:t>国際的な人材獲得競争に対応</a:t>
            </a:r>
            <a:endParaRPr lang="en-US" sz="900" dirty="0"/>
          </a:p>
        </p:txBody>
      </p:sp>
      <p:sp>
        <p:nvSpPr>
          <p:cNvPr id="24" name="Shape 22"/>
          <p:cNvSpPr/>
          <p:nvPr/>
        </p:nvSpPr>
        <p:spPr>
          <a:xfrm>
            <a:off x="457200" y="4663440"/>
            <a:ext cx="8229600" cy="402336"/>
          </a:xfrm>
          <a:prstGeom prst="roundRect">
            <a:avLst>
              <a:gd name="adj" fmla="val 18182"/>
            </a:avLst>
          </a:prstGeom>
          <a:solidFill>
            <a:srgbClr val="FFFFFF"/>
          </a:solidFill>
          <a:ln w="12700">
            <a:solidFill>
              <a:srgbClr val="DDE0E6"/>
            </a:solidFill>
            <a:prstDash val="solid"/>
          </a:ln>
        </p:spPr>
      </p:sp>
      <p:sp>
        <p:nvSpPr>
          <p:cNvPr id="25" name="Text 23"/>
          <p:cNvSpPr/>
          <p:nvPr/>
        </p:nvSpPr>
        <p:spPr>
          <a:xfrm>
            <a:off x="594360" y="4700016"/>
            <a:ext cx="795528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財源試算：高校教員23万人の平均年収を650万→1,050万円へ引き上げ = 追加人件費 約850億円 ／ 6,830億円の範囲内で吸収可能</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01 — IMPACT</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40歳で1,000万円超：教職が「選ばれるキャリア」になる</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現行の高校教員40歳平均は約650万円。上位10%水準（約1,050万円）へ引き上げることで、教職のポジショニングが根本的に変わる。</a:t>
            </a:r>
            <a:endParaRPr lang="en-US" sz="1100" dirty="0"/>
          </a:p>
        </p:txBody>
      </p:sp>
      <p:sp>
        <p:nvSpPr>
          <p:cNvPr id="6" name="Shape 4"/>
          <p:cNvSpPr/>
          <p:nvPr/>
        </p:nvSpPr>
        <p:spPr>
          <a:xfrm>
            <a:off x="457200" y="1865376"/>
            <a:ext cx="8229600" cy="530352"/>
          </a:xfrm>
          <a:prstGeom prst="roundRect">
            <a:avLst>
              <a:gd name="adj" fmla="val 13793"/>
            </a:avLst>
          </a:prstGeom>
          <a:solidFill>
            <a:srgbClr val="FFFFFF"/>
          </a:solidFill>
          <a:ln w="12700">
            <a:solidFill>
              <a:srgbClr val="DDE0E6"/>
            </a:solidFill>
            <a:prstDash val="solid"/>
          </a:ln>
        </p:spPr>
      </p:sp>
      <p:sp>
        <p:nvSpPr>
          <p:cNvPr id="7" name="Text 5"/>
          <p:cNvSpPr/>
          <p:nvPr/>
        </p:nvSpPr>
        <p:spPr>
          <a:xfrm>
            <a:off x="594360" y="1956816"/>
            <a:ext cx="5029200" cy="347472"/>
          </a:xfrm>
          <a:prstGeom prst="rect">
            <a:avLst/>
          </a:prstGeom>
          <a:noFill/>
          <a:ln/>
        </p:spPr>
        <p:txBody>
          <a:bodyPr wrap="square" lIns="0" tIns="0" rIns="0" bIns="0" rtlCol="0" anchor="ctr"/>
          <a:lstStyle/>
          <a:p>
            <a:pPr indent="0" marL="0">
              <a:buNone/>
            </a:pPr>
            <a:r>
              <a:rPr lang="en-US" sz="1300" dirty="0">
                <a:solidFill>
                  <a:srgbClr val="626875"/>
                </a:solidFill>
                <a:latin typeface="BIZ UDPGothic" pitchFamily="34" charset="0"/>
                <a:ea typeface="BIZ UDPGothic" pitchFamily="34" charset="-122"/>
                <a:cs typeface="BIZ UDPGothic" pitchFamily="34" charset="-120"/>
              </a:rPr>
              <a:t>医師（40歳・勤務医）</a:t>
            </a:r>
            <a:endParaRPr lang="en-US" sz="1300" dirty="0"/>
          </a:p>
        </p:txBody>
      </p:sp>
      <p:sp>
        <p:nvSpPr>
          <p:cNvPr id="8" name="Text 6"/>
          <p:cNvSpPr/>
          <p:nvPr/>
        </p:nvSpPr>
        <p:spPr>
          <a:xfrm>
            <a:off x="5669280" y="1956816"/>
            <a:ext cx="2880360" cy="347472"/>
          </a:xfrm>
          <a:prstGeom prst="rect">
            <a:avLst/>
          </a:prstGeom>
          <a:noFill/>
          <a:ln/>
        </p:spPr>
        <p:txBody>
          <a:bodyPr wrap="square" lIns="0" tIns="0" rIns="0" bIns="0" rtlCol="0" anchor="ctr"/>
          <a:lstStyle/>
          <a:p>
            <a:pPr algn="r" indent="0" marL="0">
              <a:buNone/>
            </a:pPr>
            <a:r>
              <a:rPr lang="en-US" sz="1400" b="1" dirty="0">
                <a:solidFill>
                  <a:srgbClr val="626875"/>
                </a:solidFill>
                <a:latin typeface="BIZ UDPGothic" pitchFamily="34" charset="0"/>
                <a:ea typeface="BIZ UDPGothic" pitchFamily="34" charset="-122"/>
                <a:cs typeface="BIZ UDPGothic" pitchFamily="34" charset="-120"/>
              </a:rPr>
              <a:t>約1,200〜1,500万円</a:t>
            </a:r>
            <a:endParaRPr lang="en-US" sz="1400" dirty="0"/>
          </a:p>
        </p:txBody>
      </p:sp>
      <p:sp>
        <p:nvSpPr>
          <p:cNvPr id="9" name="Shape 7"/>
          <p:cNvSpPr/>
          <p:nvPr/>
        </p:nvSpPr>
        <p:spPr>
          <a:xfrm>
            <a:off x="457200" y="2487168"/>
            <a:ext cx="8229600" cy="530352"/>
          </a:xfrm>
          <a:prstGeom prst="roundRect">
            <a:avLst>
              <a:gd name="adj" fmla="val 13793"/>
            </a:avLst>
          </a:prstGeom>
          <a:solidFill>
            <a:srgbClr val="FFFFFF"/>
          </a:solidFill>
          <a:ln w="12700">
            <a:solidFill>
              <a:srgbClr val="DDE0E6"/>
            </a:solidFill>
            <a:prstDash val="solid"/>
          </a:ln>
        </p:spPr>
      </p:sp>
      <p:sp>
        <p:nvSpPr>
          <p:cNvPr id="10" name="Text 8"/>
          <p:cNvSpPr/>
          <p:nvPr/>
        </p:nvSpPr>
        <p:spPr>
          <a:xfrm>
            <a:off x="594360" y="2578608"/>
            <a:ext cx="5029200" cy="347472"/>
          </a:xfrm>
          <a:prstGeom prst="rect">
            <a:avLst/>
          </a:prstGeom>
          <a:noFill/>
          <a:ln/>
        </p:spPr>
        <p:txBody>
          <a:bodyPr wrap="square" lIns="0" tIns="0" rIns="0" bIns="0" rtlCol="0" anchor="ctr"/>
          <a:lstStyle/>
          <a:p>
            <a:pPr indent="0" marL="0">
              <a:buNone/>
            </a:pPr>
            <a:r>
              <a:rPr lang="en-US" sz="1300" dirty="0">
                <a:solidFill>
                  <a:srgbClr val="626875"/>
                </a:solidFill>
                <a:latin typeface="BIZ UDPGothic" pitchFamily="34" charset="0"/>
                <a:ea typeface="BIZ UDPGothic" pitchFamily="34" charset="-122"/>
                <a:cs typeface="BIZ UDPGothic" pitchFamily="34" charset="-120"/>
              </a:rPr>
              <a:t>弁護士（40歳）</a:t>
            </a:r>
            <a:endParaRPr lang="en-US" sz="1300" dirty="0"/>
          </a:p>
        </p:txBody>
      </p:sp>
      <p:sp>
        <p:nvSpPr>
          <p:cNvPr id="11" name="Text 9"/>
          <p:cNvSpPr/>
          <p:nvPr/>
        </p:nvSpPr>
        <p:spPr>
          <a:xfrm>
            <a:off x="5669280" y="2578608"/>
            <a:ext cx="2880360" cy="347472"/>
          </a:xfrm>
          <a:prstGeom prst="rect">
            <a:avLst/>
          </a:prstGeom>
          <a:noFill/>
          <a:ln/>
        </p:spPr>
        <p:txBody>
          <a:bodyPr wrap="square" lIns="0" tIns="0" rIns="0" bIns="0" rtlCol="0" anchor="ctr"/>
          <a:lstStyle/>
          <a:p>
            <a:pPr algn="r" indent="0" marL="0">
              <a:buNone/>
            </a:pPr>
            <a:r>
              <a:rPr lang="en-US" sz="1400" b="1" dirty="0">
                <a:solidFill>
                  <a:srgbClr val="626875"/>
                </a:solidFill>
                <a:latin typeface="BIZ UDPGothic" pitchFamily="34" charset="0"/>
                <a:ea typeface="BIZ UDPGothic" pitchFamily="34" charset="-122"/>
                <a:cs typeface="BIZ UDPGothic" pitchFamily="34" charset="-120"/>
              </a:rPr>
              <a:t>約800〜1,200万円</a:t>
            </a:r>
            <a:endParaRPr lang="en-US" sz="1400" dirty="0"/>
          </a:p>
        </p:txBody>
      </p:sp>
      <p:sp>
        <p:nvSpPr>
          <p:cNvPr id="12" name="Shape 10"/>
          <p:cNvSpPr/>
          <p:nvPr/>
        </p:nvSpPr>
        <p:spPr>
          <a:xfrm>
            <a:off x="457200" y="3108960"/>
            <a:ext cx="8229600" cy="530352"/>
          </a:xfrm>
          <a:prstGeom prst="roundRect">
            <a:avLst>
              <a:gd name="adj" fmla="val 13793"/>
            </a:avLst>
          </a:prstGeom>
          <a:solidFill>
            <a:srgbClr val="FFFFFF"/>
          </a:solidFill>
          <a:ln w="12700">
            <a:solidFill>
              <a:srgbClr val="DDE0E6"/>
            </a:solidFill>
            <a:prstDash val="solid"/>
          </a:ln>
        </p:spPr>
      </p:sp>
      <p:sp>
        <p:nvSpPr>
          <p:cNvPr id="13" name="Text 11"/>
          <p:cNvSpPr/>
          <p:nvPr/>
        </p:nvSpPr>
        <p:spPr>
          <a:xfrm>
            <a:off x="594360" y="3200400"/>
            <a:ext cx="5029200" cy="347472"/>
          </a:xfrm>
          <a:prstGeom prst="rect">
            <a:avLst/>
          </a:prstGeom>
          <a:noFill/>
          <a:ln/>
        </p:spPr>
        <p:txBody>
          <a:bodyPr wrap="square" lIns="0" tIns="0" rIns="0" bIns="0" rtlCol="0" anchor="ctr"/>
          <a:lstStyle/>
          <a:p>
            <a:pPr indent="0" marL="0">
              <a:buNone/>
            </a:pPr>
            <a:r>
              <a:rPr lang="en-US" sz="1300" dirty="0">
                <a:solidFill>
                  <a:srgbClr val="626875"/>
                </a:solidFill>
                <a:latin typeface="BIZ UDPGothic" pitchFamily="34" charset="0"/>
                <a:ea typeface="BIZ UDPGothic" pitchFamily="34" charset="-122"/>
                <a:cs typeface="BIZ UDPGothic" pitchFamily="34" charset="-120"/>
              </a:rPr>
              <a:t>外資コンサル（40歳）</a:t>
            </a:r>
            <a:endParaRPr lang="en-US" sz="1300" dirty="0"/>
          </a:p>
        </p:txBody>
      </p:sp>
      <p:sp>
        <p:nvSpPr>
          <p:cNvPr id="14" name="Text 12"/>
          <p:cNvSpPr/>
          <p:nvPr/>
        </p:nvSpPr>
        <p:spPr>
          <a:xfrm>
            <a:off x="5669280" y="3200400"/>
            <a:ext cx="2880360" cy="347472"/>
          </a:xfrm>
          <a:prstGeom prst="rect">
            <a:avLst/>
          </a:prstGeom>
          <a:noFill/>
          <a:ln/>
        </p:spPr>
        <p:txBody>
          <a:bodyPr wrap="square" lIns="0" tIns="0" rIns="0" bIns="0" rtlCol="0" anchor="ctr"/>
          <a:lstStyle/>
          <a:p>
            <a:pPr algn="r" indent="0" marL="0">
              <a:buNone/>
            </a:pPr>
            <a:r>
              <a:rPr lang="en-US" sz="1400" b="1" dirty="0">
                <a:solidFill>
                  <a:srgbClr val="626875"/>
                </a:solidFill>
                <a:latin typeface="BIZ UDPGothic" pitchFamily="34" charset="0"/>
                <a:ea typeface="BIZ UDPGothic" pitchFamily="34" charset="-122"/>
                <a:cs typeface="BIZ UDPGothic" pitchFamily="34" charset="-120"/>
              </a:rPr>
              <a:t>約1,000〜2,000万円</a:t>
            </a:r>
            <a:endParaRPr lang="en-US" sz="1400" dirty="0"/>
          </a:p>
        </p:txBody>
      </p:sp>
      <p:sp>
        <p:nvSpPr>
          <p:cNvPr id="15" name="Shape 13"/>
          <p:cNvSpPr/>
          <p:nvPr/>
        </p:nvSpPr>
        <p:spPr>
          <a:xfrm>
            <a:off x="457200" y="3730752"/>
            <a:ext cx="8229600" cy="530352"/>
          </a:xfrm>
          <a:prstGeom prst="roundRect">
            <a:avLst>
              <a:gd name="adj" fmla="val 13793"/>
            </a:avLst>
          </a:prstGeom>
          <a:solidFill>
            <a:srgbClr val="E9EFF8"/>
          </a:solidFill>
          <a:ln w="12700">
            <a:solidFill>
              <a:srgbClr val="DDE0E6"/>
            </a:solidFill>
            <a:prstDash val="solid"/>
          </a:ln>
        </p:spPr>
      </p:sp>
      <p:sp>
        <p:nvSpPr>
          <p:cNvPr id="16" name="Text 14"/>
          <p:cNvSpPr/>
          <p:nvPr/>
        </p:nvSpPr>
        <p:spPr>
          <a:xfrm>
            <a:off x="594360" y="3822192"/>
            <a:ext cx="5029200" cy="347472"/>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高校教員【改革後・40歳】</a:t>
            </a:r>
            <a:endParaRPr lang="en-US" sz="1300" dirty="0"/>
          </a:p>
        </p:txBody>
      </p:sp>
      <p:sp>
        <p:nvSpPr>
          <p:cNvPr id="17" name="Text 15"/>
          <p:cNvSpPr/>
          <p:nvPr/>
        </p:nvSpPr>
        <p:spPr>
          <a:xfrm>
            <a:off x="5669280" y="3822192"/>
            <a:ext cx="2880360" cy="347472"/>
          </a:xfrm>
          <a:prstGeom prst="rect">
            <a:avLst/>
          </a:prstGeom>
          <a:noFill/>
          <a:ln/>
        </p:spPr>
        <p:txBody>
          <a:bodyPr wrap="square" lIns="0" tIns="0" rIns="0" bIns="0" rtlCol="0" anchor="ctr"/>
          <a:lstStyle/>
          <a:p>
            <a:pPr algn="r" indent="0" marL="0">
              <a:buNone/>
            </a:pPr>
            <a:r>
              <a:rPr lang="en-US" sz="1400" b="1" dirty="0">
                <a:solidFill>
                  <a:srgbClr val="1D4F91"/>
                </a:solidFill>
                <a:latin typeface="BIZ UDPGothic" pitchFamily="34" charset="0"/>
                <a:ea typeface="BIZ UDPGothic" pitchFamily="34" charset="-122"/>
                <a:cs typeface="BIZ UDPGothic" pitchFamily="34" charset="-120"/>
              </a:rPr>
              <a:t>約1,000〜1,100万円</a:t>
            </a:r>
            <a:endParaRPr lang="en-US" sz="1400" dirty="0"/>
          </a:p>
        </p:txBody>
      </p:sp>
      <p:sp>
        <p:nvSpPr>
          <p:cNvPr id="18" name="Shape 16"/>
          <p:cNvSpPr/>
          <p:nvPr/>
        </p:nvSpPr>
        <p:spPr>
          <a:xfrm>
            <a:off x="457200" y="4352544"/>
            <a:ext cx="8229600" cy="530352"/>
          </a:xfrm>
          <a:prstGeom prst="roundRect">
            <a:avLst>
              <a:gd name="adj" fmla="val 13793"/>
            </a:avLst>
          </a:prstGeom>
          <a:solidFill>
            <a:srgbClr val="FCEBEB"/>
          </a:solidFill>
          <a:ln w="12700">
            <a:solidFill>
              <a:srgbClr val="DDE0E6"/>
            </a:solidFill>
            <a:prstDash val="solid"/>
          </a:ln>
        </p:spPr>
      </p:sp>
      <p:sp>
        <p:nvSpPr>
          <p:cNvPr id="19" name="Text 17"/>
          <p:cNvSpPr/>
          <p:nvPr/>
        </p:nvSpPr>
        <p:spPr>
          <a:xfrm>
            <a:off x="594360" y="4443984"/>
            <a:ext cx="5029200" cy="347472"/>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高校教員【現行・40歳】</a:t>
            </a:r>
            <a:endParaRPr lang="en-US" sz="1300" dirty="0"/>
          </a:p>
        </p:txBody>
      </p:sp>
      <p:sp>
        <p:nvSpPr>
          <p:cNvPr id="20" name="Text 18"/>
          <p:cNvSpPr/>
          <p:nvPr/>
        </p:nvSpPr>
        <p:spPr>
          <a:xfrm>
            <a:off x="5669280" y="4443984"/>
            <a:ext cx="2880360" cy="347472"/>
          </a:xfrm>
          <a:prstGeom prst="rect">
            <a:avLst/>
          </a:prstGeom>
          <a:noFill/>
          <a:ln/>
        </p:spPr>
        <p:txBody>
          <a:bodyPr wrap="square" lIns="0" tIns="0" rIns="0" bIns="0" rtlCol="0" anchor="ctr"/>
          <a:lstStyle/>
          <a:p>
            <a:pPr algn="r" indent="0" marL="0">
              <a:buNone/>
            </a:pPr>
            <a:r>
              <a:rPr lang="en-US" sz="1400" b="1" dirty="0">
                <a:solidFill>
                  <a:srgbClr val="C8161D"/>
                </a:solidFill>
                <a:latin typeface="BIZ UDPGothic" pitchFamily="34" charset="0"/>
                <a:ea typeface="BIZ UDPGothic" pitchFamily="34" charset="-122"/>
                <a:cs typeface="BIZ UDPGothic" pitchFamily="34" charset="-120"/>
              </a:rPr>
              <a:t>約650万円</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01 — DESIGN</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廃校でなく「公立化」：受け皿を維持したまま転換する</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私立を一律廃校にするのではなく、公立高校として転換・存続させる。地方で「私立が消えて受け皿がなくなる」という逆説を完全に回避する。</a:t>
            </a:r>
            <a:endParaRPr lang="en-US" sz="1100" dirty="0"/>
          </a:p>
        </p:txBody>
      </p:sp>
      <p:sp>
        <p:nvSpPr>
          <p:cNvPr id="6" name="Shape 4"/>
          <p:cNvSpPr/>
          <p:nvPr/>
        </p:nvSpPr>
        <p:spPr>
          <a:xfrm>
            <a:off x="457200" y="1847088"/>
            <a:ext cx="8229600" cy="1170432"/>
          </a:xfrm>
          <a:prstGeom prst="roundRect">
            <a:avLst>
              <a:gd name="adj" fmla="val 6250"/>
            </a:avLst>
          </a:prstGeom>
          <a:solidFill>
            <a:srgbClr val="E9EFF8"/>
          </a:solidFill>
          <a:ln w="12700">
            <a:solidFill>
              <a:srgbClr val="DDE0E6"/>
            </a:solidFill>
            <a:prstDash val="solid"/>
          </a:ln>
        </p:spPr>
      </p:sp>
      <p:sp>
        <p:nvSpPr>
          <p:cNvPr id="7" name="Shape 5"/>
          <p:cNvSpPr/>
          <p:nvPr/>
        </p:nvSpPr>
        <p:spPr>
          <a:xfrm>
            <a:off x="594360" y="2139696"/>
            <a:ext cx="2194560"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2139696"/>
            <a:ext cx="219456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学長が継続意思あり</a:t>
            </a:r>
            <a:endParaRPr lang="en-US" sz="1100" dirty="0"/>
          </a:p>
        </p:txBody>
      </p:sp>
      <p:sp>
        <p:nvSpPr>
          <p:cNvPr id="9" name="Text 7"/>
          <p:cNvSpPr/>
          <p:nvPr/>
        </p:nvSpPr>
        <p:spPr>
          <a:xfrm>
            <a:off x="2944368" y="1975104"/>
            <a:ext cx="5577840" cy="9144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宗教色を廃止した上で、都道府県の枠内で独自性を一部維持。既存の教職員・カリキュラムを活かして公立として再出発する。</a:t>
            </a:r>
            <a:endParaRPr lang="en-US" sz="1100" dirty="0"/>
          </a:p>
        </p:txBody>
      </p:sp>
      <p:sp>
        <p:nvSpPr>
          <p:cNvPr id="10" name="Shape 8"/>
          <p:cNvSpPr/>
          <p:nvPr/>
        </p:nvSpPr>
        <p:spPr>
          <a:xfrm>
            <a:off x="457200" y="3182112"/>
            <a:ext cx="8229600" cy="1170432"/>
          </a:xfrm>
          <a:prstGeom prst="roundRect">
            <a:avLst>
              <a:gd name="adj" fmla="val 6250"/>
            </a:avLst>
          </a:prstGeom>
          <a:solidFill>
            <a:srgbClr val="E9EFF8"/>
          </a:solidFill>
          <a:ln w="12700">
            <a:solidFill>
              <a:srgbClr val="DDE0E6"/>
            </a:solidFill>
            <a:prstDash val="solid"/>
          </a:ln>
        </p:spPr>
      </p:sp>
      <p:sp>
        <p:nvSpPr>
          <p:cNvPr id="11" name="Shape 9"/>
          <p:cNvSpPr/>
          <p:nvPr/>
        </p:nvSpPr>
        <p:spPr>
          <a:xfrm>
            <a:off x="594360" y="3474720"/>
            <a:ext cx="2194560" cy="475488"/>
          </a:xfrm>
          <a:prstGeom prst="roundRect">
            <a:avLst>
              <a:gd name="adj" fmla="val 11538"/>
            </a:avLst>
          </a:prstGeom>
          <a:solidFill>
            <a:srgbClr val="C8161D"/>
          </a:solidFill>
          <a:ln w="12700">
            <a:solidFill>
              <a:srgbClr val="C8161D"/>
            </a:solidFill>
            <a:prstDash val="solid"/>
          </a:ln>
        </p:spPr>
      </p:sp>
      <p:sp>
        <p:nvSpPr>
          <p:cNvPr id="12" name="Text 10"/>
          <p:cNvSpPr/>
          <p:nvPr/>
        </p:nvSpPr>
        <p:spPr>
          <a:xfrm>
            <a:off x="594360" y="3474720"/>
            <a:ext cx="219456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学長が継続意思なし</a:t>
            </a:r>
            <a:endParaRPr lang="en-US" sz="1100" dirty="0"/>
          </a:p>
        </p:txBody>
      </p:sp>
      <p:sp>
        <p:nvSpPr>
          <p:cNvPr id="13" name="Text 11"/>
          <p:cNvSpPr/>
          <p:nvPr/>
        </p:nvSpPr>
        <p:spPr>
          <a:xfrm>
            <a:off x="2944368" y="3310128"/>
            <a:ext cx="5577840" cy="91440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都道府県が方針・運営を完全に引き継ぐ。施設・教職員を公立として再編し、地域のニーズに合わせたカリキュラムへ転換する。</a:t>
            </a:r>
            <a:endParaRPr lang="en-US" sz="1100" dirty="0"/>
          </a:p>
        </p:txBody>
      </p:sp>
      <p:sp>
        <p:nvSpPr>
          <p:cNvPr id="14" name="Shape 12"/>
          <p:cNvSpPr/>
          <p:nvPr/>
        </p:nvSpPr>
        <p:spPr>
          <a:xfrm>
            <a:off x="457200" y="4626864"/>
            <a:ext cx="8229600" cy="438912"/>
          </a:xfrm>
          <a:prstGeom prst="roundRect">
            <a:avLst>
              <a:gd name="adj" fmla="val 16667"/>
            </a:avLst>
          </a:prstGeom>
          <a:solidFill>
            <a:srgbClr val="FFFFFF"/>
          </a:solidFill>
          <a:ln w="12700">
            <a:solidFill>
              <a:srgbClr val="DDE0E6"/>
            </a:solidFill>
            <a:prstDash val="solid"/>
          </a:ln>
        </p:spPr>
      </p:sp>
      <p:sp>
        <p:nvSpPr>
          <p:cNvPr id="15" name="Text 13"/>
          <p:cNvSpPr/>
          <p:nvPr/>
        </p:nvSpPr>
        <p:spPr>
          <a:xfrm>
            <a:off x="594360" y="4663440"/>
            <a:ext cx="7955280" cy="365760"/>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いずれの場合も宗教教育は廃止。公立としての中立性を担保。</a:t>
            </a:r>
            <a:endParaRPr lang="en-US" sz="1000" dirty="0"/>
          </a:p>
          <a:p>
            <a:pPr indent="0" marL="0">
              <a:buNone/>
            </a:pPr>
            <a:r>
              <a:rPr lang="en-US" sz="1000" dirty="0">
                <a:solidFill>
                  <a:srgbClr val="626875"/>
                </a:solidFill>
                <a:latin typeface="Arial" pitchFamily="34" charset="0"/>
                <a:ea typeface="BIZ UDPGothic" pitchFamily="34" charset="-122"/>
                <a:cs typeface="BIZ UDPGothic" pitchFamily="34" charset="-120"/>
              </a:rPr>
              <a:t>真に自立できる私学（民間資金のみで運営可能）は存続を認める。</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01 — TIMELINE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移行期間：最低3年で現在の在校生を保護する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1005840"/>
          </a:xfrm>
          <a:prstGeom prst="roundRect">
            <a:avLst>
              <a:gd name="adj" fmla="val 7273"/>
            </a:avLst>
          </a:prstGeom>
          <a:solidFill>
            <a:srgbClr val="FFFFFF"/>
          </a:solidFill>
          <a:ln w="12700">
            <a:solidFill>
              <a:srgbClr val="DDE0E6"/>
            </a:solidFill>
            <a:prstDash val="solid"/>
          </a:ln>
        </p:spPr>
      </p:sp>
      <p:sp>
        <p:nvSpPr>
          <p:cNvPr id="6" name="Shape 4"/>
          <p:cNvSpPr/>
          <p:nvPr/>
        </p:nvSpPr>
        <p:spPr>
          <a:xfrm>
            <a:off x="594360" y="1609344"/>
            <a:ext cx="1737360" cy="512064"/>
          </a:xfrm>
          <a:prstGeom prst="roundRect">
            <a:avLst>
              <a:gd name="adj" fmla="val 10714"/>
            </a:avLst>
          </a:prstGeom>
          <a:solidFill>
            <a:srgbClr val="C8161D"/>
          </a:solidFill>
          <a:ln w="12700">
            <a:solidFill>
              <a:srgbClr val="C8161D"/>
            </a:solidFill>
            <a:prstDash val="solid"/>
          </a:ln>
        </p:spPr>
      </p:sp>
      <p:sp>
        <p:nvSpPr>
          <p:cNvPr id="7" name="Text 5"/>
          <p:cNvSpPr/>
          <p:nvPr/>
        </p:nvSpPr>
        <p:spPr>
          <a:xfrm>
            <a:off x="594360" y="1609344"/>
            <a:ext cx="17373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制度開始（Y年）</a:t>
            </a:r>
            <a:endParaRPr lang="en-US" sz="1100" dirty="0"/>
          </a:p>
        </p:txBody>
      </p:sp>
      <p:sp>
        <p:nvSpPr>
          <p:cNvPr id="8" name="Text 6"/>
          <p:cNvSpPr/>
          <p:nvPr/>
        </p:nvSpPr>
        <p:spPr>
          <a:xfrm>
            <a:off x="2487168" y="1481328"/>
            <a:ext cx="6035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制度の全内容を公表。私立高校が公立化の準備を開始。現在の在校生への支援・カリキュラムは現行どおり継続。</a:t>
            </a:r>
            <a:endParaRPr lang="en-US" sz="1100" dirty="0"/>
          </a:p>
        </p:txBody>
      </p:sp>
      <p:sp>
        <p:nvSpPr>
          <p:cNvPr id="9" name="Text 7"/>
          <p:cNvSpPr/>
          <p:nvPr/>
        </p:nvSpPr>
        <p:spPr>
          <a:xfrm>
            <a:off x="4114800" y="2414016"/>
            <a:ext cx="914400" cy="164592"/>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0" name="Shape 8"/>
          <p:cNvSpPr/>
          <p:nvPr/>
        </p:nvSpPr>
        <p:spPr>
          <a:xfrm>
            <a:off x="457200" y="2560320"/>
            <a:ext cx="8229600" cy="1005840"/>
          </a:xfrm>
          <a:prstGeom prst="roundRect">
            <a:avLst>
              <a:gd name="adj" fmla="val 7273"/>
            </a:avLst>
          </a:prstGeom>
          <a:solidFill>
            <a:srgbClr val="FFFFFF"/>
          </a:solidFill>
          <a:ln w="12700">
            <a:solidFill>
              <a:srgbClr val="DDE0E6"/>
            </a:solidFill>
            <a:prstDash val="solid"/>
          </a:ln>
        </p:spPr>
      </p:sp>
      <p:sp>
        <p:nvSpPr>
          <p:cNvPr id="11" name="Shape 9"/>
          <p:cNvSpPr/>
          <p:nvPr/>
        </p:nvSpPr>
        <p:spPr>
          <a:xfrm>
            <a:off x="594360" y="2779776"/>
            <a:ext cx="1737360" cy="512064"/>
          </a:xfrm>
          <a:prstGeom prst="roundRect">
            <a:avLst>
              <a:gd name="adj" fmla="val 10714"/>
            </a:avLst>
          </a:prstGeom>
          <a:solidFill>
            <a:srgbClr val="C8161D"/>
          </a:solidFill>
          <a:ln w="12700">
            <a:solidFill>
              <a:srgbClr val="C8161D"/>
            </a:solidFill>
            <a:prstDash val="solid"/>
          </a:ln>
        </p:spPr>
      </p:sp>
      <p:sp>
        <p:nvSpPr>
          <p:cNvPr id="12" name="Text 10"/>
          <p:cNvSpPr/>
          <p:nvPr/>
        </p:nvSpPr>
        <p:spPr>
          <a:xfrm>
            <a:off x="594360" y="2779776"/>
            <a:ext cx="17373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Y〜Y+3年</a:t>
            </a:r>
            <a:endParaRPr lang="en-US" sz="1100" dirty="0"/>
          </a:p>
          <a:p>
            <a:pPr algn="ctr" indent="0" marL="0">
              <a:buNone/>
            </a:pPr>
            <a:r>
              <a:rPr lang="en-US" sz="1100" b="1" dirty="0">
                <a:solidFill>
                  <a:srgbClr val="FFFFFF"/>
                </a:solidFill>
                <a:latin typeface="Arial" pitchFamily="34" charset="0"/>
                <a:ea typeface="BIZ UDPGothic" pitchFamily="34" charset="-122"/>
                <a:cs typeface="BIZ UDPGothic" pitchFamily="34" charset="-120"/>
              </a:rPr>
              <a:t>移行期間</a:t>
            </a:r>
            <a:endParaRPr lang="en-US" sz="1100" dirty="0"/>
          </a:p>
        </p:txBody>
      </p:sp>
      <p:sp>
        <p:nvSpPr>
          <p:cNvPr id="13" name="Text 11"/>
          <p:cNvSpPr/>
          <p:nvPr/>
        </p:nvSpPr>
        <p:spPr>
          <a:xfrm>
            <a:off x="2487168" y="2651760"/>
            <a:ext cx="6035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現行制度を継続。在校生は今の私立高校のまま卒業まで通える。公立化の具体的な準備・調整をこの期間に実施する。</a:t>
            </a:r>
            <a:endParaRPr lang="en-US" sz="1100" dirty="0"/>
          </a:p>
        </p:txBody>
      </p:sp>
      <p:sp>
        <p:nvSpPr>
          <p:cNvPr id="14" name="Text 12"/>
          <p:cNvSpPr/>
          <p:nvPr/>
        </p:nvSpPr>
        <p:spPr>
          <a:xfrm>
            <a:off x="4114800" y="3584448"/>
            <a:ext cx="914400" cy="164592"/>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5" name="Shape 13"/>
          <p:cNvSpPr/>
          <p:nvPr/>
        </p:nvSpPr>
        <p:spPr>
          <a:xfrm>
            <a:off x="457200" y="3730752"/>
            <a:ext cx="8229600" cy="1005840"/>
          </a:xfrm>
          <a:prstGeom prst="roundRect">
            <a:avLst>
              <a:gd name="adj" fmla="val 7273"/>
            </a:avLst>
          </a:prstGeom>
          <a:solidFill>
            <a:srgbClr val="FFFFFF"/>
          </a:solidFill>
          <a:ln w="12700">
            <a:solidFill>
              <a:srgbClr val="DDE0E6"/>
            </a:solidFill>
            <a:prstDash val="solid"/>
          </a:ln>
        </p:spPr>
      </p:sp>
      <p:sp>
        <p:nvSpPr>
          <p:cNvPr id="16" name="Shape 14"/>
          <p:cNvSpPr/>
          <p:nvPr/>
        </p:nvSpPr>
        <p:spPr>
          <a:xfrm>
            <a:off x="594360" y="3950208"/>
            <a:ext cx="1737360" cy="512064"/>
          </a:xfrm>
          <a:prstGeom prst="roundRect">
            <a:avLst>
              <a:gd name="adj" fmla="val 10714"/>
            </a:avLst>
          </a:prstGeom>
          <a:solidFill>
            <a:srgbClr val="C8161D"/>
          </a:solidFill>
          <a:ln w="12700">
            <a:solidFill>
              <a:srgbClr val="C8161D"/>
            </a:solidFill>
            <a:prstDash val="solid"/>
          </a:ln>
        </p:spPr>
      </p:sp>
      <p:sp>
        <p:nvSpPr>
          <p:cNvPr id="17" name="Text 15"/>
          <p:cNvSpPr/>
          <p:nvPr/>
        </p:nvSpPr>
        <p:spPr>
          <a:xfrm>
            <a:off x="594360" y="3950208"/>
            <a:ext cx="17373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Y+3年以降</a:t>
            </a:r>
            <a:endParaRPr lang="en-US" sz="1100" dirty="0"/>
          </a:p>
          <a:p>
            <a:pPr algn="ctr" indent="0" marL="0">
              <a:buNone/>
            </a:pPr>
            <a:r>
              <a:rPr lang="en-US" sz="1100" b="1" dirty="0">
                <a:solidFill>
                  <a:srgbClr val="FFFFFF"/>
                </a:solidFill>
                <a:latin typeface="Arial" pitchFamily="34" charset="0"/>
                <a:ea typeface="BIZ UDPGothic" pitchFamily="34" charset="-122"/>
                <a:cs typeface="BIZ UDPGothic" pitchFamily="34" charset="-120"/>
              </a:rPr>
              <a:t>公立化実施</a:t>
            </a:r>
            <a:endParaRPr lang="en-US" sz="1100" dirty="0"/>
          </a:p>
        </p:txBody>
      </p:sp>
      <p:sp>
        <p:nvSpPr>
          <p:cNvPr id="18" name="Text 16"/>
          <p:cNvSpPr/>
          <p:nvPr/>
        </p:nvSpPr>
        <p:spPr>
          <a:xfrm>
            <a:off x="2487168" y="3822192"/>
            <a:ext cx="6035040" cy="822960"/>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私立高校を順次公立化。受け皿は維持したまま公費の投入先を公立に完全集中する。傾斜配分・住民投票の本格稼働開始。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予算の80/20分割設計：学校運営が権限を持つ</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3200400" y="1389888"/>
            <a:ext cx="2743200" cy="603504"/>
          </a:xfrm>
          <a:prstGeom prst="roundRect">
            <a:avLst>
              <a:gd name="adj" fmla="val 12121"/>
            </a:avLst>
          </a:prstGeom>
          <a:solidFill>
            <a:srgbClr val="FFFFFF"/>
          </a:solidFill>
          <a:ln w="12700">
            <a:solidFill>
              <a:srgbClr val="DDE0E6"/>
            </a:solidFill>
            <a:prstDash val="solid"/>
          </a:ln>
        </p:spPr>
      </p:sp>
      <p:sp>
        <p:nvSpPr>
          <p:cNvPr id="6" name="Text 4"/>
          <p:cNvSpPr/>
          <p:nvPr/>
        </p:nvSpPr>
        <p:spPr>
          <a:xfrm>
            <a:off x="3200400" y="1389888"/>
            <a:ext cx="2743200" cy="603504"/>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国（6,830億円 − 給与引き上げ分）</a:t>
            </a:r>
            <a:endParaRPr lang="en-US" sz="1200" dirty="0"/>
          </a:p>
        </p:txBody>
      </p:sp>
      <p:sp>
        <p:nvSpPr>
          <p:cNvPr id="7" name="Text 5"/>
          <p:cNvSpPr/>
          <p:nvPr/>
        </p:nvSpPr>
        <p:spPr>
          <a:xfrm>
            <a:off x="4114800" y="2029968"/>
            <a:ext cx="914400" cy="274320"/>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8" name="Shape 6"/>
          <p:cNvSpPr/>
          <p:nvPr/>
        </p:nvSpPr>
        <p:spPr>
          <a:xfrm>
            <a:off x="3200400" y="2340864"/>
            <a:ext cx="2743200" cy="603504"/>
          </a:xfrm>
          <a:prstGeom prst="roundRect">
            <a:avLst>
              <a:gd name="adj" fmla="val 12121"/>
            </a:avLst>
          </a:prstGeom>
          <a:solidFill>
            <a:srgbClr val="FFFFFF"/>
          </a:solidFill>
          <a:ln w="12700">
            <a:solidFill>
              <a:srgbClr val="DDE0E6"/>
            </a:solidFill>
            <a:prstDash val="solid"/>
          </a:ln>
        </p:spPr>
      </p:sp>
      <p:sp>
        <p:nvSpPr>
          <p:cNvPr id="9" name="Text 7"/>
          <p:cNvSpPr/>
          <p:nvPr/>
        </p:nvSpPr>
        <p:spPr>
          <a:xfrm>
            <a:off x="3200400" y="2340864"/>
            <a:ext cx="2743200" cy="603504"/>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都道府県（受け取り・分割のみ）</a:t>
            </a:r>
            <a:endParaRPr lang="en-US" sz="1200" dirty="0"/>
          </a:p>
        </p:txBody>
      </p:sp>
      <p:sp>
        <p:nvSpPr>
          <p:cNvPr id="10" name="Text 8"/>
          <p:cNvSpPr/>
          <p:nvPr/>
        </p:nvSpPr>
        <p:spPr>
          <a:xfrm>
            <a:off x="1920240" y="2980944"/>
            <a:ext cx="1280160" cy="365760"/>
          </a:xfrm>
          <a:prstGeom prst="rect">
            <a:avLst/>
          </a:prstGeom>
          <a:noFill/>
          <a:ln/>
        </p:spPr>
        <p:txBody>
          <a:bodyPr wrap="square" lIns="0" tIns="0" rIns="0" bIns="0" rtlCol="0" anchor="ctr"/>
          <a:lstStyle/>
          <a:p>
            <a:pPr algn="ctr" indent="0" marL="0">
              <a:buNone/>
            </a:pPr>
            <a:r>
              <a:rPr lang="en-US" sz="2200" dirty="0">
                <a:solidFill>
                  <a:srgbClr val="1D4F91"/>
                </a:solidFill>
                <a:latin typeface="Arial" pitchFamily="34" charset="0"/>
                <a:ea typeface="BIZ UDPGothic" pitchFamily="34" charset="-122"/>
                <a:cs typeface="BIZ UDPGothic" pitchFamily="34" charset="-120"/>
              </a:rPr>
              <a:t>↙</a:t>
            </a:r>
            <a:endParaRPr lang="en-US" sz="2200" dirty="0"/>
          </a:p>
        </p:txBody>
      </p:sp>
      <p:sp>
        <p:nvSpPr>
          <p:cNvPr id="11" name="Text 9"/>
          <p:cNvSpPr/>
          <p:nvPr/>
        </p:nvSpPr>
        <p:spPr>
          <a:xfrm>
            <a:off x="5943600" y="2980944"/>
            <a:ext cx="1280160" cy="365760"/>
          </a:xfrm>
          <a:prstGeom prst="rect">
            <a:avLst/>
          </a:prstGeom>
          <a:noFill/>
          <a:ln/>
        </p:spPr>
        <p:txBody>
          <a:bodyPr wrap="square" lIns="0" tIns="0" rIns="0" bIns="0" rtlCol="0" anchor="ctr"/>
          <a:lstStyle/>
          <a:p>
            <a:pPr algn="ctr" indent="0" marL="0">
              <a:buNone/>
            </a:pPr>
            <a:r>
              <a:rPr lang="en-US" sz="2200" dirty="0">
                <a:solidFill>
                  <a:srgbClr val="1D4F91"/>
                </a:solidFill>
                <a:latin typeface="Arial" pitchFamily="34" charset="0"/>
                <a:ea typeface="BIZ UDPGothic" pitchFamily="34" charset="-122"/>
                <a:cs typeface="BIZ UDPGothic" pitchFamily="34" charset="-120"/>
              </a:rPr>
              <a:t>↘</a:t>
            </a:r>
            <a:endParaRPr lang="en-US" sz="2200" dirty="0"/>
          </a:p>
        </p:txBody>
      </p:sp>
      <p:sp>
        <p:nvSpPr>
          <p:cNvPr id="12" name="Shape 10"/>
          <p:cNvSpPr/>
          <p:nvPr/>
        </p:nvSpPr>
        <p:spPr>
          <a:xfrm>
            <a:off x="457200" y="3401568"/>
            <a:ext cx="3657600" cy="1572768"/>
          </a:xfrm>
          <a:prstGeom prst="roundRect">
            <a:avLst>
              <a:gd name="adj" fmla="val 4651"/>
            </a:avLst>
          </a:prstGeom>
          <a:solidFill>
            <a:srgbClr val="E9EFF8"/>
          </a:solidFill>
          <a:ln w="12700">
            <a:solidFill>
              <a:srgbClr val="DDE0E6"/>
            </a:solidFill>
            <a:prstDash val="solid"/>
          </a:ln>
        </p:spPr>
      </p:sp>
      <p:sp>
        <p:nvSpPr>
          <p:cNvPr id="13" name="Text 11"/>
          <p:cNvSpPr/>
          <p:nvPr/>
        </p:nvSpPr>
        <p:spPr>
          <a:xfrm>
            <a:off x="594360" y="3493008"/>
            <a:ext cx="822960" cy="493776"/>
          </a:xfrm>
          <a:prstGeom prst="rect">
            <a:avLst/>
          </a:prstGeom>
          <a:noFill/>
          <a:ln/>
        </p:spPr>
        <p:txBody>
          <a:bodyPr wrap="square" lIns="0" tIns="0" rIns="0" bIns="0" rtlCol="0" anchor="ctr"/>
          <a:lstStyle/>
          <a:p>
            <a:pPr algn="ctr" indent="0" marL="0">
              <a:buNone/>
            </a:pPr>
            <a:r>
              <a:rPr lang="en-US" sz="2200" b="1" dirty="0">
                <a:solidFill>
                  <a:srgbClr val="1D4F91"/>
                </a:solidFill>
                <a:latin typeface="BIZ UDPGothic" pitchFamily="34" charset="0"/>
                <a:ea typeface="BIZ UDPGothic" pitchFamily="34" charset="-122"/>
                <a:cs typeface="BIZ UDPGothic" pitchFamily="34" charset="-120"/>
              </a:rPr>
              <a:t>20%</a:t>
            </a:r>
            <a:endParaRPr lang="en-US" sz="2200" dirty="0"/>
          </a:p>
        </p:txBody>
      </p:sp>
      <p:sp>
        <p:nvSpPr>
          <p:cNvPr id="14" name="Text 12"/>
          <p:cNvSpPr/>
          <p:nvPr/>
        </p:nvSpPr>
        <p:spPr>
          <a:xfrm>
            <a:off x="1481328" y="3493008"/>
            <a:ext cx="2468880" cy="493776"/>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インフラ・企業誘致</a:t>
            </a:r>
            <a:endParaRPr lang="en-US" sz="1200" dirty="0"/>
          </a:p>
          <a:p>
            <a:pPr indent="0" marL="0">
              <a:buNone/>
            </a:pPr>
            <a:r>
              <a:rPr lang="en-US" sz="1200" b="1" dirty="0">
                <a:solidFill>
                  <a:srgbClr val="1D4F91"/>
                </a:solidFill>
                <a:latin typeface="BIZ UDPGothic" pitchFamily="34" charset="0"/>
                <a:ea typeface="BIZ UDPGothic" pitchFamily="34" charset="-122"/>
                <a:cs typeface="BIZ UDPGothic" pitchFamily="34" charset="-120"/>
              </a:rPr>
              <a:t>専用予算</a:t>
            </a:r>
            <a:endParaRPr lang="en-US" sz="1200" dirty="0"/>
          </a:p>
        </p:txBody>
      </p:sp>
      <p:sp>
        <p:nvSpPr>
          <p:cNvPr id="15" name="Text 13"/>
          <p:cNvSpPr/>
          <p:nvPr/>
        </p:nvSpPr>
        <p:spPr>
          <a:xfrm>
            <a:off x="594360" y="4023360"/>
            <a:ext cx="3383280" cy="87782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住民投票で使途を確定（四半期ごと）</a:t>
            </a:r>
            <a:endParaRPr lang="en-US" sz="1000" dirty="0"/>
          </a:p>
          <a:p>
            <a:pPr indent="0" marL="0">
              <a:buNone/>
            </a:pPr>
            <a:r>
              <a:rPr lang="en-US" sz="1000" dirty="0">
                <a:solidFill>
                  <a:srgbClr val="2B2F36"/>
                </a:solidFill>
                <a:latin typeface="Arial" pitchFamily="34" charset="0"/>
                <a:ea typeface="BIZ UDPGothic" pitchFamily="34" charset="-122"/>
                <a:cs typeface="BIZ UDPGothic" pitchFamily="34" charset="-120"/>
              </a:rPr>
              <a:t>学校運営が権限を持ち執行</a:t>
            </a:r>
            <a:endParaRPr lang="en-US" sz="1000" dirty="0"/>
          </a:p>
          <a:p>
            <a:pPr indent="0" marL="0">
              <a:buNone/>
            </a:pPr>
            <a:r>
              <a:rPr lang="en-US" sz="1000" dirty="0">
                <a:solidFill>
                  <a:srgbClr val="2B2F36"/>
                </a:solidFill>
                <a:latin typeface="Arial" pitchFamily="34" charset="0"/>
                <a:ea typeface="BIZ UDPGothic" pitchFamily="34" charset="-122"/>
                <a:cs typeface="BIZ UDPGothic" pitchFamily="34" charset="-120"/>
              </a:rPr>
              <a:t>専用口座で分離・未執行分は学校枠へ返還</a:t>
            </a:r>
            <a:endParaRPr lang="en-US" sz="1000" dirty="0"/>
          </a:p>
        </p:txBody>
      </p:sp>
      <p:sp>
        <p:nvSpPr>
          <p:cNvPr id="16" name="Shape 14"/>
          <p:cNvSpPr/>
          <p:nvPr/>
        </p:nvSpPr>
        <p:spPr>
          <a:xfrm>
            <a:off x="5029200" y="3401568"/>
            <a:ext cx="3657600" cy="1572768"/>
          </a:xfrm>
          <a:prstGeom prst="roundRect">
            <a:avLst>
              <a:gd name="adj" fmla="val 4651"/>
            </a:avLst>
          </a:prstGeom>
          <a:solidFill>
            <a:srgbClr val="E9EFF8"/>
          </a:solidFill>
          <a:ln w="12700">
            <a:solidFill>
              <a:srgbClr val="DDE0E6"/>
            </a:solidFill>
            <a:prstDash val="solid"/>
          </a:ln>
        </p:spPr>
      </p:sp>
      <p:sp>
        <p:nvSpPr>
          <p:cNvPr id="17" name="Text 15"/>
          <p:cNvSpPr/>
          <p:nvPr/>
        </p:nvSpPr>
        <p:spPr>
          <a:xfrm>
            <a:off x="5166360" y="3493008"/>
            <a:ext cx="822960" cy="493776"/>
          </a:xfrm>
          <a:prstGeom prst="rect">
            <a:avLst/>
          </a:prstGeom>
          <a:noFill/>
          <a:ln/>
        </p:spPr>
        <p:txBody>
          <a:bodyPr wrap="square" lIns="0" tIns="0" rIns="0" bIns="0" rtlCol="0" anchor="ctr"/>
          <a:lstStyle/>
          <a:p>
            <a:pPr algn="ctr" indent="0" marL="0">
              <a:buNone/>
            </a:pPr>
            <a:r>
              <a:rPr lang="en-US" sz="2200" b="1" dirty="0">
                <a:solidFill>
                  <a:srgbClr val="1D4F91"/>
                </a:solidFill>
                <a:latin typeface="BIZ UDPGothic" pitchFamily="34" charset="0"/>
                <a:ea typeface="BIZ UDPGothic" pitchFamily="34" charset="-122"/>
                <a:cs typeface="BIZ UDPGothic" pitchFamily="34" charset="-120"/>
              </a:rPr>
              <a:t>80%</a:t>
            </a:r>
            <a:endParaRPr lang="en-US" sz="2200" dirty="0"/>
          </a:p>
        </p:txBody>
      </p:sp>
      <p:sp>
        <p:nvSpPr>
          <p:cNvPr id="18" name="Text 16"/>
          <p:cNvSpPr/>
          <p:nvPr/>
        </p:nvSpPr>
        <p:spPr>
          <a:xfrm>
            <a:off x="6053328" y="3493008"/>
            <a:ext cx="2468880" cy="493776"/>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公立高校への</a:t>
            </a:r>
            <a:endParaRPr lang="en-US" sz="1200" dirty="0"/>
          </a:p>
          <a:p>
            <a:pPr indent="0" marL="0">
              <a:buNone/>
            </a:pPr>
            <a:r>
              <a:rPr lang="en-US" sz="1200" b="1" dirty="0">
                <a:solidFill>
                  <a:srgbClr val="1D4F91"/>
                </a:solidFill>
                <a:latin typeface="BIZ UDPGothic" pitchFamily="34" charset="0"/>
                <a:ea typeface="BIZ UDPGothic" pitchFamily="34" charset="-122"/>
                <a:cs typeface="BIZ UDPGothic" pitchFamily="34" charset="-120"/>
              </a:rPr>
              <a:t>傾斜配分</a:t>
            </a:r>
            <a:endParaRPr lang="en-US" sz="1200" dirty="0"/>
          </a:p>
        </p:txBody>
      </p:sp>
      <p:sp>
        <p:nvSpPr>
          <p:cNvPr id="19" name="Text 17"/>
          <p:cNvSpPr/>
          <p:nvPr/>
        </p:nvSpPr>
        <p:spPr>
          <a:xfrm>
            <a:off x="5166360" y="4023360"/>
            <a:ext cx="3383280" cy="87782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過疎地に厚く・都市部に薄く</a:t>
            </a:r>
            <a:endParaRPr lang="en-US" sz="1000" dirty="0"/>
          </a:p>
          <a:p>
            <a:pPr indent="0" marL="0">
              <a:buNone/>
            </a:pPr>
            <a:r>
              <a:rPr lang="en-US" sz="1000" dirty="0">
                <a:solidFill>
                  <a:srgbClr val="2B2F36"/>
                </a:solidFill>
                <a:latin typeface="Arial" pitchFamily="34" charset="0"/>
                <a:ea typeface="BIZ UDPGothic" pitchFamily="34" charset="-122"/>
                <a:cs typeface="BIZ UDPGothic" pitchFamily="34" charset="-120"/>
              </a:rPr>
              <a:t>学校運営が権限を持ち自律的に執行</a:t>
            </a:r>
            <a:endParaRPr lang="en-US" sz="1000" dirty="0"/>
          </a:p>
          <a:p>
            <a:pPr indent="0" marL="0">
              <a:buNone/>
            </a:pPr>
            <a:r>
              <a:rPr lang="en-US" sz="1000" dirty="0">
                <a:solidFill>
                  <a:srgbClr val="2B2F36"/>
                </a:solidFill>
                <a:latin typeface="Arial" pitchFamily="34" charset="0"/>
                <a:ea typeface="BIZ UDPGothic" pitchFamily="34" charset="-122"/>
                <a:cs typeface="BIZ UDPGothic" pitchFamily="34" charset="-120"/>
              </a:rPr>
              <a:t>都道府県は使途に介入しない</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02 — DISTRIBUTION</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傾斜配分と施設整備：学校の特色に投資する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4114800" cy="1572768"/>
          </a:xfrm>
          <a:prstGeom prst="roundRect">
            <a:avLst>
              <a:gd name="adj" fmla="val 4651"/>
            </a:avLst>
          </a:prstGeom>
          <a:solidFill>
            <a:srgbClr val="FCEBEB"/>
          </a:solidFill>
          <a:ln w="12700">
            <a:solidFill>
              <a:srgbClr val="DDE0E6"/>
            </a:solidFill>
            <a:prstDash val="solid"/>
          </a:ln>
        </p:spPr>
      </p:sp>
      <p:sp>
        <p:nvSpPr>
          <p:cNvPr id="6" name="Text 4"/>
          <p:cNvSpPr/>
          <p:nvPr/>
        </p:nvSpPr>
        <p:spPr>
          <a:xfrm>
            <a:off x="594360" y="1499616"/>
            <a:ext cx="3840480" cy="347472"/>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都市部の公立高校</a:t>
            </a:r>
            <a:endParaRPr lang="en-US" sz="1300" dirty="0"/>
          </a:p>
        </p:txBody>
      </p:sp>
      <p:sp>
        <p:nvSpPr>
          <p:cNvPr id="7" name="Text 5"/>
          <p:cNvSpPr/>
          <p:nvPr/>
        </p:nvSpPr>
        <p:spPr>
          <a:xfrm>
            <a:off x="594360" y="1901952"/>
            <a:ext cx="3840480" cy="237744"/>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1校あたり年間</a:t>
            </a:r>
            <a:endParaRPr lang="en-US" sz="1000" dirty="0"/>
          </a:p>
        </p:txBody>
      </p:sp>
      <p:sp>
        <p:nvSpPr>
          <p:cNvPr id="8" name="Text 6"/>
          <p:cNvSpPr/>
          <p:nvPr/>
        </p:nvSpPr>
        <p:spPr>
          <a:xfrm>
            <a:off x="594360" y="2121408"/>
            <a:ext cx="3840480" cy="493776"/>
          </a:xfrm>
          <a:prstGeom prst="rect">
            <a:avLst/>
          </a:prstGeom>
          <a:noFill/>
          <a:ln/>
        </p:spPr>
        <p:txBody>
          <a:bodyPr wrap="square" lIns="0" tIns="0" rIns="0" bIns="0" rtlCol="0" anchor="ctr"/>
          <a:lstStyle/>
          <a:p>
            <a:pPr indent="0" marL="0">
              <a:buNone/>
            </a:pPr>
            <a:r>
              <a:rPr lang="en-US" sz="2200" b="1" dirty="0">
                <a:solidFill>
                  <a:srgbClr val="C8161D"/>
                </a:solidFill>
                <a:latin typeface="BIZ UDPGothic" pitchFamily="34" charset="0"/>
                <a:ea typeface="BIZ UDPGothic" pitchFamily="34" charset="-122"/>
                <a:cs typeface="BIZ UDPGothic" pitchFamily="34" charset="-120"/>
              </a:rPr>
              <a:t>1億〜1.5億円</a:t>
            </a:r>
            <a:endParaRPr lang="en-US" sz="2200" dirty="0"/>
          </a:p>
        </p:txBody>
      </p:sp>
      <p:sp>
        <p:nvSpPr>
          <p:cNvPr id="9" name="Shape 7"/>
          <p:cNvSpPr/>
          <p:nvPr/>
        </p:nvSpPr>
        <p:spPr>
          <a:xfrm>
            <a:off x="4892040" y="1389888"/>
            <a:ext cx="4114800" cy="1572768"/>
          </a:xfrm>
          <a:prstGeom prst="roundRect">
            <a:avLst>
              <a:gd name="adj" fmla="val 4651"/>
            </a:avLst>
          </a:prstGeom>
          <a:solidFill>
            <a:srgbClr val="E9EFF8"/>
          </a:solidFill>
          <a:ln w="12700">
            <a:solidFill>
              <a:srgbClr val="DDE0E6"/>
            </a:solidFill>
            <a:prstDash val="solid"/>
          </a:ln>
        </p:spPr>
      </p:sp>
      <p:sp>
        <p:nvSpPr>
          <p:cNvPr id="10" name="Text 8"/>
          <p:cNvSpPr/>
          <p:nvPr/>
        </p:nvSpPr>
        <p:spPr>
          <a:xfrm>
            <a:off x="5029200" y="1499616"/>
            <a:ext cx="3840480" cy="347472"/>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過疎地の公立高校</a:t>
            </a:r>
            <a:endParaRPr lang="en-US" sz="1300" dirty="0"/>
          </a:p>
        </p:txBody>
      </p:sp>
      <p:sp>
        <p:nvSpPr>
          <p:cNvPr id="11" name="Text 9"/>
          <p:cNvSpPr/>
          <p:nvPr/>
        </p:nvSpPr>
        <p:spPr>
          <a:xfrm>
            <a:off x="5029200" y="1901952"/>
            <a:ext cx="3840480" cy="237744"/>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1校あたり年間</a:t>
            </a:r>
            <a:endParaRPr lang="en-US" sz="1000" dirty="0"/>
          </a:p>
        </p:txBody>
      </p:sp>
      <p:sp>
        <p:nvSpPr>
          <p:cNvPr id="12" name="Text 10"/>
          <p:cNvSpPr/>
          <p:nvPr/>
        </p:nvSpPr>
        <p:spPr>
          <a:xfrm>
            <a:off x="5029200" y="2121408"/>
            <a:ext cx="3840480" cy="493776"/>
          </a:xfrm>
          <a:prstGeom prst="rect">
            <a:avLst/>
          </a:prstGeom>
          <a:noFill/>
          <a:ln/>
        </p:spPr>
        <p:txBody>
          <a:bodyPr wrap="square" lIns="0" tIns="0" rIns="0" bIns="0" rtlCol="0" anchor="ctr"/>
          <a:lstStyle/>
          <a:p>
            <a:pPr indent="0" marL="0">
              <a:buNone/>
            </a:pPr>
            <a:r>
              <a:rPr lang="en-US" sz="2200" b="1" dirty="0">
                <a:solidFill>
                  <a:srgbClr val="1D4F91"/>
                </a:solidFill>
                <a:latin typeface="BIZ UDPGothic" pitchFamily="34" charset="0"/>
                <a:ea typeface="BIZ UDPGothic" pitchFamily="34" charset="-122"/>
                <a:cs typeface="BIZ UDPGothic" pitchFamily="34" charset="-120"/>
              </a:rPr>
              <a:t>3億〜4億円</a:t>
            </a:r>
            <a:endParaRPr lang="en-US" sz="2200" dirty="0"/>
          </a:p>
        </p:txBody>
      </p:sp>
      <p:sp>
        <p:nvSpPr>
          <p:cNvPr id="13" name="Text 11"/>
          <p:cNvSpPr/>
          <p:nvPr/>
        </p:nvSpPr>
        <p:spPr>
          <a:xfrm>
            <a:off x="4169664" y="2011680"/>
            <a:ext cx="713232" cy="548640"/>
          </a:xfrm>
          <a:prstGeom prst="rect">
            <a:avLst/>
          </a:prstGeom>
          <a:noFill/>
          <a:ln/>
        </p:spPr>
        <p:txBody>
          <a:bodyPr wrap="square" lIns="0" tIns="0" rIns="0" bIns="0" rtlCol="0" anchor="ctr"/>
          <a:lstStyle/>
          <a:p>
            <a:pPr algn="ctr" indent="0" marL="0">
              <a:buNone/>
            </a:pPr>
            <a:r>
              <a:rPr lang="en-US" sz="3200" dirty="0">
                <a:solidFill>
                  <a:srgbClr val="C8161D"/>
                </a:solidFill>
                <a:latin typeface="Arial" pitchFamily="34" charset="0"/>
                <a:ea typeface="BIZ UDPGothic" pitchFamily="34" charset="-122"/>
                <a:cs typeface="BIZ UDPGothic" pitchFamily="34" charset="-120"/>
              </a:rPr>
              <a:t>→</a:t>
            </a:r>
            <a:endParaRPr lang="en-US" sz="3200" dirty="0"/>
          </a:p>
        </p:txBody>
      </p:sp>
      <p:sp>
        <p:nvSpPr>
          <p:cNvPr id="14" name="Text 12"/>
          <p:cNvSpPr/>
          <p:nvPr/>
        </p:nvSpPr>
        <p:spPr>
          <a:xfrm>
            <a:off x="457200" y="3090672"/>
            <a:ext cx="822960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施設整備（箱物）の考え方</a:t>
            </a:r>
            <a:endParaRPr lang="en-US" sz="1300" dirty="0"/>
          </a:p>
        </p:txBody>
      </p:sp>
      <p:sp>
        <p:nvSpPr>
          <p:cNvPr id="15" name="Shape 13"/>
          <p:cNvSpPr/>
          <p:nvPr/>
        </p:nvSpPr>
        <p:spPr>
          <a:xfrm>
            <a:off x="457200" y="3493008"/>
            <a:ext cx="8229600" cy="420624"/>
          </a:xfrm>
          <a:prstGeom prst="roundRect">
            <a:avLst>
              <a:gd name="adj" fmla="val 17391"/>
            </a:avLst>
          </a:prstGeom>
          <a:solidFill>
            <a:srgbClr val="E9EFF8"/>
          </a:solidFill>
          <a:ln w="12700">
            <a:solidFill>
              <a:srgbClr val="DDE0E6"/>
            </a:solidFill>
            <a:prstDash val="solid"/>
          </a:ln>
        </p:spPr>
      </p:sp>
      <p:sp>
        <p:nvSpPr>
          <p:cNvPr id="16" name="Text 14"/>
          <p:cNvSpPr/>
          <p:nvPr/>
        </p:nvSpPr>
        <p:spPr>
          <a:xfrm>
            <a:off x="594360" y="3566160"/>
            <a:ext cx="457200" cy="274320"/>
          </a:xfrm>
          <a:prstGeom prst="rect">
            <a:avLst/>
          </a:prstGeom>
          <a:noFill/>
          <a:ln/>
        </p:spPr>
        <p:txBody>
          <a:bodyPr wrap="square" lIns="0" tIns="0" rIns="0" bIns="0" rtlCol="0" anchor="ctr"/>
          <a:lstStyle/>
          <a:p>
            <a:pPr algn="ctr" indent="0" marL="0">
              <a:buNone/>
            </a:pPr>
            <a:r>
              <a:rPr lang="en-US" sz="1400" dirty="0">
                <a:solidFill>
                  <a:srgbClr val="1D4F91"/>
                </a:solidFill>
                <a:latin typeface="Arial" pitchFamily="34" charset="0"/>
                <a:ea typeface="BIZ UDPGothic" pitchFamily="34" charset="-122"/>
                <a:cs typeface="BIZ UDPGothic" pitchFamily="34" charset="-120"/>
              </a:rPr>
              <a:t>✅</a:t>
            </a:r>
            <a:endParaRPr lang="en-US" sz="1400" dirty="0"/>
          </a:p>
        </p:txBody>
      </p:sp>
      <p:sp>
        <p:nvSpPr>
          <p:cNvPr id="17" name="Text 15"/>
          <p:cNvSpPr/>
          <p:nvPr/>
        </p:nvSpPr>
        <p:spPr>
          <a:xfrm>
            <a:off x="1115568" y="3547872"/>
            <a:ext cx="740664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スポーツ特化校がグラウンド・体育館を整備する → 学校の特色に連動した正当な教育投資として認める</a:t>
            </a:r>
            <a:endParaRPr lang="en-US" sz="1100" dirty="0"/>
          </a:p>
        </p:txBody>
      </p:sp>
      <p:sp>
        <p:nvSpPr>
          <p:cNvPr id="18" name="Shape 16"/>
          <p:cNvSpPr/>
          <p:nvPr/>
        </p:nvSpPr>
        <p:spPr>
          <a:xfrm>
            <a:off x="457200" y="3986784"/>
            <a:ext cx="8229600" cy="420624"/>
          </a:xfrm>
          <a:prstGeom prst="roundRect">
            <a:avLst>
              <a:gd name="adj" fmla="val 17391"/>
            </a:avLst>
          </a:prstGeom>
          <a:solidFill>
            <a:srgbClr val="E9EFF8"/>
          </a:solidFill>
          <a:ln w="12700">
            <a:solidFill>
              <a:srgbClr val="DDE0E6"/>
            </a:solidFill>
            <a:prstDash val="solid"/>
          </a:ln>
        </p:spPr>
      </p:sp>
      <p:sp>
        <p:nvSpPr>
          <p:cNvPr id="19" name="Text 17"/>
          <p:cNvSpPr/>
          <p:nvPr/>
        </p:nvSpPr>
        <p:spPr>
          <a:xfrm>
            <a:off x="594360" y="4059936"/>
            <a:ext cx="457200" cy="274320"/>
          </a:xfrm>
          <a:prstGeom prst="rect">
            <a:avLst/>
          </a:prstGeom>
          <a:noFill/>
          <a:ln/>
        </p:spPr>
        <p:txBody>
          <a:bodyPr wrap="square" lIns="0" tIns="0" rIns="0" bIns="0" rtlCol="0" anchor="ctr"/>
          <a:lstStyle/>
          <a:p>
            <a:pPr algn="ctr" indent="0" marL="0">
              <a:buNone/>
            </a:pPr>
            <a:r>
              <a:rPr lang="en-US" sz="1400" dirty="0">
                <a:solidFill>
                  <a:srgbClr val="1D4F91"/>
                </a:solidFill>
                <a:latin typeface="Arial" pitchFamily="34" charset="0"/>
                <a:ea typeface="BIZ UDPGothic" pitchFamily="34" charset="-122"/>
                <a:cs typeface="BIZ UDPGothic" pitchFamily="34" charset="-120"/>
              </a:rPr>
              <a:t>✅</a:t>
            </a:r>
            <a:endParaRPr lang="en-US" sz="1400" dirty="0"/>
          </a:p>
        </p:txBody>
      </p:sp>
      <p:sp>
        <p:nvSpPr>
          <p:cNvPr id="20" name="Text 18"/>
          <p:cNvSpPr/>
          <p:nvPr/>
        </p:nvSpPr>
        <p:spPr>
          <a:xfrm>
            <a:off x="1115568" y="4041648"/>
            <a:ext cx="740664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きれいな校舎・充実した備品が「この学校に行きたい」という差別化につながる → 認める</a:t>
            </a:r>
            <a:endParaRPr lang="en-US" sz="1100" dirty="0"/>
          </a:p>
        </p:txBody>
      </p:sp>
      <p:sp>
        <p:nvSpPr>
          <p:cNvPr id="21" name="Shape 19"/>
          <p:cNvSpPr/>
          <p:nvPr/>
        </p:nvSpPr>
        <p:spPr>
          <a:xfrm>
            <a:off x="457200" y="4480560"/>
            <a:ext cx="8229600" cy="420624"/>
          </a:xfrm>
          <a:prstGeom prst="roundRect">
            <a:avLst>
              <a:gd name="adj" fmla="val 17391"/>
            </a:avLst>
          </a:prstGeom>
          <a:solidFill>
            <a:srgbClr val="E9EFF8"/>
          </a:solidFill>
          <a:ln w="12700">
            <a:solidFill>
              <a:srgbClr val="DDE0E6"/>
            </a:solidFill>
            <a:prstDash val="solid"/>
          </a:ln>
        </p:spPr>
      </p:sp>
      <p:sp>
        <p:nvSpPr>
          <p:cNvPr id="22" name="Text 20"/>
          <p:cNvSpPr/>
          <p:nvPr/>
        </p:nvSpPr>
        <p:spPr>
          <a:xfrm>
            <a:off x="594360" y="4553712"/>
            <a:ext cx="457200" cy="274320"/>
          </a:xfrm>
          <a:prstGeom prst="rect">
            <a:avLst/>
          </a:prstGeom>
          <a:noFill/>
          <a:ln/>
        </p:spPr>
        <p:txBody>
          <a:bodyPr wrap="square" lIns="0" tIns="0" rIns="0" bIns="0" rtlCol="0" anchor="ctr"/>
          <a:lstStyle/>
          <a:p>
            <a:pPr algn="ctr" indent="0" marL="0">
              <a:buNone/>
            </a:pPr>
            <a:r>
              <a:rPr lang="en-US" sz="1400" dirty="0">
                <a:solidFill>
                  <a:srgbClr val="1D4F91"/>
                </a:solidFill>
                <a:latin typeface="Arial" pitchFamily="34" charset="0"/>
                <a:ea typeface="BIZ UDPGothic" pitchFamily="34" charset="-122"/>
                <a:cs typeface="BIZ UDPGothic" pitchFamily="34" charset="-120"/>
              </a:rPr>
              <a:t>✅</a:t>
            </a:r>
            <a:endParaRPr lang="en-US" sz="1400" dirty="0"/>
          </a:p>
        </p:txBody>
      </p:sp>
      <p:sp>
        <p:nvSpPr>
          <p:cNvPr id="23" name="Text 21"/>
          <p:cNvSpPr/>
          <p:nvPr/>
        </p:nvSpPr>
        <p:spPr>
          <a:xfrm>
            <a:off x="1115568" y="4535424"/>
            <a:ext cx="740664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地域産業連動の実習設備・最新デジタル機器 → 認める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02 — GOVERNANCE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意味のない重複投資は2段階で自動排除する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箱物投資を一律禁止はしない。ただし地域の既存インフラと重複する無意味な投資は許さない。</a:t>
            </a:r>
            <a:endParaRPr lang="en-US" sz="1100" dirty="0"/>
          </a:p>
        </p:txBody>
      </p:sp>
      <p:sp>
        <p:nvSpPr>
          <p:cNvPr id="6" name="Shape 4"/>
          <p:cNvSpPr/>
          <p:nvPr/>
        </p:nvSpPr>
        <p:spPr>
          <a:xfrm>
            <a:off x="457200" y="1755648"/>
            <a:ext cx="8229600" cy="1133856"/>
          </a:xfrm>
          <a:prstGeom prst="roundRect">
            <a:avLst>
              <a:gd name="adj" fmla="val 6452"/>
            </a:avLst>
          </a:prstGeom>
          <a:solidFill>
            <a:srgbClr val="FFFFFF"/>
          </a:solidFill>
          <a:ln w="12700">
            <a:solidFill>
              <a:srgbClr val="DDE0E6"/>
            </a:solidFill>
            <a:prstDash val="solid"/>
          </a:ln>
        </p:spPr>
      </p:sp>
      <p:sp>
        <p:nvSpPr>
          <p:cNvPr id="7" name="Shape 5"/>
          <p:cNvSpPr/>
          <p:nvPr/>
        </p:nvSpPr>
        <p:spPr>
          <a:xfrm>
            <a:off x="594360" y="2048256"/>
            <a:ext cx="1280160"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2048256"/>
            <a:ext cx="128016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STEP 1</a:t>
            </a:r>
            <a:endParaRPr lang="en-US" sz="1200" dirty="0"/>
          </a:p>
        </p:txBody>
      </p:sp>
      <p:sp>
        <p:nvSpPr>
          <p:cNvPr id="9" name="Text 7"/>
          <p:cNvSpPr/>
          <p:nvPr/>
        </p:nvSpPr>
        <p:spPr>
          <a:xfrm>
            <a:off x="2029968" y="1847088"/>
            <a:ext cx="649224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システムによる自動照合</a:t>
            </a:r>
            <a:endParaRPr lang="en-US" sz="1400" dirty="0"/>
          </a:p>
        </p:txBody>
      </p:sp>
      <p:sp>
        <p:nvSpPr>
          <p:cNvPr id="10" name="Shape 8"/>
          <p:cNvSpPr/>
          <p:nvPr/>
        </p:nvSpPr>
        <p:spPr>
          <a:xfrm>
            <a:off x="2029968" y="2231136"/>
            <a:ext cx="6492240" cy="10973"/>
          </a:xfrm>
          <a:prstGeom prst="rect">
            <a:avLst/>
          </a:prstGeom>
          <a:solidFill>
            <a:srgbClr val="DDE0E6"/>
          </a:solidFill>
          <a:ln w="12700">
            <a:solidFill>
              <a:srgbClr val="DDE0E6"/>
            </a:solidFill>
            <a:prstDash val="solid"/>
          </a:ln>
        </p:spPr>
      </p:sp>
      <p:sp>
        <p:nvSpPr>
          <p:cNvPr id="11" name="Text 9"/>
          <p:cNvSpPr/>
          <p:nvPr/>
        </p:nvSpPr>
        <p:spPr>
          <a:xfrm>
            <a:off x="2029968" y="2304288"/>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地域の既存施設データベースと照合し、重複投資を自動的に弾く。人の判断を介さないため恣意的な運用が不可能。</a:t>
            </a:r>
            <a:endParaRPr lang="en-US" sz="1100" dirty="0"/>
          </a:p>
        </p:txBody>
      </p:sp>
      <p:sp>
        <p:nvSpPr>
          <p:cNvPr id="12" name="Text 10"/>
          <p:cNvSpPr/>
          <p:nvPr/>
        </p:nvSpPr>
        <p:spPr>
          <a:xfrm>
            <a:off x="4114800" y="2907792"/>
            <a:ext cx="914400" cy="164592"/>
          </a:xfrm>
          <a:prstGeom prst="rect">
            <a:avLst/>
          </a:prstGeom>
          <a:noFill/>
          <a:ln/>
        </p:spPr>
        <p:txBody>
          <a:bodyPr wrap="square" lIns="0" tIns="0" rIns="0" bIns="0" rtlCol="0" anchor="ctr"/>
          <a:lstStyle/>
          <a:p>
            <a:pPr algn="ctr" indent="0" marL="0">
              <a:buNone/>
            </a:pPr>
            <a:r>
              <a:rPr lang="en-US" sz="1600" dirty="0">
                <a:solidFill>
                  <a:srgbClr val="C8161D"/>
                </a:solidFill>
                <a:latin typeface="Arial" pitchFamily="34" charset="0"/>
                <a:ea typeface="BIZ UDPGothic" pitchFamily="34" charset="-122"/>
                <a:cs typeface="BIZ UDPGothic" pitchFamily="34" charset="-120"/>
              </a:rPr>
              <a:t>↓</a:t>
            </a:r>
            <a:endParaRPr lang="en-US" sz="1600" dirty="0"/>
          </a:p>
        </p:txBody>
      </p:sp>
      <p:sp>
        <p:nvSpPr>
          <p:cNvPr id="13" name="Shape 11"/>
          <p:cNvSpPr/>
          <p:nvPr/>
        </p:nvSpPr>
        <p:spPr>
          <a:xfrm>
            <a:off x="457200" y="3054096"/>
            <a:ext cx="8229600" cy="1133856"/>
          </a:xfrm>
          <a:prstGeom prst="roundRect">
            <a:avLst>
              <a:gd name="adj" fmla="val 6452"/>
            </a:avLst>
          </a:prstGeom>
          <a:solidFill>
            <a:srgbClr val="FFFFFF"/>
          </a:solidFill>
          <a:ln w="12700">
            <a:solidFill>
              <a:srgbClr val="DDE0E6"/>
            </a:solidFill>
            <a:prstDash val="solid"/>
          </a:ln>
        </p:spPr>
      </p:sp>
      <p:sp>
        <p:nvSpPr>
          <p:cNvPr id="14" name="Shape 12"/>
          <p:cNvSpPr/>
          <p:nvPr/>
        </p:nvSpPr>
        <p:spPr>
          <a:xfrm>
            <a:off x="594360" y="3346704"/>
            <a:ext cx="1280160" cy="475488"/>
          </a:xfrm>
          <a:prstGeom prst="roundRect">
            <a:avLst>
              <a:gd name="adj" fmla="val 11538"/>
            </a:avLst>
          </a:prstGeom>
          <a:solidFill>
            <a:srgbClr val="C8161D"/>
          </a:solidFill>
          <a:ln w="12700">
            <a:solidFill>
              <a:srgbClr val="C8161D"/>
            </a:solidFill>
            <a:prstDash val="solid"/>
          </a:ln>
        </p:spPr>
      </p:sp>
      <p:sp>
        <p:nvSpPr>
          <p:cNvPr id="15" name="Text 13"/>
          <p:cNvSpPr/>
          <p:nvPr/>
        </p:nvSpPr>
        <p:spPr>
          <a:xfrm>
            <a:off x="594360" y="3346704"/>
            <a:ext cx="128016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STEP 2</a:t>
            </a:r>
            <a:endParaRPr lang="en-US" sz="1200" dirty="0"/>
          </a:p>
        </p:txBody>
      </p:sp>
      <p:sp>
        <p:nvSpPr>
          <p:cNvPr id="16" name="Text 14"/>
          <p:cNvSpPr/>
          <p:nvPr/>
        </p:nvSpPr>
        <p:spPr>
          <a:xfrm>
            <a:off x="2029968" y="3145536"/>
            <a:ext cx="649224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住民投票による最終承認</a:t>
            </a:r>
            <a:endParaRPr lang="en-US" sz="1400" dirty="0"/>
          </a:p>
        </p:txBody>
      </p:sp>
      <p:sp>
        <p:nvSpPr>
          <p:cNvPr id="17" name="Shape 15"/>
          <p:cNvSpPr/>
          <p:nvPr/>
        </p:nvSpPr>
        <p:spPr>
          <a:xfrm>
            <a:off x="2029968" y="3529584"/>
            <a:ext cx="6492240" cy="10973"/>
          </a:xfrm>
          <a:prstGeom prst="rect">
            <a:avLst/>
          </a:prstGeom>
          <a:solidFill>
            <a:srgbClr val="DDE0E6"/>
          </a:solidFill>
          <a:ln w="12700">
            <a:solidFill>
              <a:srgbClr val="DDE0E6"/>
            </a:solidFill>
            <a:prstDash val="solid"/>
          </a:ln>
        </p:spPr>
      </p:sp>
      <p:sp>
        <p:nvSpPr>
          <p:cNvPr id="18" name="Text 16"/>
          <p:cNvSpPr/>
          <p:nvPr/>
        </p:nvSpPr>
        <p:spPr>
          <a:xfrm>
            <a:off x="2029968" y="3602736"/>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自動照合を通過した投資案件を住民投票にかける。20%予算の住民投票と同じ仕組みで承認・否決を行う。</a:t>
            </a:r>
            <a:endParaRPr lang="en-US" sz="1100" dirty="0"/>
          </a:p>
        </p:txBody>
      </p:sp>
      <p:sp>
        <p:nvSpPr>
          <p:cNvPr id="19" name="Shape 17"/>
          <p:cNvSpPr/>
          <p:nvPr/>
        </p:nvSpPr>
        <p:spPr>
          <a:xfrm>
            <a:off x="457200" y="4425696"/>
            <a:ext cx="8229600" cy="658368"/>
          </a:xfrm>
          <a:prstGeom prst="roundRect">
            <a:avLst>
              <a:gd name="adj" fmla="val 11111"/>
            </a:avLst>
          </a:prstGeom>
          <a:solidFill>
            <a:srgbClr val="FCEBEB"/>
          </a:solidFill>
          <a:ln w="12700">
            <a:solidFill>
              <a:srgbClr val="DDE0E6"/>
            </a:solidFill>
            <a:prstDash val="solid"/>
          </a:ln>
        </p:spPr>
      </p:sp>
      <p:sp>
        <p:nvSpPr>
          <p:cNvPr id="20" name="Text 18"/>
          <p:cNvSpPr/>
          <p:nvPr/>
        </p:nvSpPr>
        <p:spPr>
          <a:xfrm>
            <a:off x="594360" y="4498848"/>
            <a:ext cx="1463040" cy="493776"/>
          </a:xfrm>
          <a:prstGeom prst="rect">
            <a:avLst/>
          </a:prstGeom>
          <a:noFill/>
          <a:ln/>
        </p:spPr>
        <p:txBody>
          <a:bodyPr wrap="square" lIns="0" tIns="0" rIns="0" bIns="0" rtlCol="0" anchor="ctr"/>
          <a:lstStyle/>
          <a:p>
            <a:pPr indent="0" marL="0">
              <a:buNone/>
            </a:pPr>
            <a:r>
              <a:rPr lang="en-US" sz="1100" b="1" dirty="0">
                <a:solidFill>
                  <a:srgbClr val="C8161D"/>
                </a:solidFill>
                <a:latin typeface="BIZ UDPGothic" pitchFamily="34" charset="0"/>
                <a:ea typeface="BIZ UDPGothic" pitchFamily="34" charset="-122"/>
                <a:cs typeface="BIZ UDPGothic" pitchFamily="34" charset="-120"/>
              </a:rPr>
              <a:t>禁止の例：</a:t>
            </a:r>
            <a:endParaRPr lang="en-US" sz="1100" dirty="0"/>
          </a:p>
        </p:txBody>
      </p:sp>
      <p:sp>
        <p:nvSpPr>
          <p:cNvPr id="21" name="Text 19"/>
          <p:cNvSpPr/>
          <p:nvPr/>
        </p:nvSpPr>
        <p:spPr>
          <a:xfrm>
            <a:off x="2103120" y="4498848"/>
            <a:ext cx="6446520" cy="49377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近隣に大型陸上競技場があり平時に高校が利用可能な地域への新設陸上トラック → 自動照合で弾く</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02 — VOTING</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住民投票で使途を確定：年齢別加重投票を先行実験する</a:t>
            </a:r>
            <a:endParaRPr lang="en-US" sz="22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20%のインフラ・企業誘致予算の使途は四半期ごとの住民投票で確定する。通常の選挙では実現できない設計を先行実験する場でもある。</a:t>
            </a:r>
            <a:endParaRPr lang="en-US" sz="1100" dirty="0"/>
          </a:p>
        </p:txBody>
      </p:sp>
      <p:sp>
        <p:nvSpPr>
          <p:cNvPr id="6" name="Shape 4"/>
          <p:cNvSpPr/>
          <p:nvPr/>
        </p:nvSpPr>
        <p:spPr>
          <a:xfrm>
            <a:off x="457200" y="1865376"/>
            <a:ext cx="8229600" cy="493776"/>
          </a:xfrm>
          <a:prstGeom prst="roundRect">
            <a:avLst>
              <a:gd name="adj" fmla="val 14815"/>
            </a:avLst>
          </a:prstGeom>
          <a:solidFill>
            <a:srgbClr val="E9EFF8"/>
          </a:solidFill>
          <a:ln w="12700">
            <a:solidFill>
              <a:srgbClr val="DDE0E6"/>
            </a:solidFill>
            <a:prstDash val="solid"/>
          </a:ln>
        </p:spPr>
      </p:sp>
      <p:sp>
        <p:nvSpPr>
          <p:cNvPr id="7" name="Text 5"/>
          <p:cNvSpPr/>
          <p:nvPr/>
        </p:nvSpPr>
        <p:spPr>
          <a:xfrm>
            <a:off x="594360" y="1938528"/>
            <a:ext cx="274320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中学生・高校生</a:t>
            </a:r>
            <a:endParaRPr lang="en-US" sz="1200" dirty="0"/>
          </a:p>
        </p:txBody>
      </p:sp>
      <p:sp>
        <p:nvSpPr>
          <p:cNvPr id="8" name="Text 6"/>
          <p:cNvSpPr/>
          <p:nvPr/>
        </p:nvSpPr>
        <p:spPr>
          <a:xfrm>
            <a:off x="3401568" y="1938528"/>
            <a:ext cx="1097280" cy="347472"/>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3票</a:t>
            </a:r>
            <a:endParaRPr lang="en-US" sz="1400" dirty="0"/>
          </a:p>
        </p:txBody>
      </p:sp>
      <p:sp>
        <p:nvSpPr>
          <p:cNvPr id="9" name="Text 7"/>
          <p:cNvSpPr/>
          <p:nvPr/>
        </p:nvSpPr>
        <p:spPr>
          <a:xfrm>
            <a:off x="4572000" y="1938528"/>
            <a:ext cx="39776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教育予算の最大の当事者</a:t>
            </a:r>
            <a:endParaRPr lang="en-US" sz="1100" dirty="0"/>
          </a:p>
        </p:txBody>
      </p:sp>
      <p:sp>
        <p:nvSpPr>
          <p:cNvPr id="10" name="Shape 8"/>
          <p:cNvSpPr/>
          <p:nvPr/>
        </p:nvSpPr>
        <p:spPr>
          <a:xfrm>
            <a:off x="457200" y="2432304"/>
            <a:ext cx="8229600" cy="493776"/>
          </a:xfrm>
          <a:prstGeom prst="roundRect">
            <a:avLst>
              <a:gd name="adj" fmla="val 14815"/>
            </a:avLst>
          </a:prstGeom>
          <a:solidFill>
            <a:srgbClr val="E9EFF8"/>
          </a:solidFill>
          <a:ln w="12700">
            <a:solidFill>
              <a:srgbClr val="DDE0E6"/>
            </a:solidFill>
            <a:prstDash val="solid"/>
          </a:ln>
        </p:spPr>
      </p:sp>
      <p:sp>
        <p:nvSpPr>
          <p:cNvPr id="11" name="Text 9"/>
          <p:cNvSpPr/>
          <p:nvPr/>
        </p:nvSpPr>
        <p:spPr>
          <a:xfrm>
            <a:off x="594360" y="2505456"/>
            <a:ext cx="274320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10〜20代</a:t>
            </a:r>
            <a:endParaRPr lang="en-US" sz="1200" dirty="0"/>
          </a:p>
        </p:txBody>
      </p:sp>
      <p:sp>
        <p:nvSpPr>
          <p:cNvPr id="12" name="Text 10"/>
          <p:cNvSpPr/>
          <p:nvPr/>
        </p:nvSpPr>
        <p:spPr>
          <a:xfrm>
            <a:off x="3401568" y="2505456"/>
            <a:ext cx="1097280" cy="347472"/>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3票</a:t>
            </a:r>
            <a:endParaRPr lang="en-US" sz="1400" dirty="0"/>
          </a:p>
        </p:txBody>
      </p:sp>
      <p:sp>
        <p:nvSpPr>
          <p:cNvPr id="13" name="Text 11"/>
          <p:cNvSpPr/>
          <p:nvPr/>
        </p:nvSpPr>
        <p:spPr>
          <a:xfrm>
            <a:off x="4572000" y="2505456"/>
            <a:ext cx="39776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恩恵を最も長く受ける世代</a:t>
            </a:r>
            <a:endParaRPr lang="en-US" sz="1100" dirty="0"/>
          </a:p>
        </p:txBody>
      </p:sp>
      <p:sp>
        <p:nvSpPr>
          <p:cNvPr id="14" name="Shape 12"/>
          <p:cNvSpPr/>
          <p:nvPr/>
        </p:nvSpPr>
        <p:spPr>
          <a:xfrm>
            <a:off x="457200" y="2999232"/>
            <a:ext cx="8229600" cy="493776"/>
          </a:xfrm>
          <a:prstGeom prst="roundRect">
            <a:avLst>
              <a:gd name="adj" fmla="val 14815"/>
            </a:avLst>
          </a:prstGeom>
          <a:solidFill>
            <a:srgbClr val="FFFFFF"/>
          </a:solidFill>
          <a:ln w="12700">
            <a:solidFill>
              <a:srgbClr val="DDE0E6"/>
            </a:solidFill>
            <a:prstDash val="solid"/>
          </a:ln>
        </p:spPr>
      </p:sp>
      <p:sp>
        <p:nvSpPr>
          <p:cNvPr id="15" name="Text 13"/>
          <p:cNvSpPr/>
          <p:nvPr/>
        </p:nvSpPr>
        <p:spPr>
          <a:xfrm>
            <a:off x="594360" y="3072384"/>
            <a:ext cx="2743200" cy="347472"/>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30〜40代</a:t>
            </a:r>
            <a:endParaRPr lang="en-US" sz="1200" dirty="0"/>
          </a:p>
        </p:txBody>
      </p:sp>
      <p:sp>
        <p:nvSpPr>
          <p:cNvPr id="16" name="Text 14"/>
          <p:cNvSpPr/>
          <p:nvPr/>
        </p:nvSpPr>
        <p:spPr>
          <a:xfrm>
            <a:off x="3401568" y="3072384"/>
            <a:ext cx="1097280" cy="347472"/>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2票</a:t>
            </a:r>
            <a:endParaRPr lang="en-US" sz="1400" dirty="0"/>
          </a:p>
        </p:txBody>
      </p:sp>
      <p:sp>
        <p:nvSpPr>
          <p:cNvPr id="17" name="Text 15"/>
          <p:cNvSpPr/>
          <p:nvPr/>
        </p:nvSpPr>
        <p:spPr>
          <a:xfrm>
            <a:off x="4572000" y="3072384"/>
            <a:ext cx="39776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子育て世代・地域の担い手</a:t>
            </a:r>
            <a:endParaRPr lang="en-US" sz="1100" dirty="0"/>
          </a:p>
        </p:txBody>
      </p:sp>
      <p:sp>
        <p:nvSpPr>
          <p:cNvPr id="18" name="Shape 16"/>
          <p:cNvSpPr/>
          <p:nvPr/>
        </p:nvSpPr>
        <p:spPr>
          <a:xfrm>
            <a:off x="457200" y="3566160"/>
            <a:ext cx="8229600" cy="493776"/>
          </a:xfrm>
          <a:prstGeom prst="roundRect">
            <a:avLst>
              <a:gd name="adj" fmla="val 14815"/>
            </a:avLst>
          </a:prstGeom>
          <a:solidFill>
            <a:srgbClr val="FFFFFF"/>
          </a:solidFill>
          <a:ln w="12700">
            <a:solidFill>
              <a:srgbClr val="DDE0E6"/>
            </a:solidFill>
            <a:prstDash val="solid"/>
          </a:ln>
        </p:spPr>
      </p:sp>
      <p:sp>
        <p:nvSpPr>
          <p:cNvPr id="19" name="Text 17"/>
          <p:cNvSpPr/>
          <p:nvPr/>
        </p:nvSpPr>
        <p:spPr>
          <a:xfrm>
            <a:off x="594360" y="3639312"/>
            <a:ext cx="2743200" cy="347472"/>
          </a:xfrm>
          <a:prstGeom prst="rect">
            <a:avLst/>
          </a:prstGeom>
          <a:noFill/>
          <a:ln/>
        </p:spPr>
        <p:txBody>
          <a:bodyPr wrap="square" lIns="0" tIns="0" rIns="0" bIns="0" rtlCol="0" anchor="ctr"/>
          <a:lstStyle/>
          <a:p>
            <a:pPr indent="0" marL="0">
              <a:buNone/>
            </a:pPr>
            <a:r>
              <a:rPr lang="en-US" sz="1200" b="1" dirty="0">
                <a:solidFill>
                  <a:srgbClr val="626875"/>
                </a:solidFill>
                <a:latin typeface="BIZ UDPGothic" pitchFamily="34" charset="0"/>
                <a:ea typeface="BIZ UDPGothic" pitchFamily="34" charset="-122"/>
                <a:cs typeface="BIZ UDPGothic" pitchFamily="34" charset="-120"/>
              </a:rPr>
              <a:t>50代以上</a:t>
            </a:r>
            <a:endParaRPr lang="en-US" sz="1200" dirty="0"/>
          </a:p>
        </p:txBody>
      </p:sp>
      <p:sp>
        <p:nvSpPr>
          <p:cNvPr id="20" name="Text 18"/>
          <p:cNvSpPr/>
          <p:nvPr/>
        </p:nvSpPr>
        <p:spPr>
          <a:xfrm>
            <a:off x="3401568" y="3639312"/>
            <a:ext cx="1097280" cy="347472"/>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1票</a:t>
            </a:r>
            <a:endParaRPr lang="en-US" sz="1400" dirty="0"/>
          </a:p>
        </p:txBody>
      </p:sp>
      <p:sp>
        <p:nvSpPr>
          <p:cNvPr id="21" name="Text 19"/>
          <p:cNvSpPr/>
          <p:nvPr/>
        </p:nvSpPr>
        <p:spPr>
          <a:xfrm>
            <a:off x="4572000" y="3639312"/>
            <a:ext cx="39776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地域の経験値を反映</a:t>
            </a:r>
            <a:endParaRPr lang="en-US" sz="1100" dirty="0"/>
          </a:p>
        </p:txBody>
      </p:sp>
      <p:sp>
        <p:nvSpPr>
          <p:cNvPr id="22" name="Shape 20"/>
          <p:cNvSpPr/>
          <p:nvPr/>
        </p:nvSpPr>
        <p:spPr>
          <a:xfrm>
            <a:off x="457200" y="4133088"/>
            <a:ext cx="8229600" cy="493776"/>
          </a:xfrm>
          <a:prstGeom prst="roundRect">
            <a:avLst>
              <a:gd name="adj" fmla="val 14815"/>
            </a:avLst>
          </a:prstGeom>
          <a:solidFill>
            <a:srgbClr val="E9EFF8"/>
          </a:solidFill>
          <a:ln w="12700">
            <a:solidFill>
              <a:srgbClr val="DDE0E6"/>
            </a:solidFill>
            <a:prstDash val="solid"/>
          </a:ln>
        </p:spPr>
      </p:sp>
      <p:sp>
        <p:nvSpPr>
          <p:cNvPr id="23" name="Text 21"/>
          <p:cNvSpPr/>
          <p:nvPr/>
        </p:nvSpPr>
        <p:spPr>
          <a:xfrm>
            <a:off x="594360" y="4206240"/>
            <a:ext cx="274320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移住世帯（年齢問わず）</a:t>
            </a:r>
            <a:endParaRPr lang="en-US" sz="1200" dirty="0"/>
          </a:p>
        </p:txBody>
      </p:sp>
      <p:sp>
        <p:nvSpPr>
          <p:cNvPr id="24" name="Text 22"/>
          <p:cNvSpPr/>
          <p:nvPr/>
        </p:nvSpPr>
        <p:spPr>
          <a:xfrm>
            <a:off x="3401568" y="4206240"/>
            <a:ext cx="1097280" cy="347472"/>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＋1票</a:t>
            </a:r>
            <a:endParaRPr lang="en-US" sz="1400" dirty="0"/>
          </a:p>
        </p:txBody>
      </p:sp>
      <p:sp>
        <p:nvSpPr>
          <p:cNvPr id="25" name="Text 23"/>
          <p:cNvSpPr/>
          <p:nvPr/>
        </p:nvSpPr>
        <p:spPr>
          <a:xfrm>
            <a:off x="4572000" y="4206240"/>
            <a:ext cx="39776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移住促進のインセンティブ（ボーナス）</a:t>
            </a:r>
            <a:endParaRPr lang="en-US" sz="1100" dirty="0"/>
          </a:p>
        </p:txBody>
      </p:sp>
      <p:sp>
        <p:nvSpPr>
          <p:cNvPr id="26" name="Shape 24"/>
          <p:cNvSpPr/>
          <p:nvPr/>
        </p:nvSpPr>
        <p:spPr>
          <a:xfrm>
            <a:off x="457200" y="4754880"/>
            <a:ext cx="8229600" cy="310896"/>
          </a:xfrm>
          <a:prstGeom prst="roundRect">
            <a:avLst>
              <a:gd name="adj" fmla="val 23529"/>
            </a:avLst>
          </a:prstGeom>
          <a:solidFill>
            <a:srgbClr val="FFFFFF"/>
          </a:solidFill>
          <a:ln w="12700">
            <a:solidFill>
              <a:srgbClr val="DDE0E6"/>
            </a:solidFill>
            <a:prstDash val="solid"/>
          </a:ln>
        </p:spPr>
      </p:sp>
      <p:sp>
        <p:nvSpPr>
          <p:cNvPr id="27" name="Text 25"/>
          <p:cNvSpPr/>
          <p:nvPr/>
        </p:nvSpPr>
        <p:spPr>
          <a:xfrm>
            <a:off x="594360" y="4773168"/>
            <a:ext cx="7955280" cy="274320"/>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マイナンバー連携・スマホ完結・四半期ごとに実施　　年齢別加重投票・中高生への投票権を先行実験</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02 — LONG TERM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地方再生の連鎖モデル（10〜20年スパン）</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補助金で一時的に人を呼ぶ従来策とは根本的に異なる。教育という長期インフラへの投資が、街全体の再生を自律的に駆動する。</a:t>
            </a:r>
            <a:endParaRPr lang="en-US" sz="1100" dirty="0"/>
          </a:p>
        </p:txBody>
      </p:sp>
      <p:sp>
        <p:nvSpPr>
          <p:cNvPr id="6" name="Shape 4"/>
          <p:cNvSpPr/>
          <p:nvPr/>
        </p:nvSpPr>
        <p:spPr>
          <a:xfrm>
            <a:off x="457200" y="1883664"/>
            <a:ext cx="1965960" cy="2834640"/>
          </a:xfrm>
          <a:prstGeom prst="roundRect">
            <a:avLst>
              <a:gd name="adj" fmla="val 3721"/>
            </a:avLst>
          </a:prstGeom>
          <a:solidFill>
            <a:srgbClr val="FFFFFF"/>
          </a:solidFill>
          <a:ln w="12700">
            <a:solidFill>
              <a:srgbClr val="DDE0E6"/>
            </a:solidFill>
            <a:prstDash val="solid"/>
          </a:ln>
        </p:spPr>
      </p:sp>
      <p:sp>
        <p:nvSpPr>
          <p:cNvPr id="7" name="Text 5"/>
          <p:cNvSpPr/>
          <p:nvPr/>
        </p:nvSpPr>
        <p:spPr>
          <a:xfrm>
            <a:off x="548640" y="1993392"/>
            <a:ext cx="1783080"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教員給与引き上げ</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傾斜配分</a:t>
            </a:r>
            <a:endParaRPr lang="en-US" sz="1200" dirty="0"/>
          </a:p>
        </p:txBody>
      </p:sp>
      <p:sp>
        <p:nvSpPr>
          <p:cNvPr id="8" name="Shape 6"/>
          <p:cNvSpPr/>
          <p:nvPr/>
        </p:nvSpPr>
        <p:spPr>
          <a:xfrm>
            <a:off x="777240" y="2761488"/>
            <a:ext cx="1325880" cy="10973"/>
          </a:xfrm>
          <a:prstGeom prst="rect">
            <a:avLst/>
          </a:prstGeom>
          <a:solidFill>
            <a:srgbClr val="DDE0E6"/>
          </a:solidFill>
          <a:ln w="12700">
            <a:solidFill>
              <a:srgbClr val="DDE0E6"/>
            </a:solidFill>
            <a:prstDash val="solid"/>
          </a:ln>
        </p:spPr>
      </p:sp>
      <p:sp>
        <p:nvSpPr>
          <p:cNvPr id="9" name="Text 7"/>
          <p:cNvSpPr/>
          <p:nvPr/>
        </p:nvSpPr>
        <p:spPr>
          <a:xfrm>
            <a:off x="548640" y="2852928"/>
            <a:ext cx="1783080" cy="170078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優秀な教師が</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地方に来る</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20%でインフラ整備</a:t>
            </a:r>
            <a:endParaRPr lang="en-US" sz="1000" dirty="0"/>
          </a:p>
        </p:txBody>
      </p:sp>
      <p:sp>
        <p:nvSpPr>
          <p:cNvPr id="10" name="Text 8"/>
          <p:cNvSpPr/>
          <p:nvPr/>
        </p:nvSpPr>
        <p:spPr>
          <a:xfrm>
            <a:off x="2423160" y="2907792"/>
            <a:ext cx="210312" cy="548640"/>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1" name="Shape 9"/>
          <p:cNvSpPr/>
          <p:nvPr/>
        </p:nvSpPr>
        <p:spPr>
          <a:xfrm>
            <a:off x="2633472" y="1883664"/>
            <a:ext cx="1965960" cy="2834640"/>
          </a:xfrm>
          <a:prstGeom prst="roundRect">
            <a:avLst>
              <a:gd name="adj" fmla="val 3721"/>
            </a:avLst>
          </a:prstGeom>
          <a:solidFill>
            <a:srgbClr val="E9EFF8"/>
          </a:solidFill>
          <a:ln w="12700">
            <a:solidFill>
              <a:srgbClr val="DDE0E6"/>
            </a:solidFill>
            <a:prstDash val="solid"/>
          </a:ln>
        </p:spPr>
      </p:sp>
      <p:sp>
        <p:nvSpPr>
          <p:cNvPr id="12" name="Text 10"/>
          <p:cNvSpPr/>
          <p:nvPr/>
        </p:nvSpPr>
        <p:spPr>
          <a:xfrm>
            <a:off x="2724912" y="1993392"/>
            <a:ext cx="1783080"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若年世帯が</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地方へ移住</a:t>
            </a:r>
            <a:endParaRPr lang="en-US" sz="1200" dirty="0"/>
          </a:p>
        </p:txBody>
      </p:sp>
      <p:sp>
        <p:nvSpPr>
          <p:cNvPr id="13" name="Shape 11"/>
          <p:cNvSpPr/>
          <p:nvPr/>
        </p:nvSpPr>
        <p:spPr>
          <a:xfrm>
            <a:off x="2953512" y="2761488"/>
            <a:ext cx="1325880" cy="10973"/>
          </a:xfrm>
          <a:prstGeom prst="rect">
            <a:avLst/>
          </a:prstGeom>
          <a:solidFill>
            <a:srgbClr val="DDE0E6"/>
          </a:solidFill>
          <a:ln w="12700">
            <a:solidFill>
              <a:srgbClr val="DDE0E6"/>
            </a:solidFill>
            <a:prstDash val="solid"/>
          </a:ln>
        </p:spPr>
      </p:sp>
      <p:sp>
        <p:nvSpPr>
          <p:cNvPr id="14" name="Text 12"/>
          <p:cNvSpPr/>
          <p:nvPr/>
        </p:nvSpPr>
        <p:spPr>
          <a:xfrm>
            <a:off x="2724912" y="2852928"/>
            <a:ext cx="1783080" cy="170078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教育環境の逆転</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住民投票で</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街づくりに参加</a:t>
            </a:r>
            <a:endParaRPr lang="en-US" sz="1000" dirty="0"/>
          </a:p>
        </p:txBody>
      </p:sp>
      <p:sp>
        <p:nvSpPr>
          <p:cNvPr id="15" name="Text 13"/>
          <p:cNvSpPr/>
          <p:nvPr/>
        </p:nvSpPr>
        <p:spPr>
          <a:xfrm>
            <a:off x="4599432" y="2907792"/>
            <a:ext cx="210312" cy="548640"/>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6" name="Shape 14"/>
          <p:cNvSpPr/>
          <p:nvPr/>
        </p:nvSpPr>
        <p:spPr>
          <a:xfrm>
            <a:off x="4809744" y="1883664"/>
            <a:ext cx="1965960" cy="2834640"/>
          </a:xfrm>
          <a:prstGeom prst="roundRect">
            <a:avLst>
              <a:gd name="adj" fmla="val 3721"/>
            </a:avLst>
          </a:prstGeom>
          <a:solidFill>
            <a:srgbClr val="E9EFF8"/>
          </a:solidFill>
          <a:ln w="12700">
            <a:solidFill>
              <a:srgbClr val="DDE0E6"/>
            </a:solidFill>
            <a:prstDash val="solid"/>
          </a:ln>
        </p:spPr>
      </p:sp>
      <p:sp>
        <p:nvSpPr>
          <p:cNvPr id="17" name="Text 15"/>
          <p:cNvSpPr/>
          <p:nvPr/>
        </p:nvSpPr>
        <p:spPr>
          <a:xfrm>
            <a:off x="4901184" y="1993392"/>
            <a:ext cx="1783080"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人が集まる</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企業が集まる</a:t>
            </a:r>
            <a:endParaRPr lang="en-US" sz="1200" dirty="0"/>
          </a:p>
        </p:txBody>
      </p:sp>
      <p:sp>
        <p:nvSpPr>
          <p:cNvPr id="18" name="Shape 16"/>
          <p:cNvSpPr/>
          <p:nvPr/>
        </p:nvSpPr>
        <p:spPr>
          <a:xfrm>
            <a:off x="5129784" y="2761488"/>
            <a:ext cx="1325880" cy="10973"/>
          </a:xfrm>
          <a:prstGeom prst="rect">
            <a:avLst/>
          </a:prstGeom>
          <a:solidFill>
            <a:srgbClr val="DDE0E6"/>
          </a:solidFill>
          <a:ln w="12700">
            <a:solidFill>
              <a:srgbClr val="DDE0E6"/>
            </a:solidFill>
            <a:prstDash val="solid"/>
          </a:ln>
        </p:spPr>
      </p:sp>
      <p:sp>
        <p:nvSpPr>
          <p:cNvPr id="19" name="Text 17"/>
          <p:cNvSpPr/>
          <p:nvPr/>
        </p:nvSpPr>
        <p:spPr>
          <a:xfrm>
            <a:off x="4901184" y="2852928"/>
            <a:ext cx="1783080" cy="170078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仕事が増える</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所得が上がる</a:t>
            </a:r>
            <a:endParaRPr lang="en-US" sz="1000" dirty="0"/>
          </a:p>
        </p:txBody>
      </p:sp>
      <p:sp>
        <p:nvSpPr>
          <p:cNvPr id="20" name="Text 18"/>
          <p:cNvSpPr/>
          <p:nvPr/>
        </p:nvSpPr>
        <p:spPr>
          <a:xfrm>
            <a:off x="6775704" y="2907792"/>
            <a:ext cx="210312" cy="548640"/>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21" name="Shape 19"/>
          <p:cNvSpPr/>
          <p:nvPr/>
        </p:nvSpPr>
        <p:spPr>
          <a:xfrm>
            <a:off x="6986016" y="1883664"/>
            <a:ext cx="1965960" cy="2834640"/>
          </a:xfrm>
          <a:prstGeom prst="roundRect">
            <a:avLst>
              <a:gd name="adj" fmla="val 3721"/>
            </a:avLst>
          </a:prstGeom>
          <a:solidFill>
            <a:srgbClr val="E9EFF8"/>
          </a:solidFill>
          <a:ln w="12700">
            <a:solidFill>
              <a:srgbClr val="DDE0E6"/>
            </a:solidFill>
            <a:prstDash val="solid"/>
          </a:ln>
        </p:spPr>
      </p:sp>
      <p:sp>
        <p:nvSpPr>
          <p:cNvPr id="22" name="Text 20"/>
          <p:cNvSpPr/>
          <p:nvPr/>
        </p:nvSpPr>
        <p:spPr>
          <a:xfrm>
            <a:off x="7077456" y="1993392"/>
            <a:ext cx="1783080"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税収増・医療</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コミュニティ形成</a:t>
            </a:r>
            <a:endParaRPr lang="en-US" sz="1200" dirty="0"/>
          </a:p>
        </p:txBody>
      </p:sp>
      <p:sp>
        <p:nvSpPr>
          <p:cNvPr id="23" name="Shape 21"/>
          <p:cNvSpPr/>
          <p:nvPr/>
        </p:nvSpPr>
        <p:spPr>
          <a:xfrm>
            <a:off x="7306056" y="2761488"/>
            <a:ext cx="1325880" cy="10973"/>
          </a:xfrm>
          <a:prstGeom prst="rect">
            <a:avLst/>
          </a:prstGeom>
          <a:solidFill>
            <a:srgbClr val="DDE0E6"/>
          </a:solidFill>
          <a:ln w="12700">
            <a:solidFill>
              <a:srgbClr val="DDE0E6"/>
            </a:solidFill>
            <a:prstDash val="solid"/>
          </a:ln>
        </p:spPr>
      </p:sp>
      <p:sp>
        <p:nvSpPr>
          <p:cNvPr id="24" name="Text 22"/>
          <p:cNvSpPr/>
          <p:nvPr/>
        </p:nvSpPr>
        <p:spPr>
          <a:xfrm>
            <a:off x="7077456" y="2852928"/>
            <a:ext cx="1783080" cy="170078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さらに人が集まる</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街が自律的に</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再生する</a:t>
            </a:r>
            <a:endParaRPr lang="en-US" sz="1000" dirty="0"/>
          </a:p>
        </p:txBody>
      </p:sp>
      <p:sp>
        <p:nvSpPr>
          <p:cNvPr id="25" name="Shape 23"/>
          <p:cNvSpPr/>
          <p:nvPr/>
        </p:nvSpPr>
        <p:spPr>
          <a:xfrm>
            <a:off x="457200" y="4828032"/>
            <a:ext cx="8229600" cy="274320"/>
          </a:xfrm>
          <a:prstGeom prst="roundRect">
            <a:avLst>
              <a:gd name="adj" fmla="val 26667"/>
            </a:avLst>
          </a:prstGeom>
          <a:solidFill>
            <a:srgbClr val="FFFFFF"/>
          </a:solidFill>
          <a:ln w="12700">
            <a:solidFill>
              <a:srgbClr val="DDE0E6"/>
            </a:solidFill>
            <a:prstDash val="solid"/>
          </a:ln>
        </p:spPr>
      </p:sp>
      <p:sp>
        <p:nvSpPr>
          <p:cNvPr id="26" name="Text 24"/>
          <p:cNvSpPr/>
          <p:nvPr/>
        </p:nvSpPr>
        <p:spPr>
          <a:xfrm>
            <a:off x="594360" y="4846320"/>
            <a:ext cx="7955280" cy="23774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「良い教育・良い教師が地方にいるから地方に住む」という自発的な選択を促す10〜20年の長期戦略。</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CORE 03</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教育権限の「国→都道府県・学校」への完全委譲</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国の一律で硬直化した学習指導要領を廃止し、カリキュラム・学部設置の権限を都道府県へ、予算執行権を学校運営へ移譲する。</a:t>
            </a:r>
            <a:endParaRPr lang="en-US" sz="1100" dirty="0"/>
          </a:p>
        </p:txBody>
      </p:sp>
      <p:sp>
        <p:nvSpPr>
          <p:cNvPr id="6" name="Text 4"/>
          <p:cNvSpPr/>
          <p:nvPr/>
        </p:nvSpPr>
        <p:spPr>
          <a:xfrm>
            <a:off x="457200" y="1847088"/>
            <a:ext cx="822960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地域産業に直結した公立「専門学部」の創設（例）</a:t>
            </a:r>
            <a:endParaRPr lang="en-US" sz="1300" dirty="0"/>
          </a:p>
        </p:txBody>
      </p:sp>
      <p:sp>
        <p:nvSpPr>
          <p:cNvPr id="7" name="Shape 5"/>
          <p:cNvSpPr/>
          <p:nvPr/>
        </p:nvSpPr>
        <p:spPr>
          <a:xfrm>
            <a:off x="457200" y="2267712"/>
            <a:ext cx="4114800" cy="1024128"/>
          </a:xfrm>
          <a:prstGeom prst="roundRect">
            <a:avLst>
              <a:gd name="adj" fmla="val 7143"/>
            </a:avLst>
          </a:prstGeom>
          <a:solidFill>
            <a:srgbClr val="FFFFFF"/>
          </a:solidFill>
          <a:ln w="12700">
            <a:solidFill>
              <a:srgbClr val="DDE0E6"/>
            </a:solidFill>
            <a:prstDash val="solid"/>
          </a:ln>
        </p:spPr>
      </p:sp>
      <p:sp>
        <p:nvSpPr>
          <p:cNvPr id="8" name="Shape 6"/>
          <p:cNvSpPr/>
          <p:nvPr/>
        </p:nvSpPr>
        <p:spPr>
          <a:xfrm>
            <a:off x="594360" y="2468880"/>
            <a:ext cx="1828800" cy="402336"/>
          </a:xfrm>
          <a:prstGeom prst="roundRect">
            <a:avLst>
              <a:gd name="adj" fmla="val 13636"/>
            </a:avLst>
          </a:prstGeom>
          <a:solidFill>
            <a:srgbClr val="DDE0E6"/>
          </a:solidFill>
          <a:ln w="12700">
            <a:solidFill>
              <a:srgbClr val="DDE0E6"/>
            </a:solidFill>
            <a:prstDash val="solid"/>
          </a:ln>
        </p:spPr>
      </p:sp>
      <p:sp>
        <p:nvSpPr>
          <p:cNvPr id="9" name="Text 7"/>
          <p:cNvSpPr/>
          <p:nvPr/>
        </p:nvSpPr>
        <p:spPr>
          <a:xfrm>
            <a:off x="594360" y="2468880"/>
            <a:ext cx="1828800" cy="402336"/>
          </a:xfrm>
          <a:prstGeom prst="rect">
            <a:avLst/>
          </a:prstGeom>
          <a:noFill/>
          <a:ln/>
        </p:spPr>
        <p:txBody>
          <a:bodyPr wrap="square" lIns="0" tIns="0" rIns="0" bIns="0" rtlCol="0" anchor="ctr"/>
          <a:lstStyle/>
          <a:p>
            <a:pPr algn="ctr" indent="0" marL="0">
              <a:buNone/>
            </a:pPr>
            <a:r>
              <a:rPr lang="en-US" sz="1000" b="1" dirty="0">
                <a:solidFill>
                  <a:srgbClr val="16181D"/>
                </a:solidFill>
                <a:latin typeface="Arial" pitchFamily="34" charset="0"/>
                <a:ea typeface="BIZ UDPGothic" pitchFamily="34" charset="-122"/>
                <a:cs typeface="BIZ UDPGothic" pitchFamily="34" charset="-120"/>
              </a:rPr>
              <a:t>IT・DX推進地域</a:t>
            </a:r>
            <a:endParaRPr lang="en-US" sz="1000" dirty="0"/>
          </a:p>
        </p:txBody>
      </p:sp>
      <p:sp>
        <p:nvSpPr>
          <p:cNvPr id="10" name="Text 8"/>
          <p:cNvSpPr/>
          <p:nvPr/>
        </p:nvSpPr>
        <p:spPr>
          <a:xfrm>
            <a:off x="594360" y="2926080"/>
            <a:ext cx="3840480" cy="310896"/>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AI・データサイエンス学部</a:t>
            </a:r>
            <a:endParaRPr lang="en-US" sz="1300" dirty="0"/>
          </a:p>
        </p:txBody>
      </p:sp>
      <p:sp>
        <p:nvSpPr>
          <p:cNvPr id="11" name="Shape 9"/>
          <p:cNvSpPr/>
          <p:nvPr/>
        </p:nvSpPr>
        <p:spPr>
          <a:xfrm>
            <a:off x="4800600" y="2267712"/>
            <a:ext cx="4114800" cy="1024128"/>
          </a:xfrm>
          <a:prstGeom prst="roundRect">
            <a:avLst>
              <a:gd name="adj" fmla="val 7143"/>
            </a:avLst>
          </a:prstGeom>
          <a:solidFill>
            <a:srgbClr val="FFFFFF"/>
          </a:solidFill>
          <a:ln w="12700">
            <a:solidFill>
              <a:srgbClr val="DDE0E6"/>
            </a:solidFill>
            <a:prstDash val="solid"/>
          </a:ln>
        </p:spPr>
      </p:sp>
      <p:sp>
        <p:nvSpPr>
          <p:cNvPr id="12" name="Shape 10"/>
          <p:cNvSpPr/>
          <p:nvPr/>
        </p:nvSpPr>
        <p:spPr>
          <a:xfrm>
            <a:off x="4937760" y="2468880"/>
            <a:ext cx="1828800" cy="402336"/>
          </a:xfrm>
          <a:prstGeom prst="roundRect">
            <a:avLst>
              <a:gd name="adj" fmla="val 13636"/>
            </a:avLst>
          </a:prstGeom>
          <a:solidFill>
            <a:srgbClr val="DDE0E6"/>
          </a:solidFill>
          <a:ln w="12700">
            <a:solidFill>
              <a:srgbClr val="DDE0E6"/>
            </a:solidFill>
            <a:prstDash val="solid"/>
          </a:ln>
        </p:spPr>
      </p:sp>
      <p:sp>
        <p:nvSpPr>
          <p:cNvPr id="13" name="Text 11"/>
          <p:cNvSpPr/>
          <p:nvPr/>
        </p:nvSpPr>
        <p:spPr>
          <a:xfrm>
            <a:off x="4937760" y="2468880"/>
            <a:ext cx="1828800" cy="402336"/>
          </a:xfrm>
          <a:prstGeom prst="rect">
            <a:avLst/>
          </a:prstGeom>
          <a:noFill/>
          <a:ln/>
        </p:spPr>
        <p:txBody>
          <a:bodyPr wrap="square" lIns="0" tIns="0" rIns="0" bIns="0" rtlCol="0" anchor="ctr"/>
          <a:lstStyle/>
          <a:p>
            <a:pPr algn="ctr" indent="0" marL="0">
              <a:buNone/>
            </a:pPr>
            <a:r>
              <a:rPr lang="en-US" sz="1000" b="1" dirty="0">
                <a:solidFill>
                  <a:srgbClr val="16181D"/>
                </a:solidFill>
                <a:latin typeface="Arial" pitchFamily="34" charset="0"/>
                <a:ea typeface="BIZ UDPGothic" pitchFamily="34" charset="-122"/>
                <a:cs typeface="BIZ UDPGothic" pitchFamily="34" charset="-120"/>
              </a:rPr>
              <a:t>医療・ケア不足地域</a:t>
            </a:r>
            <a:endParaRPr lang="en-US" sz="1000" dirty="0"/>
          </a:p>
        </p:txBody>
      </p:sp>
      <p:sp>
        <p:nvSpPr>
          <p:cNvPr id="14" name="Text 12"/>
          <p:cNvSpPr/>
          <p:nvPr/>
        </p:nvSpPr>
        <p:spPr>
          <a:xfrm>
            <a:off x="4937760" y="2926080"/>
            <a:ext cx="3840480" cy="310896"/>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幼児教育・医療ケア準備学部</a:t>
            </a:r>
            <a:endParaRPr lang="en-US" sz="1300" dirty="0"/>
          </a:p>
        </p:txBody>
      </p:sp>
      <p:sp>
        <p:nvSpPr>
          <p:cNvPr id="15" name="Shape 13"/>
          <p:cNvSpPr/>
          <p:nvPr/>
        </p:nvSpPr>
        <p:spPr>
          <a:xfrm>
            <a:off x="457200" y="3438144"/>
            <a:ext cx="4114800" cy="1024128"/>
          </a:xfrm>
          <a:prstGeom prst="roundRect">
            <a:avLst>
              <a:gd name="adj" fmla="val 7143"/>
            </a:avLst>
          </a:prstGeom>
          <a:solidFill>
            <a:srgbClr val="FFFFFF"/>
          </a:solidFill>
          <a:ln w="12700">
            <a:solidFill>
              <a:srgbClr val="DDE0E6"/>
            </a:solidFill>
            <a:prstDash val="solid"/>
          </a:ln>
        </p:spPr>
      </p:sp>
      <p:sp>
        <p:nvSpPr>
          <p:cNvPr id="16" name="Shape 14"/>
          <p:cNvSpPr/>
          <p:nvPr/>
        </p:nvSpPr>
        <p:spPr>
          <a:xfrm>
            <a:off x="594360" y="3639312"/>
            <a:ext cx="1828800" cy="402336"/>
          </a:xfrm>
          <a:prstGeom prst="roundRect">
            <a:avLst>
              <a:gd name="adj" fmla="val 13636"/>
            </a:avLst>
          </a:prstGeom>
          <a:solidFill>
            <a:srgbClr val="DDE0E6"/>
          </a:solidFill>
          <a:ln w="12700">
            <a:solidFill>
              <a:srgbClr val="DDE0E6"/>
            </a:solidFill>
            <a:prstDash val="solid"/>
          </a:ln>
        </p:spPr>
      </p:sp>
      <p:sp>
        <p:nvSpPr>
          <p:cNvPr id="17" name="Text 15"/>
          <p:cNvSpPr/>
          <p:nvPr/>
        </p:nvSpPr>
        <p:spPr>
          <a:xfrm>
            <a:off x="594360" y="3639312"/>
            <a:ext cx="1828800" cy="402336"/>
          </a:xfrm>
          <a:prstGeom prst="rect">
            <a:avLst/>
          </a:prstGeom>
          <a:noFill/>
          <a:ln/>
        </p:spPr>
        <p:txBody>
          <a:bodyPr wrap="square" lIns="0" tIns="0" rIns="0" bIns="0" rtlCol="0" anchor="ctr"/>
          <a:lstStyle/>
          <a:p>
            <a:pPr algn="ctr" indent="0" marL="0">
              <a:buNone/>
            </a:pPr>
            <a:r>
              <a:rPr lang="en-US" sz="1000" b="1" dirty="0">
                <a:solidFill>
                  <a:srgbClr val="16181D"/>
                </a:solidFill>
                <a:latin typeface="Arial" pitchFamily="34" charset="0"/>
                <a:ea typeface="BIZ UDPGothic" pitchFamily="34" charset="-122"/>
                <a:cs typeface="BIZ UDPGothic" pitchFamily="34" charset="-120"/>
              </a:rPr>
              <a:t>農林水産業地域</a:t>
            </a:r>
            <a:endParaRPr lang="en-US" sz="1000" dirty="0"/>
          </a:p>
        </p:txBody>
      </p:sp>
      <p:sp>
        <p:nvSpPr>
          <p:cNvPr id="18" name="Text 16"/>
          <p:cNvSpPr/>
          <p:nvPr/>
        </p:nvSpPr>
        <p:spPr>
          <a:xfrm>
            <a:off x="594360" y="4096512"/>
            <a:ext cx="3840480" cy="310896"/>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スマート農業・地域資源活用学部</a:t>
            </a:r>
            <a:endParaRPr lang="en-US" sz="1300" dirty="0"/>
          </a:p>
        </p:txBody>
      </p:sp>
      <p:sp>
        <p:nvSpPr>
          <p:cNvPr id="19" name="Shape 17"/>
          <p:cNvSpPr/>
          <p:nvPr/>
        </p:nvSpPr>
        <p:spPr>
          <a:xfrm>
            <a:off x="4800600" y="3438144"/>
            <a:ext cx="4114800" cy="1024128"/>
          </a:xfrm>
          <a:prstGeom prst="roundRect">
            <a:avLst>
              <a:gd name="adj" fmla="val 7143"/>
            </a:avLst>
          </a:prstGeom>
          <a:solidFill>
            <a:srgbClr val="FFFFFF"/>
          </a:solidFill>
          <a:ln w="12700">
            <a:solidFill>
              <a:srgbClr val="DDE0E6"/>
            </a:solidFill>
            <a:prstDash val="solid"/>
          </a:ln>
        </p:spPr>
      </p:sp>
      <p:sp>
        <p:nvSpPr>
          <p:cNvPr id="20" name="Shape 18"/>
          <p:cNvSpPr/>
          <p:nvPr/>
        </p:nvSpPr>
        <p:spPr>
          <a:xfrm>
            <a:off x="4937760" y="3639312"/>
            <a:ext cx="1828800" cy="402336"/>
          </a:xfrm>
          <a:prstGeom prst="roundRect">
            <a:avLst>
              <a:gd name="adj" fmla="val 13636"/>
            </a:avLst>
          </a:prstGeom>
          <a:solidFill>
            <a:srgbClr val="DDE0E6"/>
          </a:solidFill>
          <a:ln w="12700">
            <a:solidFill>
              <a:srgbClr val="DDE0E6"/>
            </a:solidFill>
            <a:prstDash val="solid"/>
          </a:ln>
        </p:spPr>
      </p:sp>
      <p:sp>
        <p:nvSpPr>
          <p:cNvPr id="21" name="Text 19"/>
          <p:cNvSpPr/>
          <p:nvPr/>
        </p:nvSpPr>
        <p:spPr>
          <a:xfrm>
            <a:off x="4937760" y="3639312"/>
            <a:ext cx="1828800" cy="402336"/>
          </a:xfrm>
          <a:prstGeom prst="rect">
            <a:avLst/>
          </a:prstGeom>
          <a:noFill/>
          <a:ln/>
        </p:spPr>
        <p:txBody>
          <a:bodyPr wrap="square" lIns="0" tIns="0" rIns="0" bIns="0" rtlCol="0" anchor="ctr"/>
          <a:lstStyle/>
          <a:p>
            <a:pPr algn="ctr" indent="0" marL="0">
              <a:buNone/>
            </a:pPr>
            <a:r>
              <a:rPr lang="en-US" sz="1000" b="1" dirty="0">
                <a:solidFill>
                  <a:srgbClr val="16181D"/>
                </a:solidFill>
                <a:latin typeface="Arial" pitchFamily="34" charset="0"/>
                <a:ea typeface="BIZ UDPGothic" pitchFamily="34" charset="-122"/>
                <a:cs typeface="BIZ UDPGothic" pitchFamily="34" charset="-120"/>
              </a:rPr>
              <a:t>観光・文化資源地域</a:t>
            </a:r>
            <a:endParaRPr lang="en-US" sz="1000" dirty="0"/>
          </a:p>
        </p:txBody>
      </p:sp>
      <p:sp>
        <p:nvSpPr>
          <p:cNvPr id="22" name="Text 20"/>
          <p:cNvSpPr/>
          <p:nvPr/>
        </p:nvSpPr>
        <p:spPr>
          <a:xfrm>
            <a:off x="4937760" y="4096512"/>
            <a:ext cx="3840480" cy="310896"/>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コンテンツ制作・インバウンド実践学部</a:t>
            </a:r>
            <a:endParaRPr lang="en-US" sz="1300" dirty="0"/>
          </a:p>
        </p:txBody>
      </p:sp>
      <p:sp>
        <p:nvSpPr>
          <p:cNvPr id="23" name="Shape 21"/>
          <p:cNvSpPr/>
          <p:nvPr/>
        </p:nvSpPr>
        <p:spPr>
          <a:xfrm>
            <a:off x="457200" y="4663440"/>
            <a:ext cx="8229600" cy="402336"/>
          </a:xfrm>
          <a:prstGeom prst="roundRect">
            <a:avLst>
              <a:gd name="adj" fmla="val 18182"/>
            </a:avLst>
          </a:prstGeom>
          <a:solidFill>
            <a:srgbClr val="FFFFFF"/>
          </a:solidFill>
          <a:ln w="12700">
            <a:solidFill>
              <a:srgbClr val="DDE0E6"/>
            </a:solidFill>
            <a:prstDash val="solid"/>
          </a:ln>
        </p:spPr>
      </p:sp>
      <p:sp>
        <p:nvSpPr>
          <p:cNvPr id="24" name="Text 22"/>
          <p:cNvSpPr/>
          <p:nvPr/>
        </p:nvSpPr>
        <p:spPr>
          <a:xfrm>
            <a:off x="594360" y="4700016"/>
            <a:ext cx="7955280" cy="32918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地域の課題と産業ニーズに直結したカリキュラムで、卒業後にそのまま地域の即戦力として機能する人材を育てる。</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GOVERNANCE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3つのガバナンス：公金が正しく機能するための防壁</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1042416"/>
          </a:xfrm>
          <a:prstGeom prst="roundRect">
            <a:avLst>
              <a:gd name="adj" fmla="val 7018"/>
            </a:avLst>
          </a:prstGeom>
          <a:solidFill>
            <a:srgbClr val="FFFFFF"/>
          </a:solidFill>
          <a:ln w="12700">
            <a:solidFill>
              <a:srgbClr val="DDE0E6"/>
            </a:solidFill>
            <a:prstDash val="solid"/>
          </a:ln>
        </p:spPr>
      </p:sp>
      <p:sp>
        <p:nvSpPr>
          <p:cNvPr id="6" name="Shape 4"/>
          <p:cNvSpPr/>
          <p:nvPr/>
        </p:nvSpPr>
        <p:spPr>
          <a:xfrm>
            <a:off x="594360" y="1664208"/>
            <a:ext cx="475488" cy="475488"/>
          </a:xfrm>
          <a:prstGeom prst="roundRect">
            <a:avLst>
              <a:gd name="adj" fmla="val 11538"/>
            </a:avLst>
          </a:prstGeom>
          <a:solidFill>
            <a:srgbClr val="C8161D"/>
          </a:solidFill>
          <a:ln w="12700">
            <a:solidFill>
              <a:srgbClr val="C8161D"/>
            </a:solidFill>
            <a:prstDash val="solid"/>
          </a:ln>
        </p:spPr>
      </p:sp>
      <p:sp>
        <p:nvSpPr>
          <p:cNvPr id="7" name="Text 5"/>
          <p:cNvSpPr/>
          <p:nvPr/>
        </p:nvSpPr>
        <p:spPr>
          <a:xfrm>
            <a:off x="594360"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BIZ UDPGothic" pitchFamily="34" charset="-122"/>
                <a:cs typeface="BIZ UDPGothic" pitchFamily="34" charset="-120"/>
              </a:rPr>
              <a:t>①</a:t>
            </a:r>
            <a:endParaRPr lang="en-US" sz="1600" dirty="0"/>
          </a:p>
        </p:txBody>
      </p:sp>
      <p:sp>
        <p:nvSpPr>
          <p:cNvPr id="8" name="Text 6"/>
          <p:cNvSpPr/>
          <p:nvPr/>
        </p:nvSpPr>
        <p:spPr>
          <a:xfrm>
            <a:off x="1207008" y="1463040"/>
            <a:ext cx="7315200" cy="365760"/>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教員給与は法律に則り、現行水準からの引き上げを義務化</a:t>
            </a:r>
            <a:endParaRPr lang="en-US" sz="1200" dirty="0"/>
          </a:p>
        </p:txBody>
      </p:sp>
      <p:sp>
        <p:nvSpPr>
          <p:cNvPr id="9" name="Shape 7"/>
          <p:cNvSpPr/>
          <p:nvPr/>
        </p:nvSpPr>
        <p:spPr>
          <a:xfrm>
            <a:off x="1207008" y="1847088"/>
            <a:ext cx="7315200" cy="10973"/>
          </a:xfrm>
          <a:prstGeom prst="rect">
            <a:avLst/>
          </a:prstGeom>
          <a:solidFill>
            <a:srgbClr val="DDE0E6"/>
          </a:solidFill>
          <a:ln w="12700">
            <a:solidFill>
              <a:srgbClr val="DDE0E6"/>
            </a:solidFill>
            <a:prstDash val="solid"/>
          </a:ln>
        </p:spPr>
      </p:sp>
      <p:sp>
        <p:nvSpPr>
          <p:cNvPr id="10" name="Text 8"/>
          <p:cNvSpPr/>
          <p:nvPr/>
        </p:nvSpPr>
        <p:spPr>
          <a:xfrm>
            <a:off x="1207008" y="1920240"/>
            <a:ext cx="73152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公立学校教職員給与法等の法律に則る。ただし現行水準からの引き上げを義務化し、40歳上位10%水準を法令で定める。年功序列の硬直した体系から脱却し、実績・評価に連動した報酬設計を認める。</a:t>
            </a:r>
            <a:endParaRPr lang="en-US" sz="1000" dirty="0"/>
          </a:p>
        </p:txBody>
      </p:sp>
      <p:sp>
        <p:nvSpPr>
          <p:cNvPr id="11" name="Shape 9"/>
          <p:cNvSpPr/>
          <p:nvPr/>
        </p:nvSpPr>
        <p:spPr>
          <a:xfrm>
            <a:off x="457200" y="2596896"/>
            <a:ext cx="8229600" cy="1042416"/>
          </a:xfrm>
          <a:prstGeom prst="roundRect">
            <a:avLst>
              <a:gd name="adj" fmla="val 7018"/>
            </a:avLst>
          </a:prstGeom>
          <a:solidFill>
            <a:srgbClr val="FFFFFF"/>
          </a:solidFill>
          <a:ln w="12700">
            <a:solidFill>
              <a:srgbClr val="DDE0E6"/>
            </a:solidFill>
            <a:prstDash val="solid"/>
          </a:ln>
        </p:spPr>
      </p:sp>
      <p:sp>
        <p:nvSpPr>
          <p:cNvPr id="12" name="Shape 10"/>
          <p:cNvSpPr/>
          <p:nvPr/>
        </p:nvSpPr>
        <p:spPr>
          <a:xfrm>
            <a:off x="594360" y="2871216"/>
            <a:ext cx="475488" cy="475488"/>
          </a:xfrm>
          <a:prstGeom prst="roundRect">
            <a:avLst>
              <a:gd name="adj" fmla="val 11538"/>
            </a:avLst>
          </a:prstGeom>
          <a:solidFill>
            <a:srgbClr val="C8161D"/>
          </a:solidFill>
          <a:ln w="12700">
            <a:solidFill>
              <a:srgbClr val="C8161D"/>
            </a:solidFill>
            <a:prstDash val="solid"/>
          </a:ln>
        </p:spPr>
      </p:sp>
      <p:sp>
        <p:nvSpPr>
          <p:cNvPr id="13" name="Text 11"/>
          <p:cNvSpPr/>
          <p:nvPr/>
        </p:nvSpPr>
        <p:spPr>
          <a:xfrm>
            <a:off x="594360" y="28712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BIZ UDPGothic" pitchFamily="34" charset="-122"/>
                <a:cs typeface="BIZ UDPGothic" pitchFamily="34" charset="-120"/>
              </a:rPr>
              <a:t>②</a:t>
            </a:r>
            <a:endParaRPr lang="en-US" sz="1600" dirty="0"/>
          </a:p>
        </p:txBody>
      </p:sp>
      <p:sp>
        <p:nvSpPr>
          <p:cNvPr id="14" name="Text 12"/>
          <p:cNvSpPr/>
          <p:nvPr/>
        </p:nvSpPr>
        <p:spPr>
          <a:xfrm>
            <a:off x="1207008" y="2670048"/>
            <a:ext cx="7315200" cy="365760"/>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個別寄付の完全禁止・ふるさと納税は公立のみ・PFS配分</a:t>
            </a:r>
            <a:endParaRPr lang="en-US" sz="1200" dirty="0"/>
          </a:p>
        </p:txBody>
      </p:sp>
      <p:sp>
        <p:nvSpPr>
          <p:cNvPr id="15" name="Shape 13"/>
          <p:cNvSpPr/>
          <p:nvPr/>
        </p:nvSpPr>
        <p:spPr>
          <a:xfrm>
            <a:off x="1207008" y="3054096"/>
            <a:ext cx="7315200" cy="10973"/>
          </a:xfrm>
          <a:prstGeom prst="rect">
            <a:avLst/>
          </a:prstGeom>
          <a:solidFill>
            <a:srgbClr val="DDE0E6"/>
          </a:solidFill>
          <a:ln w="12700">
            <a:solidFill>
              <a:srgbClr val="DDE0E6"/>
            </a:solidFill>
            <a:prstDash val="solid"/>
          </a:ln>
        </p:spPr>
      </p:sp>
      <p:sp>
        <p:nvSpPr>
          <p:cNvPr id="16" name="Text 14"/>
          <p:cNvSpPr/>
          <p:nvPr/>
        </p:nvSpPr>
        <p:spPr>
          <a:xfrm>
            <a:off x="1207008" y="3127248"/>
            <a:ext cx="73152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OBの財力による高校間格差を防ぐため個別寄付は禁止。ふるさと納税等は公立（コモンズ）のみ受け付ける。3年ごとの成果連動型（PFS）配分でイノベーションを起こす学校へ傾斜配分する。</a:t>
            </a:r>
            <a:endParaRPr lang="en-US" sz="1000" dirty="0"/>
          </a:p>
        </p:txBody>
      </p:sp>
      <p:sp>
        <p:nvSpPr>
          <p:cNvPr id="17" name="Shape 15"/>
          <p:cNvSpPr/>
          <p:nvPr/>
        </p:nvSpPr>
        <p:spPr>
          <a:xfrm>
            <a:off x="457200" y="3803904"/>
            <a:ext cx="8229600" cy="1042416"/>
          </a:xfrm>
          <a:prstGeom prst="roundRect">
            <a:avLst>
              <a:gd name="adj" fmla="val 7018"/>
            </a:avLst>
          </a:prstGeom>
          <a:solidFill>
            <a:srgbClr val="FFFFFF"/>
          </a:solidFill>
          <a:ln w="12700">
            <a:solidFill>
              <a:srgbClr val="DDE0E6"/>
            </a:solidFill>
            <a:prstDash val="solid"/>
          </a:ln>
        </p:spPr>
      </p:sp>
      <p:sp>
        <p:nvSpPr>
          <p:cNvPr id="18" name="Shape 16"/>
          <p:cNvSpPr/>
          <p:nvPr/>
        </p:nvSpPr>
        <p:spPr>
          <a:xfrm>
            <a:off x="594360" y="4078224"/>
            <a:ext cx="475488" cy="475488"/>
          </a:xfrm>
          <a:prstGeom prst="roundRect">
            <a:avLst>
              <a:gd name="adj" fmla="val 11538"/>
            </a:avLst>
          </a:prstGeom>
          <a:solidFill>
            <a:srgbClr val="C8161D"/>
          </a:solidFill>
          <a:ln w="12700">
            <a:solidFill>
              <a:srgbClr val="C8161D"/>
            </a:solidFill>
            <a:prstDash val="solid"/>
          </a:ln>
        </p:spPr>
      </p:sp>
      <p:sp>
        <p:nvSpPr>
          <p:cNvPr id="19" name="Text 17"/>
          <p:cNvSpPr/>
          <p:nvPr/>
        </p:nvSpPr>
        <p:spPr>
          <a:xfrm>
            <a:off x="594360" y="40782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BIZ UDPGothic" pitchFamily="34" charset="-122"/>
                <a:cs typeface="BIZ UDPGothic" pitchFamily="34" charset="-120"/>
              </a:rPr>
              <a:t>③</a:t>
            </a:r>
            <a:endParaRPr lang="en-US" sz="1600" dirty="0"/>
          </a:p>
        </p:txBody>
      </p:sp>
      <p:sp>
        <p:nvSpPr>
          <p:cNvPr id="20" name="Text 18"/>
          <p:cNvSpPr/>
          <p:nvPr/>
        </p:nvSpPr>
        <p:spPr>
          <a:xfrm>
            <a:off x="1207008" y="3877056"/>
            <a:ext cx="7315200" cy="365760"/>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財務・契約・施設計画・成果の「完全オンライン公開（ダッシュボード化）」</a:t>
            </a:r>
            <a:endParaRPr lang="en-US" sz="1200" dirty="0"/>
          </a:p>
        </p:txBody>
      </p:sp>
      <p:sp>
        <p:nvSpPr>
          <p:cNvPr id="21" name="Shape 19"/>
          <p:cNvSpPr/>
          <p:nvPr/>
        </p:nvSpPr>
        <p:spPr>
          <a:xfrm>
            <a:off x="1207008" y="4261104"/>
            <a:ext cx="7315200" cy="10973"/>
          </a:xfrm>
          <a:prstGeom prst="rect">
            <a:avLst/>
          </a:prstGeom>
          <a:solidFill>
            <a:srgbClr val="DDE0E6"/>
          </a:solidFill>
          <a:ln w="12700">
            <a:solidFill>
              <a:srgbClr val="DDE0E6"/>
            </a:solidFill>
            <a:prstDash val="solid"/>
          </a:ln>
        </p:spPr>
      </p:sp>
      <p:sp>
        <p:nvSpPr>
          <p:cNvPr id="22" name="Text 20"/>
          <p:cNvSpPr/>
          <p:nvPr/>
        </p:nvSpPr>
        <p:spPr>
          <a:xfrm>
            <a:off x="1207008" y="4334256"/>
            <a:ext cx="7315200" cy="45720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予算の契約履歴・住民投票の結果・施設整備計画・執行内容をリアルタイムで公開。学校運営への権限委譲と透明性の完全公開をセットにし、市民の目で監視する。</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OUTCOME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本提言がもたらす3つの「解」</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1024128"/>
          </a:xfrm>
          <a:prstGeom prst="roundRect">
            <a:avLst>
              <a:gd name="adj" fmla="val 7143"/>
            </a:avLst>
          </a:prstGeom>
          <a:solidFill>
            <a:srgbClr val="FFFFFF"/>
          </a:solidFill>
          <a:ln w="12700">
            <a:solidFill>
              <a:srgbClr val="DDE0E6"/>
            </a:solidFill>
            <a:prstDash val="solid"/>
          </a:ln>
        </p:spPr>
      </p:sp>
      <p:sp>
        <p:nvSpPr>
          <p:cNvPr id="6" name="Shape 4"/>
          <p:cNvSpPr/>
          <p:nvPr/>
        </p:nvSpPr>
        <p:spPr>
          <a:xfrm>
            <a:off x="594360" y="1609344"/>
            <a:ext cx="530352" cy="530352"/>
          </a:xfrm>
          <a:prstGeom prst="roundRect">
            <a:avLst>
              <a:gd name="adj" fmla="val 10345"/>
            </a:avLst>
          </a:prstGeom>
          <a:solidFill>
            <a:srgbClr val="C8161D"/>
          </a:solidFill>
          <a:ln w="12700">
            <a:solidFill>
              <a:srgbClr val="C8161D"/>
            </a:solidFill>
            <a:prstDash val="solid"/>
          </a:ln>
        </p:spPr>
      </p:sp>
      <p:sp>
        <p:nvSpPr>
          <p:cNvPr id="7" name="Text 5"/>
          <p:cNvSpPr/>
          <p:nvPr/>
        </p:nvSpPr>
        <p:spPr>
          <a:xfrm>
            <a:off x="594360" y="160934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①</a:t>
            </a:r>
            <a:endParaRPr lang="en-US" sz="1800" dirty="0"/>
          </a:p>
        </p:txBody>
      </p:sp>
      <p:sp>
        <p:nvSpPr>
          <p:cNvPr id="8" name="Text 6"/>
          <p:cNvSpPr/>
          <p:nvPr/>
        </p:nvSpPr>
        <p:spPr>
          <a:xfrm>
            <a:off x="1261872" y="1481328"/>
            <a:ext cx="7269480" cy="36576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不健全な公費依存からの脱却</a:t>
            </a:r>
            <a:endParaRPr lang="en-US" sz="1400" dirty="0"/>
          </a:p>
        </p:txBody>
      </p:sp>
      <p:sp>
        <p:nvSpPr>
          <p:cNvPr id="9" name="Text 7"/>
          <p:cNvSpPr/>
          <p:nvPr/>
        </p:nvSpPr>
        <p:spPr>
          <a:xfrm>
            <a:off x="1261872" y="188366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税金で私立を延命させるのを止め、廃校でなく公立化という転換で受け皿を維持したまま公費を集中する。真に自立できる私学のみが民間資金で存続する。</a:t>
            </a:r>
            <a:endParaRPr lang="en-US" sz="1000" dirty="0"/>
          </a:p>
        </p:txBody>
      </p:sp>
      <p:sp>
        <p:nvSpPr>
          <p:cNvPr id="10" name="Shape 8"/>
          <p:cNvSpPr/>
          <p:nvPr/>
        </p:nvSpPr>
        <p:spPr>
          <a:xfrm>
            <a:off x="457200" y="2578608"/>
            <a:ext cx="8229600" cy="1024128"/>
          </a:xfrm>
          <a:prstGeom prst="roundRect">
            <a:avLst>
              <a:gd name="adj" fmla="val 7143"/>
            </a:avLst>
          </a:prstGeom>
          <a:solidFill>
            <a:srgbClr val="FFFFFF"/>
          </a:solidFill>
          <a:ln w="12700">
            <a:solidFill>
              <a:srgbClr val="DDE0E6"/>
            </a:solidFill>
            <a:prstDash val="solid"/>
          </a:ln>
        </p:spPr>
      </p:sp>
      <p:sp>
        <p:nvSpPr>
          <p:cNvPr id="11" name="Shape 9"/>
          <p:cNvSpPr/>
          <p:nvPr/>
        </p:nvSpPr>
        <p:spPr>
          <a:xfrm>
            <a:off x="594360" y="2798064"/>
            <a:ext cx="530352" cy="530352"/>
          </a:xfrm>
          <a:prstGeom prst="roundRect">
            <a:avLst>
              <a:gd name="adj" fmla="val 10345"/>
            </a:avLst>
          </a:prstGeom>
          <a:solidFill>
            <a:srgbClr val="C8161D"/>
          </a:solidFill>
          <a:ln w="12700">
            <a:solidFill>
              <a:srgbClr val="C8161D"/>
            </a:solidFill>
            <a:prstDash val="solid"/>
          </a:ln>
        </p:spPr>
      </p:sp>
      <p:sp>
        <p:nvSpPr>
          <p:cNvPr id="12" name="Text 10"/>
          <p:cNvSpPr/>
          <p:nvPr/>
        </p:nvSpPr>
        <p:spPr>
          <a:xfrm>
            <a:off x="594360" y="279806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②</a:t>
            </a:r>
            <a:endParaRPr lang="en-US" sz="1800" dirty="0"/>
          </a:p>
        </p:txBody>
      </p:sp>
      <p:sp>
        <p:nvSpPr>
          <p:cNvPr id="13" name="Text 11"/>
          <p:cNvSpPr/>
          <p:nvPr/>
        </p:nvSpPr>
        <p:spPr>
          <a:xfrm>
            <a:off x="1261872" y="2670048"/>
            <a:ext cx="7269480" cy="365760"/>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真の教育の機会均等</a:t>
            </a:r>
            <a:endParaRPr lang="en-US" sz="1400" dirty="0"/>
          </a:p>
        </p:txBody>
      </p:sp>
      <p:sp>
        <p:nvSpPr>
          <p:cNvPr id="14" name="Text 12"/>
          <p:cNvSpPr/>
          <p:nvPr/>
        </p:nvSpPr>
        <p:spPr>
          <a:xfrm>
            <a:off x="1261872" y="307238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親の財力に関係なく「地元の公立高校に行けば、優秀な教師のもとで最高水準の教育が完全無料で受けられる」という国家としての本当のコモンズが完成する。</a:t>
            </a:r>
            <a:endParaRPr lang="en-US" sz="1000" dirty="0"/>
          </a:p>
        </p:txBody>
      </p:sp>
      <p:sp>
        <p:nvSpPr>
          <p:cNvPr id="15" name="Shape 13"/>
          <p:cNvSpPr/>
          <p:nvPr/>
        </p:nvSpPr>
        <p:spPr>
          <a:xfrm>
            <a:off x="457200" y="3767328"/>
            <a:ext cx="8229600" cy="1024128"/>
          </a:xfrm>
          <a:prstGeom prst="roundRect">
            <a:avLst>
              <a:gd name="adj" fmla="val 7143"/>
            </a:avLst>
          </a:prstGeom>
          <a:solidFill>
            <a:srgbClr val="FFFFFF"/>
          </a:solidFill>
          <a:ln w="12700">
            <a:solidFill>
              <a:srgbClr val="DDE0E6"/>
            </a:solidFill>
            <a:prstDash val="solid"/>
          </a:ln>
        </p:spPr>
      </p:sp>
      <p:sp>
        <p:nvSpPr>
          <p:cNvPr id="16" name="Shape 14"/>
          <p:cNvSpPr/>
          <p:nvPr/>
        </p:nvSpPr>
        <p:spPr>
          <a:xfrm>
            <a:off x="594360" y="3986784"/>
            <a:ext cx="530352" cy="530352"/>
          </a:xfrm>
          <a:prstGeom prst="roundRect">
            <a:avLst>
              <a:gd name="adj" fmla="val 10345"/>
            </a:avLst>
          </a:prstGeom>
          <a:solidFill>
            <a:srgbClr val="C8161D"/>
          </a:solidFill>
          <a:ln w="12700">
            <a:solidFill>
              <a:srgbClr val="C8161D"/>
            </a:solidFill>
            <a:prstDash val="solid"/>
          </a:ln>
        </p:spPr>
      </p:sp>
      <p:sp>
        <p:nvSpPr>
          <p:cNvPr id="17" name="Text 15"/>
          <p:cNvSpPr/>
          <p:nvPr/>
        </p:nvSpPr>
        <p:spPr>
          <a:xfrm>
            <a:off x="594360" y="398678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③</a:t>
            </a:r>
            <a:endParaRPr lang="en-US" sz="1800" dirty="0"/>
          </a:p>
        </p:txBody>
      </p:sp>
      <p:sp>
        <p:nvSpPr>
          <p:cNvPr id="18" name="Text 16"/>
          <p:cNvSpPr/>
          <p:nvPr/>
        </p:nvSpPr>
        <p:spPr>
          <a:xfrm>
            <a:off x="1261872" y="3858768"/>
            <a:ext cx="7269480" cy="365760"/>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地方創生の決定打（10〜20年スパン）</a:t>
            </a:r>
            <a:endParaRPr lang="en-US" sz="1400" dirty="0"/>
          </a:p>
        </p:txBody>
      </p:sp>
      <p:sp>
        <p:nvSpPr>
          <p:cNvPr id="19" name="Text 17"/>
          <p:cNvSpPr/>
          <p:nvPr/>
        </p:nvSpPr>
        <p:spPr>
          <a:xfrm>
            <a:off x="1261872" y="4261104"/>
            <a:ext cx="7269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教育への集中投資を起点に、インフラ・企業誘致・人口流入・税収増という連鎖が自律的に動き出す。補助金で一時的に人を呼ぶ従来策とは根本的に異なる構造転換。</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457200"/>
            <a:ext cx="8046720" cy="329184"/>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REBOOT JAPAN ── 提言009　まとめ</a:t>
            </a:r>
            <a:endParaRPr lang="en-US" sz="1000" dirty="0"/>
          </a:p>
        </p:txBody>
      </p:sp>
      <p:sp>
        <p:nvSpPr>
          <p:cNvPr id="4" name="Text 2"/>
          <p:cNvSpPr/>
          <p:nvPr/>
        </p:nvSpPr>
        <p:spPr>
          <a:xfrm>
            <a:off x="685800" y="868680"/>
            <a:ext cx="8046720" cy="2194560"/>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6,800億円を</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地方の未来へ。</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教師を尊び、</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地方を再生する。</a:t>
            </a:r>
            <a:endParaRPr lang="en-US" sz="2800" dirty="0"/>
          </a:p>
        </p:txBody>
      </p:sp>
      <p:sp>
        <p:nvSpPr>
          <p:cNvPr id="5" name="Shape 3"/>
          <p:cNvSpPr/>
          <p:nvPr/>
        </p:nvSpPr>
        <p:spPr>
          <a:xfrm>
            <a:off x="685800" y="3154680"/>
            <a:ext cx="7772400" cy="13716"/>
          </a:xfrm>
          <a:prstGeom prst="rect">
            <a:avLst/>
          </a:prstGeom>
          <a:solidFill>
            <a:srgbClr val="DDE0E6"/>
          </a:solidFill>
          <a:ln w="12700">
            <a:solidFill>
              <a:srgbClr val="DDE0E6"/>
            </a:solidFill>
            <a:prstDash val="solid"/>
          </a:ln>
        </p:spPr>
      </p:sp>
      <p:sp>
        <p:nvSpPr>
          <p:cNvPr id="6" name="Text 4"/>
          <p:cNvSpPr/>
          <p:nvPr/>
        </p:nvSpPr>
        <p:spPr>
          <a:xfrm>
            <a:off x="685800" y="3291840"/>
            <a:ext cx="8046720" cy="1737360"/>
          </a:xfrm>
          <a:prstGeom prst="rect">
            <a:avLst/>
          </a:prstGeom>
          <a:noFill/>
          <a:ln/>
        </p:spPr>
        <p:txBody>
          <a:bodyPr wrap="square" lIns="0" tIns="0" rIns="0" bIns="0" rtlCol="0" anchor="ctr"/>
          <a:lstStyle/>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① 私立補助金6,830億円を廃止。廃校でなく「公立化」・移行期間3年</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② 教員給与を40歳上位10%（約1,050万円）へ引き上げ（最優先財源）</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③ 80%を公立学校へ傾斜配分（過疎地優遇）、20%をインフラ・企業誘致へ</a:t>
            </a:r>
            <a:endParaRPr lang="en-US" sz="1100" dirty="0"/>
          </a:p>
          <a:p>
            <a:pPr indent="0" marL="0">
              <a:spcAft>
                <a:spcPts val="500"/>
              </a:spcAft>
              <a:buNone/>
            </a:pPr>
            <a:r>
              <a:rPr lang="en-US" sz="1100" dirty="0">
                <a:solidFill>
                  <a:srgbClr val="2B2F36"/>
                </a:solidFill>
                <a:latin typeface="Arial" pitchFamily="34" charset="0"/>
                <a:ea typeface="BIZ UDPGothic" pitchFamily="34" charset="-122"/>
                <a:cs typeface="BIZ UDPGothic" pitchFamily="34" charset="-120"/>
              </a:rPr>
              <a:t>④ 20%の使途は住民投票で確定。箱物は2段階判定（自動照合＋住民投票）</a:t>
            </a:r>
            <a:endParaRPr lang="en-US" sz="1100" dirty="0"/>
          </a:p>
          <a:p>
            <a:pPr indent="0" marL="0">
              <a:buNone/>
            </a:pPr>
            <a:r>
              <a:rPr lang="en-US" sz="1100" dirty="0">
                <a:solidFill>
                  <a:srgbClr val="2B2F36"/>
                </a:solidFill>
                <a:latin typeface="Arial" pitchFamily="34" charset="0"/>
                <a:ea typeface="BIZ UDPGothic" pitchFamily="34" charset="-122"/>
                <a:cs typeface="BIZ UDPGothic" pitchFamily="34" charset="-120"/>
              </a:rPr>
              <a:t>⑤ 学習指導要領廃止、都道府県・学校が地域産業連動で自律的に設計</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提言009：高校教育の「全面公立化」と地方財政傾斜配分による地方創生戦略</dc:title>
  <dc:subject>PptxGenJS Presentation</dc:subject>
  <dc:creator>PptxGenJS</dc:creator>
  <cp:lastModifiedBy>PptxGenJS</cp:lastModifiedBy>
  <cp:revision>1</cp:revision>
  <dcterms:created xsi:type="dcterms:W3CDTF">2026-06-29T12:57:19Z</dcterms:created>
  <dcterms:modified xsi:type="dcterms:W3CDTF">2026-06-29T12:57:19Z</dcterms:modified>
</cp:coreProperties>
</file>