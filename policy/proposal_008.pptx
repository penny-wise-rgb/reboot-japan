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C8161D"/>
          </a:solidFill>
          <a:ln w="12700">
            <a:solidFill>
              <a:srgbClr val="C8161D"/>
            </a:solidFill>
            <a:prstDash val="solid"/>
          </a:ln>
        </p:spPr>
      </p:sp>
      <p:sp>
        <p:nvSpPr>
          <p:cNvPr id="3" name="Text 1"/>
          <p:cNvSpPr/>
          <p:nvPr/>
        </p:nvSpPr>
        <p:spPr>
          <a:xfrm>
            <a:off x="685800" y="822960"/>
            <a:ext cx="8046720" cy="347472"/>
          </a:xfrm>
          <a:prstGeom prst="rect">
            <a:avLst/>
          </a:prstGeom>
          <a:noFill/>
          <a:ln/>
        </p:spPr>
        <p:txBody>
          <a:bodyPr wrap="square" lIns="0" tIns="0" rIns="0" bIns="0" rtlCol="0" anchor="ctr"/>
          <a:lstStyle/>
          <a:p>
            <a:pPr indent="0" marL="0">
              <a:buNone/>
            </a:pPr>
            <a:r>
              <a:rPr lang="en-US" sz="1000" b="1" spc="300" kern="0" dirty="0">
                <a:solidFill>
                  <a:srgbClr val="C8161D"/>
                </a:solidFill>
                <a:latin typeface="Arial" pitchFamily="34" charset="0"/>
                <a:ea typeface="BIZ UDPGothic" pitchFamily="34" charset="-122"/>
                <a:cs typeface="BIZ UDPGothic" pitchFamily="34" charset="-120"/>
              </a:rPr>
              <a:t>政策提言プラットフォーム ── 提言008</a:t>
            </a:r>
            <a:endParaRPr lang="en-US" sz="1000" dirty="0"/>
          </a:p>
        </p:txBody>
      </p:sp>
      <p:sp>
        <p:nvSpPr>
          <p:cNvPr id="4" name="Text 2"/>
          <p:cNvSpPr/>
          <p:nvPr/>
        </p:nvSpPr>
        <p:spPr>
          <a:xfrm>
            <a:off x="685800" y="1234440"/>
            <a:ext cx="8046720" cy="2286000"/>
          </a:xfrm>
          <a:prstGeom prst="rect">
            <a:avLst/>
          </a:prstGeom>
          <a:noFill/>
          <a:ln/>
        </p:spPr>
        <p:txBody>
          <a:bodyPr wrap="square" lIns="0" tIns="0" rIns="0" bIns="0" rtlCol="0" anchor="ctr"/>
          <a:lstStyle/>
          <a:p>
            <a:pPr indent="0" marL="0">
              <a:buNone/>
            </a:pPr>
            <a:r>
              <a:rPr lang="en-US" sz="3200" b="1" dirty="0">
                <a:solidFill>
                  <a:srgbClr val="16181D"/>
                </a:solidFill>
                <a:latin typeface="BIZ UDPGothic" pitchFamily="34" charset="0"/>
                <a:ea typeface="BIZ UDPGothic" pitchFamily="34" charset="-122"/>
                <a:cs typeface="BIZ UDPGothic" pitchFamily="34" charset="-120"/>
              </a:rPr>
              <a:t>公費執行の</a:t>
            </a:r>
            <a:endParaRPr lang="en-US" sz="3200" dirty="0"/>
          </a:p>
          <a:p>
            <a:pPr indent="0" marL="0">
              <a:buNone/>
            </a:pPr>
            <a:r>
              <a:rPr lang="en-US" sz="3200" b="1" dirty="0">
                <a:solidFill>
                  <a:srgbClr val="16181D"/>
                </a:solidFill>
                <a:latin typeface="BIZ UDPGothic" pitchFamily="34" charset="0"/>
                <a:ea typeface="BIZ UDPGothic" pitchFamily="34" charset="-122"/>
                <a:cs typeface="BIZ UDPGothic" pitchFamily="34" charset="-120"/>
              </a:rPr>
              <a:t>「完全デジタル透明化」と</a:t>
            </a:r>
            <a:endParaRPr lang="en-US" sz="3200" dirty="0"/>
          </a:p>
          <a:p>
            <a:pPr indent="0" marL="0">
              <a:buNone/>
            </a:pPr>
            <a:r>
              <a:rPr lang="en-US" sz="3200" b="1" dirty="0">
                <a:solidFill>
                  <a:srgbClr val="16181D"/>
                </a:solidFill>
                <a:latin typeface="BIZ UDPGothic" pitchFamily="34" charset="0"/>
                <a:ea typeface="BIZ UDPGothic" pitchFamily="34" charset="-122"/>
                <a:cs typeface="BIZ UDPGothic" pitchFamily="34" charset="-120"/>
              </a:rPr>
              <a:t>多重下請け・利権構造の根絶</a:t>
            </a:r>
            <a:endParaRPr lang="en-US" sz="3200" dirty="0"/>
          </a:p>
        </p:txBody>
      </p:sp>
      <p:sp>
        <p:nvSpPr>
          <p:cNvPr id="5" name="Shape 3"/>
          <p:cNvSpPr/>
          <p:nvPr/>
        </p:nvSpPr>
        <p:spPr>
          <a:xfrm>
            <a:off x="685800" y="3611880"/>
            <a:ext cx="7772400" cy="13716"/>
          </a:xfrm>
          <a:prstGeom prst="rect">
            <a:avLst/>
          </a:prstGeom>
          <a:solidFill>
            <a:srgbClr val="DDE0E6"/>
          </a:solidFill>
          <a:ln w="12700">
            <a:solidFill>
              <a:srgbClr val="DDE0E6"/>
            </a:solidFill>
            <a:prstDash val="solid"/>
          </a:ln>
        </p:spPr>
      </p:sp>
      <p:sp>
        <p:nvSpPr>
          <p:cNvPr id="6" name="Text 4"/>
          <p:cNvSpPr/>
          <p:nvPr/>
        </p:nvSpPr>
        <p:spPr>
          <a:xfrm>
            <a:off x="685800" y="3730752"/>
            <a:ext cx="8046720" cy="329184"/>
          </a:xfrm>
          <a:prstGeom prst="rect">
            <a:avLst/>
          </a:prstGeom>
          <a:noFill/>
          <a:ln/>
        </p:spPr>
        <p:txBody>
          <a:bodyPr wrap="square" lIns="0" tIns="0" rIns="0" bIns="0" rtlCol="0" anchor="ctr"/>
          <a:lstStyle/>
          <a:p>
            <a:pPr indent="0" marL="0">
              <a:buNone/>
            </a:pPr>
            <a:r>
              <a:rPr lang="en-US" sz="1100" dirty="0">
                <a:solidFill>
                  <a:srgbClr val="626875"/>
                </a:solidFill>
                <a:latin typeface="Arial" pitchFamily="34" charset="0"/>
                <a:ea typeface="BIZ UDPGothic" pitchFamily="34" charset="-122"/>
                <a:cs typeface="BIZ UDPGothic" pitchFamily="34" charset="-120"/>
              </a:rPr>
              <a:t>REBOOT JAPAN ── 市民による政策提言プラットフォーム</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PROBLEM</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「設計ミス」が利権を生み続けている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71600"/>
            <a:ext cx="8229600" cy="950976"/>
          </a:xfrm>
          <a:prstGeom prst="roundRect">
            <a:avLst>
              <a:gd name="adj" fmla="val 7692"/>
            </a:avLst>
          </a:prstGeom>
          <a:solidFill>
            <a:srgbClr val="FFFFFF"/>
          </a:solidFill>
          <a:ln w="12700">
            <a:solidFill>
              <a:srgbClr val="DDE0E6"/>
            </a:solidFill>
            <a:prstDash val="solid"/>
          </a:ln>
        </p:spPr>
      </p:sp>
      <p:sp>
        <p:nvSpPr>
          <p:cNvPr id="6" name="Text 4"/>
          <p:cNvSpPr/>
          <p:nvPr/>
        </p:nvSpPr>
        <p:spPr>
          <a:xfrm>
            <a:off x="594360" y="1444752"/>
            <a:ext cx="640080" cy="804672"/>
          </a:xfrm>
          <a:prstGeom prst="rect">
            <a:avLst/>
          </a:prstGeom>
          <a:noFill/>
          <a:ln/>
        </p:spPr>
        <p:txBody>
          <a:bodyPr wrap="square" lIns="0" tIns="0" rIns="0" bIns="0" rtlCol="0" anchor="ctr"/>
          <a:lstStyle/>
          <a:p>
            <a:pPr algn="ctr" indent="0" marL="0">
              <a:buNone/>
            </a:pPr>
            <a:r>
              <a:rPr lang="en-US" sz="2600" b="1" dirty="0">
                <a:solidFill>
                  <a:srgbClr val="C8161D"/>
                </a:solidFill>
                <a:latin typeface="BIZ UDPGothic" pitchFamily="34" charset="0"/>
                <a:ea typeface="BIZ UDPGothic" pitchFamily="34" charset="-122"/>
                <a:cs typeface="BIZ UDPGothic" pitchFamily="34" charset="-120"/>
              </a:rPr>
              <a:t>01</a:t>
            </a:r>
            <a:endParaRPr lang="en-US" sz="2600" dirty="0"/>
          </a:p>
        </p:txBody>
      </p:sp>
      <p:sp>
        <p:nvSpPr>
          <p:cNvPr id="7" name="Shape 5"/>
          <p:cNvSpPr/>
          <p:nvPr/>
        </p:nvSpPr>
        <p:spPr>
          <a:xfrm>
            <a:off x="1298448" y="1536192"/>
            <a:ext cx="13716" cy="621792"/>
          </a:xfrm>
          <a:prstGeom prst="rect">
            <a:avLst/>
          </a:prstGeom>
          <a:solidFill>
            <a:srgbClr val="DDE0E6"/>
          </a:solidFill>
          <a:ln w="12700">
            <a:solidFill>
              <a:srgbClr val="DDE0E6"/>
            </a:solidFill>
            <a:prstDash val="solid"/>
          </a:ln>
        </p:spPr>
      </p:sp>
      <p:sp>
        <p:nvSpPr>
          <p:cNvPr id="8" name="Text 6"/>
          <p:cNvSpPr/>
          <p:nvPr/>
        </p:nvSpPr>
        <p:spPr>
          <a:xfrm>
            <a:off x="1444752" y="1463040"/>
            <a:ext cx="7040880" cy="329184"/>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アナログ運用が不正の温床</a:t>
            </a:r>
            <a:endParaRPr lang="en-US" sz="1400" dirty="0"/>
          </a:p>
        </p:txBody>
      </p:sp>
      <p:sp>
        <p:nvSpPr>
          <p:cNvPr id="9" name="Text 7"/>
          <p:cNvSpPr/>
          <p:nvPr/>
        </p:nvSpPr>
        <p:spPr>
          <a:xfrm>
            <a:off x="1444752" y="1810512"/>
            <a:ext cx="704088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定額支給・領収書不要・事後報告。カラ出張や不透明な経費を生む昭和型の制度設計が今も現役で動いている</a:t>
            </a:r>
            <a:endParaRPr lang="en-US" sz="1100" dirty="0"/>
          </a:p>
        </p:txBody>
      </p:sp>
      <p:sp>
        <p:nvSpPr>
          <p:cNvPr id="10" name="Shape 8"/>
          <p:cNvSpPr/>
          <p:nvPr/>
        </p:nvSpPr>
        <p:spPr>
          <a:xfrm>
            <a:off x="457200" y="2450592"/>
            <a:ext cx="8229600" cy="950976"/>
          </a:xfrm>
          <a:prstGeom prst="roundRect">
            <a:avLst>
              <a:gd name="adj" fmla="val 7692"/>
            </a:avLst>
          </a:prstGeom>
          <a:solidFill>
            <a:srgbClr val="FFFFFF"/>
          </a:solidFill>
          <a:ln w="12700">
            <a:solidFill>
              <a:srgbClr val="DDE0E6"/>
            </a:solidFill>
            <a:prstDash val="solid"/>
          </a:ln>
        </p:spPr>
      </p:sp>
      <p:sp>
        <p:nvSpPr>
          <p:cNvPr id="11" name="Text 9"/>
          <p:cNvSpPr/>
          <p:nvPr/>
        </p:nvSpPr>
        <p:spPr>
          <a:xfrm>
            <a:off x="594360" y="2523744"/>
            <a:ext cx="640080" cy="804672"/>
          </a:xfrm>
          <a:prstGeom prst="rect">
            <a:avLst/>
          </a:prstGeom>
          <a:noFill/>
          <a:ln/>
        </p:spPr>
        <p:txBody>
          <a:bodyPr wrap="square" lIns="0" tIns="0" rIns="0" bIns="0" rtlCol="0" anchor="ctr"/>
          <a:lstStyle/>
          <a:p>
            <a:pPr algn="ctr" indent="0" marL="0">
              <a:buNone/>
            </a:pPr>
            <a:r>
              <a:rPr lang="en-US" sz="2600" b="1" dirty="0">
                <a:solidFill>
                  <a:srgbClr val="C8161D"/>
                </a:solidFill>
                <a:latin typeface="BIZ UDPGothic" pitchFamily="34" charset="0"/>
                <a:ea typeface="BIZ UDPGothic" pitchFamily="34" charset="-122"/>
                <a:cs typeface="BIZ UDPGothic" pitchFamily="34" charset="-120"/>
              </a:rPr>
              <a:t>02</a:t>
            </a:r>
            <a:endParaRPr lang="en-US" sz="2600" dirty="0"/>
          </a:p>
        </p:txBody>
      </p:sp>
      <p:sp>
        <p:nvSpPr>
          <p:cNvPr id="12" name="Shape 10"/>
          <p:cNvSpPr/>
          <p:nvPr/>
        </p:nvSpPr>
        <p:spPr>
          <a:xfrm>
            <a:off x="1298448" y="2615184"/>
            <a:ext cx="13716" cy="621792"/>
          </a:xfrm>
          <a:prstGeom prst="rect">
            <a:avLst/>
          </a:prstGeom>
          <a:solidFill>
            <a:srgbClr val="DDE0E6"/>
          </a:solidFill>
          <a:ln w="12700">
            <a:solidFill>
              <a:srgbClr val="DDE0E6"/>
            </a:solidFill>
            <a:prstDash val="solid"/>
          </a:ln>
        </p:spPr>
      </p:sp>
      <p:sp>
        <p:nvSpPr>
          <p:cNvPr id="13" name="Text 11"/>
          <p:cNvSpPr/>
          <p:nvPr/>
        </p:nvSpPr>
        <p:spPr>
          <a:xfrm>
            <a:off x="1444752" y="2542032"/>
            <a:ext cx="7040880" cy="329184"/>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多重下請けによる中抜き</a:t>
            </a:r>
            <a:endParaRPr lang="en-US" sz="1400" dirty="0"/>
          </a:p>
        </p:txBody>
      </p:sp>
      <p:sp>
        <p:nvSpPr>
          <p:cNvPr id="14" name="Text 12"/>
          <p:cNvSpPr/>
          <p:nvPr/>
        </p:nvSpPr>
        <p:spPr>
          <a:xfrm>
            <a:off x="1444752" y="2889504"/>
            <a:ext cx="704088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年間25〜30兆円の公共調達市場。元請け→中間業者→下請けの多重構造が、実力ある末端業者への適正対価を阻んでいる</a:t>
            </a:r>
            <a:endParaRPr lang="en-US" sz="1100" dirty="0"/>
          </a:p>
        </p:txBody>
      </p:sp>
      <p:sp>
        <p:nvSpPr>
          <p:cNvPr id="15" name="Shape 13"/>
          <p:cNvSpPr/>
          <p:nvPr/>
        </p:nvSpPr>
        <p:spPr>
          <a:xfrm>
            <a:off x="457200" y="3529584"/>
            <a:ext cx="8229600" cy="950976"/>
          </a:xfrm>
          <a:prstGeom prst="roundRect">
            <a:avLst>
              <a:gd name="adj" fmla="val 7692"/>
            </a:avLst>
          </a:prstGeom>
          <a:solidFill>
            <a:srgbClr val="FFFFFF"/>
          </a:solidFill>
          <a:ln w="12700">
            <a:solidFill>
              <a:srgbClr val="DDE0E6"/>
            </a:solidFill>
            <a:prstDash val="solid"/>
          </a:ln>
        </p:spPr>
      </p:sp>
      <p:sp>
        <p:nvSpPr>
          <p:cNvPr id="16" name="Text 14"/>
          <p:cNvSpPr/>
          <p:nvPr/>
        </p:nvSpPr>
        <p:spPr>
          <a:xfrm>
            <a:off x="594360" y="3602736"/>
            <a:ext cx="640080" cy="804672"/>
          </a:xfrm>
          <a:prstGeom prst="rect">
            <a:avLst/>
          </a:prstGeom>
          <a:noFill/>
          <a:ln/>
        </p:spPr>
        <p:txBody>
          <a:bodyPr wrap="square" lIns="0" tIns="0" rIns="0" bIns="0" rtlCol="0" anchor="ctr"/>
          <a:lstStyle/>
          <a:p>
            <a:pPr algn="ctr" indent="0" marL="0">
              <a:buNone/>
            </a:pPr>
            <a:r>
              <a:rPr lang="en-US" sz="2600" b="1" dirty="0">
                <a:solidFill>
                  <a:srgbClr val="C8161D"/>
                </a:solidFill>
                <a:latin typeface="BIZ UDPGothic" pitchFamily="34" charset="0"/>
                <a:ea typeface="BIZ UDPGothic" pitchFamily="34" charset="-122"/>
                <a:cs typeface="BIZ UDPGothic" pitchFamily="34" charset="-120"/>
              </a:rPr>
              <a:t>03</a:t>
            </a:r>
            <a:endParaRPr lang="en-US" sz="2600" dirty="0"/>
          </a:p>
        </p:txBody>
      </p:sp>
      <p:sp>
        <p:nvSpPr>
          <p:cNvPr id="17" name="Shape 15"/>
          <p:cNvSpPr/>
          <p:nvPr/>
        </p:nvSpPr>
        <p:spPr>
          <a:xfrm>
            <a:off x="1298448" y="3694176"/>
            <a:ext cx="13716" cy="621792"/>
          </a:xfrm>
          <a:prstGeom prst="rect">
            <a:avLst/>
          </a:prstGeom>
          <a:solidFill>
            <a:srgbClr val="DDE0E6"/>
          </a:solidFill>
          <a:ln w="12700">
            <a:solidFill>
              <a:srgbClr val="DDE0E6"/>
            </a:solidFill>
            <a:prstDash val="solid"/>
          </a:ln>
        </p:spPr>
      </p:sp>
      <p:sp>
        <p:nvSpPr>
          <p:cNvPr id="18" name="Text 16"/>
          <p:cNvSpPr/>
          <p:nvPr/>
        </p:nvSpPr>
        <p:spPr>
          <a:xfrm>
            <a:off x="1444752" y="3621024"/>
            <a:ext cx="7040880" cy="329184"/>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補助金・委託費の不透明な使途</a:t>
            </a:r>
            <a:endParaRPr lang="en-US" sz="1400" dirty="0"/>
          </a:p>
        </p:txBody>
      </p:sp>
      <p:sp>
        <p:nvSpPr>
          <p:cNvPr id="19" name="Text 17"/>
          <p:cNvSpPr/>
          <p:nvPr/>
        </p:nvSpPr>
        <p:spPr>
          <a:xfrm>
            <a:off x="1444752" y="3968496"/>
            <a:ext cx="704088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国・自治体から民間へ流れる公的資金の使途追跡が不可能。目的外支出・中間搾取が構造的に許容されている</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OVERVIEW</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5つの基幹政策</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「税金が1円でも動くプロセス」に例外を認めない。テクノロジーで不正を物理的に不可能にする。</a:t>
            </a:r>
            <a:endParaRPr lang="en-US" sz="1100" dirty="0"/>
          </a:p>
        </p:txBody>
      </p:sp>
      <p:sp>
        <p:nvSpPr>
          <p:cNvPr id="6" name="Shape 4"/>
          <p:cNvSpPr/>
          <p:nvPr/>
        </p:nvSpPr>
        <p:spPr>
          <a:xfrm>
            <a:off x="347472" y="1755648"/>
            <a:ext cx="1572768" cy="3108960"/>
          </a:xfrm>
          <a:prstGeom prst="roundRect">
            <a:avLst>
              <a:gd name="adj" fmla="val 4651"/>
            </a:avLst>
          </a:prstGeom>
          <a:solidFill>
            <a:srgbClr val="FFFFFF"/>
          </a:solidFill>
          <a:ln w="12700">
            <a:solidFill>
              <a:srgbClr val="DDE0E6"/>
            </a:solidFill>
            <a:prstDash val="solid"/>
          </a:ln>
        </p:spPr>
      </p:sp>
      <p:sp>
        <p:nvSpPr>
          <p:cNvPr id="7" name="Shape 5"/>
          <p:cNvSpPr/>
          <p:nvPr/>
        </p:nvSpPr>
        <p:spPr>
          <a:xfrm>
            <a:off x="676656" y="1883664"/>
            <a:ext cx="914400" cy="493776"/>
          </a:xfrm>
          <a:prstGeom prst="roundRect">
            <a:avLst>
              <a:gd name="adj" fmla="val 11111"/>
            </a:avLst>
          </a:prstGeom>
          <a:solidFill>
            <a:srgbClr val="C8161D"/>
          </a:solidFill>
          <a:ln w="12700">
            <a:solidFill>
              <a:srgbClr val="C8161D"/>
            </a:solidFill>
            <a:prstDash val="solid"/>
          </a:ln>
        </p:spPr>
      </p:sp>
      <p:sp>
        <p:nvSpPr>
          <p:cNvPr id="8" name="Text 6"/>
          <p:cNvSpPr/>
          <p:nvPr/>
        </p:nvSpPr>
        <p:spPr>
          <a:xfrm>
            <a:off x="676656" y="1883664"/>
            <a:ext cx="914400"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①</a:t>
            </a:r>
            <a:endParaRPr lang="en-US" sz="1800" dirty="0"/>
          </a:p>
        </p:txBody>
      </p:sp>
      <p:sp>
        <p:nvSpPr>
          <p:cNvPr id="9" name="Text 7"/>
          <p:cNvSpPr/>
          <p:nvPr/>
        </p:nvSpPr>
        <p:spPr>
          <a:xfrm>
            <a:off x="420624" y="2450592"/>
            <a:ext cx="1426464" cy="749808"/>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公費執行DX</a:t>
            </a:r>
            <a:endParaRPr lang="en-US" sz="1200" dirty="0"/>
          </a:p>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の義務化</a:t>
            </a:r>
            <a:endParaRPr lang="en-US" sz="1200" dirty="0"/>
          </a:p>
        </p:txBody>
      </p:sp>
      <p:sp>
        <p:nvSpPr>
          <p:cNvPr id="10" name="Shape 8"/>
          <p:cNvSpPr/>
          <p:nvPr/>
        </p:nvSpPr>
        <p:spPr>
          <a:xfrm>
            <a:off x="603504" y="3218688"/>
            <a:ext cx="1060704" cy="10973"/>
          </a:xfrm>
          <a:prstGeom prst="rect">
            <a:avLst/>
          </a:prstGeom>
          <a:solidFill>
            <a:srgbClr val="DDE0E6"/>
          </a:solidFill>
          <a:ln w="12700">
            <a:solidFill>
              <a:srgbClr val="DDE0E6"/>
            </a:solidFill>
            <a:prstDash val="solid"/>
          </a:ln>
        </p:spPr>
      </p:sp>
      <p:sp>
        <p:nvSpPr>
          <p:cNvPr id="11" name="Text 9"/>
          <p:cNvSpPr/>
          <p:nvPr/>
        </p:nvSpPr>
        <p:spPr>
          <a:xfrm>
            <a:off x="420624" y="3310128"/>
            <a:ext cx="1426464" cy="1463040"/>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共通クラウド＋</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コーポレートカード</a:t>
            </a:r>
            <a:endParaRPr lang="en-US" sz="1000" dirty="0"/>
          </a:p>
        </p:txBody>
      </p:sp>
      <p:sp>
        <p:nvSpPr>
          <p:cNvPr id="12" name="Shape 10"/>
          <p:cNvSpPr/>
          <p:nvPr/>
        </p:nvSpPr>
        <p:spPr>
          <a:xfrm>
            <a:off x="2048256" y="1755648"/>
            <a:ext cx="1572768" cy="3108960"/>
          </a:xfrm>
          <a:prstGeom prst="roundRect">
            <a:avLst>
              <a:gd name="adj" fmla="val 4651"/>
            </a:avLst>
          </a:prstGeom>
          <a:solidFill>
            <a:srgbClr val="FFFFFF"/>
          </a:solidFill>
          <a:ln w="12700">
            <a:solidFill>
              <a:srgbClr val="DDE0E6"/>
            </a:solidFill>
            <a:prstDash val="solid"/>
          </a:ln>
        </p:spPr>
      </p:sp>
      <p:sp>
        <p:nvSpPr>
          <p:cNvPr id="13" name="Shape 11"/>
          <p:cNvSpPr/>
          <p:nvPr/>
        </p:nvSpPr>
        <p:spPr>
          <a:xfrm>
            <a:off x="2377440" y="1883664"/>
            <a:ext cx="914400" cy="493776"/>
          </a:xfrm>
          <a:prstGeom prst="roundRect">
            <a:avLst>
              <a:gd name="adj" fmla="val 11111"/>
            </a:avLst>
          </a:prstGeom>
          <a:solidFill>
            <a:srgbClr val="C8161D"/>
          </a:solidFill>
          <a:ln w="12700">
            <a:solidFill>
              <a:srgbClr val="C8161D"/>
            </a:solidFill>
            <a:prstDash val="solid"/>
          </a:ln>
        </p:spPr>
      </p:sp>
      <p:sp>
        <p:nvSpPr>
          <p:cNvPr id="14" name="Text 12"/>
          <p:cNvSpPr/>
          <p:nvPr/>
        </p:nvSpPr>
        <p:spPr>
          <a:xfrm>
            <a:off x="2377440" y="1883664"/>
            <a:ext cx="914400"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②</a:t>
            </a:r>
            <a:endParaRPr lang="en-US" sz="1800" dirty="0"/>
          </a:p>
        </p:txBody>
      </p:sp>
      <p:sp>
        <p:nvSpPr>
          <p:cNvPr id="15" name="Text 13"/>
          <p:cNvSpPr/>
          <p:nvPr/>
        </p:nvSpPr>
        <p:spPr>
          <a:xfrm>
            <a:off x="2121408" y="2450592"/>
            <a:ext cx="1426464" cy="749808"/>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自動ガバナンス</a:t>
            </a:r>
            <a:endParaRPr lang="en-US" sz="1200" dirty="0"/>
          </a:p>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の導入</a:t>
            </a:r>
            <a:endParaRPr lang="en-US" sz="1200" dirty="0"/>
          </a:p>
        </p:txBody>
      </p:sp>
      <p:sp>
        <p:nvSpPr>
          <p:cNvPr id="16" name="Shape 14"/>
          <p:cNvSpPr/>
          <p:nvPr/>
        </p:nvSpPr>
        <p:spPr>
          <a:xfrm>
            <a:off x="2304288" y="3218688"/>
            <a:ext cx="1060704" cy="10973"/>
          </a:xfrm>
          <a:prstGeom prst="rect">
            <a:avLst/>
          </a:prstGeom>
          <a:solidFill>
            <a:srgbClr val="DDE0E6"/>
          </a:solidFill>
          <a:ln w="12700">
            <a:solidFill>
              <a:srgbClr val="DDE0E6"/>
            </a:solidFill>
            <a:prstDash val="solid"/>
          </a:ln>
        </p:spPr>
      </p:sp>
      <p:sp>
        <p:nvSpPr>
          <p:cNvPr id="17" name="Text 15"/>
          <p:cNvSpPr/>
          <p:nvPr/>
        </p:nvSpPr>
        <p:spPr>
          <a:xfrm>
            <a:off x="2121408" y="3310128"/>
            <a:ext cx="1426464" cy="1463040"/>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不正支出を</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物理的に不可能に</a:t>
            </a:r>
            <a:endParaRPr lang="en-US" sz="1000" dirty="0"/>
          </a:p>
        </p:txBody>
      </p:sp>
      <p:sp>
        <p:nvSpPr>
          <p:cNvPr id="18" name="Shape 16"/>
          <p:cNvSpPr/>
          <p:nvPr/>
        </p:nvSpPr>
        <p:spPr>
          <a:xfrm>
            <a:off x="3749040" y="1755648"/>
            <a:ext cx="1572768" cy="3108960"/>
          </a:xfrm>
          <a:prstGeom prst="roundRect">
            <a:avLst>
              <a:gd name="adj" fmla="val 4651"/>
            </a:avLst>
          </a:prstGeom>
          <a:solidFill>
            <a:srgbClr val="FFFFFF"/>
          </a:solidFill>
          <a:ln w="12700">
            <a:solidFill>
              <a:srgbClr val="DDE0E6"/>
            </a:solidFill>
            <a:prstDash val="solid"/>
          </a:ln>
        </p:spPr>
      </p:sp>
      <p:sp>
        <p:nvSpPr>
          <p:cNvPr id="19" name="Shape 17"/>
          <p:cNvSpPr/>
          <p:nvPr/>
        </p:nvSpPr>
        <p:spPr>
          <a:xfrm>
            <a:off x="4078224" y="1883664"/>
            <a:ext cx="914400" cy="493776"/>
          </a:xfrm>
          <a:prstGeom prst="roundRect">
            <a:avLst>
              <a:gd name="adj" fmla="val 11111"/>
            </a:avLst>
          </a:prstGeom>
          <a:solidFill>
            <a:srgbClr val="C8161D"/>
          </a:solidFill>
          <a:ln w="12700">
            <a:solidFill>
              <a:srgbClr val="C8161D"/>
            </a:solidFill>
            <a:prstDash val="solid"/>
          </a:ln>
        </p:spPr>
      </p:sp>
      <p:sp>
        <p:nvSpPr>
          <p:cNvPr id="20" name="Text 18"/>
          <p:cNvSpPr/>
          <p:nvPr/>
        </p:nvSpPr>
        <p:spPr>
          <a:xfrm>
            <a:off x="4078224" y="1883664"/>
            <a:ext cx="914400"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③</a:t>
            </a:r>
            <a:endParaRPr lang="en-US" sz="1800" dirty="0"/>
          </a:p>
        </p:txBody>
      </p:sp>
      <p:sp>
        <p:nvSpPr>
          <p:cNvPr id="21" name="Text 19"/>
          <p:cNvSpPr/>
          <p:nvPr/>
        </p:nvSpPr>
        <p:spPr>
          <a:xfrm>
            <a:off x="3822192" y="2450592"/>
            <a:ext cx="1426464" cy="749808"/>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リアルタイム</a:t>
            </a:r>
            <a:endParaRPr lang="en-US" sz="1200" dirty="0"/>
          </a:p>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公開</a:t>
            </a:r>
            <a:endParaRPr lang="en-US" sz="1200" dirty="0"/>
          </a:p>
        </p:txBody>
      </p:sp>
      <p:sp>
        <p:nvSpPr>
          <p:cNvPr id="22" name="Shape 20"/>
          <p:cNvSpPr/>
          <p:nvPr/>
        </p:nvSpPr>
        <p:spPr>
          <a:xfrm>
            <a:off x="4005072" y="3218688"/>
            <a:ext cx="1060704" cy="10973"/>
          </a:xfrm>
          <a:prstGeom prst="rect">
            <a:avLst/>
          </a:prstGeom>
          <a:solidFill>
            <a:srgbClr val="DDE0E6"/>
          </a:solidFill>
          <a:ln w="12700">
            <a:solidFill>
              <a:srgbClr val="DDE0E6"/>
            </a:solidFill>
            <a:prstDash val="solid"/>
          </a:ln>
        </p:spPr>
      </p:sp>
      <p:sp>
        <p:nvSpPr>
          <p:cNvPr id="23" name="Text 21"/>
          <p:cNvSpPr/>
          <p:nvPr/>
        </p:nvSpPr>
        <p:spPr>
          <a:xfrm>
            <a:off x="3822192" y="3310128"/>
            <a:ext cx="1426464" cy="1463040"/>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全公費データを</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オープンデータ化</a:t>
            </a:r>
            <a:endParaRPr lang="en-US" sz="1000" dirty="0"/>
          </a:p>
        </p:txBody>
      </p:sp>
      <p:sp>
        <p:nvSpPr>
          <p:cNvPr id="24" name="Shape 22"/>
          <p:cNvSpPr/>
          <p:nvPr/>
        </p:nvSpPr>
        <p:spPr>
          <a:xfrm>
            <a:off x="5449824" y="1755648"/>
            <a:ext cx="1572768" cy="3108960"/>
          </a:xfrm>
          <a:prstGeom prst="roundRect">
            <a:avLst>
              <a:gd name="adj" fmla="val 4651"/>
            </a:avLst>
          </a:prstGeom>
          <a:solidFill>
            <a:srgbClr val="FFFFFF"/>
          </a:solidFill>
          <a:ln w="12700">
            <a:solidFill>
              <a:srgbClr val="DDE0E6"/>
            </a:solidFill>
            <a:prstDash val="solid"/>
          </a:ln>
        </p:spPr>
      </p:sp>
      <p:sp>
        <p:nvSpPr>
          <p:cNvPr id="25" name="Shape 23"/>
          <p:cNvSpPr/>
          <p:nvPr/>
        </p:nvSpPr>
        <p:spPr>
          <a:xfrm>
            <a:off x="5779008" y="1883664"/>
            <a:ext cx="914400" cy="493776"/>
          </a:xfrm>
          <a:prstGeom prst="roundRect">
            <a:avLst>
              <a:gd name="adj" fmla="val 11111"/>
            </a:avLst>
          </a:prstGeom>
          <a:solidFill>
            <a:srgbClr val="C8161D"/>
          </a:solidFill>
          <a:ln w="12700">
            <a:solidFill>
              <a:srgbClr val="C8161D"/>
            </a:solidFill>
            <a:prstDash val="solid"/>
          </a:ln>
        </p:spPr>
      </p:sp>
      <p:sp>
        <p:nvSpPr>
          <p:cNvPr id="26" name="Text 24"/>
          <p:cNvSpPr/>
          <p:nvPr/>
        </p:nvSpPr>
        <p:spPr>
          <a:xfrm>
            <a:off x="5779008" y="1883664"/>
            <a:ext cx="914400"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④</a:t>
            </a:r>
            <a:endParaRPr lang="en-US" sz="1800" dirty="0"/>
          </a:p>
        </p:txBody>
      </p:sp>
      <p:sp>
        <p:nvSpPr>
          <p:cNvPr id="27" name="Text 25"/>
          <p:cNvSpPr/>
          <p:nvPr/>
        </p:nvSpPr>
        <p:spPr>
          <a:xfrm>
            <a:off x="5522976" y="2450592"/>
            <a:ext cx="1426464" cy="749808"/>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E2E</a:t>
            </a:r>
            <a:endParaRPr lang="en-US" sz="1200" dirty="0"/>
          </a:p>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追跡</a:t>
            </a:r>
            <a:endParaRPr lang="en-US" sz="1200" dirty="0"/>
          </a:p>
        </p:txBody>
      </p:sp>
      <p:sp>
        <p:nvSpPr>
          <p:cNvPr id="28" name="Shape 26"/>
          <p:cNvSpPr/>
          <p:nvPr/>
        </p:nvSpPr>
        <p:spPr>
          <a:xfrm>
            <a:off x="5705856" y="3218688"/>
            <a:ext cx="1060704" cy="10973"/>
          </a:xfrm>
          <a:prstGeom prst="rect">
            <a:avLst/>
          </a:prstGeom>
          <a:solidFill>
            <a:srgbClr val="DDE0E6"/>
          </a:solidFill>
          <a:ln w="12700">
            <a:solidFill>
              <a:srgbClr val="DDE0E6"/>
            </a:solidFill>
            <a:prstDash val="solid"/>
          </a:ln>
        </p:spPr>
      </p:sp>
      <p:sp>
        <p:nvSpPr>
          <p:cNvPr id="29" name="Text 27"/>
          <p:cNvSpPr/>
          <p:nvPr/>
        </p:nvSpPr>
        <p:spPr>
          <a:xfrm>
            <a:off x="5522976" y="3310128"/>
            <a:ext cx="1426464" cy="1463040"/>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補助金・委託費の</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使途を完全追跡</a:t>
            </a:r>
            <a:endParaRPr lang="en-US" sz="1000" dirty="0"/>
          </a:p>
        </p:txBody>
      </p:sp>
      <p:sp>
        <p:nvSpPr>
          <p:cNvPr id="30" name="Shape 28"/>
          <p:cNvSpPr/>
          <p:nvPr/>
        </p:nvSpPr>
        <p:spPr>
          <a:xfrm>
            <a:off x="7150608" y="1755648"/>
            <a:ext cx="1572768" cy="3108960"/>
          </a:xfrm>
          <a:prstGeom prst="roundRect">
            <a:avLst>
              <a:gd name="adj" fmla="val 4651"/>
            </a:avLst>
          </a:prstGeom>
          <a:solidFill>
            <a:srgbClr val="FFFFFF"/>
          </a:solidFill>
          <a:ln w="12700">
            <a:solidFill>
              <a:srgbClr val="DDE0E6"/>
            </a:solidFill>
            <a:prstDash val="solid"/>
          </a:ln>
        </p:spPr>
      </p:sp>
      <p:sp>
        <p:nvSpPr>
          <p:cNvPr id="31" name="Shape 29"/>
          <p:cNvSpPr/>
          <p:nvPr/>
        </p:nvSpPr>
        <p:spPr>
          <a:xfrm>
            <a:off x="7479792" y="1883664"/>
            <a:ext cx="914400" cy="493776"/>
          </a:xfrm>
          <a:prstGeom prst="roundRect">
            <a:avLst>
              <a:gd name="adj" fmla="val 11111"/>
            </a:avLst>
          </a:prstGeom>
          <a:solidFill>
            <a:srgbClr val="C8161D"/>
          </a:solidFill>
          <a:ln w="12700">
            <a:solidFill>
              <a:srgbClr val="C8161D"/>
            </a:solidFill>
            <a:prstDash val="solid"/>
          </a:ln>
        </p:spPr>
      </p:sp>
      <p:sp>
        <p:nvSpPr>
          <p:cNvPr id="32" name="Text 30"/>
          <p:cNvSpPr/>
          <p:nvPr/>
        </p:nvSpPr>
        <p:spPr>
          <a:xfrm>
            <a:off x="7479792" y="1883664"/>
            <a:ext cx="914400"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⑤</a:t>
            </a:r>
            <a:endParaRPr lang="en-US" sz="1800" dirty="0"/>
          </a:p>
        </p:txBody>
      </p:sp>
      <p:sp>
        <p:nvSpPr>
          <p:cNvPr id="33" name="Text 31"/>
          <p:cNvSpPr/>
          <p:nvPr/>
        </p:nvSpPr>
        <p:spPr>
          <a:xfrm>
            <a:off x="7223760" y="2450592"/>
            <a:ext cx="1426464" cy="749808"/>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入札制度の</a:t>
            </a:r>
            <a:endParaRPr lang="en-US" sz="1200" dirty="0"/>
          </a:p>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根本改革</a:t>
            </a:r>
            <a:endParaRPr lang="en-US" sz="1200" dirty="0"/>
          </a:p>
        </p:txBody>
      </p:sp>
      <p:sp>
        <p:nvSpPr>
          <p:cNvPr id="34" name="Shape 32"/>
          <p:cNvSpPr/>
          <p:nvPr/>
        </p:nvSpPr>
        <p:spPr>
          <a:xfrm>
            <a:off x="7406640" y="3218688"/>
            <a:ext cx="1060704" cy="10973"/>
          </a:xfrm>
          <a:prstGeom prst="rect">
            <a:avLst/>
          </a:prstGeom>
          <a:solidFill>
            <a:srgbClr val="DDE0E6"/>
          </a:solidFill>
          <a:ln w="12700">
            <a:solidFill>
              <a:srgbClr val="DDE0E6"/>
            </a:solidFill>
            <a:prstDash val="solid"/>
          </a:ln>
        </p:spPr>
      </p:sp>
      <p:sp>
        <p:nvSpPr>
          <p:cNvPr id="35" name="Text 33"/>
          <p:cNvSpPr/>
          <p:nvPr/>
        </p:nvSpPr>
        <p:spPr>
          <a:xfrm>
            <a:off x="7223760" y="3310128"/>
            <a:ext cx="1426464" cy="1463040"/>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多重下請けを</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法的に解体</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POLICY 01</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公費執行DXの義務化とアナログ精算の法的禁止</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71600"/>
            <a:ext cx="4114800" cy="3566160"/>
          </a:xfrm>
          <a:prstGeom prst="roundRect">
            <a:avLst>
              <a:gd name="adj" fmla="val 2051"/>
            </a:avLst>
          </a:prstGeom>
          <a:solidFill>
            <a:srgbClr val="FCEBEB"/>
          </a:solidFill>
          <a:ln w="12700">
            <a:solidFill>
              <a:srgbClr val="DDE0E6"/>
            </a:solidFill>
            <a:prstDash val="solid"/>
          </a:ln>
        </p:spPr>
      </p:sp>
      <p:sp>
        <p:nvSpPr>
          <p:cNvPr id="6" name="Text 4"/>
          <p:cNvSpPr/>
          <p:nvPr/>
        </p:nvSpPr>
        <p:spPr>
          <a:xfrm>
            <a:off x="640080" y="1499616"/>
            <a:ext cx="3749040" cy="384048"/>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廃止するもの</a:t>
            </a:r>
            <a:endParaRPr lang="en-US" sz="1400" dirty="0"/>
          </a:p>
        </p:txBody>
      </p:sp>
      <p:sp>
        <p:nvSpPr>
          <p:cNvPr id="7" name="Text 5"/>
          <p:cNvSpPr/>
          <p:nvPr/>
        </p:nvSpPr>
        <p:spPr>
          <a:xfrm>
            <a:off x="640080" y="1956816"/>
            <a:ext cx="3749040" cy="2834640"/>
          </a:xfrm>
          <a:prstGeom prst="rect">
            <a:avLst/>
          </a:prstGeom>
          <a:noFill/>
          <a:ln/>
        </p:spPr>
        <p:txBody>
          <a:bodyPr wrap="square" lIns="0" tIns="0" rIns="0" bIns="0" rtlCol="0" anchor="t"/>
          <a:lstStyle/>
          <a:p>
            <a:pPr marL="342900" indent="-342900">
              <a:spcAft>
                <a:spcPts val="1400"/>
              </a:spcAft>
              <a:buSzPct val="100000"/>
              <a:buChar char="•"/>
            </a:pPr>
            <a:r>
              <a:rPr lang="en-US" sz="1100" dirty="0">
                <a:solidFill>
                  <a:srgbClr val="2B2F36"/>
                </a:solidFill>
                <a:latin typeface="Arial" pitchFamily="34" charset="0"/>
                <a:ea typeface="BIZ UDPGothic" pitchFamily="34" charset="-122"/>
                <a:cs typeface="BIZ UDPGothic" pitchFamily="34" charset="-120"/>
              </a:rPr>
              <a:t>現金取り扱い</a:t>
            </a:r>
            <a:endParaRPr lang="en-US" sz="1100" dirty="0"/>
          </a:p>
          <a:p>
            <a:pPr marL="342900" indent="-342900">
              <a:spcAft>
                <a:spcPts val="1400"/>
              </a:spcAft>
              <a:buSzPct val="100000"/>
              <a:buChar char="•"/>
            </a:pPr>
            <a:r>
              <a:rPr lang="en-US" sz="1100" dirty="0">
                <a:solidFill>
                  <a:srgbClr val="2B2F36"/>
                </a:solidFill>
                <a:latin typeface="Arial" pitchFamily="34" charset="0"/>
                <a:ea typeface="BIZ UDPGothic" pitchFamily="34" charset="-122"/>
                <a:cs typeface="BIZ UDPGothic" pitchFamily="34" charset="-120"/>
              </a:rPr>
              <a:t>紙の領収書を貼るアナログ事務</a:t>
            </a:r>
            <a:endParaRPr lang="en-US" sz="1100" dirty="0"/>
          </a:p>
          <a:p>
            <a:pPr marL="342900" indent="-342900">
              <a:spcAft>
                <a:spcPts val="1400"/>
              </a:spcAft>
              <a:buSzPct val="100000"/>
              <a:buChar char="•"/>
            </a:pPr>
            <a:r>
              <a:rPr lang="en-US" sz="1100" dirty="0">
                <a:solidFill>
                  <a:srgbClr val="2B2F36"/>
                </a:solidFill>
                <a:latin typeface="Arial" pitchFamily="34" charset="0"/>
                <a:ea typeface="BIZ UDPGothic" pitchFamily="34" charset="-122"/>
                <a:cs typeface="BIZ UDPGothic" pitchFamily="34" charset="-120"/>
              </a:rPr>
              <a:t>定額支給・事後報告による精算</a:t>
            </a:r>
            <a:endParaRPr lang="en-US" sz="1100" dirty="0"/>
          </a:p>
        </p:txBody>
      </p:sp>
      <p:sp>
        <p:nvSpPr>
          <p:cNvPr id="8" name="Shape 6"/>
          <p:cNvSpPr/>
          <p:nvPr/>
        </p:nvSpPr>
        <p:spPr>
          <a:xfrm>
            <a:off x="4892040" y="1371600"/>
            <a:ext cx="4114800" cy="3566160"/>
          </a:xfrm>
          <a:prstGeom prst="roundRect">
            <a:avLst>
              <a:gd name="adj" fmla="val 2051"/>
            </a:avLst>
          </a:prstGeom>
          <a:solidFill>
            <a:srgbClr val="E9EFF8"/>
          </a:solidFill>
          <a:ln w="12700">
            <a:solidFill>
              <a:srgbClr val="DDE0E6"/>
            </a:solidFill>
            <a:prstDash val="solid"/>
          </a:ln>
        </p:spPr>
      </p:sp>
      <p:sp>
        <p:nvSpPr>
          <p:cNvPr id="9" name="Text 7"/>
          <p:cNvSpPr/>
          <p:nvPr/>
        </p:nvSpPr>
        <p:spPr>
          <a:xfrm>
            <a:off x="5074920" y="1499616"/>
            <a:ext cx="3749040" cy="384048"/>
          </a:xfrm>
          <a:prstGeom prst="rect">
            <a:avLst/>
          </a:prstGeom>
          <a:noFill/>
          <a:ln/>
        </p:spPr>
        <p:txBody>
          <a:bodyPr wrap="square" lIns="0" tIns="0" rIns="0" bIns="0" rtlCol="0" anchor="ctr"/>
          <a:lstStyle/>
          <a:p>
            <a:pPr indent="0" marL="0">
              <a:buNone/>
            </a:pPr>
            <a:r>
              <a:rPr lang="en-US" sz="1400" b="1" dirty="0">
                <a:solidFill>
                  <a:srgbClr val="1D4F91"/>
                </a:solidFill>
                <a:latin typeface="BIZ UDPGothic" pitchFamily="34" charset="0"/>
                <a:ea typeface="BIZ UDPGothic" pitchFamily="34" charset="-122"/>
                <a:cs typeface="BIZ UDPGothic" pitchFamily="34" charset="-120"/>
              </a:rPr>
              <a:t>実現すること</a:t>
            </a:r>
            <a:endParaRPr lang="en-US" sz="1400" dirty="0"/>
          </a:p>
        </p:txBody>
      </p:sp>
      <p:sp>
        <p:nvSpPr>
          <p:cNvPr id="10" name="Text 8"/>
          <p:cNvSpPr/>
          <p:nvPr/>
        </p:nvSpPr>
        <p:spPr>
          <a:xfrm>
            <a:off x="5074920" y="1956816"/>
            <a:ext cx="3749040" cy="2834640"/>
          </a:xfrm>
          <a:prstGeom prst="rect">
            <a:avLst/>
          </a:prstGeom>
          <a:noFill/>
          <a:ln/>
        </p:spPr>
        <p:txBody>
          <a:bodyPr wrap="square" lIns="0" tIns="0" rIns="0" bIns="0" rtlCol="0" anchor="t"/>
          <a:lstStyle/>
          <a:p>
            <a:pPr marL="342900" indent="-342900">
              <a:spcAft>
                <a:spcPts val="1400"/>
              </a:spcAft>
              <a:buSzPct val="100000"/>
              <a:buChar char="•"/>
            </a:pPr>
            <a:r>
              <a:rPr lang="en-US" sz="1100" dirty="0">
                <a:solidFill>
                  <a:srgbClr val="2B2F36"/>
                </a:solidFill>
                <a:latin typeface="Arial" pitchFamily="34" charset="0"/>
                <a:ea typeface="BIZ UDPGothic" pitchFamily="34" charset="-122"/>
                <a:cs typeface="BIZ UDPGothic" pitchFamily="34" charset="-120"/>
              </a:rPr>
              <a:t>決済データが改ざん不可能な形でシステムに直接連携</a:t>
            </a:r>
            <a:endParaRPr lang="en-US" sz="1100" dirty="0"/>
          </a:p>
          <a:p>
            <a:pPr marL="342900" indent="-342900">
              <a:spcAft>
                <a:spcPts val="1400"/>
              </a:spcAft>
              <a:buSzPct val="100000"/>
              <a:buChar char="•"/>
            </a:pPr>
            <a:r>
              <a:rPr lang="en-US" sz="1100" dirty="0">
                <a:solidFill>
                  <a:srgbClr val="2B2F36"/>
                </a:solidFill>
                <a:latin typeface="Arial" pitchFamily="34" charset="0"/>
                <a:ea typeface="BIZ UDPGothic" pitchFamily="34" charset="-122"/>
                <a:cs typeface="BIZ UDPGothic" pitchFamily="34" charset="-120"/>
              </a:rPr>
              <a:t>カラ出張・不正利用の余地をゼロに</a:t>
            </a:r>
            <a:endParaRPr lang="en-US" sz="1100" dirty="0"/>
          </a:p>
          <a:p>
            <a:pPr marL="342900" indent="-342900">
              <a:spcAft>
                <a:spcPts val="1400"/>
              </a:spcAft>
              <a:buSzPct val="100000"/>
              <a:buChar char="•"/>
            </a:pPr>
            <a:r>
              <a:rPr lang="en-US" sz="1100" dirty="0">
                <a:solidFill>
                  <a:srgbClr val="2B2F36"/>
                </a:solidFill>
                <a:latin typeface="Arial" pitchFamily="34" charset="0"/>
                <a:ea typeface="BIZ UDPGothic" pitchFamily="34" charset="-122"/>
                <a:cs typeface="BIZ UDPGothic" pitchFamily="34" charset="-120"/>
              </a:rPr>
              <a:t>公務員のアナログ精算事務を9割削減し住民サービスへリソースをシフト</a:t>
            </a:r>
            <a:endParaRPr lang="en-US" sz="1100" dirty="0"/>
          </a:p>
        </p:txBody>
      </p:sp>
      <p:sp>
        <p:nvSpPr>
          <p:cNvPr id="11" name="Text 9"/>
          <p:cNvSpPr/>
          <p:nvPr/>
        </p:nvSpPr>
        <p:spPr>
          <a:xfrm>
            <a:off x="4160520" y="2743200"/>
            <a:ext cx="731520" cy="731520"/>
          </a:xfrm>
          <a:prstGeom prst="rect">
            <a:avLst/>
          </a:prstGeom>
          <a:noFill/>
          <a:ln/>
        </p:spPr>
        <p:txBody>
          <a:bodyPr wrap="square" lIns="0" tIns="0" rIns="0" bIns="0" rtlCol="0" anchor="ctr"/>
          <a:lstStyle/>
          <a:p>
            <a:pPr algn="ctr" indent="0" marL="0">
              <a:buNone/>
            </a:pPr>
            <a:r>
              <a:rPr lang="en-US" sz="3600" dirty="0">
                <a:solidFill>
                  <a:srgbClr val="C8161D"/>
                </a:solidFill>
                <a:latin typeface="Arial" pitchFamily="34" charset="0"/>
                <a:ea typeface="BIZ UDPGothic" pitchFamily="34" charset="-122"/>
                <a:cs typeface="BIZ UDPGothic" pitchFamily="34" charset="-120"/>
              </a:rPr>
              <a:t>→</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POLICY 01 — KEY RISK</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1800" b="1" dirty="0">
                <a:solidFill>
                  <a:srgbClr val="16181D"/>
                </a:solidFill>
                <a:latin typeface="BIZ UDPGothic" pitchFamily="34" charset="0"/>
                <a:ea typeface="BIZ UDPGothic" pitchFamily="34" charset="-122"/>
                <a:cs typeface="BIZ UDPGothic" pitchFamily="34" charset="-120"/>
              </a:rPr>
              <a:t>「透明化システムの調達」が最大の不透明案件になるリスクをどう封じるか</a:t>
            </a:r>
            <a:endParaRPr lang="en-US" sz="1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298448"/>
            <a:ext cx="8229600" cy="585216"/>
          </a:xfrm>
          <a:prstGeom prst="roundRect">
            <a:avLst>
              <a:gd name="adj" fmla="val 12500"/>
            </a:avLst>
          </a:prstGeom>
          <a:solidFill>
            <a:srgbClr val="FCEBEB"/>
          </a:solidFill>
          <a:ln w="12700">
            <a:solidFill>
              <a:srgbClr val="DDE0E6"/>
            </a:solidFill>
            <a:prstDash val="solid"/>
          </a:ln>
        </p:spPr>
      </p:sp>
      <p:sp>
        <p:nvSpPr>
          <p:cNvPr id="6" name="Text 4"/>
          <p:cNvSpPr/>
          <p:nvPr/>
        </p:nvSpPr>
        <p:spPr>
          <a:xfrm>
            <a:off x="594360" y="1335024"/>
            <a:ext cx="7955280" cy="51206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逆説：年間25〜30兆円の公共調達を監視するシステムの開発は、それ自体が巨大な利権案件になりうる。「透明化のためのシステム」が最大の不透明案件になる。</a:t>
            </a:r>
            <a:endParaRPr lang="en-US" sz="1100" dirty="0"/>
          </a:p>
        </p:txBody>
      </p:sp>
      <p:sp>
        <p:nvSpPr>
          <p:cNvPr id="7" name="Shape 5"/>
          <p:cNvSpPr/>
          <p:nvPr/>
        </p:nvSpPr>
        <p:spPr>
          <a:xfrm>
            <a:off x="457200" y="1993392"/>
            <a:ext cx="8229600" cy="694944"/>
          </a:xfrm>
          <a:prstGeom prst="roundRect">
            <a:avLst>
              <a:gd name="adj" fmla="val 10526"/>
            </a:avLst>
          </a:prstGeom>
          <a:solidFill>
            <a:srgbClr val="FFFFFF"/>
          </a:solidFill>
          <a:ln w="12700">
            <a:solidFill>
              <a:srgbClr val="DDE0E6"/>
            </a:solidFill>
            <a:prstDash val="solid"/>
          </a:ln>
        </p:spPr>
      </p:sp>
      <p:sp>
        <p:nvSpPr>
          <p:cNvPr id="8" name="Shape 6"/>
          <p:cNvSpPr/>
          <p:nvPr/>
        </p:nvSpPr>
        <p:spPr>
          <a:xfrm>
            <a:off x="594360" y="2121408"/>
            <a:ext cx="1280160" cy="420624"/>
          </a:xfrm>
          <a:prstGeom prst="roundRect">
            <a:avLst>
              <a:gd name="adj" fmla="val 13043"/>
            </a:avLst>
          </a:prstGeom>
          <a:solidFill>
            <a:srgbClr val="C8161D"/>
          </a:solidFill>
          <a:ln w="12700">
            <a:solidFill>
              <a:srgbClr val="C8161D"/>
            </a:solidFill>
            <a:prstDash val="solid"/>
          </a:ln>
        </p:spPr>
      </p:sp>
      <p:sp>
        <p:nvSpPr>
          <p:cNvPr id="9" name="Text 7"/>
          <p:cNvSpPr/>
          <p:nvPr/>
        </p:nvSpPr>
        <p:spPr>
          <a:xfrm>
            <a:off x="594360" y="2121408"/>
            <a:ext cx="12801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調達段階</a:t>
            </a:r>
            <a:endParaRPr lang="en-US" sz="1100" dirty="0"/>
          </a:p>
        </p:txBody>
      </p:sp>
      <p:sp>
        <p:nvSpPr>
          <p:cNvPr id="10" name="Text 8"/>
          <p:cNvSpPr/>
          <p:nvPr/>
        </p:nvSpPr>
        <p:spPr>
          <a:xfrm>
            <a:off x="2011680" y="2084832"/>
            <a:ext cx="6492240" cy="51206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政策⑤のルールを自己適用。このシステム開発案件に下請け確定・直接見積もり・E2E決済を最初から適用する</a:t>
            </a:r>
            <a:endParaRPr lang="en-US" sz="1100" dirty="0"/>
          </a:p>
        </p:txBody>
      </p:sp>
      <p:sp>
        <p:nvSpPr>
          <p:cNvPr id="11" name="Shape 9"/>
          <p:cNvSpPr/>
          <p:nvPr/>
        </p:nvSpPr>
        <p:spPr>
          <a:xfrm>
            <a:off x="457200" y="2761488"/>
            <a:ext cx="8229600" cy="694944"/>
          </a:xfrm>
          <a:prstGeom prst="roundRect">
            <a:avLst>
              <a:gd name="adj" fmla="val 10526"/>
            </a:avLst>
          </a:prstGeom>
          <a:solidFill>
            <a:srgbClr val="FFFFFF"/>
          </a:solidFill>
          <a:ln w="12700">
            <a:solidFill>
              <a:srgbClr val="DDE0E6"/>
            </a:solidFill>
            <a:prstDash val="solid"/>
          </a:ln>
        </p:spPr>
      </p:sp>
      <p:sp>
        <p:nvSpPr>
          <p:cNvPr id="12" name="Shape 10"/>
          <p:cNvSpPr/>
          <p:nvPr/>
        </p:nvSpPr>
        <p:spPr>
          <a:xfrm>
            <a:off x="594360" y="2889504"/>
            <a:ext cx="1280160" cy="420624"/>
          </a:xfrm>
          <a:prstGeom prst="roundRect">
            <a:avLst>
              <a:gd name="adj" fmla="val 13043"/>
            </a:avLst>
          </a:prstGeom>
          <a:solidFill>
            <a:srgbClr val="C8161D"/>
          </a:solidFill>
          <a:ln w="12700">
            <a:solidFill>
              <a:srgbClr val="C8161D"/>
            </a:solidFill>
            <a:prstDash val="solid"/>
          </a:ln>
        </p:spPr>
      </p:sp>
      <p:sp>
        <p:nvSpPr>
          <p:cNvPr id="13" name="Text 11"/>
          <p:cNvSpPr/>
          <p:nvPr/>
        </p:nvSpPr>
        <p:spPr>
          <a:xfrm>
            <a:off x="594360" y="2889504"/>
            <a:ext cx="12801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技術設計</a:t>
            </a:r>
            <a:endParaRPr lang="en-US" sz="1100" dirty="0"/>
          </a:p>
        </p:txBody>
      </p:sp>
      <p:sp>
        <p:nvSpPr>
          <p:cNvPr id="14" name="Text 12"/>
          <p:cNvSpPr/>
          <p:nvPr/>
        </p:nvSpPr>
        <p:spPr>
          <a:xfrm>
            <a:off x="2011680" y="2852928"/>
            <a:ext cx="6492240" cy="51206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仕様・コードを完全オープンソース化。特定ベンダーへの依存を構造的に排除する</a:t>
            </a:r>
            <a:endParaRPr lang="en-US" sz="1100" dirty="0"/>
          </a:p>
        </p:txBody>
      </p:sp>
      <p:sp>
        <p:nvSpPr>
          <p:cNvPr id="15" name="Shape 13"/>
          <p:cNvSpPr/>
          <p:nvPr/>
        </p:nvSpPr>
        <p:spPr>
          <a:xfrm>
            <a:off x="457200" y="3529584"/>
            <a:ext cx="8229600" cy="694944"/>
          </a:xfrm>
          <a:prstGeom prst="roundRect">
            <a:avLst>
              <a:gd name="adj" fmla="val 10526"/>
            </a:avLst>
          </a:prstGeom>
          <a:solidFill>
            <a:srgbClr val="FFFFFF"/>
          </a:solidFill>
          <a:ln w="12700">
            <a:solidFill>
              <a:srgbClr val="DDE0E6"/>
            </a:solidFill>
            <a:prstDash val="solid"/>
          </a:ln>
        </p:spPr>
      </p:sp>
      <p:sp>
        <p:nvSpPr>
          <p:cNvPr id="16" name="Shape 14"/>
          <p:cNvSpPr/>
          <p:nvPr/>
        </p:nvSpPr>
        <p:spPr>
          <a:xfrm>
            <a:off x="594360" y="3657600"/>
            <a:ext cx="1280160" cy="420624"/>
          </a:xfrm>
          <a:prstGeom prst="roundRect">
            <a:avLst>
              <a:gd name="adj" fmla="val 13043"/>
            </a:avLst>
          </a:prstGeom>
          <a:solidFill>
            <a:srgbClr val="C8161D"/>
          </a:solidFill>
          <a:ln w="12700">
            <a:solidFill>
              <a:srgbClr val="C8161D"/>
            </a:solidFill>
            <a:prstDash val="solid"/>
          </a:ln>
        </p:spPr>
      </p:sp>
      <p:sp>
        <p:nvSpPr>
          <p:cNvPr id="17" name="Text 15"/>
          <p:cNvSpPr/>
          <p:nvPr/>
        </p:nvSpPr>
        <p:spPr>
          <a:xfrm>
            <a:off x="594360" y="3657600"/>
            <a:ext cx="12801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導入方法</a:t>
            </a:r>
            <a:endParaRPr lang="en-US" sz="1100" dirty="0"/>
          </a:p>
        </p:txBody>
      </p:sp>
      <p:sp>
        <p:nvSpPr>
          <p:cNvPr id="18" name="Text 16"/>
          <p:cNvSpPr/>
          <p:nvPr/>
        </p:nvSpPr>
        <p:spPr>
          <a:xfrm>
            <a:off x="2011680" y="3621024"/>
            <a:ext cx="6492240" cy="51206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一から作らない。マネーフォワード・Suica法人カード等の既存民間サービスを組み合わせ新規開発リスクを最小化</a:t>
            </a:r>
            <a:endParaRPr lang="en-US" sz="1100" dirty="0"/>
          </a:p>
        </p:txBody>
      </p:sp>
      <p:sp>
        <p:nvSpPr>
          <p:cNvPr id="19" name="Shape 17"/>
          <p:cNvSpPr/>
          <p:nvPr/>
        </p:nvSpPr>
        <p:spPr>
          <a:xfrm>
            <a:off x="457200" y="4297680"/>
            <a:ext cx="8229600" cy="694944"/>
          </a:xfrm>
          <a:prstGeom prst="roundRect">
            <a:avLst>
              <a:gd name="adj" fmla="val 10526"/>
            </a:avLst>
          </a:prstGeom>
          <a:solidFill>
            <a:srgbClr val="FFFFFF"/>
          </a:solidFill>
          <a:ln w="12700">
            <a:solidFill>
              <a:srgbClr val="DDE0E6"/>
            </a:solidFill>
            <a:prstDash val="solid"/>
          </a:ln>
        </p:spPr>
      </p:sp>
      <p:sp>
        <p:nvSpPr>
          <p:cNvPr id="20" name="Shape 18"/>
          <p:cNvSpPr/>
          <p:nvPr/>
        </p:nvSpPr>
        <p:spPr>
          <a:xfrm>
            <a:off x="594360" y="4425696"/>
            <a:ext cx="1280160" cy="420624"/>
          </a:xfrm>
          <a:prstGeom prst="roundRect">
            <a:avLst>
              <a:gd name="adj" fmla="val 13043"/>
            </a:avLst>
          </a:prstGeom>
          <a:solidFill>
            <a:srgbClr val="C8161D"/>
          </a:solidFill>
          <a:ln w="12700">
            <a:solidFill>
              <a:srgbClr val="C8161D"/>
            </a:solidFill>
            <a:prstDash val="solid"/>
          </a:ln>
        </p:spPr>
      </p:sp>
      <p:sp>
        <p:nvSpPr>
          <p:cNvPr id="21" name="Text 19"/>
          <p:cNvSpPr/>
          <p:nvPr/>
        </p:nvSpPr>
        <p:spPr>
          <a:xfrm>
            <a:off x="594360" y="4425696"/>
            <a:ext cx="1280160"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運用監視</a:t>
            </a:r>
            <a:endParaRPr lang="en-US" sz="1100" dirty="0"/>
          </a:p>
        </p:txBody>
      </p:sp>
      <p:sp>
        <p:nvSpPr>
          <p:cNvPr id="22" name="Text 20"/>
          <p:cNvSpPr/>
          <p:nvPr/>
        </p:nvSpPr>
        <p:spPr>
          <a:xfrm>
            <a:off x="2011680" y="4389120"/>
            <a:ext cx="6492240" cy="51206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公費デジタル監視委員会（独立第三者機関）がシステムの調達・運用・改修を常時監視する</a:t>
            </a:r>
            <a:endParaRPr lang="en-US" sz="1100" dirty="0"/>
          </a:p>
        </p:txBody>
      </p:sp>
      <p:sp>
        <p:nvSpPr>
          <p:cNvPr id="23" name="Shape 21"/>
          <p:cNvSpPr/>
          <p:nvPr/>
        </p:nvSpPr>
        <p:spPr>
          <a:xfrm>
            <a:off x="457200" y="5102352"/>
            <a:ext cx="8229600" cy="0"/>
          </a:xfrm>
          <a:prstGeom prst="roundRect">
            <a:avLst>
              <a:gd name="adj" fmla="val Infinity"/>
            </a:avLst>
          </a:prstGeom>
          <a:solidFill>
            <a:srgbClr val="FFFFFF"/>
          </a:solidFill>
          <a:ln w="12700">
            <a:solidFill>
              <a:srgbClr val="DDE0E6"/>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POLICY 02</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システムによる「自動ガバナンス（統制）」の導入</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人手によるチェックや「事後の言い訳」に頼る性善説ガバナンスを廃止する。</a:t>
            </a:r>
            <a:endParaRPr lang="en-US" sz="1100" dirty="0"/>
          </a:p>
        </p:txBody>
      </p:sp>
      <p:sp>
        <p:nvSpPr>
          <p:cNvPr id="6" name="Shape 4"/>
          <p:cNvSpPr/>
          <p:nvPr/>
        </p:nvSpPr>
        <p:spPr>
          <a:xfrm>
            <a:off x="457200" y="1719072"/>
            <a:ext cx="8229600" cy="1005840"/>
          </a:xfrm>
          <a:prstGeom prst="roundRect">
            <a:avLst>
              <a:gd name="adj" fmla="val 7273"/>
            </a:avLst>
          </a:prstGeom>
          <a:solidFill>
            <a:srgbClr val="FCEBEB"/>
          </a:solidFill>
          <a:ln w="12700">
            <a:solidFill>
              <a:srgbClr val="DDE0E6"/>
            </a:solidFill>
            <a:prstDash val="solid"/>
          </a:ln>
        </p:spPr>
      </p:sp>
      <p:sp>
        <p:nvSpPr>
          <p:cNvPr id="7" name="Text 5"/>
          <p:cNvSpPr/>
          <p:nvPr/>
        </p:nvSpPr>
        <p:spPr>
          <a:xfrm>
            <a:off x="594360" y="1755648"/>
            <a:ext cx="7955280" cy="384048"/>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現行：事後チェック → 「知らなかった」「慣例だった」で逃げられる</a:t>
            </a:r>
            <a:endParaRPr lang="en-US" sz="1300" dirty="0"/>
          </a:p>
        </p:txBody>
      </p:sp>
      <p:sp>
        <p:nvSpPr>
          <p:cNvPr id="8" name="Text 6"/>
          <p:cNvSpPr/>
          <p:nvPr/>
        </p:nvSpPr>
        <p:spPr>
          <a:xfrm>
            <a:off x="594360" y="2157984"/>
            <a:ext cx="7955280" cy="475488"/>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人間がチェックする前提は、人間が誤魔化せる前提でもある。</a:t>
            </a:r>
            <a:endParaRPr lang="en-US" sz="1100" dirty="0"/>
          </a:p>
        </p:txBody>
      </p:sp>
      <p:sp>
        <p:nvSpPr>
          <p:cNvPr id="9" name="Shape 7"/>
          <p:cNvSpPr/>
          <p:nvPr/>
        </p:nvSpPr>
        <p:spPr>
          <a:xfrm>
            <a:off x="457200" y="2852928"/>
            <a:ext cx="8229600" cy="1005840"/>
          </a:xfrm>
          <a:prstGeom prst="roundRect">
            <a:avLst>
              <a:gd name="adj" fmla="val 7273"/>
            </a:avLst>
          </a:prstGeom>
          <a:solidFill>
            <a:srgbClr val="E9EFF8"/>
          </a:solidFill>
          <a:ln w="12700">
            <a:solidFill>
              <a:srgbClr val="DDE0E6"/>
            </a:solidFill>
            <a:prstDash val="solid"/>
          </a:ln>
        </p:spPr>
      </p:sp>
      <p:sp>
        <p:nvSpPr>
          <p:cNvPr id="10" name="Text 8"/>
          <p:cNvSpPr/>
          <p:nvPr/>
        </p:nvSpPr>
        <p:spPr>
          <a:xfrm>
            <a:off x="594360" y="2889504"/>
            <a:ext cx="7955280" cy="384048"/>
          </a:xfrm>
          <a:prstGeom prst="rect">
            <a:avLst/>
          </a:prstGeom>
          <a:noFill/>
          <a:ln/>
        </p:spPr>
        <p:txBody>
          <a:bodyPr wrap="square" lIns="0" tIns="0" rIns="0" bIns="0" rtlCol="0" anchor="ctr"/>
          <a:lstStyle/>
          <a:p>
            <a:pPr indent="0" marL="0">
              <a:buNone/>
            </a:pPr>
            <a:r>
              <a:rPr lang="en-US" sz="1300" b="1" dirty="0">
                <a:solidFill>
                  <a:srgbClr val="1D4F91"/>
                </a:solidFill>
                <a:latin typeface="BIZ UDPGothic" pitchFamily="34" charset="0"/>
                <a:ea typeface="BIZ UDPGothic" pitchFamily="34" charset="-122"/>
                <a:cs typeface="BIZ UDPGothic" pitchFamily="34" charset="-120"/>
              </a:rPr>
              <a:t>改革後：事前ロック → 「物理的に実行できない」仕組みを作る</a:t>
            </a:r>
            <a:endParaRPr lang="en-US" sz="1300" dirty="0"/>
          </a:p>
        </p:txBody>
      </p:sp>
      <p:sp>
        <p:nvSpPr>
          <p:cNvPr id="11" name="Text 9"/>
          <p:cNvSpPr/>
          <p:nvPr/>
        </p:nvSpPr>
        <p:spPr>
          <a:xfrm>
            <a:off x="594360" y="3291840"/>
            <a:ext cx="7955280" cy="475488"/>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一般職のグリーン車・高級ホテルは自動ロック　特定業者バイネーム購入はアラート　予算上限超過は自動ブロック</a:t>
            </a:r>
            <a:endParaRPr lang="en-US" sz="1100" dirty="0"/>
          </a:p>
        </p:txBody>
      </p:sp>
      <p:sp>
        <p:nvSpPr>
          <p:cNvPr id="12" name="Shape 10"/>
          <p:cNvSpPr/>
          <p:nvPr/>
        </p:nvSpPr>
        <p:spPr>
          <a:xfrm>
            <a:off x="457200" y="3986784"/>
            <a:ext cx="8229600" cy="566928"/>
          </a:xfrm>
          <a:prstGeom prst="roundRect">
            <a:avLst>
              <a:gd name="adj" fmla="val 12903"/>
            </a:avLst>
          </a:prstGeom>
          <a:solidFill>
            <a:srgbClr val="FFFFFF"/>
          </a:solidFill>
          <a:ln w="12700">
            <a:solidFill>
              <a:srgbClr val="DDE0E6"/>
            </a:solidFill>
            <a:prstDash val="solid"/>
          </a:ln>
        </p:spPr>
      </p:sp>
      <p:sp>
        <p:nvSpPr>
          <p:cNvPr id="13" name="Text 11"/>
          <p:cNvSpPr/>
          <p:nvPr/>
        </p:nvSpPr>
        <p:spPr>
          <a:xfrm>
            <a:off x="594360" y="4023360"/>
            <a:ext cx="7955280" cy="493776"/>
          </a:xfrm>
          <a:prstGeom prst="rect">
            <a:avLst/>
          </a:prstGeom>
          <a:noFill/>
          <a:ln/>
        </p:spPr>
        <p:txBody>
          <a:bodyPr wrap="square" lIns="0" tIns="0" rIns="0" bIns="0" rtlCol="0" anchor="ctr"/>
          <a:lstStyle/>
          <a:p>
            <a:pPr algn="ctr" indent="0" marL="0">
              <a:buNone/>
            </a:pPr>
            <a:r>
              <a:rPr lang="en-US" sz="1100" b="1" dirty="0">
                <a:solidFill>
                  <a:srgbClr val="16181D"/>
                </a:solidFill>
                <a:latin typeface="BIZ UDPGothic" pitchFamily="34" charset="0"/>
                <a:ea typeface="BIZ UDPGothic" pitchFamily="34" charset="-122"/>
                <a:cs typeface="BIZ UDPGothic" pitchFamily="34" charset="-120"/>
              </a:rPr>
              <a:t>不適切な公費支出そのものが「物理的に実行できない」仕組みこそが、性善説ガバナンスの終わりである</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POLICY 03</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公費執行データの「リアルタイム・オープンデータ化」</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執行された全公費データを、原則として全てリアルタイムでWeb公開する。</a:t>
            </a:r>
            <a:endParaRPr lang="en-US" sz="1100" dirty="0"/>
          </a:p>
        </p:txBody>
      </p:sp>
      <p:sp>
        <p:nvSpPr>
          <p:cNvPr id="6" name="Shape 4"/>
          <p:cNvSpPr/>
          <p:nvPr/>
        </p:nvSpPr>
        <p:spPr>
          <a:xfrm>
            <a:off x="457200" y="1719072"/>
            <a:ext cx="4114800" cy="2194560"/>
          </a:xfrm>
          <a:prstGeom prst="roundRect">
            <a:avLst>
              <a:gd name="adj" fmla="val 3333"/>
            </a:avLst>
          </a:prstGeom>
          <a:solidFill>
            <a:srgbClr val="FFFFFF"/>
          </a:solidFill>
          <a:ln w="12700">
            <a:solidFill>
              <a:srgbClr val="DDE0E6"/>
            </a:solidFill>
            <a:prstDash val="solid"/>
          </a:ln>
        </p:spPr>
      </p:sp>
      <p:sp>
        <p:nvSpPr>
          <p:cNvPr id="7" name="Text 5"/>
          <p:cNvSpPr/>
          <p:nvPr/>
        </p:nvSpPr>
        <p:spPr>
          <a:xfrm>
            <a:off x="640080" y="1847088"/>
            <a:ext cx="3749040" cy="38404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公開対象（原則・全て）</a:t>
            </a:r>
            <a:endParaRPr lang="en-US" sz="1300" dirty="0"/>
          </a:p>
        </p:txBody>
      </p:sp>
      <p:sp>
        <p:nvSpPr>
          <p:cNvPr id="8" name="Text 6"/>
          <p:cNvSpPr/>
          <p:nvPr/>
        </p:nvSpPr>
        <p:spPr>
          <a:xfrm>
            <a:off x="640080" y="2304288"/>
            <a:ext cx="3749040" cy="1481328"/>
          </a:xfrm>
          <a:prstGeom prst="rect">
            <a:avLst/>
          </a:prstGeom>
          <a:noFill/>
          <a:ln/>
        </p:spPr>
        <p:txBody>
          <a:bodyPr wrap="square" lIns="0" tIns="0" rIns="0" bIns="0" rtlCol="0" anchor="t"/>
          <a:lstStyle/>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全省庁・自治体の公費執行データ</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補助金・委託費の使途データ</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入札・契約・支払いの全記録</a:t>
            </a:r>
            <a:endParaRPr lang="en-US" sz="1100" dirty="0"/>
          </a:p>
        </p:txBody>
      </p:sp>
      <p:sp>
        <p:nvSpPr>
          <p:cNvPr id="9" name="Shape 7"/>
          <p:cNvSpPr/>
          <p:nvPr/>
        </p:nvSpPr>
        <p:spPr>
          <a:xfrm>
            <a:off x="4892040" y="1719072"/>
            <a:ext cx="4114800" cy="2194560"/>
          </a:xfrm>
          <a:prstGeom prst="roundRect">
            <a:avLst>
              <a:gd name="adj" fmla="val 3333"/>
            </a:avLst>
          </a:prstGeom>
          <a:solidFill>
            <a:srgbClr val="FCEBEB"/>
          </a:solidFill>
          <a:ln w="12700">
            <a:solidFill>
              <a:srgbClr val="DDE0E6"/>
            </a:solidFill>
            <a:prstDash val="solid"/>
          </a:ln>
        </p:spPr>
      </p:sp>
      <p:sp>
        <p:nvSpPr>
          <p:cNvPr id="10" name="Text 8"/>
          <p:cNvSpPr/>
          <p:nvPr/>
        </p:nvSpPr>
        <p:spPr>
          <a:xfrm>
            <a:off x="5074920" y="1847088"/>
            <a:ext cx="3749040" cy="384048"/>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例外（法律で厳格に列挙）</a:t>
            </a:r>
            <a:endParaRPr lang="en-US" sz="1300" dirty="0"/>
          </a:p>
        </p:txBody>
      </p:sp>
      <p:sp>
        <p:nvSpPr>
          <p:cNvPr id="11" name="Text 9"/>
          <p:cNvSpPr/>
          <p:nvPr/>
        </p:nvSpPr>
        <p:spPr>
          <a:xfrm>
            <a:off x="5074920" y="2304288"/>
            <a:ext cx="3749040" cy="1481328"/>
          </a:xfrm>
          <a:prstGeom prst="rect">
            <a:avLst/>
          </a:prstGeom>
          <a:noFill/>
          <a:ln/>
        </p:spPr>
        <p:txBody>
          <a:bodyPr wrap="square" lIns="0" tIns="0" rIns="0" bIns="0" rtlCol="0" anchor="t"/>
          <a:lstStyle/>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捜査費</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外交機密の一部</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※例外の拡大解釈を許さないよう、例外規定の定義自体も法律で厳格に列挙する</a:t>
            </a:r>
            <a:endParaRPr lang="en-US" sz="1100" dirty="0"/>
          </a:p>
        </p:txBody>
      </p:sp>
      <p:sp>
        <p:nvSpPr>
          <p:cNvPr id="12" name="Shape 10"/>
          <p:cNvSpPr/>
          <p:nvPr/>
        </p:nvSpPr>
        <p:spPr>
          <a:xfrm>
            <a:off x="457200" y="4041648"/>
            <a:ext cx="8229600" cy="822960"/>
          </a:xfrm>
          <a:prstGeom prst="roundRect">
            <a:avLst>
              <a:gd name="adj" fmla="val 8889"/>
            </a:avLst>
          </a:prstGeom>
          <a:solidFill>
            <a:srgbClr val="E9EFF8"/>
          </a:solidFill>
          <a:ln w="12700">
            <a:solidFill>
              <a:srgbClr val="DDE0E6"/>
            </a:solidFill>
            <a:prstDash val="solid"/>
          </a:ln>
        </p:spPr>
      </p:sp>
      <p:sp>
        <p:nvSpPr>
          <p:cNvPr id="13" name="Text 11"/>
          <p:cNvSpPr/>
          <p:nvPr/>
        </p:nvSpPr>
        <p:spPr>
          <a:xfrm>
            <a:off x="594360" y="4133088"/>
            <a:ext cx="7955280" cy="329184"/>
          </a:xfrm>
          <a:prstGeom prst="rect">
            <a:avLst/>
          </a:prstGeom>
          <a:noFill/>
          <a:ln/>
        </p:spPr>
        <p:txBody>
          <a:bodyPr wrap="square" lIns="0" tIns="0" rIns="0" bIns="0" rtlCol="0" anchor="ctr"/>
          <a:lstStyle/>
          <a:p>
            <a:pPr indent="0" marL="0">
              <a:buNone/>
            </a:pPr>
            <a:r>
              <a:rPr lang="en-US" sz="1200" b="1" dirty="0">
                <a:solidFill>
                  <a:srgbClr val="1D4F91"/>
                </a:solidFill>
                <a:latin typeface="BIZ UDPGothic" pitchFamily="34" charset="0"/>
                <a:ea typeface="BIZ UDPGothic" pitchFamily="34" charset="-122"/>
                <a:cs typeface="BIZ UDPGothic" pitchFamily="34" charset="-120"/>
              </a:rPr>
              <a:t>実現すること</a:t>
            </a:r>
            <a:endParaRPr lang="en-US" sz="1200" dirty="0"/>
          </a:p>
        </p:txBody>
      </p:sp>
      <p:sp>
        <p:nvSpPr>
          <p:cNvPr id="14" name="Text 12"/>
          <p:cNvSpPr/>
          <p:nvPr/>
        </p:nvSpPr>
        <p:spPr>
          <a:xfrm>
            <a:off x="594360" y="4462272"/>
            <a:ext cx="795528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住民・メディア・AIによる相互監視を可能にする　　公費の異常値をAIが自動検知しアラートを発する</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POLICY 03 — DESIGN</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内部統制システムと公開システムは「分離設計」が原則</a:t>
            </a:r>
            <a:endParaRPr lang="en-US" sz="24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75488"/>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執行管理（内部統制）と情報公開（外部公開）は、セキュリティ要件が根本的に異なる。同一システムで一括処理することは重大なリスクを生む。</a:t>
            </a:r>
            <a:endParaRPr lang="en-US" sz="1100" dirty="0"/>
          </a:p>
        </p:txBody>
      </p:sp>
      <p:sp>
        <p:nvSpPr>
          <p:cNvPr id="6" name="Shape 4"/>
          <p:cNvSpPr/>
          <p:nvPr/>
        </p:nvSpPr>
        <p:spPr>
          <a:xfrm>
            <a:off x="457200" y="1920240"/>
            <a:ext cx="2651760" cy="2560320"/>
          </a:xfrm>
          <a:prstGeom prst="roundRect">
            <a:avLst>
              <a:gd name="adj" fmla="val 2857"/>
            </a:avLst>
          </a:prstGeom>
          <a:solidFill>
            <a:srgbClr val="E9EFF8"/>
          </a:solidFill>
          <a:ln w="12700">
            <a:solidFill>
              <a:srgbClr val="DDE0E6"/>
            </a:solidFill>
            <a:prstDash val="solid"/>
          </a:ln>
        </p:spPr>
      </p:sp>
      <p:sp>
        <p:nvSpPr>
          <p:cNvPr id="7" name="Text 5"/>
          <p:cNvSpPr/>
          <p:nvPr/>
        </p:nvSpPr>
        <p:spPr>
          <a:xfrm>
            <a:off x="566928" y="2048256"/>
            <a:ext cx="2432304" cy="658368"/>
          </a:xfrm>
          <a:prstGeom prst="rect">
            <a:avLst/>
          </a:prstGeom>
          <a:noFill/>
          <a:ln/>
        </p:spPr>
        <p:txBody>
          <a:bodyPr wrap="square" lIns="0" tIns="0" rIns="0" bIns="0" rtlCol="0" anchor="ctr"/>
          <a:lstStyle/>
          <a:p>
            <a:pPr algn="ctr" indent="0" marL="0">
              <a:buNone/>
            </a:pPr>
            <a:r>
              <a:rPr lang="en-US" sz="1500" b="1" dirty="0">
                <a:solidFill>
                  <a:srgbClr val="1D4F91"/>
                </a:solidFill>
                <a:latin typeface="BIZ UDPGothic" pitchFamily="34" charset="0"/>
                <a:ea typeface="BIZ UDPGothic" pitchFamily="34" charset="-122"/>
                <a:cs typeface="BIZ UDPGothic" pitchFamily="34" charset="-120"/>
              </a:rPr>
              <a:t>内部統制</a:t>
            </a:r>
            <a:endParaRPr lang="en-US" sz="1500" dirty="0"/>
          </a:p>
          <a:p>
            <a:pPr algn="ctr" indent="0" marL="0">
              <a:buNone/>
            </a:pPr>
            <a:r>
              <a:rPr lang="en-US" sz="1500" b="1" dirty="0">
                <a:solidFill>
                  <a:srgbClr val="1D4F91"/>
                </a:solidFill>
                <a:latin typeface="BIZ UDPGothic" pitchFamily="34" charset="0"/>
                <a:ea typeface="BIZ UDPGothic" pitchFamily="34" charset="-122"/>
                <a:cs typeface="BIZ UDPGothic" pitchFamily="34" charset="-120"/>
              </a:rPr>
              <a:t>システム</a:t>
            </a:r>
            <a:endParaRPr lang="en-US" sz="1500" dirty="0"/>
          </a:p>
        </p:txBody>
      </p:sp>
      <p:sp>
        <p:nvSpPr>
          <p:cNvPr id="8" name="Shape 6"/>
          <p:cNvSpPr/>
          <p:nvPr/>
        </p:nvSpPr>
        <p:spPr>
          <a:xfrm>
            <a:off x="822960" y="2724912"/>
            <a:ext cx="1920240" cy="10973"/>
          </a:xfrm>
          <a:prstGeom prst="rect">
            <a:avLst/>
          </a:prstGeom>
          <a:solidFill>
            <a:srgbClr val="DDE0E6"/>
          </a:solidFill>
          <a:ln w="12700">
            <a:solidFill>
              <a:srgbClr val="DDE0E6"/>
            </a:solidFill>
            <a:prstDash val="solid"/>
          </a:ln>
        </p:spPr>
      </p:sp>
      <p:sp>
        <p:nvSpPr>
          <p:cNvPr id="9" name="Text 7"/>
          <p:cNvSpPr/>
          <p:nvPr/>
        </p:nvSpPr>
        <p:spPr>
          <a:xfrm>
            <a:off x="566928" y="2798064"/>
            <a:ext cx="2432304" cy="1572768"/>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執行データを</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リアルタイム記録</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高セキュリティ・完全記録</a:t>
            </a:r>
            <a:endParaRPr lang="en-US" sz="1000" dirty="0"/>
          </a:p>
        </p:txBody>
      </p:sp>
      <p:sp>
        <p:nvSpPr>
          <p:cNvPr id="10" name="Text 8"/>
          <p:cNvSpPr/>
          <p:nvPr/>
        </p:nvSpPr>
        <p:spPr>
          <a:xfrm>
            <a:off x="3127248" y="2926080"/>
            <a:ext cx="237744" cy="548640"/>
          </a:xfrm>
          <a:prstGeom prst="rect">
            <a:avLst/>
          </a:prstGeom>
          <a:noFill/>
          <a:ln/>
        </p:spPr>
        <p:txBody>
          <a:bodyPr wrap="square" lIns="0" tIns="0" rIns="0" bIns="0" rtlCol="0" anchor="ctr"/>
          <a:lstStyle/>
          <a:p>
            <a:pPr algn="ctr" indent="0" marL="0">
              <a:buNone/>
            </a:pPr>
            <a:r>
              <a:rPr lang="en-US" sz="2400" dirty="0">
                <a:solidFill>
                  <a:srgbClr val="C8161D"/>
                </a:solidFill>
                <a:latin typeface="Arial" pitchFamily="34" charset="0"/>
                <a:ea typeface="BIZ UDPGothic" pitchFamily="34" charset="-122"/>
                <a:cs typeface="BIZ UDPGothic" pitchFamily="34" charset="-120"/>
              </a:rPr>
              <a:t>→</a:t>
            </a:r>
            <a:endParaRPr lang="en-US" sz="2400" dirty="0"/>
          </a:p>
        </p:txBody>
      </p:sp>
      <p:sp>
        <p:nvSpPr>
          <p:cNvPr id="11" name="Shape 9"/>
          <p:cNvSpPr/>
          <p:nvPr/>
        </p:nvSpPr>
        <p:spPr>
          <a:xfrm>
            <a:off x="3364992" y="1920240"/>
            <a:ext cx="2651760" cy="2560320"/>
          </a:xfrm>
          <a:prstGeom prst="roundRect">
            <a:avLst>
              <a:gd name="adj" fmla="val 2857"/>
            </a:avLst>
          </a:prstGeom>
          <a:solidFill>
            <a:srgbClr val="FFFFFF"/>
          </a:solidFill>
          <a:ln w="12700">
            <a:solidFill>
              <a:srgbClr val="DDE0E6"/>
            </a:solidFill>
            <a:prstDash val="solid"/>
          </a:ln>
        </p:spPr>
      </p:sp>
      <p:sp>
        <p:nvSpPr>
          <p:cNvPr id="12" name="Text 10"/>
          <p:cNvSpPr/>
          <p:nvPr/>
        </p:nvSpPr>
        <p:spPr>
          <a:xfrm>
            <a:off x="3474720" y="2048256"/>
            <a:ext cx="2432304" cy="658368"/>
          </a:xfrm>
          <a:prstGeom prst="rect">
            <a:avLst/>
          </a:prstGeom>
          <a:noFill/>
          <a:ln/>
        </p:spPr>
        <p:txBody>
          <a:bodyPr wrap="square" lIns="0" tIns="0" rIns="0" bIns="0" rtlCol="0" anchor="ctr"/>
          <a:lstStyle/>
          <a:p>
            <a:pPr algn="ctr" indent="0" marL="0">
              <a:buNone/>
            </a:pPr>
            <a:r>
              <a:rPr lang="en-US" sz="1500" b="1" dirty="0">
                <a:solidFill>
                  <a:srgbClr val="626875"/>
                </a:solidFill>
                <a:latin typeface="BIZ UDPGothic" pitchFamily="34" charset="0"/>
                <a:ea typeface="BIZ UDPGothic" pitchFamily="34" charset="-122"/>
                <a:cs typeface="BIZ UDPGothic" pitchFamily="34" charset="-120"/>
              </a:rPr>
              <a:t>マスキング・</a:t>
            </a:r>
            <a:endParaRPr lang="en-US" sz="1500" dirty="0"/>
          </a:p>
          <a:p>
            <a:pPr algn="ctr" indent="0" marL="0">
              <a:buNone/>
            </a:pPr>
            <a:r>
              <a:rPr lang="en-US" sz="1500" b="1" dirty="0">
                <a:solidFill>
                  <a:srgbClr val="626875"/>
                </a:solidFill>
                <a:latin typeface="BIZ UDPGothic" pitchFamily="34" charset="0"/>
                <a:ea typeface="BIZ UDPGothic" pitchFamily="34" charset="-122"/>
                <a:cs typeface="BIZ UDPGothic" pitchFamily="34" charset="-120"/>
              </a:rPr>
              <a:t>匿名化処理</a:t>
            </a:r>
            <a:endParaRPr lang="en-US" sz="1500" dirty="0"/>
          </a:p>
        </p:txBody>
      </p:sp>
      <p:sp>
        <p:nvSpPr>
          <p:cNvPr id="13" name="Shape 11"/>
          <p:cNvSpPr/>
          <p:nvPr/>
        </p:nvSpPr>
        <p:spPr>
          <a:xfrm>
            <a:off x="3730752" y="2724912"/>
            <a:ext cx="1920240" cy="10973"/>
          </a:xfrm>
          <a:prstGeom prst="rect">
            <a:avLst/>
          </a:prstGeom>
          <a:solidFill>
            <a:srgbClr val="DDE0E6"/>
          </a:solidFill>
          <a:ln w="12700">
            <a:solidFill>
              <a:srgbClr val="DDE0E6"/>
            </a:solidFill>
            <a:prstDash val="solid"/>
          </a:ln>
        </p:spPr>
      </p:sp>
      <p:sp>
        <p:nvSpPr>
          <p:cNvPr id="14" name="Text 12"/>
          <p:cNvSpPr/>
          <p:nvPr/>
        </p:nvSpPr>
        <p:spPr>
          <a:xfrm>
            <a:off x="3474720" y="2798064"/>
            <a:ext cx="2432304" cy="1572768"/>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個人情報除去</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プライバシー保護</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例外データの除外</a:t>
            </a:r>
            <a:endParaRPr lang="en-US" sz="1000" dirty="0"/>
          </a:p>
        </p:txBody>
      </p:sp>
      <p:sp>
        <p:nvSpPr>
          <p:cNvPr id="15" name="Text 13"/>
          <p:cNvSpPr/>
          <p:nvPr/>
        </p:nvSpPr>
        <p:spPr>
          <a:xfrm>
            <a:off x="6035040" y="2926080"/>
            <a:ext cx="237744" cy="548640"/>
          </a:xfrm>
          <a:prstGeom prst="rect">
            <a:avLst/>
          </a:prstGeom>
          <a:noFill/>
          <a:ln/>
        </p:spPr>
        <p:txBody>
          <a:bodyPr wrap="square" lIns="0" tIns="0" rIns="0" bIns="0" rtlCol="0" anchor="ctr"/>
          <a:lstStyle/>
          <a:p>
            <a:pPr algn="ctr" indent="0" marL="0">
              <a:buNone/>
            </a:pPr>
            <a:r>
              <a:rPr lang="en-US" sz="2400" dirty="0">
                <a:solidFill>
                  <a:srgbClr val="C8161D"/>
                </a:solidFill>
                <a:latin typeface="Arial" pitchFamily="34" charset="0"/>
                <a:ea typeface="BIZ UDPGothic" pitchFamily="34" charset="-122"/>
                <a:cs typeface="BIZ UDPGothic" pitchFamily="34" charset="-120"/>
              </a:rPr>
              <a:t>→</a:t>
            </a:r>
            <a:endParaRPr lang="en-US" sz="2400" dirty="0"/>
          </a:p>
        </p:txBody>
      </p:sp>
      <p:sp>
        <p:nvSpPr>
          <p:cNvPr id="16" name="Shape 14"/>
          <p:cNvSpPr/>
          <p:nvPr/>
        </p:nvSpPr>
        <p:spPr>
          <a:xfrm>
            <a:off x="6272784" y="1920240"/>
            <a:ext cx="2651760" cy="2560320"/>
          </a:xfrm>
          <a:prstGeom prst="roundRect">
            <a:avLst>
              <a:gd name="adj" fmla="val 2857"/>
            </a:avLst>
          </a:prstGeom>
          <a:solidFill>
            <a:srgbClr val="E9EFF8"/>
          </a:solidFill>
          <a:ln w="12700">
            <a:solidFill>
              <a:srgbClr val="DDE0E6"/>
            </a:solidFill>
            <a:prstDash val="solid"/>
          </a:ln>
        </p:spPr>
      </p:sp>
      <p:sp>
        <p:nvSpPr>
          <p:cNvPr id="17" name="Text 15"/>
          <p:cNvSpPr/>
          <p:nvPr/>
        </p:nvSpPr>
        <p:spPr>
          <a:xfrm>
            <a:off x="6382512" y="2048256"/>
            <a:ext cx="2432304" cy="658368"/>
          </a:xfrm>
          <a:prstGeom prst="rect">
            <a:avLst/>
          </a:prstGeom>
          <a:noFill/>
          <a:ln/>
        </p:spPr>
        <p:txBody>
          <a:bodyPr wrap="square" lIns="0" tIns="0" rIns="0" bIns="0" rtlCol="0" anchor="ctr"/>
          <a:lstStyle/>
          <a:p>
            <a:pPr algn="ctr" indent="0" marL="0">
              <a:buNone/>
            </a:pPr>
            <a:r>
              <a:rPr lang="en-US" sz="1500" b="1" dirty="0">
                <a:solidFill>
                  <a:srgbClr val="1D4F91"/>
                </a:solidFill>
                <a:latin typeface="BIZ UDPGothic" pitchFamily="34" charset="0"/>
                <a:ea typeface="BIZ UDPGothic" pitchFamily="34" charset="-122"/>
                <a:cs typeface="BIZ UDPGothic" pitchFamily="34" charset="-120"/>
              </a:rPr>
              <a:t>公開</a:t>
            </a:r>
            <a:endParaRPr lang="en-US" sz="1500" dirty="0"/>
          </a:p>
          <a:p>
            <a:pPr algn="ctr" indent="0" marL="0">
              <a:buNone/>
            </a:pPr>
            <a:r>
              <a:rPr lang="en-US" sz="1500" b="1" dirty="0">
                <a:solidFill>
                  <a:srgbClr val="1D4F91"/>
                </a:solidFill>
                <a:latin typeface="BIZ UDPGothic" pitchFamily="34" charset="0"/>
                <a:ea typeface="BIZ UDPGothic" pitchFamily="34" charset="-122"/>
                <a:cs typeface="BIZ UDPGothic" pitchFamily="34" charset="-120"/>
              </a:rPr>
              <a:t>システム</a:t>
            </a:r>
            <a:endParaRPr lang="en-US" sz="1500" dirty="0"/>
          </a:p>
        </p:txBody>
      </p:sp>
      <p:sp>
        <p:nvSpPr>
          <p:cNvPr id="18" name="Shape 16"/>
          <p:cNvSpPr/>
          <p:nvPr/>
        </p:nvSpPr>
        <p:spPr>
          <a:xfrm>
            <a:off x="6638544" y="2724912"/>
            <a:ext cx="1920240" cy="10973"/>
          </a:xfrm>
          <a:prstGeom prst="rect">
            <a:avLst/>
          </a:prstGeom>
          <a:solidFill>
            <a:srgbClr val="DDE0E6"/>
          </a:solidFill>
          <a:ln w="12700">
            <a:solidFill>
              <a:srgbClr val="DDE0E6"/>
            </a:solidFill>
            <a:prstDash val="solid"/>
          </a:ln>
        </p:spPr>
      </p:sp>
      <p:sp>
        <p:nvSpPr>
          <p:cNvPr id="19" name="Text 17"/>
          <p:cNvSpPr/>
          <p:nvPr/>
        </p:nvSpPr>
        <p:spPr>
          <a:xfrm>
            <a:off x="6382512" y="2798064"/>
            <a:ext cx="2432304" cy="1572768"/>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国民向けWeb公開</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匿名化済みデータのみ</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AI監視・検索可能</a:t>
            </a:r>
            <a:endParaRPr lang="en-US" sz="1000" dirty="0"/>
          </a:p>
        </p:txBody>
      </p:sp>
      <p:sp>
        <p:nvSpPr>
          <p:cNvPr id="20" name="Shape 18"/>
          <p:cNvSpPr/>
          <p:nvPr/>
        </p:nvSpPr>
        <p:spPr>
          <a:xfrm>
            <a:off x="457200" y="4645152"/>
            <a:ext cx="8229600" cy="384048"/>
          </a:xfrm>
          <a:prstGeom prst="roundRect">
            <a:avLst>
              <a:gd name="adj" fmla="val 19048"/>
            </a:avLst>
          </a:prstGeom>
          <a:solidFill>
            <a:srgbClr val="FFFFFF"/>
          </a:solidFill>
          <a:ln w="12700">
            <a:solidFill>
              <a:srgbClr val="DDE0E6"/>
            </a:solidFill>
            <a:prstDash val="solid"/>
          </a:ln>
        </p:spPr>
      </p:sp>
      <p:sp>
        <p:nvSpPr>
          <p:cNvPr id="21" name="Text 19"/>
          <p:cNvSpPr/>
          <p:nvPr/>
        </p:nvSpPr>
        <p:spPr>
          <a:xfrm>
            <a:off x="594360" y="4663440"/>
            <a:ext cx="7955280" cy="347472"/>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公開側に流れるのはマスキング・匿名化処理済みのデータのみ。内部の生データへのアクセスは厳格な権限管理のもとで監査目的に限定する。</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POLICY 04</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補助金・委託費の「エンドツーエンド（E2E）」追跡</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補助金・委託費も同じ共通システム上での管理・執行を「支給の絶対条件」とする。</a:t>
            </a:r>
            <a:endParaRPr lang="en-US" sz="1100" dirty="0"/>
          </a:p>
        </p:txBody>
      </p:sp>
      <p:sp>
        <p:nvSpPr>
          <p:cNvPr id="6" name="Shape 4"/>
          <p:cNvSpPr/>
          <p:nvPr/>
        </p:nvSpPr>
        <p:spPr>
          <a:xfrm>
            <a:off x="457200" y="1719072"/>
            <a:ext cx="1920240" cy="1463040"/>
          </a:xfrm>
          <a:prstGeom prst="roundRect">
            <a:avLst>
              <a:gd name="adj" fmla="val 5000"/>
            </a:avLst>
          </a:prstGeom>
          <a:solidFill>
            <a:srgbClr val="E9EFF8"/>
          </a:solidFill>
          <a:ln w="12700">
            <a:solidFill>
              <a:srgbClr val="DDE0E6"/>
            </a:solidFill>
            <a:prstDash val="solid"/>
          </a:ln>
        </p:spPr>
      </p:sp>
      <p:sp>
        <p:nvSpPr>
          <p:cNvPr id="7" name="Text 5"/>
          <p:cNvSpPr/>
          <p:nvPr/>
        </p:nvSpPr>
        <p:spPr>
          <a:xfrm>
            <a:off x="530352" y="1719072"/>
            <a:ext cx="1773936" cy="1463040"/>
          </a:xfrm>
          <a:prstGeom prst="rect">
            <a:avLst/>
          </a:prstGeom>
          <a:noFill/>
          <a:ln/>
        </p:spPr>
        <p:txBody>
          <a:bodyPr wrap="square" lIns="0" tIns="0" rIns="0" bIns="0" rtlCol="0" anchor="ctr"/>
          <a:lstStyle/>
          <a:p>
            <a:pPr algn="ctr" indent="0" marL="0">
              <a:buNone/>
            </a:pPr>
            <a:r>
              <a:rPr lang="en-US" sz="1200" dirty="0">
                <a:solidFill>
                  <a:srgbClr val="16181D"/>
                </a:solidFill>
                <a:latin typeface="Arial" pitchFamily="34" charset="0"/>
                <a:ea typeface="BIZ UDPGothic" pitchFamily="34" charset="-122"/>
                <a:cs typeface="BIZ UDPGothic" pitchFamily="34" charset="-120"/>
              </a:rPr>
              <a:t>国・自治体</a:t>
            </a:r>
            <a:endParaRPr lang="en-US" sz="1200" dirty="0"/>
          </a:p>
        </p:txBody>
      </p:sp>
      <p:sp>
        <p:nvSpPr>
          <p:cNvPr id="8" name="Text 6"/>
          <p:cNvSpPr/>
          <p:nvPr/>
        </p:nvSpPr>
        <p:spPr>
          <a:xfrm>
            <a:off x="2377440" y="2194560"/>
            <a:ext cx="201168" cy="512064"/>
          </a:xfrm>
          <a:prstGeom prst="rect">
            <a:avLst/>
          </a:prstGeom>
          <a:noFill/>
          <a:ln/>
        </p:spPr>
        <p:txBody>
          <a:bodyPr wrap="square" lIns="0" tIns="0" rIns="0" bIns="0" rtlCol="0" anchor="ctr"/>
          <a:lstStyle/>
          <a:p>
            <a:pPr algn="ctr" indent="0" marL="0">
              <a:buNone/>
            </a:pPr>
            <a:r>
              <a:rPr lang="en-US" sz="2000" dirty="0">
                <a:solidFill>
                  <a:srgbClr val="C8161D"/>
                </a:solidFill>
                <a:latin typeface="Arial" pitchFamily="34" charset="0"/>
                <a:ea typeface="BIZ UDPGothic" pitchFamily="34" charset="-122"/>
                <a:cs typeface="BIZ UDPGothic" pitchFamily="34" charset="-120"/>
              </a:rPr>
              <a:t>→</a:t>
            </a:r>
            <a:endParaRPr lang="en-US" sz="2000" dirty="0"/>
          </a:p>
        </p:txBody>
      </p:sp>
      <p:sp>
        <p:nvSpPr>
          <p:cNvPr id="9" name="Shape 7"/>
          <p:cNvSpPr/>
          <p:nvPr/>
        </p:nvSpPr>
        <p:spPr>
          <a:xfrm>
            <a:off x="2578608" y="1719072"/>
            <a:ext cx="1920240" cy="1463040"/>
          </a:xfrm>
          <a:prstGeom prst="roundRect">
            <a:avLst>
              <a:gd name="adj" fmla="val 5000"/>
            </a:avLst>
          </a:prstGeom>
          <a:solidFill>
            <a:srgbClr val="FFFFFF"/>
          </a:solidFill>
          <a:ln w="12700">
            <a:solidFill>
              <a:srgbClr val="DDE0E6"/>
            </a:solidFill>
            <a:prstDash val="solid"/>
          </a:ln>
        </p:spPr>
      </p:sp>
      <p:sp>
        <p:nvSpPr>
          <p:cNvPr id="10" name="Text 8"/>
          <p:cNvSpPr/>
          <p:nvPr/>
        </p:nvSpPr>
        <p:spPr>
          <a:xfrm>
            <a:off x="2651760" y="1719072"/>
            <a:ext cx="1773936" cy="1463040"/>
          </a:xfrm>
          <a:prstGeom prst="rect">
            <a:avLst/>
          </a:prstGeom>
          <a:noFill/>
          <a:ln/>
        </p:spPr>
        <p:txBody>
          <a:bodyPr wrap="square" lIns="0" tIns="0" rIns="0" bIns="0" rtlCol="0" anchor="ctr"/>
          <a:lstStyle/>
          <a:p>
            <a:pPr algn="ctr" indent="0" marL="0">
              <a:buNone/>
            </a:pPr>
            <a:r>
              <a:rPr lang="en-US" sz="1200" dirty="0">
                <a:solidFill>
                  <a:srgbClr val="16181D"/>
                </a:solidFill>
                <a:latin typeface="Arial" pitchFamily="34" charset="0"/>
                <a:ea typeface="BIZ UDPGothic" pitchFamily="34" charset="-122"/>
                <a:cs typeface="BIZ UDPGothic" pitchFamily="34" charset="-120"/>
              </a:rPr>
              <a:t>民間企業</a:t>
            </a:r>
            <a:endParaRPr lang="en-US" sz="1200" dirty="0"/>
          </a:p>
          <a:p>
            <a:pPr algn="ctr" indent="0" marL="0">
              <a:buNone/>
            </a:pPr>
            <a:r>
              <a:rPr lang="en-US" sz="1200" dirty="0">
                <a:solidFill>
                  <a:srgbClr val="16181D"/>
                </a:solidFill>
                <a:latin typeface="Arial" pitchFamily="34" charset="0"/>
                <a:ea typeface="BIZ UDPGothic" pitchFamily="34" charset="-122"/>
                <a:cs typeface="BIZ UDPGothic" pitchFamily="34" charset="-120"/>
              </a:rPr>
              <a:t>NPO・外郭団体</a:t>
            </a:r>
            <a:endParaRPr lang="en-US" sz="1200" dirty="0"/>
          </a:p>
        </p:txBody>
      </p:sp>
      <p:sp>
        <p:nvSpPr>
          <p:cNvPr id="11" name="Text 9"/>
          <p:cNvSpPr/>
          <p:nvPr/>
        </p:nvSpPr>
        <p:spPr>
          <a:xfrm>
            <a:off x="4498848" y="2194560"/>
            <a:ext cx="201168" cy="512064"/>
          </a:xfrm>
          <a:prstGeom prst="rect">
            <a:avLst/>
          </a:prstGeom>
          <a:noFill/>
          <a:ln/>
        </p:spPr>
        <p:txBody>
          <a:bodyPr wrap="square" lIns="0" tIns="0" rIns="0" bIns="0" rtlCol="0" anchor="ctr"/>
          <a:lstStyle/>
          <a:p>
            <a:pPr algn="ctr" indent="0" marL="0">
              <a:buNone/>
            </a:pPr>
            <a:r>
              <a:rPr lang="en-US" sz="2000" dirty="0">
                <a:solidFill>
                  <a:srgbClr val="C8161D"/>
                </a:solidFill>
                <a:latin typeface="Arial" pitchFamily="34" charset="0"/>
                <a:ea typeface="BIZ UDPGothic" pitchFamily="34" charset="-122"/>
                <a:cs typeface="BIZ UDPGothic" pitchFamily="34" charset="-120"/>
              </a:rPr>
              <a:t>→</a:t>
            </a:r>
            <a:endParaRPr lang="en-US" sz="2000" dirty="0"/>
          </a:p>
        </p:txBody>
      </p:sp>
      <p:sp>
        <p:nvSpPr>
          <p:cNvPr id="12" name="Shape 10"/>
          <p:cNvSpPr/>
          <p:nvPr/>
        </p:nvSpPr>
        <p:spPr>
          <a:xfrm>
            <a:off x="4700016" y="1719072"/>
            <a:ext cx="1920240" cy="1463040"/>
          </a:xfrm>
          <a:prstGeom prst="roundRect">
            <a:avLst>
              <a:gd name="adj" fmla="val 5000"/>
            </a:avLst>
          </a:prstGeom>
          <a:solidFill>
            <a:srgbClr val="E9EFF8"/>
          </a:solidFill>
          <a:ln w="12700">
            <a:solidFill>
              <a:srgbClr val="DDE0E6"/>
            </a:solidFill>
            <a:prstDash val="solid"/>
          </a:ln>
        </p:spPr>
      </p:sp>
      <p:sp>
        <p:nvSpPr>
          <p:cNvPr id="13" name="Text 11"/>
          <p:cNvSpPr/>
          <p:nvPr/>
        </p:nvSpPr>
        <p:spPr>
          <a:xfrm>
            <a:off x="4773168" y="1719072"/>
            <a:ext cx="1773936" cy="1463040"/>
          </a:xfrm>
          <a:prstGeom prst="rect">
            <a:avLst/>
          </a:prstGeom>
          <a:noFill/>
          <a:ln/>
        </p:spPr>
        <p:txBody>
          <a:bodyPr wrap="square" lIns="0" tIns="0" rIns="0" bIns="0" rtlCol="0" anchor="ctr"/>
          <a:lstStyle/>
          <a:p>
            <a:pPr algn="ctr" indent="0" marL="0">
              <a:buNone/>
            </a:pPr>
            <a:r>
              <a:rPr lang="en-US" sz="1200" dirty="0">
                <a:solidFill>
                  <a:srgbClr val="16181D"/>
                </a:solidFill>
                <a:latin typeface="Arial" pitchFamily="34" charset="0"/>
                <a:ea typeface="BIZ UDPGothic" pitchFamily="34" charset="-122"/>
                <a:cs typeface="BIZ UDPGothic" pitchFamily="34" charset="-120"/>
              </a:rPr>
              <a:t>共通システム上</a:t>
            </a:r>
            <a:endParaRPr lang="en-US" sz="1200" dirty="0"/>
          </a:p>
          <a:p>
            <a:pPr algn="ctr" indent="0" marL="0">
              <a:buNone/>
            </a:pPr>
            <a:r>
              <a:rPr lang="en-US" sz="1200" dirty="0">
                <a:solidFill>
                  <a:srgbClr val="16181D"/>
                </a:solidFill>
                <a:latin typeface="Arial" pitchFamily="34" charset="0"/>
                <a:ea typeface="BIZ UDPGothic" pitchFamily="34" charset="-122"/>
                <a:cs typeface="BIZ UDPGothic" pitchFamily="34" charset="-120"/>
              </a:rPr>
              <a:t>で使途を管理</a:t>
            </a:r>
            <a:endParaRPr lang="en-US" sz="1200" dirty="0"/>
          </a:p>
        </p:txBody>
      </p:sp>
      <p:sp>
        <p:nvSpPr>
          <p:cNvPr id="14" name="Text 12"/>
          <p:cNvSpPr/>
          <p:nvPr/>
        </p:nvSpPr>
        <p:spPr>
          <a:xfrm>
            <a:off x="6620256" y="2194560"/>
            <a:ext cx="201168" cy="512064"/>
          </a:xfrm>
          <a:prstGeom prst="rect">
            <a:avLst/>
          </a:prstGeom>
          <a:noFill/>
          <a:ln/>
        </p:spPr>
        <p:txBody>
          <a:bodyPr wrap="square" lIns="0" tIns="0" rIns="0" bIns="0" rtlCol="0" anchor="ctr"/>
          <a:lstStyle/>
          <a:p>
            <a:pPr algn="ctr" indent="0" marL="0">
              <a:buNone/>
            </a:pPr>
            <a:r>
              <a:rPr lang="en-US" sz="2000" dirty="0">
                <a:solidFill>
                  <a:srgbClr val="C8161D"/>
                </a:solidFill>
                <a:latin typeface="Arial" pitchFamily="34" charset="0"/>
                <a:ea typeface="BIZ UDPGothic" pitchFamily="34" charset="-122"/>
                <a:cs typeface="BIZ UDPGothic" pitchFamily="34" charset="-120"/>
              </a:rPr>
              <a:t>→</a:t>
            </a:r>
            <a:endParaRPr lang="en-US" sz="2000" dirty="0"/>
          </a:p>
        </p:txBody>
      </p:sp>
      <p:sp>
        <p:nvSpPr>
          <p:cNvPr id="15" name="Shape 13"/>
          <p:cNvSpPr/>
          <p:nvPr/>
        </p:nvSpPr>
        <p:spPr>
          <a:xfrm>
            <a:off x="6821424" y="1719072"/>
            <a:ext cx="1920240" cy="1463040"/>
          </a:xfrm>
          <a:prstGeom prst="roundRect">
            <a:avLst>
              <a:gd name="adj" fmla="val 5000"/>
            </a:avLst>
          </a:prstGeom>
          <a:solidFill>
            <a:srgbClr val="E9EFF8"/>
          </a:solidFill>
          <a:ln w="12700">
            <a:solidFill>
              <a:srgbClr val="DDE0E6"/>
            </a:solidFill>
            <a:prstDash val="solid"/>
          </a:ln>
        </p:spPr>
      </p:sp>
      <p:sp>
        <p:nvSpPr>
          <p:cNvPr id="16" name="Text 14"/>
          <p:cNvSpPr/>
          <p:nvPr/>
        </p:nvSpPr>
        <p:spPr>
          <a:xfrm>
            <a:off x="6894576" y="1719072"/>
            <a:ext cx="1773936" cy="1463040"/>
          </a:xfrm>
          <a:prstGeom prst="rect">
            <a:avLst/>
          </a:prstGeom>
          <a:noFill/>
          <a:ln/>
        </p:spPr>
        <p:txBody>
          <a:bodyPr wrap="square" lIns="0" tIns="0" rIns="0" bIns="0" rtlCol="0" anchor="ctr"/>
          <a:lstStyle/>
          <a:p>
            <a:pPr algn="ctr" indent="0" marL="0">
              <a:buNone/>
            </a:pPr>
            <a:r>
              <a:rPr lang="en-US" sz="1200" dirty="0">
                <a:solidFill>
                  <a:srgbClr val="16181D"/>
                </a:solidFill>
                <a:latin typeface="Arial" pitchFamily="34" charset="0"/>
                <a:ea typeface="BIZ UDPGothic" pitchFamily="34" charset="-122"/>
                <a:cs typeface="BIZ UDPGothic" pitchFamily="34" charset="-120"/>
              </a:rPr>
              <a:t>目的外支出・</a:t>
            </a:r>
            <a:endParaRPr lang="en-US" sz="1200" dirty="0"/>
          </a:p>
          <a:p>
            <a:pPr algn="ctr" indent="0" marL="0">
              <a:buNone/>
            </a:pPr>
            <a:r>
              <a:rPr lang="en-US" sz="1200" dirty="0">
                <a:solidFill>
                  <a:srgbClr val="16181D"/>
                </a:solidFill>
                <a:latin typeface="Arial" pitchFamily="34" charset="0"/>
                <a:ea typeface="BIZ UDPGothic" pitchFamily="34" charset="-122"/>
                <a:cs typeface="BIZ UDPGothic" pitchFamily="34" charset="-120"/>
              </a:rPr>
              <a:t>中抜きを</a:t>
            </a:r>
            <a:endParaRPr lang="en-US" sz="1200" dirty="0"/>
          </a:p>
          <a:p>
            <a:pPr algn="ctr" indent="0" marL="0">
              <a:buNone/>
            </a:pPr>
            <a:r>
              <a:rPr lang="en-US" sz="1200" dirty="0">
                <a:solidFill>
                  <a:srgbClr val="16181D"/>
                </a:solidFill>
                <a:latin typeface="Arial" pitchFamily="34" charset="0"/>
                <a:ea typeface="BIZ UDPGothic" pitchFamily="34" charset="-122"/>
                <a:cs typeface="BIZ UDPGothic" pitchFamily="34" charset="-120"/>
              </a:rPr>
              <a:t>完全追跡</a:t>
            </a:r>
            <a:endParaRPr lang="en-US" sz="1200" dirty="0"/>
          </a:p>
        </p:txBody>
      </p:sp>
      <p:sp>
        <p:nvSpPr>
          <p:cNvPr id="17" name="Shape 15"/>
          <p:cNvSpPr/>
          <p:nvPr/>
        </p:nvSpPr>
        <p:spPr>
          <a:xfrm>
            <a:off x="457200" y="3346704"/>
            <a:ext cx="8229600" cy="493776"/>
          </a:xfrm>
          <a:prstGeom prst="roundRect">
            <a:avLst>
              <a:gd name="adj" fmla="val 14815"/>
            </a:avLst>
          </a:prstGeom>
          <a:solidFill>
            <a:srgbClr val="FFFFFF"/>
          </a:solidFill>
          <a:ln w="12700">
            <a:solidFill>
              <a:srgbClr val="DDE0E6"/>
            </a:solidFill>
            <a:prstDash val="solid"/>
          </a:ln>
        </p:spPr>
      </p:sp>
      <p:sp>
        <p:nvSpPr>
          <p:cNvPr id="18" name="Text 16"/>
          <p:cNvSpPr/>
          <p:nvPr/>
        </p:nvSpPr>
        <p:spPr>
          <a:xfrm>
            <a:off x="594360" y="3419856"/>
            <a:ext cx="2011680" cy="347472"/>
          </a:xfrm>
          <a:prstGeom prst="rect">
            <a:avLst/>
          </a:prstGeom>
          <a:noFill/>
          <a:ln/>
        </p:spPr>
        <p:txBody>
          <a:bodyPr wrap="square" lIns="0" tIns="0" rIns="0" bIns="0" rtlCol="0" anchor="ctr"/>
          <a:lstStyle/>
          <a:p>
            <a:pPr indent="0" marL="0">
              <a:buNone/>
            </a:pPr>
            <a:r>
              <a:rPr lang="en-US" sz="1200" b="1" dirty="0">
                <a:solidFill>
                  <a:srgbClr val="C8161D"/>
                </a:solidFill>
                <a:latin typeface="BIZ UDPGothic" pitchFamily="34" charset="0"/>
                <a:ea typeface="BIZ UDPGothic" pitchFamily="34" charset="-122"/>
                <a:cs typeface="BIZ UDPGothic" pitchFamily="34" charset="-120"/>
              </a:rPr>
              <a:t>中間搾取の根絶</a:t>
            </a:r>
            <a:endParaRPr lang="en-US" sz="1200" dirty="0"/>
          </a:p>
        </p:txBody>
      </p:sp>
      <p:sp>
        <p:nvSpPr>
          <p:cNvPr id="19" name="Text 17"/>
          <p:cNvSpPr/>
          <p:nvPr/>
        </p:nvSpPr>
        <p:spPr>
          <a:xfrm>
            <a:off x="2724912" y="3419856"/>
            <a:ext cx="580644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いわゆる「中抜き」を完全にトラッキング可能にする。補助金が誰のポケットに入っているかが一目瞭然になる</a:t>
            </a:r>
            <a:endParaRPr lang="en-US" sz="1100" dirty="0"/>
          </a:p>
        </p:txBody>
      </p:sp>
      <p:sp>
        <p:nvSpPr>
          <p:cNvPr id="20" name="Shape 18"/>
          <p:cNvSpPr/>
          <p:nvPr/>
        </p:nvSpPr>
        <p:spPr>
          <a:xfrm>
            <a:off x="457200" y="3913632"/>
            <a:ext cx="8229600" cy="493776"/>
          </a:xfrm>
          <a:prstGeom prst="roundRect">
            <a:avLst>
              <a:gd name="adj" fmla="val 14815"/>
            </a:avLst>
          </a:prstGeom>
          <a:solidFill>
            <a:srgbClr val="FFFFFF"/>
          </a:solidFill>
          <a:ln w="12700">
            <a:solidFill>
              <a:srgbClr val="DDE0E6"/>
            </a:solidFill>
            <a:prstDash val="solid"/>
          </a:ln>
        </p:spPr>
      </p:sp>
      <p:sp>
        <p:nvSpPr>
          <p:cNvPr id="21" name="Text 19"/>
          <p:cNvSpPr/>
          <p:nvPr/>
        </p:nvSpPr>
        <p:spPr>
          <a:xfrm>
            <a:off x="594360" y="3986784"/>
            <a:ext cx="2011680" cy="347472"/>
          </a:xfrm>
          <a:prstGeom prst="rect">
            <a:avLst/>
          </a:prstGeom>
          <a:noFill/>
          <a:ln/>
        </p:spPr>
        <p:txBody>
          <a:bodyPr wrap="square" lIns="0" tIns="0" rIns="0" bIns="0" rtlCol="0" anchor="ctr"/>
          <a:lstStyle/>
          <a:p>
            <a:pPr indent="0" marL="0">
              <a:buNone/>
            </a:pPr>
            <a:r>
              <a:rPr lang="en-US" sz="1200" b="1" dirty="0">
                <a:solidFill>
                  <a:srgbClr val="C8161D"/>
                </a:solidFill>
                <a:latin typeface="BIZ UDPGothic" pitchFamily="34" charset="0"/>
                <a:ea typeface="BIZ UDPGothic" pitchFamily="34" charset="-122"/>
                <a:cs typeface="BIZ UDPGothic" pitchFamily="34" charset="-120"/>
              </a:rPr>
              <a:t>目的外支出の防止</a:t>
            </a:r>
            <a:endParaRPr lang="en-US" sz="1200" dirty="0"/>
          </a:p>
        </p:txBody>
      </p:sp>
      <p:sp>
        <p:nvSpPr>
          <p:cNvPr id="22" name="Text 20"/>
          <p:cNvSpPr/>
          <p:nvPr/>
        </p:nvSpPr>
        <p:spPr>
          <a:xfrm>
            <a:off x="2724912" y="3986784"/>
            <a:ext cx="580644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補助金の使途が契約目的から外れた場合、システムが即時アラートを発し、支払いをブロックする</a:t>
            </a:r>
            <a:endParaRPr lang="en-US" sz="1100" dirty="0"/>
          </a:p>
        </p:txBody>
      </p:sp>
      <p:sp>
        <p:nvSpPr>
          <p:cNvPr id="23" name="Shape 21"/>
          <p:cNvSpPr/>
          <p:nvPr/>
        </p:nvSpPr>
        <p:spPr>
          <a:xfrm>
            <a:off x="457200" y="4480560"/>
            <a:ext cx="8229600" cy="493776"/>
          </a:xfrm>
          <a:prstGeom prst="roundRect">
            <a:avLst>
              <a:gd name="adj" fmla="val 14815"/>
            </a:avLst>
          </a:prstGeom>
          <a:solidFill>
            <a:srgbClr val="FFFFFF"/>
          </a:solidFill>
          <a:ln w="12700">
            <a:solidFill>
              <a:srgbClr val="DDE0E6"/>
            </a:solidFill>
            <a:prstDash val="solid"/>
          </a:ln>
        </p:spPr>
      </p:sp>
      <p:sp>
        <p:nvSpPr>
          <p:cNvPr id="24" name="Text 22"/>
          <p:cNvSpPr/>
          <p:nvPr/>
        </p:nvSpPr>
        <p:spPr>
          <a:xfrm>
            <a:off x="594360" y="4553712"/>
            <a:ext cx="2011680" cy="347472"/>
          </a:xfrm>
          <a:prstGeom prst="rect">
            <a:avLst/>
          </a:prstGeom>
          <a:noFill/>
          <a:ln/>
        </p:spPr>
        <p:txBody>
          <a:bodyPr wrap="square" lIns="0" tIns="0" rIns="0" bIns="0" rtlCol="0" anchor="ctr"/>
          <a:lstStyle/>
          <a:p>
            <a:pPr indent="0" marL="0">
              <a:buNone/>
            </a:pPr>
            <a:r>
              <a:rPr lang="en-US" sz="1200" b="1" dirty="0">
                <a:solidFill>
                  <a:srgbClr val="C8161D"/>
                </a:solidFill>
                <a:latin typeface="BIZ UDPGothic" pitchFamily="34" charset="0"/>
                <a:ea typeface="BIZ UDPGothic" pitchFamily="34" charset="-122"/>
                <a:cs typeface="BIZ UDPGothic" pitchFamily="34" charset="-120"/>
              </a:rPr>
              <a:t>利権構造の根絶</a:t>
            </a:r>
            <a:endParaRPr lang="en-US" sz="1200" dirty="0"/>
          </a:p>
        </p:txBody>
      </p:sp>
      <p:sp>
        <p:nvSpPr>
          <p:cNvPr id="25" name="Text 23"/>
          <p:cNvSpPr/>
          <p:nvPr/>
        </p:nvSpPr>
        <p:spPr>
          <a:xfrm>
            <a:off x="2724912" y="4553712"/>
            <a:ext cx="580644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税金を原資とした外郭団体・NPOへの不透明な資金流入を構造的に不可能にする</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POLICY 05</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入札プロセスの透明化と多重下請け構造の法的解体</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公共事業・政府案件の入札制度を根本から改革。以下の4ルールを法的に義務付ける。</a:t>
            </a:r>
            <a:endParaRPr lang="en-US" sz="1100" dirty="0"/>
          </a:p>
        </p:txBody>
      </p:sp>
      <p:sp>
        <p:nvSpPr>
          <p:cNvPr id="6" name="Shape 4"/>
          <p:cNvSpPr/>
          <p:nvPr/>
        </p:nvSpPr>
        <p:spPr>
          <a:xfrm>
            <a:off x="457200" y="1719072"/>
            <a:ext cx="8229600" cy="731520"/>
          </a:xfrm>
          <a:prstGeom prst="roundRect">
            <a:avLst>
              <a:gd name="adj" fmla="val 10000"/>
            </a:avLst>
          </a:prstGeom>
          <a:solidFill>
            <a:srgbClr val="FFFFFF"/>
          </a:solidFill>
          <a:ln w="12700">
            <a:solidFill>
              <a:srgbClr val="DDE0E6"/>
            </a:solidFill>
            <a:prstDash val="solid"/>
          </a:ln>
        </p:spPr>
      </p:sp>
      <p:sp>
        <p:nvSpPr>
          <p:cNvPr id="7" name="Shape 5"/>
          <p:cNvSpPr/>
          <p:nvPr/>
        </p:nvSpPr>
        <p:spPr>
          <a:xfrm>
            <a:off x="594360" y="1865376"/>
            <a:ext cx="713232" cy="420624"/>
          </a:xfrm>
          <a:prstGeom prst="roundRect">
            <a:avLst>
              <a:gd name="adj" fmla="val 13043"/>
            </a:avLst>
          </a:prstGeom>
          <a:solidFill>
            <a:srgbClr val="C8161D"/>
          </a:solidFill>
          <a:ln w="12700">
            <a:solidFill>
              <a:srgbClr val="C8161D"/>
            </a:solidFill>
            <a:prstDash val="solid"/>
          </a:ln>
        </p:spPr>
      </p:sp>
      <p:sp>
        <p:nvSpPr>
          <p:cNvPr id="8" name="Text 6"/>
          <p:cNvSpPr/>
          <p:nvPr/>
        </p:nvSpPr>
        <p:spPr>
          <a:xfrm>
            <a:off x="594360" y="1865376"/>
            <a:ext cx="713232"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01</a:t>
            </a:r>
            <a:endParaRPr lang="en-US" sz="1400" dirty="0"/>
          </a:p>
        </p:txBody>
      </p:sp>
      <p:sp>
        <p:nvSpPr>
          <p:cNvPr id="9" name="Text 7"/>
          <p:cNvSpPr/>
          <p:nvPr/>
        </p:nvSpPr>
        <p:spPr>
          <a:xfrm>
            <a:off x="1444752" y="1792224"/>
            <a:ext cx="708660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入札時点での下請け業者の確定・開示</a:t>
            </a:r>
            <a:endParaRPr lang="en-US" sz="1300" dirty="0"/>
          </a:p>
        </p:txBody>
      </p:sp>
      <p:sp>
        <p:nvSpPr>
          <p:cNvPr id="10" name="Text 8"/>
          <p:cNvSpPr/>
          <p:nvPr/>
        </p:nvSpPr>
        <p:spPr>
          <a:xfrm>
            <a:off x="1444752" y="2121408"/>
            <a:ext cx="7086600" cy="27432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応札企業は入札時点で全ての下請け業者を開示・確定させる。事後の丸投げ・孫請けへの再委託は一切禁止。</a:t>
            </a:r>
            <a:endParaRPr lang="en-US" sz="1000" dirty="0"/>
          </a:p>
        </p:txBody>
      </p:sp>
      <p:sp>
        <p:nvSpPr>
          <p:cNvPr id="11" name="Shape 9"/>
          <p:cNvSpPr/>
          <p:nvPr/>
        </p:nvSpPr>
        <p:spPr>
          <a:xfrm>
            <a:off x="457200" y="2523744"/>
            <a:ext cx="8229600" cy="731520"/>
          </a:xfrm>
          <a:prstGeom prst="roundRect">
            <a:avLst>
              <a:gd name="adj" fmla="val 10000"/>
            </a:avLst>
          </a:prstGeom>
          <a:solidFill>
            <a:srgbClr val="FFFFFF"/>
          </a:solidFill>
          <a:ln w="12700">
            <a:solidFill>
              <a:srgbClr val="DDE0E6"/>
            </a:solidFill>
            <a:prstDash val="solid"/>
          </a:ln>
        </p:spPr>
      </p:sp>
      <p:sp>
        <p:nvSpPr>
          <p:cNvPr id="12" name="Shape 10"/>
          <p:cNvSpPr/>
          <p:nvPr/>
        </p:nvSpPr>
        <p:spPr>
          <a:xfrm>
            <a:off x="594360" y="2670048"/>
            <a:ext cx="713232" cy="420624"/>
          </a:xfrm>
          <a:prstGeom prst="roundRect">
            <a:avLst>
              <a:gd name="adj" fmla="val 13043"/>
            </a:avLst>
          </a:prstGeom>
          <a:solidFill>
            <a:srgbClr val="C8161D"/>
          </a:solidFill>
          <a:ln w="12700">
            <a:solidFill>
              <a:srgbClr val="C8161D"/>
            </a:solidFill>
            <a:prstDash val="solid"/>
          </a:ln>
        </p:spPr>
      </p:sp>
      <p:sp>
        <p:nvSpPr>
          <p:cNvPr id="13" name="Text 11"/>
          <p:cNvSpPr/>
          <p:nvPr/>
        </p:nvSpPr>
        <p:spPr>
          <a:xfrm>
            <a:off x="594360" y="2670048"/>
            <a:ext cx="713232"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02</a:t>
            </a:r>
            <a:endParaRPr lang="en-US" sz="1400" dirty="0"/>
          </a:p>
        </p:txBody>
      </p:sp>
      <p:sp>
        <p:nvSpPr>
          <p:cNvPr id="14" name="Text 12"/>
          <p:cNvSpPr/>
          <p:nvPr/>
        </p:nvSpPr>
        <p:spPr>
          <a:xfrm>
            <a:off x="1444752" y="2596896"/>
            <a:ext cx="708660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下請け自身による直接見積もり</a:t>
            </a:r>
            <a:endParaRPr lang="en-US" sz="1300" dirty="0"/>
          </a:p>
        </p:txBody>
      </p:sp>
      <p:sp>
        <p:nvSpPr>
          <p:cNvPr id="15" name="Text 13"/>
          <p:cNvSpPr/>
          <p:nvPr/>
        </p:nvSpPr>
        <p:spPr>
          <a:xfrm>
            <a:off x="1444752" y="2926080"/>
            <a:ext cx="7086600" cy="27432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下請け担当部分の入札内訳は、下請け自身が作成した見積書をそのまま添付。元請けによる買い叩き・不当マージンをシステム的に排除。</a:t>
            </a:r>
            <a:endParaRPr lang="en-US" sz="1000" dirty="0"/>
          </a:p>
        </p:txBody>
      </p:sp>
      <p:sp>
        <p:nvSpPr>
          <p:cNvPr id="16" name="Shape 14"/>
          <p:cNvSpPr/>
          <p:nvPr/>
        </p:nvSpPr>
        <p:spPr>
          <a:xfrm>
            <a:off x="457200" y="3328416"/>
            <a:ext cx="8229600" cy="731520"/>
          </a:xfrm>
          <a:prstGeom prst="roundRect">
            <a:avLst>
              <a:gd name="adj" fmla="val 10000"/>
            </a:avLst>
          </a:prstGeom>
          <a:solidFill>
            <a:srgbClr val="FFFFFF"/>
          </a:solidFill>
          <a:ln w="12700">
            <a:solidFill>
              <a:srgbClr val="DDE0E6"/>
            </a:solidFill>
            <a:prstDash val="solid"/>
          </a:ln>
        </p:spPr>
      </p:sp>
      <p:sp>
        <p:nvSpPr>
          <p:cNvPr id="17" name="Shape 15"/>
          <p:cNvSpPr/>
          <p:nvPr/>
        </p:nvSpPr>
        <p:spPr>
          <a:xfrm>
            <a:off x="594360" y="3474720"/>
            <a:ext cx="713232" cy="420624"/>
          </a:xfrm>
          <a:prstGeom prst="roundRect">
            <a:avLst>
              <a:gd name="adj" fmla="val 13043"/>
            </a:avLst>
          </a:prstGeom>
          <a:solidFill>
            <a:srgbClr val="C8161D"/>
          </a:solidFill>
          <a:ln w="12700">
            <a:solidFill>
              <a:srgbClr val="C8161D"/>
            </a:solidFill>
            <a:prstDash val="solid"/>
          </a:ln>
        </p:spPr>
      </p:sp>
      <p:sp>
        <p:nvSpPr>
          <p:cNvPr id="18" name="Text 16"/>
          <p:cNvSpPr/>
          <p:nvPr/>
        </p:nvSpPr>
        <p:spPr>
          <a:xfrm>
            <a:off x="594360" y="3474720"/>
            <a:ext cx="713232"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03</a:t>
            </a:r>
            <a:endParaRPr lang="en-US" sz="1400" dirty="0"/>
          </a:p>
        </p:txBody>
      </p:sp>
      <p:sp>
        <p:nvSpPr>
          <p:cNvPr id="19" name="Text 17"/>
          <p:cNvSpPr/>
          <p:nvPr/>
        </p:nvSpPr>
        <p:spPr>
          <a:xfrm>
            <a:off x="1444752" y="3401568"/>
            <a:ext cx="708660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支払金額の透明化とE2E決済</a:t>
            </a:r>
            <a:endParaRPr lang="en-US" sz="1300" dirty="0"/>
          </a:p>
        </p:txBody>
      </p:sp>
      <p:sp>
        <p:nvSpPr>
          <p:cNvPr id="20" name="Text 18"/>
          <p:cNvSpPr/>
          <p:nvPr/>
        </p:nvSpPr>
        <p:spPr>
          <a:xfrm>
            <a:off x="1444752" y="3730752"/>
            <a:ext cx="7086600" cy="27432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下請けへの支払金額を契約時に明示し、公費管理クラウドを通じて中抜きなしで直接支払うE2E決済を構築。</a:t>
            </a:r>
            <a:endParaRPr lang="en-US" sz="1000" dirty="0"/>
          </a:p>
        </p:txBody>
      </p:sp>
      <p:sp>
        <p:nvSpPr>
          <p:cNvPr id="21" name="Shape 19"/>
          <p:cNvSpPr/>
          <p:nvPr/>
        </p:nvSpPr>
        <p:spPr>
          <a:xfrm>
            <a:off x="457200" y="4133088"/>
            <a:ext cx="8229600" cy="731520"/>
          </a:xfrm>
          <a:prstGeom prst="roundRect">
            <a:avLst>
              <a:gd name="adj" fmla="val 10000"/>
            </a:avLst>
          </a:prstGeom>
          <a:solidFill>
            <a:srgbClr val="FFFFFF"/>
          </a:solidFill>
          <a:ln w="12700">
            <a:solidFill>
              <a:srgbClr val="DDE0E6"/>
            </a:solidFill>
            <a:prstDash val="solid"/>
          </a:ln>
        </p:spPr>
      </p:sp>
      <p:sp>
        <p:nvSpPr>
          <p:cNvPr id="22" name="Shape 20"/>
          <p:cNvSpPr/>
          <p:nvPr/>
        </p:nvSpPr>
        <p:spPr>
          <a:xfrm>
            <a:off x="594360" y="4279392"/>
            <a:ext cx="713232" cy="420624"/>
          </a:xfrm>
          <a:prstGeom prst="roundRect">
            <a:avLst>
              <a:gd name="adj" fmla="val 13043"/>
            </a:avLst>
          </a:prstGeom>
          <a:solidFill>
            <a:srgbClr val="C8161D"/>
          </a:solidFill>
          <a:ln w="12700">
            <a:solidFill>
              <a:srgbClr val="C8161D"/>
            </a:solidFill>
            <a:prstDash val="solid"/>
          </a:ln>
        </p:spPr>
      </p:sp>
      <p:sp>
        <p:nvSpPr>
          <p:cNvPr id="23" name="Text 21"/>
          <p:cNvSpPr/>
          <p:nvPr/>
        </p:nvSpPr>
        <p:spPr>
          <a:xfrm>
            <a:off x="594360" y="4279392"/>
            <a:ext cx="713232"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04</a:t>
            </a:r>
            <a:endParaRPr lang="en-US" sz="1400" dirty="0"/>
          </a:p>
        </p:txBody>
      </p:sp>
      <p:sp>
        <p:nvSpPr>
          <p:cNvPr id="24" name="Text 22"/>
          <p:cNvSpPr/>
          <p:nvPr/>
        </p:nvSpPr>
        <p:spPr>
          <a:xfrm>
            <a:off x="1444752" y="4206240"/>
            <a:ext cx="7086600" cy="329184"/>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架空下請け・名義貸しの禁止と入札資格即時停止</a:t>
            </a:r>
            <a:endParaRPr lang="en-US" sz="1300" dirty="0"/>
          </a:p>
        </p:txBody>
      </p:sp>
      <p:sp>
        <p:nvSpPr>
          <p:cNvPr id="25" name="Text 23"/>
          <p:cNvSpPr/>
          <p:nvPr/>
        </p:nvSpPr>
        <p:spPr>
          <a:xfrm>
            <a:off x="1444752" y="4535424"/>
            <a:ext cx="7086600" cy="27432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実務を行わない架空下請け・名義貸しを法的に明文禁止。発覚した場合は元請け・当該業者ともに入札資格を即時停止する。</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POLICY 05 — IMPACT</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多重下請け構造の解体：現行 vs 改革後</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71600"/>
            <a:ext cx="4114800" cy="384048"/>
          </a:xfrm>
          <a:prstGeom prst="rect">
            <a:avLst/>
          </a:prstGeom>
          <a:noFill/>
          <a:ln/>
        </p:spPr>
        <p:txBody>
          <a:bodyPr wrap="square" lIns="0" tIns="0" rIns="0" bIns="0" rtlCol="0" anchor="ctr"/>
          <a:lstStyle/>
          <a:p>
            <a:pPr algn="ctr" indent="0" marL="0">
              <a:buNone/>
            </a:pPr>
            <a:r>
              <a:rPr lang="en-US" sz="1400" b="1" dirty="0">
                <a:solidFill>
                  <a:srgbClr val="C8161D"/>
                </a:solidFill>
                <a:latin typeface="BIZ UDPGothic" pitchFamily="34" charset="0"/>
                <a:ea typeface="BIZ UDPGothic" pitchFamily="34" charset="-122"/>
                <a:cs typeface="BIZ UDPGothic" pitchFamily="34" charset="-120"/>
              </a:rPr>
              <a:t>現行の構造</a:t>
            </a:r>
            <a:endParaRPr lang="en-US" sz="1400" dirty="0"/>
          </a:p>
        </p:txBody>
      </p:sp>
      <p:sp>
        <p:nvSpPr>
          <p:cNvPr id="6" name="Text 4"/>
          <p:cNvSpPr/>
          <p:nvPr/>
        </p:nvSpPr>
        <p:spPr>
          <a:xfrm>
            <a:off x="4572000" y="1371600"/>
            <a:ext cx="4114800" cy="384048"/>
          </a:xfrm>
          <a:prstGeom prst="rect">
            <a:avLst/>
          </a:prstGeom>
          <a:noFill/>
          <a:ln/>
        </p:spPr>
        <p:txBody>
          <a:bodyPr wrap="square" lIns="0" tIns="0" rIns="0" bIns="0" rtlCol="0" anchor="ctr"/>
          <a:lstStyle/>
          <a:p>
            <a:pPr algn="ctr" indent="0" marL="0">
              <a:buNone/>
            </a:pPr>
            <a:r>
              <a:rPr lang="en-US" sz="1400" b="1" dirty="0">
                <a:solidFill>
                  <a:srgbClr val="1D4F91"/>
                </a:solidFill>
                <a:latin typeface="BIZ UDPGothic" pitchFamily="34" charset="0"/>
                <a:ea typeface="BIZ UDPGothic" pitchFamily="34" charset="-122"/>
                <a:cs typeface="BIZ UDPGothic" pitchFamily="34" charset="-120"/>
              </a:rPr>
              <a:t>改革後の構造</a:t>
            </a:r>
            <a:endParaRPr lang="en-US" sz="1400" dirty="0"/>
          </a:p>
        </p:txBody>
      </p:sp>
      <p:sp>
        <p:nvSpPr>
          <p:cNvPr id="7" name="Shape 5"/>
          <p:cNvSpPr/>
          <p:nvPr/>
        </p:nvSpPr>
        <p:spPr>
          <a:xfrm>
            <a:off x="457200" y="1847088"/>
            <a:ext cx="4114800" cy="548640"/>
          </a:xfrm>
          <a:prstGeom prst="roundRect">
            <a:avLst>
              <a:gd name="adj" fmla="val 13333"/>
            </a:avLst>
          </a:prstGeom>
          <a:solidFill>
            <a:srgbClr val="FCEBEB"/>
          </a:solidFill>
          <a:ln w="12700">
            <a:solidFill>
              <a:srgbClr val="DDE0E6"/>
            </a:solidFill>
            <a:prstDash val="solid"/>
          </a:ln>
        </p:spPr>
      </p:sp>
      <p:sp>
        <p:nvSpPr>
          <p:cNvPr id="8" name="Shape 6"/>
          <p:cNvSpPr/>
          <p:nvPr/>
        </p:nvSpPr>
        <p:spPr>
          <a:xfrm>
            <a:off x="4572000" y="1847088"/>
            <a:ext cx="4114800" cy="548640"/>
          </a:xfrm>
          <a:prstGeom prst="roundRect">
            <a:avLst>
              <a:gd name="adj" fmla="val 13333"/>
            </a:avLst>
          </a:prstGeom>
          <a:solidFill>
            <a:srgbClr val="E9EFF8"/>
          </a:solidFill>
          <a:ln w="12700">
            <a:solidFill>
              <a:srgbClr val="DDE0E6"/>
            </a:solidFill>
            <a:prstDash val="solid"/>
          </a:ln>
        </p:spPr>
      </p:sp>
      <p:sp>
        <p:nvSpPr>
          <p:cNvPr id="9" name="Text 7"/>
          <p:cNvSpPr/>
          <p:nvPr/>
        </p:nvSpPr>
        <p:spPr>
          <a:xfrm>
            <a:off x="594360" y="1883664"/>
            <a:ext cx="3840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元請け → 中間業者 → 下請け（金額不透明）</a:t>
            </a:r>
            <a:endParaRPr lang="en-US" sz="1000" dirty="0"/>
          </a:p>
        </p:txBody>
      </p:sp>
      <p:sp>
        <p:nvSpPr>
          <p:cNvPr id="10" name="Text 8"/>
          <p:cNvSpPr/>
          <p:nvPr/>
        </p:nvSpPr>
        <p:spPr>
          <a:xfrm>
            <a:off x="4709160" y="1883664"/>
            <a:ext cx="3840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発注者 → 下請け（直接・金額固定）</a:t>
            </a:r>
            <a:endParaRPr lang="en-US" sz="1000" dirty="0"/>
          </a:p>
        </p:txBody>
      </p:sp>
      <p:sp>
        <p:nvSpPr>
          <p:cNvPr id="11" name="Text 9"/>
          <p:cNvSpPr/>
          <p:nvPr/>
        </p:nvSpPr>
        <p:spPr>
          <a:xfrm>
            <a:off x="4242816" y="1920240"/>
            <a:ext cx="658368" cy="402336"/>
          </a:xfrm>
          <a:prstGeom prst="rect">
            <a:avLst/>
          </a:prstGeom>
          <a:noFill/>
          <a:ln/>
        </p:spPr>
        <p:txBody>
          <a:bodyPr wrap="square" lIns="0" tIns="0" rIns="0" bIns="0" rtlCol="0" anchor="ctr"/>
          <a:lstStyle/>
          <a:p>
            <a:pPr algn="ctr" indent="0" marL="0">
              <a:buNone/>
            </a:pPr>
            <a:r>
              <a:rPr lang="en-US" sz="1800" dirty="0">
                <a:solidFill>
                  <a:srgbClr val="C8161D"/>
                </a:solidFill>
                <a:latin typeface="Arial" pitchFamily="34" charset="0"/>
                <a:ea typeface="BIZ UDPGothic" pitchFamily="34" charset="-122"/>
                <a:cs typeface="BIZ UDPGothic" pitchFamily="34" charset="-120"/>
              </a:rPr>
              <a:t>→</a:t>
            </a:r>
            <a:endParaRPr lang="en-US" sz="1800" dirty="0"/>
          </a:p>
        </p:txBody>
      </p:sp>
      <p:sp>
        <p:nvSpPr>
          <p:cNvPr id="12" name="Shape 10"/>
          <p:cNvSpPr/>
          <p:nvPr/>
        </p:nvSpPr>
        <p:spPr>
          <a:xfrm>
            <a:off x="457200" y="2468880"/>
            <a:ext cx="4114800" cy="548640"/>
          </a:xfrm>
          <a:prstGeom prst="roundRect">
            <a:avLst>
              <a:gd name="adj" fmla="val 13333"/>
            </a:avLst>
          </a:prstGeom>
          <a:solidFill>
            <a:srgbClr val="FCEBEB"/>
          </a:solidFill>
          <a:ln w="12700">
            <a:solidFill>
              <a:srgbClr val="DDE0E6"/>
            </a:solidFill>
            <a:prstDash val="solid"/>
          </a:ln>
        </p:spPr>
      </p:sp>
      <p:sp>
        <p:nvSpPr>
          <p:cNvPr id="13" name="Shape 11"/>
          <p:cNvSpPr/>
          <p:nvPr/>
        </p:nvSpPr>
        <p:spPr>
          <a:xfrm>
            <a:off x="4572000" y="2468880"/>
            <a:ext cx="4114800" cy="548640"/>
          </a:xfrm>
          <a:prstGeom prst="roundRect">
            <a:avLst>
              <a:gd name="adj" fmla="val 13333"/>
            </a:avLst>
          </a:prstGeom>
          <a:solidFill>
            <a:srgbClr val="E9EFF8"/>
          </a:solidFill>
          <a:ln w="12700">
            <a:solidFill>
              <a:srgbClr val="DDE0E6"/>
            </a:solidFill>
            <a:prstDash val="solid"/>
          </a:ln>
        </p:spPr>
      </p:sp>
      <p:sp>
        <p:nvSpPr>
          <p:cNvPr id="14" name="Text 12"/>
          <p:cNvSpPr/>
          <p:nvPr/>
        </p:nvSpPr>
        <p:spPr>
          <a:xfrm>
            <a:off x="594360" y="2505456"/>
            <a:ext cx="3840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事後の丸投げ・孫請けが横行</a:t>
            </a:r>
            <a:endParaRPr lang="en-US" sz="1000" dirty="0"/>
          </a:p>
        </p:txBody>
      </p:sp>
      <p:sp>
        <p:nvSpPr>
          <p:cNvPr id="15" name="Text 13"/>
          <p:cNvSpPr/>
          <p:nvPr/>
        </p:nvSpPr>
        <p:spPr>
          <a:xfrm>
            <a:off x="4709160" y="2505456"/>
            <a:ext cx="3840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入札時点で全業者・全金額を確定</a:t>
            </a:r>
            <a:endParaRPr lang="en-US" sz="1000" dirty="0"/>
          </a:p>
        </p:txBody>
      </p:sp>
      <p:sp>
        <p:nvSpPr>
          <p:cNvPr id="16" name="Text 14"/>
          <p:cNvSpPr/>
          <p:nvPr/>
        </p:nvSpPr>
        <p:spPr>
          <a:xfrm>
            <a:off x="4242816" y="2542032"/>
            <a:ext cx="658368" cy="402336"/>
          </a:xfrm>
          <a:prstGeom prst="rect">
            <a:avLst/>
          </a:prstGeom>
          <a:noFill/>
          <a:ln/>
        </p:spPr>
        <p:txBody>
          <a:bodyPr wrap="square" lIns="0" tIns="0" rIns="0" bIns="0" rtlCol="0" anchor="ctr"/>
          <a:lstStyle/>
          <a:p>
            <a:pPr algn="ctr" indent="0" marL="0">
              <a:buNone/>
            </a:pPr>
            <a:r>
              <a:rPr lang="en-US" sz="1800" dirty="0">
                <a:solidFill>
                  <a:srgbClr val="C8161D"/>
                </a:solidFill>
                <a:latin typeface="Arial" pitchFamily="34" charset="0"/>
                <a:ea typeface="BIZ UDPGothic" pitchFamily="34" charset="-122"/>
                <a:cs typeface="BIZ UDPGothic" pitchFamily="34" charset="-120"/>
              </a:rPr>
              <a:t>→</a:t>
            </a:r>
            <a:endParaRPr lang="en-US" sz="1800" dirty="0"/>
          </a:p>
        </p:txBody>
      </p:sp>
      <p:sp>
        <p:nvSpPr>
          <p:cNvPr id="17" name="Shape 15"/>
          <p:cNvSpPr/>
          <p:nvPr/>
        </p:nvSpPr>
        <p:spPr>
          <a:xfrm>
            <a:off x="457200" y="3090672"/>
            <a:ext cx="4114800" cy="548640"/>
          </a:xfrm>
          <a:prstGeom prst="roundRect">
            <a:avLst>
              <a:gd name="adj" fmla="val 13333"/>
            </a:avLst>
          </a:prstGeom>
          <a:solidFill>
            <a:srgbClr val="FCEBEB"/>
          </a:solidFill>
          <a:ln w="12700">
            <a:solidFill>
              <a:srgbClr val="DDE0E6"/>
            </a:solidFill>
            <a:prstDash val="solid"/>
          </a:ln>
        </p:spPr>
      </p:sp>
      <p:sp>
        <p:nvSpPr>
          <p:cNvPr id="18" name="Shape 16"/>
          <p:cNvSpPr/>
          <p:nvPr/>
        </p:nvSpPr>
        <p:spPr>
          <a:xfrm>
            <a:off x="4572000" y="3090672"/>
            <a:ext cx="4114800" cy="548640"/>
          </a:xfrm>
          <a:prstGeom prst="roundRect">
            <a:avLst>
              <a:gd name="adj" fmla="val 13333"/>
            </a:avLst>
          </a:prstGeom>
          <a:solidFill>
            <a:srgbClr val="E9EFF8"/>
          </a:solidFill>
          <a:ln w="12700">
            <a:solidFill>
              <a:srgbClr val="DDE0E6"/>
            </a:solidFill>
            <a:prstDash val="solid"/>
          </a:ln>
        </p:spPr>
      </p:sp>
      <p:sp>
        <p:nvSpPr>
          <p:cNvPr id="19" name="Text 17"/>
          <p:cNvSpPr/>
          <p:nvPr/>
        </p:nvSpPr>
        <p:spPr>
          <a:xfrm>
            <a:off x="594360" y="3127248"/>
            <a:ext cx="3840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元請けが下請けを自由に買い叩く</a:t>
            </a:r>
            <a:endParaRPr lang="en-US" sz="1000" dirty="0"/>
          </a:p>
        </p:txBody>
      </p:sp>
      <p:sp>
        <p:nvSpPr>
          <p:cNvPr id="20" name="Text 18"/>
          <p:cNvSpPr/>
          <p:nvPr/>
        </p:nvSpPr>
        <p:spPr>
          <a:xfrm>
            <a:off x="4709160" y="3127248"/>
            <a:ext cx="3840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下請け自身の見積書が契約に直結</a:t>
            </a:r>
            <a:endParaRPr lang="en-US" sz="1000" dirty="0"/>
          </a:p>
        </p:txBody>
      </p:sp>
      <p:sp>
        <p:nvSpPr>
          <p:cNvPr id="21" name="Text 19"/>
          <p:cNvSpPr/>
          <p:nvPr/>
        </p:nvSpPr>
        <p:spPr>
          <a:xfrm>
            <a:off x="4242816" y="3163824"/>
            <a:ext cx="658368" cy="402336"/>
          </a:xfrm>
          <a:prstGeom prst="rect">
            <a:avLst/>
          </a:prstGeom>
          <a:noFill/>
          <a:ln/>
        </p:spPr>
        <p:txBody>
          <a:bodyPr wrap="square" lIns="0" tIns="0" rIns="0" bIns="0" rtlCol="0" anchor="ctr"/>
          <a:lstStyle/>
          <a:p>
            <a:pPr algn="ctr" indent="0" marL="0">
              <a:buNone/>
            </a:pPr>
            <a:r>
              <a:rPr lang="en-US" sz="1800" dirty="0">
                <a:solidFill>
                  <a:srgbClr val="C8161D"/>
                </a:solidFill>
                <a:latin typeface="Arial" pitchFamily="34" charset="0"/>
                <a:ea typeface="BIZ UDPGothic" pitchFamily="34" charset="-122"/>
                <a:cs typeface="BIZ UDPGothic" pitchFamily="34" charset="-120"/>
              </a:rPr>
              <a:t>→</a:t>
            </a:r>
            <a:endParaRPr lang="en-US" sz="1800" dirty="0"/>
          </a:p>
        </p:txBody>
      </p:sp>
      <p:sp>
        <p:nvSpPr>
          <p:cNvPr id="22" name="Shape 20"/>
          <p:cNvSpPr/>
          <p:nvPr/>
        </p:nvSpPr>
        <p:spPr>
          <a:xfrm>
            <a:off x="457200" y="3712464"/>
            <a:ext cx="4114800" cy="548640"/>
          </a:xfrm>
          <a:prstGeom prst="roundRect">
            <a:avLst>
              <a:gd name="adj" fmla="val 13333"/>
            </a:avLst>
          </a:prstGeom>
          <a:solidFill>
            <a:srgbClr val="FCEBEB"/>
          </a:solidFill>
          <a:ln w="12700">
            <a:solidFill>
              <a:srgbClr val="DDE0E6"/>
            </a:solidFill>
            <a:prstDash val="solid"/>
          </a:ln>
        </p:spPr>
      </p:sp>
      <p:sp>
        <p:nvSpPr>
          <p:cNvPr id="23" name="Shape 21"/>
          <p:cNvSpPr/>
          <p:nvPr/>
        </p:nvSpPr>
        <p:spPr>
          <a:xfrm>
            <a:off x="4572000" y="3712464"/>
            <a:ext cx="4114800" cy="548640"/>
          </a:xfrm>
          <a:prstGeom prst="roundRect">
            <a:avLst>
              <a:gd name="adj" fmla="val 13333"/>
            </a:avLst>
          </a:prstGeom>
          <a:solidFill>
            <a:srgbClr val="E9EFF8"/>
          </a:solidFill>
          <a:ln w="12700">
            <a:solidFill>
              <a:srgbClr val="DDE0E6"/>
            </a:solidFill>
            <a:prstDash val="solid"/>
          </a:ln>
        </p:spPr>
      </p:sp>
      <p:sp>
        <p:nvSpPr>
          <p:cNvPr id="24" name="Text 22"/>
          <p:cNvSpPr/>
          <p:nvPr/>
        </p:nvSpPr>
        <p:spPr>
          <a:xfrm>
            <a:off x="594360" y="3749040"/>
            <a:ext cx="3840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架空下請け・名義貸しが横行</a:t>
            </a:r>
            <a:endParaRPr lang="en-US" sz="1000" dirty="0"/>
          </a:p>
        </p:txBody>
      </p:sp>
      <p:sp>
        <p:nvSpPr>
          <p:cNvPr id="25" name="Text 23"/>
          <p:cNvSpPr/>
          <p:nvPr/>
        </p:nvSpPr>
        <p:spPr>
          <a:xfrm>
            <a:off x="4709160" y="3749040"/>
            <a:ext cx="3840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発覚次第、入札資格を即時停止</a:t>
            </a:r>
            <a:endParaRPr lang="en-US" sz="1000" dirty="0"/>
          </a:p>
        </p:txBody>
      </p:sp>
      <p:sp>
        <p:nvSpPr>
          <p:cNvPr id="26" name="Text 24"/>
          <p:cNvSpPr/>
          <p:nvPr/>
        </p:nvSpPr>
        <p:spPr>
          <a:xfrm>
            <a:off x="4242816" y="3785616"/>
            <a:ext cx="658368" cy="402336"/>
          </a:xfrm>
          <a:prstGeom prst="rect">
            <a:avLst/>
          </a:prstGeom>
          <a:noFill/>
          <a:ln/>
        </p:spPr>
        <p:txBody>
          <a:bodyPr wrap="square" lIns="0" tIns="0" rIns="0" bIns="0" rtlCol="0" anchor="ctr"/>
          <a:lstStyle/>
          <a:p>
            <a:pPr algn="ctr" indent="0" marL="0">
              <a:buNone/>
            </a:pPr>
            <a:r>
              <a:rPr lang="en-US" sz="1800" dirty="0">
                <a:solidFill>
                  <a:srgbClr val="C8161D"/>
                </a:solidFill>
                <a:latin typeface="Arial" pitchFamily="34" charset="0"/>
                <a:ea typeface="BIZ UDPGothic" pitchFamily="34" charset="-122"/>
                <a:cs typeface="BIZ UDPGothic" pitchFamily="34" charset="-120"/>
              </a:rPr>
              <a:t>→</a:t>
            </a:r>
            <a:endParaRPr lang="en-US" sz="1800" dirty="0"/>
          </a:p>
        </p:txBody>
      </p:sp>
      <p:sp>
        <p:nvSpPr>
          <p:cNvPr id="27" name="Shape 25"/>
          <p:cNvSpPr/>
          <p:nvPr/>
        </p:nvSpPr>
        <p:spPr>
          <a:xfrm>
            <a:off x="457200" y="4334256"/>
            <a:ext cx="4114800" cy="548640"/>
          </a:xfrm>
          <a:prstGeom prst="roundRect">
            <a:avLst>
              <a:gd name="adj" fmla="val 13333"/>
            </a:avLst>
          </a:prstGeom>
          <a:solidFill>
            <a:srgbClr val="FCEBEB"/>
          </a:solidFill>
          <a:ln w="12700">
            <a:solidFill>
              <a:srgbClr val="DDE0E6"/>
            </a:solidFill>
            <a:prstDash val="solid"/>
          </a:ln>
        </p:spPr>
      </p:sp>
      <p:sp>
        <p:nvSpPr>
          <p:cNvPr id="28" name="Shape 26"/>
          <p:cNvSpPr/>
          <p:nvPr/>
        </p:nvSpPr>
        <p:spPr>
          <a:xfrm>
            <a:off x="4572000" y="4334256"/>
            <a:ext cx="4114800" cy="548640"/>
          </a:xfrm>
          <a:prstGeom prst="roundRect">
            <a:avLst>
              <a:gd name="adj" fmla="val 13333"/>
            </a:avLst>
          </a:prstGeom>
          <a:solidFill>
            <a:srgbClr val="E9EFF8"/>
          </a:solidFill>
          <a:ln w="12700">
            <a:solidFill>
              <a:srgbClr val="DDE0E6"/>
            </a:solidFill>
            <a:prstDash val="solid"/>
          </a:ln>
        </p:spPr>
      </p:sp>
      <p:sp>
        <p:nvSpPr>
          <p:cNvPr id="29" name="Text 27"/>
          <p:cNvSpPr/>
          <p:nvPr/>
        </p:nvSpPr>
        <p:spPr>
          <a:xfrm>
            <a:off x="594360" y="4370832"/>
            <a:ext cx="3840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談合・天下りの温床</a:t>
            </a:r>
            <a:endParaRPr lang="en-US" sz="1000" dirty="0"/>
          </a:p>
        </p:txBody>
      </p:sp>
      <p:sp>
        <p:nvSpPr>
          <p:cNvPr id="30" name="Text 28"/>
          <p:cNvSpPr/>
          <p:nvPr/>
        </p:nvSpPr>
        <p:spPr>
          <a:xfrm>
            <a:off x="4709160" y="4370832"/>
            <a:ext cx="3840480" cy="47548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技術力のある末端業者に適正対価</a:t>
            </a:r>
            <a:endParaRPr lang="en-US" sz="1000" dirty="0"/>
          </a:p>
        </p:txBody>
      </p:sp>
      <p:sp>
        <p:nvSpPr>
          <p:cNvPr id="31" name="Text 29"/>
          <p:cNvSpPr/>
          <p:nvPr/>
        </p:nvSpPr>
        <p:spPr>
          <a:xfrm>
            <a:off x="4242816" y="4407408"/>
            <a:ext cx="658368" cy="402336"/>
          </a:xfrm>
          <a:prstGeom prst="rect">
            <a:avLst/>
          </a:prstGeom>
          <a:noFill/>
          <a:ln/>
        </p:spPr>
        <p:txBody>
          <a:bodyPr wrap="square" lIns="0" tIns="0" rIns="0" bIns="0" rtlCol="0" anchor="ctr"/>
          <a:lstStyle/>
          <a:p>
            <a:pPr algn="ctr" indent="0" marL="0">
              <a:buNone/>
            </a:pPr>
            <a:r>
              <a:rPr lang="en-US" sz="1800" dirty="0">
                <a:solidFill>
                  <a:srgbClr val="C8161D"/>
                </a:solidFill>
                <a:latin typeface="Arial" pitchFamily="34" charset="0"/>
                <a:ea typeface="BIZ UDPGothic" pitchFamily="34" charset="-122"/>
                <a:cs typeface="BIZ UDPGothic" pitchFamily="34" charset="-120"/>
              </a:rPr>
              <a: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FISCAL IMPACT</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200" b="1" dirty="0">
                <a:solidFill>
                  <a:srgbClr val="16181D"/>
                </a:solidFill>
                <a:latin typeface="BIZ UDPGothic" pitchFamily="34" charset="0"/>
                <a:ea typeface="BIZ UDPGothic" pitchFamily="34" charset="-122"/>
                <a:cs typeface="BIZ UDPGothic" pitchFamily="34" charset="-120"/>
              </a:rPr>
              <a:t>財政インパクト（推計）：多重下請け解体による中抜き排除</a:t>
            </a:r>
            <a:endParaRPr lang="en-US" sz="22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475488"/>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年間約25〜30兆円の公共調達市場を前提とした試算。「不当マージン率」の実態を裏付ける公的統計は現時点では存在しないため、3シナリオで示す。</a:t>
            </a:r>
            <a:endParaRPr lang="en-US" sz="1100" dirty="0"/>
          </a:p>
        </p:txBody>
      </p:sp>
      <p:sp>
        <p:nvSpPr>
          <p:cNvPr id="6" name="Shape 4"/>
          <p:cNvSpPr/>
          <p:nvPr/>
        </p:nvSpPr>
        <p:spPr>
          <a:xfrm>
            <a:off x="457200" y="1920240"/>
            <a:ext cx="8229600" cy="822960"/>
          </a:xfrm>
          <a:prstGeom prst="roundRect">
            <a:avLst>
              <a:gd name="adj" fmla="val 8889"/>
            </a:avLst>
          </a:prstGeom>
          <a:solidFill>
            <a:srgbClr val="FFFFFF"/>
          </a:solidFill>
          <a:ln w="12700">
            <a:solidFill>
              <a:srgbClr val="DDE0E6"/>
            </a:solidFill>
            <a:prstDash val="solid"/>
          </a:ln>
        </p:spPr>
      </p:sp>
      <p:sp>
        <p:nvSpPr>
          <p:cNvPr id="7" name="Shape 5"/>
          <p:cNvSpPr/>
          <p:nvPr/>
        </p:nvSpPr>
        <p:spPr>
          <a:xfrm>
            <a:off x="594360" y="2103120"/>
            <a:ext cx="1280160" cy="438912"/>
          </a:xfrm>
          <a:prstGeom prst="roundRect">
            <a:avLst>
              <a:gd name="adj" fmla="val 12500"/>
            </a:avLst>
          </a:prstGeom>
          <a:solidFill>
            <a:srgbClr val="C8161D"/>
          </a:solidFill>
          <a:ln w="12700">
            <a:solidFill>
              <a:srgbClr val="C8161D"/>
            </a:solidFill>
            <a:prstDash val="solid"/>
          </a:ln>
        </p:spPr>
      </p:sp>
      <p:sp>
        <p:nvSpPr>
          <p:cNvPr id="8" name="Text 6"/>
          <p:cNvSpPr/>
          <p:nvPr/>
        </p:nvSpPr>
        <p:spPr>
          <a:xfrm>
            <a:off x="594360" y="2103120"/>
            <a:ext cx="128016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保守的試算</a:t>
            </a:r>
            <a:endParaRPr lang="en-US" sz="1100" dirty="0"/>
          </a:p>
        </p:txBody>
      </p:sp>
      <p:sp>
        <p:nvSpPr>
          <p:cNvPr id="9" name="Text 7"/>
          <p:cNvSpPr/>
          <p:nvPr/>
        </p:nvSpPr>
        <p:spPr>
          <a:xfrm>
            <a:off x="2011680" y="2011680"/>
            <a:ext cx="2743200" cy="347472"/>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不当マージン率 3〜5%</a:t>
            </a:r>
            <a:endParaRPr lang="en-US" sz="1200" dirty="0"/>
          </a:p>
        </p:txBody>
      </p:sp>
      <p:sp>
        <p:nvSpPr>
          <p:cNvPr id="10" name="Text 8"/>
          <p:cNvSpPr/>
          <p:nvPr/>
        </p:nvSpPr>
        <p:spPr>
          <a:xfrm>
            <a:off x="4846320" y="2011680"/>
            <a:ext cx="2011680" cy="347472"/>
          </a:xfrm>
          <a:prstGeom prst="rect">
            <a:avLst/>
          </a:prstGeom>
          <a:noFill/>
          <a:ln/>
        </p:spPr>
        <p:txBody>
          <a:bodyPr wrap="square" lIns="0" tIns="0" rIns="0" bIns="0" rtlCol="0" anchor="ctr"/>
          <a:lstStyle/>
          <a:p>
            <a:pPr algn="r" indent="0" marL="0">
              <a:buNone/>
            </a:pPr>
            <a:r>
              <a:rPr lang="en-US" sz="1400" b="1" dirty="0">
                <a:solidFill>
                  <a:srgbClr val="16181D"/>
                </a:solidFill>
                <a:latin typeface="BIZ UDPGothic" pitchFamily="34" charset="0"/>
                <a:ea typeface="BIZ UDPGothic" pitchFamily="34" charset="-122"/>
                <a:cs typeface="BIZ UDPGothic" pitchFamily="34" charset="-120"/>
              </a:rPr>
              <a:t>約0.75兆〜1.5兆円</a:t>
            </a:r>
            <a:endParaRPr lang="en-US" sz="1400" dirty="0"/>
          </a:p>
        </p:txBody>
      </p:sp>
      <p:sp>
        <p:nvSpPr>
          <p:cNvPr id="11" name="Text 9"/>
          <p:cNvSpPr/>
          <p:nvPr/>
        </p:nvSpPr>
        <p:spPr>
          <a:xfrm>
            <a:off x="2011680" y="2377440"/>
            <a:ext cx="6537960" cy="292608"/>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会計検査院指摘事例等から保守的に推計</a:t>
            </a:r>
            <a:endParaRPr lang="en-US" sz="1000" dirty="0"/>
          </a:p>
        </p:txBody>
      </p:sp>
      <p:sp>
        <p:nvSpPr>
          <p:cNvPr id="12" name="Shape 10"/>
          <p:cNvSpPr/>
          <p:nvPr/>
        </p:nvSpPr>
        <p:spPr>
          <a:xfrm>
            <a:off x="457200" y="2852928"/>
            <a:ext cx="8229600" cy="822960"/>
          </a:xfrm>
          <a:prstGeom prst="roundRect">
            <a:avLst>
              <a:gd name="adj" fmla="val 8889"/>
            </a:avLst>
          </a:prstGeom>
          <a:solidFill>
            <a:srgbClr val="E9EFF8"/>
          </a:solidFill>
          <a:ln w="12700">
            <a:solidFill>
              <a:srgbClr val="DDE0E6"/>
            </a:solidFill>
            <a:prstDash val="solid"/>
          </a:ln>
        </p:spPr>
      </p:sp>
      <p:sp>
        <p:nvSpPr>
          <p:cNvPr id="13" name="Shape 11"/>
          <p:cNvSpPr/>
          <p:nvPr/>
        </p:nvSpPr>
        <p:spPr>
          <a:xfrm>
            <a:off x="594360" y="3035808"/>
            <a:ext cx="1280160" cy="438912"/>
          </a:xfrm>
          <a:prstGeom prst="roundRect">
            <a:avLst>
              <a:gd name="adj" fmla="val 12500"/>
            </a:avLst>
          </a:prstGeom>
          <a:solidFill>
            <a:srgbClr val="C8161D"/>
          </a:solidFill>
          <a:ln w="12700">
            <a:solidFill>
              <a:srgbClr val="C8161D"/>
            </a:solidFill>
            <a:prstDash val="solid"/>
          </a:ln>
        </p:spPr>
      </p:sp>
      <p:sp>
        <p:nvSpPr>
          <p:cNvPr id="14" name="Text 12"/>
          <p:cNvSpPr/>
          <p:nvPr/>
        </p:nvSpPr>
        <p:spPr>
          <a:xfrm>
            <a:off x="594360" y="3035808"/>
            <a:ext cx="128016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中央値試算</a:t>
            </a:r>
            <a:endParaRPr lang="en-US" sz="1100" dirty="0"/>
          </a:p>
        </p:txBody>
      </p:sp>
      <p:sp>
        <p:nvSpPr>
          <p:cNvPr id="15" name="Text 13"/>
          <p:cNvSpPr/>
          <p:nvPr/>
        </p:nvSpPr>
        <p:spPr>
          <a:xfrm>
            <a:off x="2011680" y="2944368"/>
            <a:ext cx="2743200" cy="347472"/>
          </a:xfrm>
          <a:prstGeom prst="rect">
            <a:avLst/>
          </a:prstGeom>
          <a:noFill/>
          <a:ln/>
        </p:spPr>
        <p:txBody>
          <a:bodyPr wrap="square" lIns="0" tIns="0" rIns="0" bIns="0" rtlCol="0" anchor="ctr"/>
          <a:lstStyle/>
          <a:p>
            <a:pPr indent="0" marL="0">
              <a:buNone/>
            </a:pPr>
            <a:r>
              <a:rPr lang="en-US" sz="1200" b="1" dirty="0">
                <a:solidFill>
                  <a:srgbClr val="1D4F91"/>
                </a:solidFill>
                <a:latin typeface="BIZ UDPGothic" pitchFamily="34" charset="0"/>
                <a:ea typeface="BIZ UDPGothic" pitchFamily="34" charset="-122"/>
                <a:cs typeface="BIZ UDPGothic" pitchFamily="34" charset="-120"/>
              </a:rPr>
              <a:t>不当マージン率 5〜7%</a:t>
            </a:r>
            <a:endParaRPr lang="en-US" sz="1200" dirty="0"/>
          </a:p>
        </p:txBody>
      </p:sp>
      <p:sp>
        <p:nvSpPr>
          <p:cNvPr id="16" name="Text 14"/>
          <p:cNvSpPr/>
          <p:nvPr/>
        </p:nvSpPr>
        <p:spPr>
          <a:xfrm>
            <a:off x="4846320" y="2944368"/>
            <a:ext cx="2011680" cy="347472"/>
          </a:xfrm>
          <a:prstGeom prst="rect">
            <a:avLst/>
          </a:prstGeom>
          <a:noFill/>
          <a:ln/>
        </p:spPr>
        <p:txBody>
          <a:bodyPr wrap="square" lIns="0" tIns="0" rIns="0" bIns="0" rtlCol="0" anchor="ctr"/>
          <a:lstStyle/>
          <a:p>
            <a:pPr algn="r" indent="0" marL="0">
              <a:buNone/>
            </a:pPr>
            <a:r>
              <a:rPr lang="en-US" sz="1400" b="1" dirty="0">
                <a:solidFill>
                  <a:srgbClr val="1D4F91"/>
                </a:solidFill>
                <a:latin typeface="BIZ UDPGothic" pitchFamily="34" charset="0"/>
                <a:ea typeface="BIZ UDPGothic" pitchFamily="34" charset="-122"/>
                <a:cs typeface="BIZ UDPGothic" pitchFamily="34" charset="-120"/>
              </a:rPr>
              <a:t>約1.25兆〜2.1兆円</a:t>
            </a:r>
            <a:endParaRPr lang="en-US" sz="1400" dirty="0"/>
          </a:p>
        </p:txBody>
      </p:sp>
      <p:sp>
        <p:nvSpPr>
          <p:cNvPr id="17" name="Text 15"/>
          <p:cNvSpPr/>
          <p:nvPr/>
        </p:nvSpPr>
        <p:spPr>
          <a:xfrm>
            <a:off x="2011680" y="3310128"/>
            <a:ext cx="6537960" cy="292608"/>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保守的・楽観的の中間値</a:t>
            </a:r>
            <a:endParaRPr lang="en-US" sz="1000" dirty="0"/>
          </a:p>
        </p:txBody>
      </p:sp>
      <p:sp>
        <p:nvSpPr>
          <p:cNvPr id="18" name="Shape 16"/>
          <p:cNvSpPr/>
          <p:nvPr/>
        </p:nvSpPr>
        <p:spPr>
          <a:xfrm>
            <a:off x="457200" y="3785616"/>
            <a:ext cx="8229600" cy="822960"/>
          </a:xfrm>
          <a:prstGeom prst="roundRect">
            <a:avLst>
              <a:gd name="adj" fmla="val 8889"/>
            </a:avLst>
          </a:prstGeom>
          <a:solidFill>
            <a:srgbClr val="E9EFF8"/>
          </a:solidFill>
          <a:ln w="12700">
            <a:solidFill>
              <a:srgbClr val="DDE0E6"/>
            </a:solidFill>
            <a:prstDash val="solid"/>
          </a:ln>
        </p:spPr>
      </p:sp>
      <p:sp>
        <p:nvSpPr>
          <p:cNvPr id="19" name="Shape 17"/>
          <p:cNvSpPr/>
          <p:nvPr/>
        </p:nvSpPr>
        <p:spPr>
          <a:xfrm>
            <a:off x="594360" y="3968496"/>
            <a:ext cx="1280160" cy="438912"/>
          </a:xfrm>
          <a:prstGeom prst="roundRect">
            <a:avLst>
              <a:gd name="adj" fmla="val 12500"/>
            </a:avLst>
          </a:prstGeom>
          <a:solidFill>
            <a:srgbClr val="C8161D"/>
          </a:solidFill>
          <a:ln w="12700">
            <a:solidFill>
              <a:srgbClr val="C8161D"/>
            </a:solidFill>
            <a:prstDash val="solid"/>
          </a:ln>
        </p:spPr>
      </p:sp>
      <p:sp>
        <p:nvSpPr>
          <p:cNvPr id="20" name="Text 18"/>
          <p:cNvSpPr/>
          <p:nvPr/>
        </p:nvSpPr>
        <p:spPr>
          <a:xfrm>
            <a:off x="594360" y="3968496"/>
            <a:ext cx="128016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楽観的試算</a:t>
            </a:r>
            <a:endParaRPr lang="en-US" sz="1100" dirty="0"/>
          </a:p>
        </p:txBody>
      </p:sp>
      <p:sp>
        <p:nvSpPr>
          <p:cNvPr id="21" name="Text 19"/>
          <p:cNvSpPr/>
          <p:nvPr/>
        </p:nvSpPr>
        <p:spPr>
          <a:xfrm>
            <a:off x="2011680" y="3877056"/>
            <a:ext cx="2743200" cy="347472"/>
          </a:xfrm>
          <a:prstGeom prst="rect">
            <a:avLst/>
          </a:prstGeom>
          <a:noFill/>
          <a:ln/>
        </p:spPr>
        <p:txBody>
          <a:bodyPr wrap="square" lIns="0" tIns="0" rIns="0" bIns="0" rtlCol="0" anchor="ctr"/>
          <a:lstStyle/>
          <a:p>
            <a:pPr indent="0" marL="0">
              <a:buNone/>
            </a:pPr>
            <a:r>
              <a:rPr lang="en-US" sz="1200" b="1" dirty="0">
                <a:solidFill>
                  <a:srgbClr val="1D4F91"/>
                </a:solidFill>
                <a:latin typeface="BIZ UDPGothic" pitchFamily="34" charset="0"/>
                <a:ea typeface="BIZ UDPGothic" pitchFamily="34" charset="-122"/>
                <a:cs typeface="BIZ UDPGothic" pitchFamily="34" charset="-120"/>
              </a:rPr>
              <a:t>不当マージン率 8〜10%</a:t>
            </a:r>
            <a:endParaRPr lang="en-US" sz="1200" dirty="0"/>
          </a:p>
        </p:txBody>
      </p:sp>
      <p:sp>
        <p:nvSpPr>
          <p:cNvPr id="22" name="Text 20"/>
          <p:cNvSpPr/>
          <p:nvPr/>
        </p:nvSpPr>
        <p:spPr>
          <a:xfrm>
            <a:off x="4846320" y="3877056"/>
            <a:ext cx="2011680" cy="347472"/>
          </a:xfrm>
          <a:prstGeom prst="rect">
            <a:avLst/>
          </a:prstGeom>
          <a:noFill/>
          <a:ln/>
        </p:spPr>
        <p:txBody>
          <a:bodyPr wrap="square" lIns="0" tIns="0" rIns="0" bIns="0" rtlCol="0" anchor="ctr"/>
          <a:lstStyle/>
          <a:p>
            <a:pPr algn="r" indent="0" marL="0">
              <a:buNone/>
            </a:pPr>
            <a:r>
              <a:rPr lang="en-US" sz="1400" b="1" dirty="0">
                <a:solidFill>
                  <a:srgbClr val="1D4F91"/>
                </a:solidFill>
                <a:latin typeface="BIZ UDPGothic" pitchFamily="34" charset="0"/>
                <a:ea typeface="BIZ UDPGothic" pitchFamily="34" charset="-122"/>
                <a:cs typeface="BIZ UDPGothic" pitchFamily="34" charset="-120"/>
              </a:rPr>
              <a:t>約2.0兆〜3.0兆円</a:t>
            </a:r>
            <a:endParaRPr lang="en-US" sz="1400" dirty="0"/>
          </a:p>
        </p:txBody>
      </p:sp>
      <p:sp>
        <p:nvSpPr>
          <p:cNvPr id="23" name="Text 21"/>
          <p:cNvSpPr/>
          <p:nvPr/>
        </p:nvSpPr>
        <p:spPr>
          <a:xfrm>
            <a:off x="2011680" y="4242816"/>
            <a:ext cx="6537960" cy="292608"/>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重層下請き実態調査等の上限値</a:t>
            </a:r>
            <a:endParaRPr lang="en-US" sz="1000" dirty="0"/>
          </a:p>
        </p:txBody>
      </p:sp>
      <p:sp>
        <p:nvSpPr>
          <p:cNvPr id="24" name="Shape 22"/>
          <p:cNvSpPr/>
          <p:nvPr/>
        </p:nvSpPr>
        <p:spPr>
          <a:xfrm>
            <a:off x="457200" y="4754880"/>
            <a:ext cx="8229600" cy="310896"/>
          </a:xfrm>
          <a:prstGeom prst="roundRect">
            <a:avLst>
              <a:gd name="adj" fmla="val 23529"/>
            </a:avLst>
          </a:prstGeom>
          <a:solidFill>
            <a:srgbClr val="FFFFFF"/>
          </a:solidFill>
          <a:ln w="12700">
            <a:solidFill>
              <a:srgbClr val="DDE0E6"/>
            </a:solidFill>
            <a:prstDash val="solid"/>
          </a:ln>
        </p:spPr>
      </p:sp>
      <p:sp>
        <p:nvSpPr>
          <p:cNvPr id="25" name="Text 23"/>
          <p:cNvSpPr/>
          <p:nvPr/>
        </p:nvSpPr>
        <p:spPr>
          <a:xfrm>
            <a:off x="594360" y="4773168"/>
            <a:ext cx="7955280" cy="274320"/>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本試算は推計であり、制度導入後の実績データによる精緻化が必要。「不当マージン率」の実態把握に向けた統計整備を今後の課題とする。</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FISCAL IMPACT — TOTAL</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財政インパクト：その他削減効果と合計</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71600"/>
            <a:ext cx="8229600" cy="804672"/>
          </a:xfrm>
          <a:prstGeom prst="roundRect">
            <a:avLst>
              <a:gd name="adj" fmla="val 9091"/>
            </a:avLst>
          </a:prstGeom>
          <a:solidFill>
            <a:srgbClr val="FFFFFF"/>
          </a:solidFill>
          <a:ln w="12700">
            <a:solidFill>
              <a:srgbClr val="DDE0E6"/>
            </a:solidFill>
            <a:prstDash val="solid"/>
          </a:ln>
        </p:spPr>
      </p:sp>
      <p:sp>
        <p:nvSpPr>
          <p:cNvPr id="6" name="Text 4"/>
          <p:cNvSpPr/>
          <p:nvPr/>
        </p:nvSpPr>
        <p:spPr>
          <a:xfrm>
            <a:off x="594360" y="1444752"/>
            <a:ext cx="5303520" cy="347472"/>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公費執行DXによる無駄の防止</a:t>
            </a:r>
            <a:endParaRPr lang="en-US" sz="1300" dirty="0"/>
          </a:p>
        </p:txBody>
      </p:sp>
      <p:sp>
        <p:nvSpPr>
          <p:cNvPr id="7" name="Text 5"/>
          <p:cNvSpPr/>
          <p:nvPr/>
        </p:nvSpPr>
        <p:spPr>
          <a:xfrm>
            <a:off x="5943600" y="1444752"/>
            <a:ext cx="2606040" cy="347472"/>
          </a:xfrm>
          <a:prstGeom prst="rect">
            <a:avLst/>
          </a:prstGeom>
          <a:noFill/>
          <a:ln/>
        </p:spPr>
        <p:txBody>
          <a:bodyPr wrap="square" lIns="0" tIns="0" rIns="0" bIns="0" rtlCol="0" anchor="ctr"/>
          <a:lstStyle/>
          <a:p>
            <a:pPr algn="r" indent="0" marL="0">
              <a:buNone/>
            </a:pPr>
            <a:r>
              <a:rPr lang="en-US" sz="1300" b="1" dirty="0">
                <a:solidFill>
                  <a:srgbClr val="C8161D"/>
                </a:solidFill>
                <a:latin typeface="BIZ UDPGothic" pitchFamily="34" charset="0"/>
                <a:ea typeface="BIZ UDPGothic" pitchFamily="34" charset="-122"/>
                <a:cs typeface="BIZ UDPGothic" pitchFamily="34" charset="-120"/>
              </a:rPr>
              <a:t>約2,000億〜3,000億円</a:t>
            </a:r>
            <a:endParaRPr lang="en-US" sz="1300" dirty="0"/>
          </a:p>
        </p:txBody>
      </p:sp>
      <p:sp>
        <p:nvSpPr>
          <p:cNvPr id="8" name="Text 6"/>
          <p:cNvSpPr/>
          <p:nvPr/>
        </p:nvSpPr>
        <p:spPr>
          <a:xfrm>
            <a:off x="594360" y="1828800"/>
            <a:ext cx="7955280" cy="256032"/>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グリーン車一律支給・不透明経費の自動ロック</a:t>
            </a:r>
            <a:endParaRPr lang="en-US" sz="1000" dirty="0"/>
          </a:p>
        </p:txBody>
      </p:sp>
      <p:sp>
        <p:nvSpPr>
          <p:cNvPr id="9" name="Shape 7"/>
          <p:cNvSpPr/>
          <p:nvPr/>
        </p:nvSpPr>
        <p:spPr>
          <a:xfrm>
            <a:off x="457200" y="2286000"/>
            <a:ext cx="8229600" cy="804672"/>
          </a:xfrm>
          <a:prstGeom prst="roundRect">
            <a:avLst>
              <a:gd name="adj" fmla="val 9091"/>
            </a:avLst>
          </a:prstGeom>
          <a:solidFill>
            <a:srgbClr val="FFFFFF"/>
          </a:solidFill>
          <a:ln w="12700">
            <a:solidFill>
              <a:srgbClr val="DDE0E6"/>
            </a:solidFill>
            <a:prstDash val="solid"/>
          </a:ln>
        </p:spPr>
      </p:sp>
      <p:sp>
        <p:nvSpPr>
          <p:cNvPr id="10" name="Text 8"/>
          <p:cNvSpPr/>
          <p:nvPr/>
        </p:nvSpPr>
        <p:spPr>
          <a:xfrm>
            <a:off x="594360" y="2359152"/>
            <a:ext cx="5303520" cy="347472"/>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事務コスト（人件費）の削減</a:t>
            </a:r>
            <a:endParaRPr lang="en-US" sz="1300" dirty="0"/>
          </a:p>
        </p:txBody>
      </p:sp>
      <p:sp>
        <p:nvSpPr>
          <p:cNvPr id="11" name="Text 9"/>
          <p:cNvSpPr/>
          <p:nvPr/>
        </p:nvSpPr>
        <p:spPr>
          <a:xfrm>
            <a:off x="5943600" y="2359152"/>
            <a:ext cx="2606040" cy="347472"/>
          </a:xfrm>
          <a:prstGeom prst="rect">
            <a:avLst/>
          </a:prstGeom>
          <a:noFill/>
          <a:ln/>
        </p:spPr>
        <p:txBody>
          <a:bodyPr wrap="square" lIns="0" tIns="0" rIns="0" bIns="0" rtlCol="0" anchor="ctr"/>
          <a:lstStyle/>
          <a:p>
            <a:pPr algn="r" indent="0" marL="0">
              <a:buNone/>
            </a:pPr>
            <a:r>
              <a:rPr lang="en-US" sz="1300" b="1" dirty="0">
                <a:solidFill>
                  <a:srgbClr val="C8161D"/>
                </a:solidFill>
                <a:latin typeface="BIZ UDPGothic" pitchFamily="34" charset="0"/>
                <a:ea typeface="BIZ UDPGothic" pitchFamily="34" charset="-122"/>
                <a:cs typeface="BIZ UDPGothic" pitchFamily="34" charset="-120"/>
              </a:rPr>
              <a:t>約1,000億〜1,500億円</a:t>
            </a:r>
            <a:endParaRPr lang="en-US" sz="1300" dirty="0"/>
          </a:p>
        </p:txBody>
      </p:sp>
      <p:sp>
        <p:nvSpPr>
          <p:cNvPr id="12" name="Text 10"/>
          <p:cNvSpPr/>
          <p:nvPr/>
        </p:nvSpPr>
        <p:spPr>
          <a:xfrm>
            <a:off x="594360" y="2743200"/>
            <a:ext cx="7955280" cy="256032"/>
          </a:xfrm>
          <a:prstGeom prst="rect">
            <a:avLst/>
          </a:prstGeom>
          <a:noFill/>
          <a:ln/>
        </p:spPr>
        <p:txBody>
          <a:bodyPr wrap="square" lIns="0" tIns="0" rIns="0" bIns="0" rtlCol="0" anchor="ctr"/>
          <a:lstStyle/>
          <a:p>
            <a:pPr indent="0" marL="0">
              <a:buNone/>
            </a:pPr>
            <a:r>
              <a:rPr lang="en-US" sz="1000" dirty="0">
                <a:solidFill>
                  <a:srgbClr val="626875"/>
                </a:solidFill>
                <a:latin typeface="Arial" pitchFamily="34" charset="0"/>
                <a:ea typeface="BIZ UDPGothic" pitchFamily="34" charset="-122"/>
                <a:cs typeface="BIZ UDPGothic" pitchFamily="34" charset="-120"/>
              </a:rPr>
              <a:t>公務員のアナログ精算事務を9割削減</a:t>
            </a:r>
            <a:endParaRPr lang="en-US" sz="1000" dirty="0"/>
          </a:p>
        </p:txBody>
      </p:sp>
      <p:sp>
        <p:nvSpPr>
          <p:cNvPr id="13" name="Text 11"/>
          <p:cNvSpPr/>
          <p:nvPr/>
        </p:nvSpPr>
        <p:spPr>
          <a:xfrm>
            <a:off x="457200" y="3310128"/>
            <a:ext cx="8229600" cy="347472"/>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シナリオ別合計</a:t>
            </a:r>
            <a:endParaRPr lang="en-US" sz="1300" dirty="0"/>
          </a:p>
        </p:txBody>
      </p:sp>
      <p:sp>
        <p:nvSpPr>
          <p:cNvPr id="14" name="Shape 12"/>
          <p:cNvSpPr/>
          <p:nvPr/>
        </p:nvSpPr>
        <p:spPr>
          <a:xfrm>
            <a:off x="457200" y="3730752"/>
            <a:ext cx="4114800" cy="1005840"/>
          </a:xfrm>
          <a:prstGeom prst="roundRect">
            <a:avLst>
              <a:gd name="adj" fmla="val 7273"/>
            </a:avLst>
          </a:prstGeom>
          <a:solidFill>
            <a:srgbClr val="FFFFFF"/>
          </a:solidFill>
          <a:ln w="12700">
            <a:solidFill>
              <a:srgbClr val="DDE0E6"/>
            </a:solidFill>
            <a:prstDash val="solid"/>
          </a:ln>
        </p:spPr>
      </p:sp>
      <p:sp>
        <p:nvSpPr>
          <p:cNvPr id="15" name="Text 13"/>
          <p:cNvSpPr/>
          <p:nvPr/>
        </p:nvSpPr>
        <p:spPr>
          <a:xfrm>
            <a:off x="594360" y="3822192"/>
            <a:ext cx="3840480" cy="329184"/>
          </a:xfrm>
          <a:prstGeom prst="rect">
            <a:avLst/>
          </a:prstGeom>
          <a:noFill/>
          <a:ln/>
        </p:spPr>
        <p:txBody>
          <a:bodyPr wrap="square" lIns="0" tIns="0" rIns="0" bIns="0" rtlCol="0" anchor="ctr"/>
          <a:lstStyle/>
          <a:p>
            <a:pPr algn="ctr" indent="0" marL="0">
              <a:buNone/>
            </a:pPr>
            <a:r>
              <a:rPr lang="en-US" sz="1200" dirty="0">
                <a:solidFill>
                  <a:srgbClr val="2B2F36"/>
                </a:solidFill>
                <a:latin typeface="Arial" pitchFamily="34" charset="0"/>
                <a:ea typeface="BIZ UDPGothic" pitchFamily="34" charset="-122"/>
                <a:cs typeface="BIZ UDPGothic" pitchFamily="34" charset="-120"/>
              </a:rPr>
              <a:t>保守的シナリオ</a:t>
            </a:r>
            <a:endParaRPr lang="en-US" sz="1200" dirty="0"/>
          </a:p>
        </p:txBody>
      </p:sp>
      <p:sp>
        <p:nvSpPr>
          <p:cNvPr id="16" name="Text 14"/>
          <p:cNvSpPr/>
          <p:nvPr/>
        </p:nvSpPr>
        <p:spPr>
          <a:xfrm>
            <a:off x="594360" y="4169664"/>
            <a:ext cx="3840480" cy="438912"/>
          </a:xfrm>
          <a:prstGeom prst="rect">
            <a:avLst/>
          </a:prstGeom>
          <a:noFill/>
          <a:ln/>
        </p:spPr>
        <p:txBody>
          <a:bodyPr wrap="square" lIns="0" tIns="0" rIns="0" bIns="0" rtlCol="0" anchor="ctr"/>
          <a:lstStyle/>
          <a:p>
            <a:pPr algn="ctr" indent="0" marL="0">
              <a:buNone/>
            </a:pPr>
            <a:r>
              <a:rPr lang="en-US" sz="1800" b="1" dirty="0">
                <a:solidFill>
                  <a:srgbClr val="1D4F91"/>
                </a:solidFill>
                <a:latin typeface="BIZ UDPGothic" pitchFamily="34" charset="0"/>
                <a:ea typeface="BIZ UDPGothic" pitchFamily="34" charset="-122"/>
                <a:cs typeface="BIZ UDPGothic" pitchFamily="34" charset="-120"/>
              </a:rPr>
              <a:t>約1.05兆〜2.1兆円</a:t>
            </a:r>
            <a:endParaRPr lang="en-US" sz="1800" dirty="0"/>
          </a:p>
        </p:txBody>
      </p:sp>
      <p:sp>
        <p:nvSpPr>
          <p:cNvPr id="17" name="Shape 15"/>
          <p:cNvSpPr/>
          <p:nvPr/>
        </p:nvSpPr>
        <p:spPr>
          <a:xfrm>
            <a:off x="4800600" y="3730752"/>
            <a:ext cx="4114800" cy="1005840"/>
          </a:xfrm>
          <a:prstGeom prst="roundRect">
            <a:avLst>
              <a:gd name="adj" fmla="val 7273"/>
            </a:avLst>
          </a:prstGeom>
          <a:solidFill>
            <a:srgbClr val="E9EFF8"/>
          </a:solidFill>
          <a:ln w="12700">
            <a:solidFill>
              <a:srgbClr val="DDE0E6"/>
            </a:solidFill>
            <a:prstDash val="solid"/>
          </a:ln>
        </p:spPr>
      </p:sp>
      <p:sp>
        <p:nvSpPr>
          <p:cNvPr id="18" name="Text 16"/>
          <p:cNvSpPr/>
          <p:nvPr/>
        </p:nvSpPr>
        <p:spPr>
          <a:xfrm>
            <a:off x="4937760" y="3822192"/>
            <a:ext cx="3840480" cy="329184"/>
          </a:xfrm>
          <a:prstGeom prst="rect">
            <a:avLst/>
          </a:prstGeom>
          <a:noFill/>
          <a:ln/>
        </p:spPr>
        <p:txBody>
          <a:bodyPr wrap="square" lIns="0" tIns="0" rIns="0" bIns="0" rtlCol="0" anchor="ctr"/>
          <a:lstStyle/>
          <a:p>
            <a:pPr algn="ctr" indent="0" marL="0">
              <a:buNone/>
            </a:pPr>
            <a:r>
              <a:rPr lang="en-US" sz="1200" dirty="0">
                <a:solidFill>
                  <a:srgbClr val="2B2F36"/>
                </a:solidFill>
                <a:latin typeface="Arial" pitchFamily="34" charset="0"/>
                <a:ea typeface="BIZ UDPGothic" pitchFamily="34" charset="-122"/>
                <a:cs typeface="BIZ UDPGothic" pitchFamily="34" charset="-120"/>
              </a:rPr>
              <a:t>楽観的シナリオ</a:t>
            </a:r>
            <a:endParaRPr lang="en-US" sz="1200" dirty="0"/>
          </a:p>
        </p:txBody>
      </p:sp>
      <p:sp>
        <p:nvSpPr>
          <p:cNvPr id="19" name="Text 17"/>
          <p:cNvSpPr/>
          <p:nvPr/>
        </p:nvSpPr>
        <p:spPr>
          <a:xfrm>
            <a:off x="4937760" y="4169664"/>
            <a:ext cx="3840480" cy="438912"/>
          </a:xfrm>
          <a:prstGeom prst="rect">
            <a:avLst/>
          </a:prstGeom>
          <a:noFill/>
          <a:ln/>
        </p:spPr>
        <p:txBody>
          <a:bodyPr wrap="square" lIns="0" tIns="0" rIns="0" bIns="0" rtlCol="0" anchor="ctr"/>
          <a:lstStyle/>
          <a:p>
            <a:pPr algn="ctr" indent="0" marL="0">
              <a:buNone/>
            </a:pPr>
            <a:r>
              <a:rPr lang="en-US" sz="1800" b="1" dirty="0">
                <a:solidFill>
                  <a:srgbClr val="1D4F91"/>
                </a:solidFill>
                <a:latin typeface="BIZ UDPGothic" pitchFamily="34" charset="0"/>
                <a:ea typeface="BIZ UDPGothic" pitchFamily="34" charset="-122"/>
                <a:cs typeface="BIZ UDPGothic" pitchFamily="34" charset="-120"/>
              </a:rPr>
              <a:t>約2.3兆〜3.45兆円</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SCOPE</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200" b="1" dirty="0">
                <a:solidFill>
                  <a:srgbClr val="16181D"/>
                </a:solidFill>
                <a:latin typeface="BIZ UDPGothic" pitchFamily="34" charset="0"/>
                <a:ea typeface="BIZ UDPGothic" pitchFamily="34" charset="-122"/>
                <a:cs typeface="BIZ UDPGothic" pitchFamily="34" charset="-120"/>
              </a:rPr>
              <a:t>適用範囲：「税金が1円でも動く組織・プロセス」はすべて対象</a:t>
            </a:r>
            <a:endParaRPr lang="en-US" sz="22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例外の拡大解釈を許さないよう、例外規定の定義自体も法律で厳格に列挙する。</a:t>
            </a:r>
            <a:endParaRPr lang="en-US" sz="1100" dirty="0"/>
          </a:p>
        </p:txBody>
      </p:sp>
      <p:sp>
        <p:nvSpPr>
          <p:cNvPr id="6" name="Shape 4"/>
          <p:cNvSpPr/>
          <p:nvPr/>
        </p:nvSpPr>
        <p:spPr>
          <a:xfrm>
            <a:off x="457200" y="1719072"/>
            <a:ext cx="8229600" cy="603504"/>
          </a:xfrm>
          <a:prstGeom prst="roundRect">
            <a:avLst>
              <a:gd name="adj" fmla="val 12121"/>
            </a:avLst>
          </a:prstGeom>
          <a:solidFill>
            <a:srgbClr val="FFFFFF"/>
          </a:solidFill>
          <a:ln w="12700">
            <a:solidFill>
              <a:srgbClr val="DDE0E6"/>
            </a:solidFill>
            <a:prstDash val="solid"/>
          </a:ln>
        </p:spPr>
      </p:sp>
      <p:sp>
        <p:nvSpPr>
          <p:cNvPr id="7" name="Text 5"/>
          <p:cNvSpPr/>
          <p:nvPr/>
        </p:nvSpPr>
        <p:spPr>
          <a:xfrm>
            <a:off x="594360" y="1828800"/>
            <a:ext cx="5943600" cy="38404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国の省庁・機関</a:t>
            </a:r>
            <a:endParaRPr lang="en-US" sz="1300" dirty="0"/>
          </a:p>
        </p:txBody>
      </p:sp>
      <p:sp>
        <p:nvSpPr>
          <p:cNvPr id="8" name="Text 6"/>
          <p:cNvSpPr/>
          <p:nvPr/>
        </p:nvSpPr>
        <p:spPr>
          <a:xfrm>
            <a:off x="6583680" y="1828800"/>
            <a:ext cx="1920240" cy="384048"/>
          </a:xfrm>
          <a:prstGeom prst="rect">
            <a:avLst/>
          </a:prstGeom>
          <a:noFill/>
          <a:ln/>
        </p:spPr>
        <p:txBody>
          <a:bodyPr wrap="square" lIns="0" tIns="0" rIns="0" bIns="0"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 全面適用</a:t>
            </a:r>
            <a:endParaRPr lang="en-US" sz="1200" dirty="0"/>
          </a:p>
        </p:txBody>
      </p:sp>
      <p:sp>
        <p:nvSpPr>
          <p:cNvPr id="9" name="Shape 7"/>
          <p:cNvSpPr/>
          <p:nvPr/>
        </p:nvSpPr>
        <p:spPr>
          <a:xfrm>
            <a:off x="457200" y="2395728"/>
            <a:ext cx="8229600" cy="603504"/>
          </a:xfrm>
          <a:prstGeom prst="roundRect">
            <a:avLst>
              <a:gd name="adj" fmla="val 12121"/>
            </a:avLst>
          </a:prstGeom>
          <a:solidFill>
            <a:srgbClr val="FFFFFF"/>
          </a:solidFill>
          <a:ln w="12700">
            <a:solidFill>
              <a:srgbClr val="DDE0E6"/>
            </a:solidFill>
            <a:prstDash val="solid"/>
          </a:ln>
        </p:spPr>
      </p:sp>
      <p:sp>
        <p:nvSpPr>
          <p:cNvPr id="10" name="Text 8"/>
          <p:cNvSpPr/>
          <p:nvPr/>
        </p:nvSpPr>
        <p:spPr>
          <a:xfrm>
            <a:off x="594360" y="2505456"/>
            <a:ext cx="5943600" cy="38404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都道府県・市区町村</a:t>
            </a:r>
            <a:endParaRPr lang="en-US" sz="1300" dirty="0"/>
          </a:p>
        </p:txBody>
      </p:sp>
      <p:sp>
        <p:nvSpPr>
          <p:cNvPr id="11" name="Text 9"/>
          <p:cNvSpPr/>
          <p:nvPr/>
        </p:nvSpPr>
        <p:spPr>
          <a:xfrm>
            <a:off x="6583680" y="2505456"/>
            <a:ext cx="1920240" cy="384048"/>
          </a:xfrm>
          <a:prstGeom prst="rect">
            <a:avLst/>
          </a:prstGeom>
          <a:noFill/>
          <a:ln/>
        </p:spPr>
        <p:txBody>
          <a:bodyPr wrap="square" lIns="0" tIns="0" rIns="0" bIns="0"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 全面適用</a:t>
            </a:r>
            <a:endParaRPr lang="en-US" sz="1200" dirty="0"/>
          </a:p>
        </p:txBody>
      </p:sp>
      <p:sp>
        <p:nvSpPr>
          <p:cNvPr id="12" name="Shape 10"/>
          <p:cNvSpPr/>
          <p:nvPr/>
        </p:nvSpPr>
        <p:spPr>
          <a:xfrm>
            <a:off x="457200" y="3072384"/>
            <a:ext cx="8229600" cy="603504"/>
          </a:xfrm>
          <a:prstGeom prst="roundRect">
            <a:avLst>
              <a:gd name="adj" fmla="val 12121"/>
            </a:avLst>
          </a:prstGeom>
          <a:solidFill>
            <a:srgbClr val="FFFFFF"/>
          </a:solidFill>
          <a:ln w="12700">
            <a:solidFill>
              <a:srgbClr val="DDE0E6"/>
            </a:solidFill>
            <a:prstDash val="solid"/>
          </a:ln>
        </p:spPr>
      </p:sp>
      <p:sp>
        <p:nvSpPr>
          <p:cNvPr id="13" name="Text 11"/>
          <p:cNvSpPr/>
          <p:nvPr/>
        </p:nvSpPr>
        <p:spPr>
          <a:xfrm>
            <a:off x="594360" y="3182112"/>
            <a:ext cx="5943600" cy="38404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外郭団体・第三セクター</a:t>
            </a:r>
            <a:endParaRPr lang="en-US" sz="1300" dirty="0"/>
          </a:p>
        </p:txBody>
      </p:sp>
      <p:sp>
        <p:nvSpPr>
          <p:cNvPr id="14" name="Text 12"/>
          <p:cNvSpPr/>
          <p:nvPr/>
        </p:nvSpPr>
        <p:spPr>
          <a:xfrm>
            <a:off x="6583680" y="3182112"/>
            <a:ext cx="1920240" cy="384048"/>
          </a:xfrm>
          <a:prstGeom prst="rect">
            <a:avLst/>
          </a:prstGeom>
          <a:noFill/>
          <a:ln/>
        </p:spPr>
        <p:txBody>
          <a:bodyPr wrap="square" lIns="0" tIns="0" rIns="0" bIns="0"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 全面適用</a:t>
            </a:r>
            <a:endParaRPr lang="en-US" sz="1200" dirty="0"/>
          </a:p>
        </p:txBody>
      </p:sp>
      <p:sp>
        <p:nvSpPr>
          <p:cNvPr id="15" name="Shape 13"/>
          <p:cNvSpPr/>
          <p:nvPr/>
        </p:nvSpPr>
        <p:spPr>
          <a:xfrm>
            <a:off x="457200" y="3749040"/>
            <a:ext cx="8229600" cy="603504"/>
          </a:xfrm>
          <a:prstGeom prst="roundRect">
            <a:avLst>
              <a:gd name="adj" fmla="val 12121"/>
            </a:avLst>
          </a:prstGeom>
          <a:solidFill>
            <a:srgbClr val="FFFFFF"/>
          </a:solidFill>
          <a:ln w="12700">
            <a:solidFill>
              <a:srgbClr val="DDE0E6"/>
            </a:solidFill>
            <a:prstDash val="solid"/>
          </a:ln>
        </p:spPr>
      </p:sp>
      <p:sp>
        <p:nvSpPr>
          <p:cNvPr id="16" name="Text 14"/>
          <p:cNvSpPr/>
          <p:nvPr/>
        </p:nvSpPr>
        <p:spPr>
          <a:xfrm>
            <a:off x="594360" y="3858768"/>
            <a:ext cx="5943600" cy="38404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補助金・委託費を受ける民間企業</a:t>
            </a:r>
            <a:endParaRPr lang="en-US" sz="1300" dirty="0"/>
          </a:p>
        </p:txBody>
      </p:sp>
      <p:sp>
        <p:nvSpPr>
          <p:cNvPr id="17" name="Text 15"/>
          <p:cNvSpPr/>
          <p:nvPr/>
        </p:nvSpPr>
        <p:spPr>
          <a:xfrm>
            <a:off x="6583680" y="3858768"/>
            <a:ext cx="1920240" cy="384048"/>
          </a:xfrm>
          <a:prstGeom prst="rect">
            <a:avLst/>
          </a:prstGeom>
          <a:noFill/>
          <a:ln/>
        </p:spPr>
        <p:txBody>
          <a:bodyPr wrap="square" lIns="0" tIns="0" rIns="0" bIns="0"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 公費受領分に適用</a:t>
            </a:r>
            <a:endParaRPr lang="en-US" sz="1200" dirty="0"/>
          </a:p>
        </p:txBody>
      </p:sp>
      <p:sp>
        <p:nvSpPr>
          <p:cNvPr id="18" name="Shape 16"/>
          <p:cNvSpPr/>
          <p:nvPr/>
        </p:nvSpPr>
        <p:spPr>
          <a:xfrm>
            <a:off x="457200" y="4425696"/>
            <a:ext cx="8229600" cy="603504"/>
          </a:xfrm>
          <a:prstGeom prst="roundRect">
            <a:avLst>
              <a:gd name="adj" fmla="val 12121"/>
            </a:avLst>
          </a:prstGeom>
          <a:solidFill>
            <a:srgbClr val="FFFFFF"/>
          </a:solidFill>
          <a:ln w="12700">
            <a:solidFill>
              <a:srgbClr val="DDE0E6"/>
            </a:solidFill>
            <a:prstDash val="solid"/>
          </a:ln>
        </p:spPr>
      </p:sp>
      <p:sp>
        <p:nvSpPr>
          <p:cNvPr id="19" name="Text 17"/>
          <p:cNvSpPr/>
          <p:nvPr/>
        </p:nvSpPr>
        <p:spPr>
          <a:xfrm>
            <a:off x="594360" y="4535424"/>
            <a:ext cx="5943600" cy="384048"/>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NPO・公益法人（公費受領）</a:t>
            </a:r>
            <a:endParaRPr lang="en-US" sz="1300" dirty="0"/>
          </a:p>
        </p:txBody>
      </p:sp>
      <p:sp>
        <p:nvSpPr>
          <p:cNvPr id="20" name="Text 18"/>
          <p:cNvSpPr/>
          <p:nvPr/>
        </p:nvSpPr>
        <p:spPr>
          <a:xfrm>
            <a:off x="6583680" y="4535424"/>
            <a:ext cx="1920240" cy="384048"/>
          </a:xfrm>
          <a:prstGeom prst="rect">
            <a:avLst/>
          </a:prstGeom>
          <a:noFill/>
          <a:ln/>
        </p:spPr>
        <p:txBody>
          <a:bodyPr wrap="square" lIns="0" tIns="0" rIns="0" bIns="0" rtlCol="0" anchor="ctr"/>
          <a:lstStyle/>
          <a:p>
            <a:pPr algn="r" indent="0" marL="0">
              <a:buNone/>
            </a:pPr>
            <a:r>
              <a:rPr lang="en-US" sz="1200" b="1" dirty="0">
                <a:solidFill>
                  <a:srgbClr val="1D4F91"/>
                </a:solidFill>
                <a:latin typeface="Arial" pitchFamily="34" charset="0"/>
                <a:ea typeface="BIZ UDPGothic" pitchFamily="34" charset="-122"/>
                <a:cs typeface="BIZ UDPGothic" pitchFamily="34" charset="-120"/>
              </a:rPr>
              <a:t>✅ 公費受領分に適用</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REMAINING ISSUES</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前提条件・今後の検討課題</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71600"/>
            <a:ext cx="4114800" cy="603504"/>
          </a:xfrm>
          <a:prstGeom prst="roundRect">
            <a:avLst>
              <a:gd name="adj" fmla="val 12121"/>
            </a:avLst>
          </a:prstGeom>
          <a:solidFill>
            <a:srgbClr val="FFFFFF"/>
          </a:solidFill>
          <a:ln w="12700">
            <a:solidFill>
              <a:srgbClr val="DDE0E6"/>
            </a:solidFill>
            <a:prstDash val="solid"/>
          </a:ln>
        </p:spPr>
      </p:sp>
      <p:sp>
        <p:nvSpPr>
          <p:cNvPr id="6" name="Text 4"/>
          <p:cNvSpPr/>
          <p:nvPr/>
        </p:nvSpPr>
        <p:spPr>
          <a:xfrm>
            <a:off x="594360" y="1426464"/>
            <a:ext cx="3840480" cy="49377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共通クラウドの仕様策定・セキュリティ設計（OSS化の範囲と脆弱性管理）</a:t>
            </a:r>
            <a:endParaRPr lang="en-US" sz="1000" dirty="0"/>
          </a:p>
        </p:txBody>
      </p:sp>
      <p:sp>
        <p:nvSpPr>
          <p:cNvPr id="7" name="Shape 5"/>
          <p:cNvSpPr/>
          <p:nvPr/>
        </p:nvSpPr>
        <p:spPr>
          <a:xfrm>
            <a:off x="4800600" y="1371600"/>
            <a:ext cx="4114800" cy="603504"/>
          </a:xfrm>
          <a:prstGeom prst="roundRect">
            <a:avLst>
              <a:gd name="adj" fmla="val 12121"/>
            </a:avLst>
          </a:prstGeom>
          <a:solidFill>
            <a:srgbClr val="FFFFFF"/>
          </a:solidFill>
          <a:ln w="12700">
            <a:solidFill>
              <a:srgbClr val="DDE0E6"/>
            </a:solidFill>
            <a:prstDash val="solid"/>
          </a:ln>
        </p:spPr>
      </p:sp>
      <p:sp>
        <p:nvSpPr>
          <p:cNvPr id="8" name="Text 6"/>
          <p:cNvSpPr/>
          <p:nvPr/>
        </p:nvSpPr>
        <p:spPr>
          <a:xfrm>
            <a:off x="4937760" y="1426464"/>
            <a:ext cx="3840480" cy="49377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既存民間サービスとの連携仕様と調達プロセスの設計</a:t>
            </a:r>
            <a:endParaRPr lang="en-US" sz="1000" dirty="0"/>
          </a:p>
        </p:txBody>
      </p:sp>
      <p:sp>
        <p:nvSpPr>
          <p:cNvPr id="9" name="Shape 7"/>
          <p:cNvSpPr/>
          <p:nvPr/>
        </p:nvSpPr>
        <p:spPr>
          <a:xfrm>
            <a:off x="457200" y="2066544"/>
            <a:ext cx="4114800" cy="603504"/>
          </a:xfrm>
          <a:prstGeom prst="roundRect">
            <a:avLst>
              <a:gd name="adj" fmla="val 12121"/>
            </a:avLst>
          </a:prstGeom>
          <a:solidFill>
            <a:srgbClr val="FFFFFF"/>
          </a:solidFill>
          <a:ln w="12700">
            <a:solidFill>
              <a:srgbClr val="DDE0E6"/>
            </a:solidFill>
            <a:prstDash val="solid"/>
          </a:ln>
        </p:spPr>
      </p:sp>
      <p:sp>
        <p:nvSpPr>
          <p:cNvPr id="10" name="Text 8"/>
          <p:cNvSpPr/>
          <p:nvPr/>
        </p:nvSpPr>
        <p:spPr>
          <a:xfrm>
            <a:off x="594360" y="2121408"/>
            <a:ext cx="3840480" cy="49377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公費デジタル監視委員会の組織設計・独立性の担保・権限範囲</a:t>
            </a:r>
            <a:endParaRPr lang="en-US" sz="1000" dirty="0"/>
          </a:p>
        </p:txBody>
      </p:sp>
      <p:sp>
        <p:nvSpPr>
          <p:cNvPr id="11" name="Shape 9"/>
          <p:cNvSpPr/>
          <p:nvPr/>
        </p:nvSpPr>
        <p:spPr>
          <a:xfrm>
            <a:off x="4800600" y="2066544"/>
            <a:ext cx="4114800" cy="603504"/>
          </a:xfrm>
          <a:prstGeom prst="roundRect">
            <a:avLst>
              <a:gd name="adj" fmla="val 12121"/>
            </a:avLst>
          </a:prstGeom>
          <a:solidFill>
            <a:srgbClr val="FFFFFF"/>
          </a:solidFill>
          <a:ln w="12700">
            <a:solidFill>
              <a:srgbClr val="DDE0E6"/>
            </a:solidFill>
            <a:prstDash val="solid"/>
          </a:ln>
        </p:spPr>
      </p:sp>
      <p:sp>
        <p:nvSpPr>
          <p:cNvPr id="12" name="Text 10"/>
          <p:cNvSpPr/>
          <p:nvPr/>
        </p:nvSpPr>
        <p:spPr>
          <a:xfrm>
            <a:off x="4937760" y="2121408"/>
            <a:ext cx="3840480" cy="49377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内部統制・公開システムの分離設計の詳細（マスキング基準・匿名化手法）</a:t>
            </a:r>
            <a:endParaRPr lang="en-US" sz="1000" dirty="0"/>
          </a:p>
        </p:txBody>
      </p:sp>
      <p:sp>
        <p:nvSpPr>
          <p:cNvPr id="13" name="Shape 11"/>
          <p:cNvSpPr/>
          <p:nvPr/>
        </p:nvSpPr>
        <p:spPr>
          <a:xfrm>
            <a:off x="457200" y="2761488"/>
            <a:ext cx="4114800" cy="603504"/>
          </a:xfrm>
          <a:prstGeom prst="roundRect">
            <a:avLst>
              <a:gd name="adj" fmla="val 12121"/>
            </a:avLst>
          </a:prstGeom>
          <a:solidFill>
            <a:srgbClr val="FFFFFF"/>
          </a:solidFill>
          <a:ln w="12700">
            <a:solidFill>
              <a:srgbClr val="DDE0E6"/>
            </a:solidFill>
            <a:prstDash val="solid"/>
          </a:ln>
        </p:spPr>
      </p:sp>
      <p:sp>
        <p:nvSpPr>
          <p:cNvPr id="14" name="Text 12"/>
          <p:cNvSpPr/>
          <p:nvPr/>
        </p:nvSpPr>
        <p:spPr>
          <a:xfrm>
            <a:off x="594360" y="2816352"/>
            <a:ext cx="3840480" cy="49377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多重下請け解体に伴う既存元請け・中間業者の激変緩和措置</a:t>
            </a:r>
            <a:endParaRPr lang="en-US" sz="1000" dirty="0"/>
          </a:p>
        </p:txBody>
      </p:sp>
      <p:sp>
        <p:nvSpPr>
          <p:cNvPr id="15" name="Shape 13"/>
          <p:cNvSpPr/>
          <p:nvPr/>
        </p:nvSpPr>
        <p:spPr>
          <a:xfrm>
            <a:off x="4800600" y="2761488"/>
            <a:ext cx="4114800" cy="603504"/>
          </a:xfrm>
          <a:prstGeom prst="roundRect">
            <a:avLst>
              <a:gd name="adj" fmla="val 12121"/>
            </a:avLst>
          </a:prstGeom>
          <a:solidFill>
            <a:srgbClr val="FFFFFF"/>
          </a:solidFill>
          <a:ln w="12700">
            <a:solidFill>
              <a:srgbClr val="DDE0E6"/>
            </a:solidFill>
            <a:prstDash val="solid"/>
          </a:ln>
        </p:spPr>
      </p:sp>
      <p:sp>
        <p:nvSpPr>
          <p:cNvPr id="16" name="Text 14"/>
          <p:cNvSpPr/>
          <p:nvPr/>
        </p:nvSpPr>
        <p:spPr>
          <a:xfrm>
            <a:off x="4937760" y="2816352"/>
            <a:ext cx="3840480" cy="49377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入札時点での下請け確定ルールと緊急工事・災害対応との整合性</a:t>
            </a:r>
            <a:endParaRPr lang="en-US" sz="1000" dirty="0"/>
          </a:p>
        </p:txBody>
      </p:sp>
      <p:sp>
        <p:nvSpPr>
          <p:cNvPr id="17" name="Shape 15"/>
          <p:cNvSpPr/>
          <p:nvPr/>
        </p:nvSpPr>
        <p:spPr>
          <a:xfrm>
            <a:off x="457200" y="3456432"/>
            <a:ext cx="4114800" cy="603504"/>
          </a:xfrm>
          <a:prstGeom prst="roundRect">
            <a:avLst>
              <a:gd name="adj" fmla="val 12121"/>
            </a:avLst>
          </a:prstGeom>
          <a:solidFill>
            <a:srgbClr val="FFFFFF"/>
          </a:solidFill>
          <a:ln w="12700">
            <a:solidFill>
              <a:srgbClr val="DDE0E6"/>
            </a:solidFill>
            <a:prstDash val="solid"/>
          </a:ln>
        </p:spPr>
      </p:sp>
      <p:sp>
        <p:nvSpPr>
          <p:cNvPr id="18" name="Text 16"/>
          <p:cNvSpPr/>
          <p:nvPr/>
        </p:nvSpPr>
        <p:spPr>
          <a:xfrm>
            <a:off x="594360" y="3511296"/>
            <a:ext cx="3840480" cy="49377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E2E決済における下請け業者の資金繰り（支払いサイト・前払い制度）</a:t>
            </a:r>
            <a:endParaRPr lang="en-US" sz="1000" dirty="0"/>
          </a:p>
        </p:txBody>
      </p:sp>
      <p:sp>
        <p:nvSpPr>
          <p:cNvPr id="19" name="Shape 17"/>
          <p:cNvSpPr/>
          <p:nvPr/>
        </p:nvSpPr>
        <p:spPr>
          <a:xfrm>
            <a:off x="4800600" y="3456432"/>
            <a:ext cx="4114800" cy="603504"/>
          </a:xfrm>
          <a:prstGeom prst="roundRect">
            <a:avLst>
              <a:gd name="adj" fmla="val 12121"/>
            </a:avLst>
          </a:prstGeom>
          <a:solidFill>
            <a:srgbClr val="FFFFFF"/>
          </a:solidFill>
          <a:ln w="12700">
            <a:solidFill>
              <a:srgbClr val="DDE0E6"/>
            </a:solidFill>
            <a:prstDash val="solid"/>
          </a:ln>
        </p:spPr>
      </p:sp>
      <p:sp>
        <p:nvSpPr>
          <p:cNvPr id="20" name="Text 18"/>
          <p:cNvSpPr/>
          <p:nvPr/>
        </p:nvSpPr>
        <p:spPr>
          <a:xfrm>
            <a:off x="4937760" y="3511296"/>
            <a:ext cx="3840480" cy="493776"/>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AIによる異常値検知の誤検知リスクと異議申し立て手続きの設計</a:t>
            </a:r>
            <a:endParaRPr lang="en-US" sz="1000" dirty="0"/>
          </a:p>
        </p:txBody>
      </p:sp>
      <p:sp>
        <p:nvSpPr>
          <p:cNvPr id="21" name="Shape 19"/>
          <p:cNvSpPr/>
          <p:nvPr/>
        </p:nvSpPr>
        <p:spPr>
          <a:xfrm>
            <a:off x="457200" y="4151376"/>
            <a:ext cx="8229600" cy="603504"/>
          </a:xfrm>
          <a:prstGeom prst="roundRect">
            <a:avLst>
              <a:gd name="adj" fmla="val 12121"/>
            </a:avLst>
          </a:prstGeom>
          <a:solidFill>
            <a:srgbClr val="FFFFFF"/>
          </a:solidFill>
          <a:ln w="12700">
            <a:solidFill>
              <a:srgbClr val="DDE0E6"/>
            </a:solidFill>
            <a:prstDash val="solid"/>
          </a:ln>
        </p:spPr>
      </p:sp>
      <p:sp>
        <p:nvSpPr>
          <p:cNvPr id="22" name="Text 20"/>
          <p:cNvSpPr/>
          <p:nvPr/>
        </p:nvSpPr>
        <p:spPr>
          <a:xfrm>
            <a:off x="594360" y="4261104"/>
            <a:ext cx="7955280" cy="384048"/>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「不当マージン率」の実態把握に向けた統計整備</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C8161D"/>
          </a:solidFill>
          <a:ln w="12700">
            <a:solidFill>
              <a:srgbClr val="C8161D"/>
            </a:solidFill>
            <a:prstDash val="solid"/>
          </a:ln>
        </p:spPr>
      </p:sp>
      <p:sp>
        <p:nvSpPr>
          <p:cNvPr id="3" name="Text 1"/>
          <p:cNvSpPr/>
          <p:nvPr/>
        </p:nvSpPr>
        <p:spPr>
          <a:xfrm>
            <a:off x="685800" y="457200"/>
            <a:ext cx="8046720" cy="329184"/>
          </a:xfrm>
          <a:prstGeom prst="rect">
            <a:avLst/>
          </a:prstGeom>
          <a:noFill/>
          <a:ln/>
        </p:spPr>
        <p:txBody>
          <a:bodyPr wrap="square" lIns="0" tIns="0" rIns="0" bIns="0" rtlCol="0" anchor="ctr"/>
          <a:lstStyle/>
          <a:p>
            <a:pPr indent="0" marL="0">
              <a:buNone/>
            </a:pPr>
            <a:r>
              <a:rPr lang="en-US" sz="1000" b="1" spc="300" kern="0" dirty="0">
                <a:solidFill>
                  <a:srgbClr val="C8161D"/>
                </a:solidFill>
                <a:latin typeface="Arial" pitchFamily="34" charset="0"/>
                <a:ea typeface="BIZ UDPGothic" pitchFamily="34" charset="-122"/>
                <a:cs typeface="BIZ UDPGothic" pitchFamily="34" charset="-120"/>
              </a:rPr>
              <a:t>REBOOT JAPAN ── 提言008　まとめ</a:t>
            </a:r>
            <a:endParaRPr lang="en-US" sz="1000" dirty="0"/>
          </a:p>
        </p:txBody>
      </p:sp>
      <p:sp>
        <p:nvSpPr>
          <p:cNvPr id="4" name="Text 2"/>
          <p:cNvSpPr/>
          <p:nvPr/>
        </p:nvSpPr>
        <p:spPr>
          <a:xfrm>
            <a:off x="685800" y="868680"/>
            <a:ext cx="8046720" cy="2103120"/>
          </a:xfrm>
          <a:prstGeom prst="rect">
            <a:avLst/>
          </a:prstGeom>
          <a:noFill/>
          <a:ln/>
        </p:spPr>
        <p:txBody>
          <a:bodyPr wrap="square" lIns="0" tIns="0" rIns="0" bIns="0" rtlCol="0" anchor="ctr"/>
          <a:lstStyle/>
          <a:p>
            <a:pPr indent="0" marL="0">
              <a:buNone/>
            </a:pPr>
            <a:r>
              <a:rPr lang="en-US" sz="3000" b="1" dirty="0">
                <a:solidFill>
                  <a:srgbClr val="16181D"/>
                </a:solidFill>
                <a:latin typeface="BIZ UDPGothic" pitchFamily="34" charset="0"/>
                <a:ea typeface="BIZ UDPGothic" pitchFamily="34" charset="-122"/>
                <a:cs typeface="BIZ UDPGothic" pitchFamily="34" charset="-120"/>
              </a:rPr>
              <a:t>税金を使う者に、</a:t>
            </a:r>
            <a:endParaRPr lang="en-US" sz="3000" dirty="0"/>
          </a:p>
          <a:p>
            <a:pPr indent="0" marL="0">
              <a:buNone/>
            </a:pPr>
            <a:r>
              <a:rPr lang="en-US" sz="3000" b="1" dirty="0">
                <a:solidFill>
                  <a:srgbClr val="16181D"/>
                </a:solidFill>
                <a:latin typeface="BIZ UDPGothic" pitchFamily="34" charset="0"/>
                <a:ea typeface="BIZ UDPGothic" pitchFamily="34" charset="-122"/>
                <a:cs typeface="BIZ UDPGothic" pitchFamily="34" charset="-120"/>
              </a:rPr>
              <a:t>1円のブラックボックスも、</a:t>
            </a:r>
            <a:endParaRPr lang="en-US" sz="3000" dirty="0"/>
          </a:p>
          <a:p>
            <a:pPr indent="0" marL="0">
              <a:buNone/>
            </a:pPr>
            <a:r>
              <a:rPr lang="en-US" sz="3000" b="1" dirty="0">
                <a:solidFill>
                  <a:srgbClr val="16181D"/>
                </a:solidFill>
                <a:latin typeface="BIZ UDPGothic" pitchFamily="34" charset="0"/>
                <a:ea typeface="BIZ UDPGothic" pitchFamily="34" charset="-122"/>
                <a:cs typeface="BIZ UDPGothic" pitchFamily="34" charset="-120"/>
              </a:rPr>
              <a:t>不当な中抜きも許さない。</a:t>
            </a:r>
            <a:endParaRPr lang="en-US" sz="3000" dirty="0"/>
          </a:p>
        </p:txBody>
      </p:sp>
      <p:sp>
        <p:nvSpPr>
          <p:cNvPr id="5" name="Shape 3"/>
          <p:cNvSpPr/>
          <p:nvPr/>
        </p:nvSpPr>
        <p:spPr>
          <a:xfrm>
            <a:off x="685800" y="3063240"/>
            <a:ext cx="7772400" cy="13716"/>
          </a:xfrm>
          <a:prstGeom prst="rect">
            <a:avLst/>
          </a:prstGeom>
          <a:solidFill>
            <a:srgbClr val="DDE0E6"/>
          </a:solidFill>
          <a:ln w="12700">
            <a:solidFill>
              <a:srgbClr val="DDE0E6"/>
            </a:solidFill>
            <a:prstDash val="solid"/>
          </a:ln>
        </p:spPr>
      </p:sp>
      <p:sp>
        <p:nvSpPr>
          <p:cNvPr id="6" name="Text 4"/>
          <p:cNvSpPr/>
          <p:nvPr/>
        </p:nvSpPr>
        <p:spPr>
          <a:xfrm>
            <a:off x="685800" y="3200400"/>
            <a:ext cx="8046720" cy="1792224"/>
          </a:xfrm>
          <a:prstGeom prst="rect">
            <a:avLst/>
          </a:prstGeom>
          <a:noFill/>
          <a:ln/>
        </p:spPr>
        <p:txBody>
          <a:bodyPr wrap="square" lIns="0" tIns="0" rIns="0" bIns="0" rtlCol="0" anchor="ctr"/>
          <a:lstStyle/>
          <a:p>
            <a:pPr indent="0" marL="0">
              <a:spcAft>
                <a:spcPts val="400"/>
              </a:spcAft>
              <a:buNone/>
            </a:pPr>
            <a:r>
              <a:rPr lang="en-US" sz="1100" dirty="0">
                <a:solidFill>
                  <a:srgbClr val="2B2F36"/>
                </a:solidFill>
                <a:latin typeface="Arial" pitchFamily="34" charset="0"/>
                <a:ea typeface="BIZ UDPGothic" pitchFamily="34" charset="-122"/>
                <a:cs typeface="BIZ UDPGothic" pitchFamily="34" charset="-120"/>
              </a:rPr>
              <a:t>① 公費執行DXの義務化：共通クラウド＋コーポレートカードで精算をデジタル化</a:t>
            </a:r>
            <a:endParaRPr lang="en-US" sz="1100" dirty="0"/>
          </a:p>
          <a:p>
            <a:pPr indent="0" marL="0">
              <a:spcAft>
                <a:spcPts val="400"/>
              </a:spcAft>
              <a:buNone/>
            </a:pPr>
            <a:r>
              <a:rPr lang="en-US" sz="1100" dirty="0">
                <a:solidFill>
                  <a:srgbClr val="2B2F36"/>
                </a:solidFill>
                <a:latin typeface="Arial" pitchFamily="34" charset="0"/>
                <a:ea typeface="BIZ UDPGothic" pitchFamily="34" charset="-122"/>
                <a:cs typeface="BIZ UDPGothic" pitchFamily="34" charset="-120"/>
              </a:rPr>
              <a:t>② 自動ガバナンス：不正支出を「物理的に実行できない」仕組みへ</a:t>
            </a:r>
            <a:endParaRPr lang="en-US" sz="1100" dirty="0"/>
          </a:p>
          <a:p>
            <a:pPr indent="0" marL="0">
              <a:spcAft>
                <a:spcPts val="400"/>
              </a:spcAft>
              <a:buNone/>
            </a:pPr>
            <a:r>
              <a:rPr lang="en-US" sz="1100" dirty="0">
                <a:solidFill>
                  <a:srgbClr val="2B2F36"/>
                </a:solidFill>
                <a:latin typeface="Arial" pitchFamily="34" charset="0"/>
                <a:ea typeface="BIZ UDPGothic" pitchFamily="34" charset="-122"/>
                <a:cs typeface="BIZ UDPGothic" pitchFamily="34" charset="-120"/>
              </a:rPr>
              <a:t>③ リアルタイム公開：全公費データをオープンデータ化（内外システムは分離設計）</a:t>
            </a:r>
            <a:endParaRPr lang="en-US" sz="1100" dirty="0"/>
          </a:p>
          <a:p>
            <a:pPr indent="0" marL="0">
              <a:spcAft>
                <a:spcPts val="400"/>
              </a:spcAft>
              <a:buNone/>
            </a:pPr>
            <a:r>
              <a:rPr lang="en-US" sz="1100" dirty="0">
                <a:solidFill>
                  <a:srgbClr val="2B2F36"/>
                </a:solidFill>
                <a:latin typeface="Arial" pitchFamily="34" charset="0"/>
                <a:ea typeface="BIZ UDPGothic" pitchFamily="34" charset="-122"/>
                <a:cs typeface="BIZ UDPGothic" pitchFamily="34" charset="-120"/>
              </a:rPr>
              <a:t>④ E2E追跡：補助金・委託費の使途を完全追跡し中抜きを根絶</a:t>
            </a:r>
            <a:endParaRPr lang="en-US" sz="1100" dirty="0"/>
          </a:p>
          <a:p>
            <a:pPr indent="0" marL="0">
              <a:spcAft>
                <a:spcPts val="400"/>
              </a:spcAft>
              <a:buNone/>
            </a:pPr>
            <a:r>
              <a:rPr lang="en-US" sz="1100" dirty="0">
                <a:solidFill>
                  <a:srgbClr val="2B2F36"/>
                </a:solidFill>
                <a:latin typeface="Arial" pitchFamily="34" charset="0"/>
                <a:ea typeface="BIZ UDPGothic" pitchFamily="34" charset="-122"/>
                <a:cs typeface="BIZ UDPGothic" pitchFamily="34" charset="-120"/>
              </a:rPr>
              <a:t>⑤ 入札改革：入札時に下請け確定・直接見積もり・E2E決済を義務化</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提言008：公費執行の「完全デジタル透明化」と多重下請け・利権構造の根絶</dc:title>
  <dc:subject>PptxGenJS Presentation</dc:subject>
  <dc:creator>PptxGenJS</dc:creator>
  <cp:lastModifiedBy>PptxGenJS</cp:lastModifiedBy>
  <cp:revision>1</cp:revision>
  <dcterms:created xsi:type="dcterms:W3CDTF">2026-06-28T11:07:52Z</dcterms:created>
  <dcterms:modified xsi:type="dcterms:W3CDTF">2026-06-28T11:07:52Z</dcterms:modified>
</cp:coreProperties>
</file>