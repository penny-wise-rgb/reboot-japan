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3657600" cy="5143500"/>
          </a:xfrm>
          <a:prstGeom prst="rect">
            <a:avLst/>
          </a:prstGeom>
          <a:solidFill>
            <a:srgbClr val="C8161D"/>
          </a:solidFill>
          <a:ln/>
        </p:spPr>
      </p:sp>
      <p:sp>
        <p:nvSpPr>
          <p:cNvPr id="3" name="Text 1"/>
          <p:cNvSpPr/>
          <p:nvPr/>
        </p:nvSpPr>
        <p:spPr>
          <a:xfrm>
            <a:off x="274320" y="548640"/>
            <a:ext cx="3108960" cy="914400"/>
          </a:xfrm>
          <a:prstGeom prst="rect">
            <a:avLst/>
          </a:prstGeom>
          <a:noFill/>
          <a:ln/>
        </p:spPr>
        <p:txBody>
          <a:bodyPr wrap="square" rtlCol="0" anchor="ctr"/>
          <a:lstStyle/>
          <a:p>
            <a:pPr indent="0" marL="0">
              <a:buNone/>
            </a:pPr>
            <a:r>
              <a:rPr lang="en-US" sz="5000" b="1" dirty="0">
                <a:solidFill>
                  <a:srgbClr val="FFFFFF"/>
                </a:solidFill>
                <a:latin typeface="Arial" pitchFamily="34" charset="0"/>
                <a:ea typeface="BIZ UDPGothic" pitchFamily="34" charset="-122"/>
                <a:cs typeface="BIZ UDPGothic" pitchFamily="34" charset="-120"/>
              </a:rPr>
              <a:t>REBOOT</a:t>
            </a:r>
            <a:endParaRPr lang="en-US" sz="5000" dirty="0"/>
          </a:p>
        </p:txBody>
      </p:sp>
      <p:sp>
        <p:nvSpPr>
          <p:cNvPr id="4" name="Text 2"/>
          <p:cNvSpPr/>
          <p:nvPr/>
        </p:nvSpPr>
        <p:spPr>
          <a:xfrm>
            <a:off x="274320" y="1417320"/>
            <a:ext cx="3108960" cy="914400"/>
          </a:xfrm>
          <a:prstGeom prst="rect">
            <a:avLst/>
          </a:prstGeom>
          <a:noFill/>
          <a:ln/>
        </p:spPr>
        <p:txBody>
          <a:bodyPr wrap="square" rtlCol="0" anchor="ctr"/>
          <a:lstStyle/>
          <a:p>
            <a:pPr indent="0" marL="0">
              <a:buNone/>
            </a:pPr>
            <a:r>
              <a:rPr lang="en-US" sz="5000" b="1" dirty="0">
                <a:solidFill>
                  <a:srgbClr val="F5F6F8"/>
                </a:solidFill>
                <a:latin typeface="Arial" pitchFamily="34" charset="0"/>
                <a:ea typeface="BIZ UDPGothic" pitchFamily="34" charset="-122"/>
                <a:cs typeface="BIZ UDPGothic" pitchFamily="34" charset="-120"/>
              </a:rPr>
              <a:t>JAPAN</a:t>
            </a:r>
            <a:endParaRPr lang="en-US" sz="5000" dirty="0"/>
          </a:p>
        </p:txBody>
      </p:sp>
      <p:sp>
        <p:nvSpPr>
          <p:cNvPr id="5" name="Text 3"/>
          <p:cNvSpPr/>
          <p:nvPr/>
        </p:nvSpPr>
        <p:spPr>
          <a:xfrm>
            <a:off x="274320" y="2468880"/>
            <a:ext cx="3108960" cy="41148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BIZ UDPGothic" pitchFamily="34" charset="-122"/>
                <a:cs typeface="BIZ UDPGothic" pitchFamily="34" charset="-120"/>
              </a:rPr>
              <a:t>提言 #001</a:t>
            </a:r>
            <a:endParaRPr lang="en-US" sz="1500" dirty="0"/>
          </a:p>
        </p:txBody>
      </p:sp>
      <p:sp>
        <p:nvSpPr>
          <p:cNvPr id="6" name="Text 4"/>
          <p:cNvSpPr/>
          <p:nvPr/>
        </p:nvSpPr>
        <p:spPr>
          <a:xfrm>
            <a:off x="274320" y="2926080"/>
            <a:ext cx="3108960" cy="50292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BIZ UDPGothic" pitchFamily="34" charset="-122"/>
                <a:cs typeface="BIZ UDPGothic" pitchFamily="34" charset="-120"/>
              </a:rPr>
              <a:t>日本再起動プラン</a:t>
            </a:r>
            <a:endParaRPr lang="en-US" sz="1800" dirty="0"/>
          </a:p>
        </p:txBody>
      </p:sp>
      <p:sp>
        <p:nvSpPr>
          <p:cNvPr id="7" name="Text 5"/>
          <p:cNvSpPr/>
          <p:nvPr/>
        </p:nvSpPr>
        <p:spPr>
          <a:xfrm>
            <a:off x="274320" y="3520440"/>
            <a:ext cx="3108960" cy="640080"/>
          </a:xfrm>
          <a:prstGeom prst="rect">
            <a:avLst/>
          </a:prstGeom>
          <a:noFill/>
          <a:ln/>
        </p:spPr>
        <p:txBody>
          <a:bodyPr wrap="square" rtlCol="0" anchor="ctr"/>
          <a:lstStyle/>
          <a:p>
            <a:pPr indent="0" marL="0">
              <a:lnSpc>
                <a:spcPct val="130000"/>
              </a:lnSpc>
              <a:buNone/>
            </a:pPr>
            <a:r>
              <a:rPr lang="en-US" sz="1200" dirty="0">
                <a:solidFill>
                  <a:srgbClr val="FFFFFF"/>
                </a:solidFill>
                <a:latin typeface="Arial" pitchFamily="34" charset="0"/>
                <a:ea typeface="BIZ UDPGothic" pitchFamily="34" charset="-122"/>
                <a:cs typeface="BIZ UDPGothic" pitchFamily="34" charset="-120"/>
              </a:rPr>
              <a:t>中学生にもわかる</a:t>
            </a:r>
            <a:endParaRPr lang="en-US" sz="1200" dirty="0"/>
          </a:p>
          <a:p>
            <a:pPr indent="0" marL="0">
              <a:lnSpc>
                <a:spcPct val="130000"/>
              </a:lnSpc>
              <a:buNone/>
            </a:pPr>
            <a:r>
              <a:rPr lang="en-US" sz="1200" dirty="0">
                <a:solidFill>
                  <a:srgbClr val="FFFFFF"/>
                </a:solidFill>
                <a:latin typeface="Arial" pitchFamily="34" charset="0"/>
                <a:ea typeface="BIZ UDPGothic" pitchFamily="34" charset="-122"/>
                <a:cs typeface="BIZ UDPGothic" pitchFamily="34" charset="-120"/>
              </a:rPr>
              <a:t>わかりやすい解説版</a:t>
            </a:r>
            <a:endParaRPr lang="en-US" sz="1200" dirty="0"/>
          </a:p>
        </p:txBody>
      </p:sp>
      <p:sp>
        <p:nvSpPr>
          <p:cNvPr id="8" name="Text 6"/>
          <p:cNvSpPr/>
          <p:nvPr/>
        </p:nvSpPr>
        <p:spPr>
          <a:xfrm>
            <a:off x="3931920" y="548640"/>
            <a:ext cx="4754880" cy="2560320"/>
          </a:xfrm>
          <a:prstGeom prst="rect">
            <a:avLst/>
          </a:prstGeom>
          <a:noFill/>
          <a:ln/>
        </p:spPr>
        <p:txBody>
          <a:bodyPr wrap="square" rtlCol="0" anchor="ctr"/>
          <a:lstStyle/>
          <a:p>
            <a:pPr indent="0" marL="0">
              <a:lnSpc>
                <a:spcPct val="110000"/>
              </a:lnSpc>
              <a:buNone/>
            </a:pPr>
            <a:r>
              <a:rPr lang="en-US" sz="4600" b="1" dirty="0">
                <a:solidFill>
                  <a:srgbClr val="16181D"/>
                </a:solidFill>
                <a:latin typeface="Arial" pitchFamily="34" charset="0"/>
                <a:ea typeface="BIZ UDPGothic" pitchFamily="34" charset="-122"/>
                <a:cs typeface="BIZ UDPGothic" pitchFamily="34" charset="-120"/>
              </a:rPr>
              <a:t>日本の</a:t>
            </a:r>
            <a:endParaRPr lang="en-US" sz="4600" dirty="0"/>
          </a:p>
          <a:p>
            <a:pPr indent="0" marL="0">
              <a:lnSpc>
                <a:spcPct val="110000"/>
              </a:lnSpc>
              <a:buNone/>
            </a:pPr>
            <a:r>
              <a:rPr lang="en-US" sz="4600" b="1" dirty="0">
                <a:solidFill>
                  <a:srgbClr val="16181D"/>
                </a:solidFill>
                <a:latin typeface="Arial" pitchFamily="34" charset="0"/>
                <a:ea typeface="BIZ UDPGothic" pitchFamily="34" charset="-122"/>
                <a:cs typeface="BIZ UDPGothic" pitchFamily="34" charset="-120"/>
              </a:rPr>
              <a:t>バグを</a:t>
            </a:r>
            <a:endParaRPr lang="en-US" sz="4600" dirty="0"/>
          </a:p>
          <a:p>
            <a:pPr indent="0" marL="0">
              <a:lnSpc>
                <a:spcPct val="110000"/>
              </a:lnSpc>
              <a:buNone/>
            </a:pPr>
            <a:r>
              <a:rPr lang="en-US" sz="4600" b="1" dirty="0">
                <a:solidFill>
                  <a:srgbClr val="16181D"/>
                </a:solidFill>
                <a:latin typeface="Arial" pitchFamily="34" charset="0"/>
                <a:ea typeface="BIZ UDPGothic" pitchFamily="34" charset="-122"/>
                <a:cs typeface="BIZ UDPGothic" pitchFamily="34" charset="-120"/>
              </a:rPr>
              <a:t>修正する</a:t>
            </a:r>
            <a:endParaRPr lang="en-US" sz="4600" dirty="0"/>
          </a:p>
        </p:txBody>
      </p:sp>
      <p:sp>
        <p:nvSpPr>
          <p:cNvPr id="9" name="Text 7"/>
          <p:cNvSpPr/>
          <p:nvPr/>
        </p:nvSpPr>
        <p:spPr>
          <a:xfrm>
            <a:off x="3931920" y="3291840"/>
            <a:ext cx="4754880" cy="365760"/>
          </a:xfrm>
          <a:prstGeom prst="rect">
            <a:avLst/>
          </a:prstGeom>
          <a:noFill/>
          <a:ln/>
        </p:spPr>
        <p:txBody>
          <a:bodyPr wrap="square" rtlCol="0" anchor="ctr"/>
          <a:lstStyle/>
          <a:p>
            <a:pPr indent="0" marL="0">
              <a:buNone/>
            </a:pPr>
            <a:r>
              <a:rPr lang="en-US" sz="1100" dirty="0">
                <a:solidFill>
                  <a:srgbClr val="4B515C"/>
                </a:solidFill>
                <a:latin typeface="Arial" pitchFamily="34" charset="0"/>
                <a:ea typeface="BIZ UDPGothic" pitchFamily="34" charset="-122"/>
                <a:cs typeface="BIZ UDPGothic" pitchFamily="34" charset="-120"/>
              </a:rPr>
              <a:t>問題提起 → 何をするか → なぜなのか → 数字でまとめ</a:t>
            </a:r>
            <a:endParaRPr lang="en-US" sz="1100" dirty="0"/>
          </a:p>
        </p:txBody>
      </p:sp>
      <p:sp>
        <p:nvSpPr>
          <p:cNvPr id="10" name="Shape 8"/>
          <p:cNvSpPr/>
          <p:nvPr/>
        </p:nvSpPr>
        <p:spPr>
          <a:xfrm>
            <a:off x="3931920" y="3767328"/>
            <a:ext cx="128016" cy="128016"/>
          </a:xfrm>
          <a:prstGeom prst="ellipse">
            <a:avLst/>
          </a:prstGeom>
          <a:solidFill>
            <a:srgbClr val="C8161D"/>
          </a:solidFill>
          <a:ln/>
        </p:spPr>
      </p:sp>
      <p:sp>
        <p:nvSpPr>
          <p:cNvPr id="11" name="Text 9"/>
          <p:cNvSpPr/>
          <p:nvPr/>
        </p:nvSpPr>
        <p:spPr>
          <a:xfrm>
            <a:off x="4160520" y="3721608"/>
            <a:ext cx="4480560" cy="256032"/>
          </a:xfrm>
          <a:prstGeom prst="rect">
            <a:avLst/>
          </a:prstGeom>
          <a:noFill/>
          <a:ln/>
        </p:spPr>
        <p:txBody>
          <a:bodyPr wrap="square" rtlCol="0" anchor="ctr"/>
          <a:lstStyle/>
          <a:p>
            <a:pPr indent="0" marL="0">
              <a:buNone/>
            </a:pPr>
            <a:r>
              <a:rPr lang="en-US" sz="1100" dirty="0">
                <a:solidFill>
                  <a:srgbClr val="16181D"/>
                </a:solidFill>
                <a:latin typeface="Arial" pitchFamily="34" charset="0"/>
                <a:ea typeface="BIZ UDPGothic" pitchFamily="34" charset="-122"/>
                <a:cs typeface="BIZ UDPGothic" pitchFamily="34" charset="-120"/>
              </a:rPr>
              <a:t>最低賃金を時給2,000円に</a:t>
            </a:r>
            <a:endParaRPr lang="en-US" sz="1100" dirty="0"/>
          </a:p>
        </p:txBody>
      </p:sp>
      <p:sp>
        <p:nvSpPr>
          <p:cNvPr id="12" name="Shape 10"/>
          <p:cNvSpPr/>
          <p:nvPr/>
        </p:nvSpPr>
        <p:spPr>
          <a:xfrm>
            <a:off x="3931920" y="3986784"/>
            <a:ext cx="128016" cy="128016"/>
          </a:xfrm>
          <a:prstGeom prst="ellipse">
            <a:avLst/>
          </a:prstGeom>
          <a:solidFill>
            <a:srgbClr val="C8161D"/>
          </a:solidFill>
          <a:ln/>
        </p:spPr>
      </p:sp>
      <p:sp>
        <p:nvSpPr>
          <p:cNvPr id="13" name="Text 11"/>
          <p:cNvSpPr/>
          <p:nvPr/>
        </p:nvSpPr>
        <p:spPr>
          <a:xfrm>
            <a:off x="4160520" y="3941064"/>
            <a:ext cx="4480560" cy="256032"/>
          </a:xfrm>
          <a:prstGeom prst="rect">
            <a:avLst/>
          </a:prstGeom>
          <a:noFill/>
          <a:ln/>
        </p:spPr>
        <p:txBody>
          <a:bodyPr wrap="square" rtlCol="0" anchor="ctr"/>
          <a:lstStyle/>
          <a:p>
            <a:pPr indent="0" marL="0">
              <a:buNone/>
            </a:pPr>
            <a:r>
              <a:rPr lang="en-US" sz="1100" dirty="0">
                <a:solidFill>
                  <a:srgbClr val="16181D"/>
                </a:solidFill>
                <a:latin typeface="Arial" pitchFamily="34" charset="0"/>
                <a:ea typeface="BIZ UDPGothic" pitchFamily="34" charset="-122"/>
                <a:cs typeface="BIZ UDPGothic" pitchFamily="34" charset="-120"/>
              </a:rPr>
              <a:t>税金の仕組みを変える</a:t>
            </a:r>
            <a:endParaRPr lang="en-US" sz="1100" dirty="0"/>
          </a:p>
        </p:txBody>
      </p:sp>
      <p:sp>
        <p:nvSpPr>
          <p:cNvPr id="14" name="Shape 12"/>
          <p:cNvSpPr/>
          <p:nvPr/>
        </p:nvSpPr>
        <p:spPr>
          <a:xfrm>
            <a:off x="3931920" y="4206240"/>
            <a:ext cx="128016" cy="128016"/>
          </a:xfrm>
          <a:prstGeom prst="ellipse">
            <a:avLst/>
          </a:prstGeom>
          <a:solidFill>
            <a:srgbClr val="C8161D"/>
          </a:solidFill>
          <a:ln/>
        </p:spPr>
      </p:sp>
      <p:sp>
        <p:nvSpPr>
          <p:cNvPr id="15" name="Text 13"/>
          <p:cNvSpPr/>
          <p:nvPr/>
        </p:nvSpPr>
        <p:spPr>
          <a:xfrm>
            <a:off x="4160520" y="4160520"/>
            <a:ext cx="4480560" cy="256032"/>
          </a:xfrm>
          <a:prstGeom prst="rect">
            <a:avLst/>
          </a:prstGeom>
          <a:noFill/>
          <a:ln/>
        </p:spPr>
        <p:txBody>
          <a:bodyPr wrap="square" rtlCol="0" anchor="ctr"/>
          <a:lstStyle/>
          <a:p>
            <a:pPr indent="0" marL="0">
              <a:buNone/>
            </a:pPr>
            <a:r>
              <a:rPr lang="en-US" sz="1100" dirty="0">
                <a:solidFill>
                  <a:srgbClr val="16181D"/>
                </a:solidFill>
                <a:latin typeface="Arial" pitchFamily="34" charset="0"/>
                <a:ea typeface="BIZ UDPGothic" pitchFamily="34" charset="-122"/>
                <a:cs typeface="BIZ UDPGothic" pitchFamily="34" charset="-120"/>
              </a:rPr>
              <a:t>失業したら3年間サポート</a:t>
            </a:r>
            <a:endParaRPr lang="en-US" sz="1100" dirty="0"/>
          </a:p>
        </p:txBody>
      </p:sp>
      <p:sp>
        <p:nvSpPr>
          <p:cNvPr id="16" name="Shape 14"/>
          <p:cNvSpPr/>
          <p:nvPr/>
        </p:nvSpPr>
        <p:spPr>
          <a:xfrm>
            <a:off x="3931920" y="4425696"/>
            <a:ext cx="128016" cy="128016"/>
          </a:xfrm>
          <a:prstGeom prst="ellipse">
            <a:avLst/>
          </a:prstGeom>
          <a:solidFill>
            <a:srgbClr val="C8161D"/>
          </a:solidFill>
          <a:ln/>
        </p:spPr>
      </p:sp>
      <p:sp>
        <p:nvSpPr>
          <p:cNvPr id="17" name="Text 15"/>
          <p:cNvSpPr/>
          <p:nvPr/>
        </p:nvSpPr>
        <p:spPr>
          <a:xfrm>
            <a:off x="4160520" y="4379976"/>
            <a:ext cx="4480560" cy="256032"/>
          </a:xfrm>
          <a:prstGeom prst="rect">
            <a:avLst/>
          </a:prstGeom>
          <a:noFill/>
          <a:ln/>
        </p:spPr>
        <p:txBody>
          <a:bodyPr wrap="square" rtlCol="0" anchor="ctr"/>
          <a:lstStyle/>
          <a:p>
            <a:pPr indent="0" marL="0">
              <a:buNone/>
            </a:pPr>
            <a:r>
              <a:rPr lang="en-US" sz="1100" dirty="0">
                <a:solidFill>
                  <a:srgbClr val="16181D"/>
                </a:solidFill>
                <a:latin typeface="Arial" pitchFamily="34" charset="0"/>
                <a:ea typeface="BIZ UDPGothic" pitchFamily="34" charset="-122"/>
                <a:cs typeface="BIZ UDPGothic" pitchFamily="34" charset="-120"/>
              </a:rPr>
              <a:t>医療費を所得で決める</a:t>
            </a:r>
            <a:endParaRPr lang="en-US" sz="1100" dirty="0"/>
          </a:p>
        </p:txBody>
      </p:sp>
      <p:sp>
        <p:nvSpPr>
          <p:cNvPr id="18" name="Shape 16"/>
          <p:cNvSpPr/>
          <p:nvPr/>
        </p:nvSpPr>
        <p:spPr>
          <a:xfrm>
            <a:off x="3931920" y="4645152"/>
            <a:ext cx="128016" cy="128016"/>
          </a:xfrm>
          <a:prstGeom prst="ellipse">
            <a:avLst/>
          </a:prstGeom>
          <a:solidFill>
            <a:srgbClr val="C8161D"/>
          </a:solidFill>
          <a:ln/>
        </p:spPr>
      </p:sp>
      <p:sp>
        <p:nvSpPr>
          <p:cNvPr id="19" name="Text 17"/>
          <p:cNvSpPr/>
          <p:nvPr/>
        </p:nvSpPr>
        <p:spPr>
          <a:xfrm>
            <a:off x="4160520" y="4599432"/>
            <a:ext cx="4480560" cy="256032"/>
          </a:xfrm>
          <a:prstGeom prst="rect">
            <a:avLst/>
          </a:prstGeom>
          <a:noFill/>
          <a:ln/>
        </p:spPr>
        <p:txBody>
          <a:bodyPr wrap="square" rtlCol="0" anchor="ctr"/>
          <a:lstStyle/>
          <a:p>
            <a:pPr indent="0" marL="0">
              <a:buNone/>
            </a:pPr>
            <a:r>
              <a:rPr lang="en-US" sz="1100" dirty="0">
                <a:solidFill>
                  <a:srgbClr val="16181D"/>
                </a:solidFill>
                <a:latin typeface="Arial" pitchFamily="34" charset="0"/>
                <a:ea typeface="BIZ UDPGothic" pitchFamily="34" charset="-122"/>
                <a:cs typeface="BIZ UDPGothic" pitchFamily="34" charset="-120"/>
              </a:rPr>
              <a:t>社会保険料を下げる</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rtlCol="0" anchor="ctr"/>
          <a:lstStyle/>
          <a:p>
            <a:pPr indent="0" marL="0">
              <a:buNone/>
            </a:pPr>
            <a:r>
              <a:rPr lang="en-US" sz="900" b="1" spc="300" kern="0" dirty="0">
                <a:solidFill>
                  <a:srgbClr val="C8161D"/>
                </a:solidFill>
                <a:latin typeface="Arial" pitchFamily="34" charset="0"/>
                <a:ea typeface="BIZ UDPGothic" pitchFamily="34" charset="-122"/>
                <a:cs typeface="BIZ UDPGothic" pitchFamily="34" charset="-120"/>
              </a:rPr>
              <a:t>問題提起 01 / 04</a:t>
            </a:r>
            <a:endParaRPr lang="en-US" sz="900" dirty="0"/>
          </a:p>
        </p:txBody>
      </p:sp>
      <p:sp>
        <p:nvSpPr>
          <p:cNvPr id="3" name="Text 1"/>
          <p:cNvSpPr/>
          <p:nvPr/>
        </p:nvSpPr>
        <p:spPr>
          <a:xfrm>
            <a:off x="457200" y="502920"/>
            <a:ext cx="8229600" cy="685800"/>
          </a:xfrm>
          <a:prstGeom prst="rect">
            <a:avLst/>
          </a:prstGeom>
          <a:noFill/>
          <a:ln/>
        </p:spPr>
        <p:txBody>
          <a:bodyPr wrap="square" rtlCol="0" anchor="ctr"/>
          <a:lstStyle/>
          <a:p>
            <a:pPr indent="0" marL="0">
              <a:buNone/>
            </a:pPr>
            <a:r>
              <a:rPr lang="en-US" sz="2800" b="1" dirty="0">
                <a:solidFill>
                  <a:srgbClr val="16181D"/>
                </a:solidFill>
                <a:latin typeface="Arial" pitchFamily="34" charset="0"/>
                <a:ea typeface="BIZ UDPGothic" pitchFamily="34" charset="-122"/>
                <a:cs typeface="BIZ UDPGothic" pitchFamily="34" charset="-120"/>
              </a:rPr>
              <a:t>日本の給料は30年間、ほとんど上がっていない</a:t>
            </a:r>
            <a:endParaRPr lang="en-US" sz="2800" dirty="0"/>
          </a:p>
        </p:txBody>
      </p:sp>
      <p:sp>
        <p:nvSpPr>
          <p:cNvPr id="4" name="Shape 2"/>
          <p:cNvSpPr/>
          <p:nvPr/>
        </p:nvSpPr>
        <p:spPr>
          <a:xfrm>
            <a:off x="457200" y="1261872"/>
            <a:ext cx="8229600" cy="22860"/>
          </a:xfrm>
          <a:prstGeom prst="rect">
            <a:avLst/>
          </a:prstGeom>
          <a:solidFill>
            <a:srgbClr val="DDE0E6"/>
          </a:solidFill>
          <a:ln/>
        </p:spPr>
      </p:sp>
      <p:sp>
        <p:nvSpPr>
          <p:cNvPr id="5" name="Shape 3"/>
          <p:cNvSpPr/>
          <p:nvPr/>
        </p:nvSpPr>
        <p:spPr>
          <a:xfrm>
            <a:off x="457200" y="1371600"/>
            <a:ext cx="2560320" cy="1645920"/>
          </a:xfrm>
          <a:prstGeom prst="roundRect">
            <a:avLst>
              <a:gd name="adj" fmla="val 5556"/>
            </a:avLst>
          </a:prstGeom>
          <a:solidFill>
            <a:srgbClr val="FFFFFF"/>
          </a:solidFill>
          <a:ln/>
          <a:effectLst>
            <a:outerShdw sx="100000" sy="100000" kx="0" ky="0" algn="bl" rotWithShape="0" blurRad="127000" dist="38100" dir="2700000">
              <a:srgbClr val="000000">
                <a:alpha val="35000"/>
              </a:srgbClr>
            </a:outerShdw>
          </a:effectLst>
        </p:spPr>
      </p:sp>
      <p:sp>
        <p:nvSpPr>
          <p:cNvPr id="6" name="Text 4"/>
          <p:cNvSpPr/>
          <p:nvPr/>
        </p:nvSpPr>
        <p:spPr>
          <a:xfrm>
            <a:off x="457200" y="1481328"/>
            <a:ext cx="2560320" cy="790042"/>
          </a:xfrm>
          <a:prstGeom prst="rect">
            <a:avLst/>
          </a:prstGeom>
          <a:noFill/>
          <a:ln/>
        </p:spPr>
        <p:txBody>
          <a:bodyPr wrap="square" rtlCol="0" anchor="ctr"/>
          <a:lstStyle/>
          <a:p>
            <a:pPr algn="ctr" indent="0" marL="0">
              <a:buNone/>
            </a:pPr>
            <a:r>
              <a:rPr lang="en-US" sz="3600" b="1" dirty="0">
                <a:solidFill>
                  <a:srgbClr val="C8161D"/>
                </a:solidFill>
                <a:latin typeface="Arial" pitchFamily="34" charset="0"/>
                <a:ea typeface="BIZ UDPGothic" pitchFamily="34" charset="-122"/>
                <a:cs typeface="BIZ UDPGothic" pitchFamily="34" charset="-120"/>
              </a:rPr>
              <a:t>30年</a:t>
            </a:r>
            <a:endParaRPr lang="en-US" sz="3600" dirty="0"/>
          </a:p>
        </p:txBody>
      </p:sp>
      <p:sp>
        <p:nvSpPr>
          <p:cNvPr id="7" name="Text 5"/>
          <p:cNvSpPr/>
          <p:nvPr/>
        </p:nvSpPr>
        <p:spPr>
          <a:xfrm>
            <a:off x="457200" y="2293315"/>
            <a:ext cx="2560320" cy="329184"/>
          </a:xfrm>
          <a:prstGeom prst="rect">
            <a:avLst/>
          </a:prstGeom>
          <a:noFill/>
          <a:ln/>
        </p:spPr>
        <p:txBody>
          <a:bodyPr wrap="square" rtlCol="0" anchor="ctr"/>
          <a:lstStyle/>
          <a:p>
            <a:pPr algn="ctr" indent="0" marL="0">
              <a:buNone/>
            </a:pPr>
            <a:r>
              <a:rPr lang="en-US" sz="1200" b="1" dirty="0">
                <a:solidFill>
                  <a:srgbClr val="16181D"/>
                </a:solidFill>
                <a:latin typeface="Arial" pitchFamily="34" charset="0"/>
                <a:ea typeface="BIZ UDPGothic" pitchFamily="34" charset="-122"/>
                <a:cs typeface="BIZ UDPGothic" pitchFamily="34" charset="-120"/>
              </a:rPr>
              <a:t>給料ほぼ横ばい</a:t>
            </a:r>
            <a:endParaRPr lang="en-US" sz="1200" dirty="0"/>
          </a:p>
        </p:txBody>
      </p:sp>
      <p:sp>
        <p:nvSpPr>
          <p:cNvPr id="8" name="Text 6"/>
          <p:cNvSpPr/>
          <p:nvPr/>
        </p:nvSpPr>
        <p:spPr>
          <a:xfrm>
            <a:off x="457200" y="2655418"/>
            <a:ext cx="2560320" cy="256032"/>
          </a:xfrm>
          <a:prstGeom prst="rect">
            <a:avLst/>
          </a:prstGeom>
          <a:noFill/>
          <a:ln/>
        </p:spPr>
        <p:txBody>
          <a:bodyPr wrap="square" rtlCol="0" anchor="ctr"/>
          <a:lstStyle/>
          <a:p>
            <a:pPr algn="ctr" indent="0" marL="0">
              <a:buNone/>
            </a:pPr>
            <a:r>
              <a:rPr lang="en-US" sz="900" dirty="0">
                <a:solidFill>
                  <a:srgbClr val="4B515C"/>
                </a:solidFill>
                <a:latin typeface="Arial" pitchFamily="34" charset="0"/>
                <a:ea typeface="BIZ UDPGothic" pitchFamily="34" charset="-122"/>
                <a:cs typeface="BIZ UDPGothic" pitchFamily="34" charset="-120"/>
              </a:rPr>
              <a:t>1990年代からずっと</a:t>
            </a:r>
            <a:endParaRPr lang="en-US" sz="900" dirty="0"/>
          </a:p>
        </p:txBody>
      </p:sp>
      <p:sp>
        <p:nvSpPr>
          <p:cNvPr id="9" name="Shape 7"/>
          <p:cNvSpPr/>
          <p:nvPr/>
        </p:nvSpPr>
        <p:spPr>
          <a:xfrm>
            <a:off x="3154680" y="1371600"/>
            <a:ext cx="2560320" cy="1645920"/>
          </a:xfrm>
          <a:prstGeom prst="roundRect">
            <a:avLst>
              <a:gd name="adj" fmla="val 5556"/>
            </a:avLst>
          </a:prstGeom>
          <a:solidFill>
            <a:srgbClr val="FFFFFF"/>
          </a:solidFill>
          <a:ln/>
          <a:effectLst>
            <a:outerShdw sx="100000" sy="100000" kx="0" ky="0" algn="bl" rotWithShape="0" blurRad="127000" dist="38100" dir="2700000">
              <a:srgbClr val="000000">
                <a:alpha val="35000"/>
              </a:srgbClr>
            </a:outerShdw>
          </a:effectLst>
        </p:spPr>
      </p:sp>
      <p:sp>
        <p:nvSpPr>
          <p:cNvPr id="10" name="Text 8"/>
          <p:cNvSpPr/>
          <p:nvPr/>
        </p:nvSpPr>
        <p:spPr>
          <a:xfrm>
            <a:off x="3154680" y="1481328"/>
            <a:ext cx="2560320" cy="790042"/>
          </a:xfrm>
          <a:prstGeom prst="rect">
            <a:avLst/>
          </a:prstGeom>
          <a:noFill/>
          <a:ln/>
        </p:spPr>
        <p:txBody>
          <a:bodyPr wrap="square" rtlCol="0" anchor="ctr"/>
          <a:lstStyle/>
          <a:p>
            <a:pPr algn="ctr" indent="0" marL="0">
              <a:buNone/>
            </a:pPr>
            <a:r>
              <a:rPr lang="en-US" sz="3600" b="1" dirty="0">
                <a:solidFill>
                  <a:srgbClr val="C8161D"/>
                </a:solidFill>
                <a:latin typeface="Arial" pitchFamily="34" charset="0"/>
                <a:ea typeface="BIZ UDPGothic" pitchFamily="34" charset="-122"/>
                <a:cs typeface="BIZ UDPGothic" pitchFamily="34" charset="-120"/>
              </a:rPr>
              <a:t>+20%</a:t>
            </a:r>
            <a:endParaRPr lang="en-US" sz="3600" dirty="0"/>
          </a:p>
        </p:txBody>
      </p:sp>
      <p:sp>
        <p:nvSpPr>
          <p:cNvPr id="11" name="Text 9"/>
          <p:cNvSpPr/>
          <p:nvPr/>
        </p:nvSpPr>
        <p:spPr>
          <a:xfrm>
            <a:off x="3154680" y="2293315"/>
            <a:ext cx="2560320" cy="329184"/>
          </a:xfrm>
          <a:prstGeom prst="rect">
            <a:avLst/>
          </a:prstGeom>
          <a:noFill/>
          <a:ln/>
        </p:spPr>
        <p:txBody>
          <a:bodyPr wrap="square" rtlCol="0" anchor="ctr"/>
          <a:lstStyle/>
          <a:p>
            <a:pPr algn="ctr" indent="0" marL="0">
              <a:buNone/>
            </a:pPr>
            <a:r>
              <a:rPr lang="en-US" sz="1200" b="1" dirty="0">
                <a:solidFill>
                  <a:srgbClr val="16181D"/>
                </a:solidFill>
                <a:latin typeface="Arial" pitchFamily="34" charset="0"/>
                <a:ea typeface="BIZ UDPGothic" pitchFamily="34" charset="-122"/>
                <a:cs typeface="BIZ UDPGothic" pitchFamily="34" charset="-120"/>
              </a:rPr>
              <a:t>その間に物価は上昇</a:t>
            </a:r>
            <a:endParaRPr lang="en-US" sz="1200" dirty="0"/>
          </a:p>
        </p:txBody>
      </p:sp>
      <p:sp>
        <p:nvSpPr>
          <p:cNvPr id="12" name="Text 10"/>
          <p:cNvSpPr/>
          <p:nvPr/>
        </p:nvSpPr>
        <p:spPr>
          <a:xfrm>
            <a:off x="3154680" y="2655418"/>
            <a:ext cx="2560320" cy="256032"/>
          </a:xfrm>
          <a:prstGeom prst="rect">
            <a:avLst/>
          </a:prstGeom>
          <a:noFill/>
          <a:ln/>
        </p:spPr>
        <p:txBody>
          <a:bodyPr wrap="square" rtlCol="0" anchor="ctr"/>
          <a:lstStyle/>
          <a:p>
            <a:pPr algn="ctr" indent="0" marL="0">
              <a:buNone/>
            </a:pPr>
            <a:r>
              <a:rPr lang="en-US" sz="900" dirty="0">
                <a:solidFill>
                  <a:srgbClr val="4B515C"/>
                </a:solidFill>
                <a:latin typeface="Arial" pitchFamily="34" charset="0"/>
                <a:ea typeface="BIZ UDPGothic" pitchFamily="34" charset="-122"/>
                <a:cs typeface="BIZ UDPGothic" pitchFamily="34" charset="-120"/>
              </a:rPr>
              <a:t>生活はじわじわ苦しく</a:t>
            </a:r>
            <a:endParaRPr lang="en-US" sz="900" dirty="0"/>
          </a:p>
        </p:txBody>
      </p:sp>
      <p:sp>
        <p:nvSpPr>
          <p:cNvPr id="13" name="Shape 11"/>
          <p:cNvSpPr/>
          <p:nvPr/>
        </p:nvSpPr>
        <p:spPr>
          <a:xfrm>
            <a:off x="5852160" y="1371600"/>
            <a:ext cx="2560320" cy="1645920"/>
          </a:xfrm>
          <a:prstGeom prst="roundRect">
            <a:avLst>
              <a:gd name="adj" fmla="val 5556"/>
            </a:avLst>
          </a:prstGeom>
          <a:solidFill>
            <a:srgbClr val="FFFFFF"/>
          </a:solidFill>
          <a:ln/>
          <a:effectLst>
            <a:outerShdw sx="100000" sy="100000" kx="0" ky="0" algn="bl" rotWithShape="0" blurRad="127000" dist="38100" dir="2700000">
              <a:srgbClr val="000000">
                <a:alpha val="35000"/>
              </a:srgbClr>
            </a:outerShdw>
          </a:effectLst>
        </p:spPr>
      </p:sp>
      <p:sp>
        <p:nvSpPr>
          <p:cNvPr id="14" name="Text 12"/>
          <p:cNvSpPr/>
          <p:nvPr/>
        </p:nvSpPr>
        <p:spPr>
          <a:xfrm>
            <a:off x="5852160" y="1481328"/>
            <a:ext cx="2560320" cy="790042"/>
          </a:xfrm>
          <a:prstGeom prst="rect">
            <a:avLst/>
          </a:prstGeom>
          <a:noFill/>
          <a:ln/>
        </p:spPr>
        <p:txBody>
          <a:bodyPr wrap="square" rtlCol="0" anchor="ctr"/>
          <a:lstStyle/>
          <a:p>
            <a:pPr algn="ctr" indent="0" marL="0">
              <a:buNone/>
            </a:pPr>
            <a:r>
              <a:rPr lang="en-US" sz="3600" b="1" dirty="0">
                <a:solidFill>
                  <a:srgbClr val="C8161D"/>
                </a:solidFill>
                <a:latin typeface="Arial" pitchFamily="34" charset="0"/>
                <a:ea typeface="BIZ UDPGothic" pitchFamily="34" charset="-122"/>
                <a:cs typeface="BIZ UDPGothic" pitchFamily="34" charset="-120"/>
              </a:rPr>
              <a:t>43位</a:t>
            </a:r>
            <a:endParaRPr lang="en-US" sz="3600" dirty="0"/>
          </a:p>
        </p:txBody>
      </p:sp>
      <p:sp>
        <p:nvSpPr>
          <p:cNvPr id="15" name="Text 13"/>
          <p:cNvSpPr/>
          <p:nvPr/>
        </p:nvSpPr>
        <p:spPr>
          <a:xfrm>
            <a:off x="5852160" y="2293315"/>
            <a:ext cx="2560320" cy="329184"/>
          </a:xfrm>
          <a:prstGeom prst="rect">
            <a:avLst/>
          </a:prstGeom>
          <a:noFill/>
          <a:ln/>
        </p:spPr>
        <p:txBody>
          <a:bodyPr wrap="square" rtlCol="0" anchor="ctr"/>
          <a:lstStyle/>
          <a:p>
            <a:pPr algn="ctr" indent="0" marL="0">
              <a:buNone/>
            </a:pPr>
            <a:r>
              <a:rPr lang="en-US" sz="1200" b="1" dirty="0">
                <a:solidFill>
                  <a:srgbClr val="16181D"/>
                </a:solidFill>
                <a:latin typeface="Arial" pitchFamily="34" charset="0"/>
                <a:ea typeface="BIZ UDPGothic" pitchFamily="34" charset="-122"/>
                <a:cs typeface="BIZ UDPGothic" pitchFamily="34" charset="-120"/>
              </a:rPr>
              <a:t>世界の平均賃金ランク</a:t>
            </a:r>
            <a:endParaRPr lang="en-US" sz="1200" dirty="0"/>
          </a:p>
        </p:txBody>
      </p:sp>
      <p:sp>
        <p:nvSpPr>
          <p:cNvPr id="16" name="Text 14"/>
          <p:cNvSpPr/>
          <p:nvPr/>
        </p:nvSpPr>
        <p:spPr>
          <a:xfrm>
            <a:off x="5852160" y="2655418"/>
            <a:ext cx="2560320" cy="256032"/>
          </a:xfrm>
          <a:prstGeom prst="rect">
            <a:avLst/>
          </a:prstGeom>
          <a:noFill/>
          <a:ln/>
        </p:spPr>
        <p:txBody>
          <a:bodyPr wrap="square" rtlCol="0" anchor="ctr"/>
          <a:lstStyle/>
          <a:p>
            <a:pPr algn="ctr" indent="0" marL="0">
              <a:buNone/>
            </a:pPr>
            <a:r>
              <a:rPr lang="en-US" sz="900" dirty="0">
                <a:solidFill>
                  <a:srgbClr val="4B515C"/>
                </a:solidFill>
                <a:latin typeface="Arial" pitchFamily="34" charset="0"/>
                <a:ea typeface="BIZ UDPGothic" pitchFamily="34" charset="-122"/>
                <a:cs typeface="BIZ UDPGothic" pitchFamily="34" charset="-120"/>
              </a:rPr>
              <a:t>OECD加盟国の中で</a:t>
            </a:r>
            <a:endParaRPr lang="en-US" sz="900" dirty="0"/>
          </a:p>
        </p:txBody>
      </p:sp>
      <p:sp>
        <p:nvSpPr>
          <p:cNvPr id="17" name="Text 15"/>
          <p:cNvSpPr/>
          <p:nvPr/>
        </p:nvSpPr>
        <p:spPr>
          <a:xfrm>
            <a:off x="457200" y="3200400"/>
            <a:ext cx="8229600" cy="320040"/>
          </a:xfrm>
          <a:prstGeom prst="rect">
            <a:avLst/>
          </a:prstGeom>
          <a:noFill/>
          <a:ln/>
        </p:spPr>
        <p:txBody>
          <a:bodyPr wrap="square" rtlCol="0" anchor="ctr"/>
          <a:lstStyle/>
          <a:p>
            <a:pPr indent="0" marL="0">
              <a:buNone/>
            </a:pPr>
            <a:r>
              <a:rPr lang="en-US" sz="1400" b="1" dirty="0">
                <a:solidFill>
                  <a:srgbClr val="16181D"/>
                </a:solidFill>
                <a:latin typeface="Arial" pitchFamily="34" charset="0"/>
                <a:ea typeface="BIZ UDPGothic" pitchFamily="34" charset="-122"/>
                <a:cs typeface="BIZ UDPGothic" pitchFamily="34" charset="-120"/>
              </a:rPr>
              <a:t>わかりやすく言うと…</a:t>
            </a:r>
            <a:endParaRPr lang="en-US" sz="1400" dirty="0"/>
          </a:p>
        </p:txBody>
      </p:sp>
      <p:sp>
        <p:nvSpPr>
          <p:cNvPr id="18" name="Shape 16"/>
          <p:cNvSpPr/>
          <p:nvPr/>
        </p:nvSpPr>
        <p:spPr>
          <a:xfrm>
            <a:off x="457200" y="3611880"/>
            <a:ext cx="2606040" cy="1280160"/>
          </a:xfrm>
          <a:prstGeom prst="roundRect">
            <a:avLst>
              <a:gd name="adj" fmla="val 7143"/>
            </a:avLst>
          </a:prstGeom>
          <a:solidFill>
            <a:srgbClr val="FFFFFF"/>
          </a:solidFill>
          <a:ln/>
          <a:effectLst>
            <a:outerShdw sx="100000" sy="100000" kx="0" ky="0" algn="bl" rotWithShape="0" blurRad="127000" dist="38100" dir="2700000">
              <a:srgbClr val="000000">
                <a:alpha val="35000"/>
              </a:srgbClr>
            </a:outerShdw>
          </a:effectLst>
        </p:spPr>
      </p:sp>
      <p:sp>
        <p:nvSpPr>
          <p:cNvPr id="19" name="Text 17"/>
          <p:cNvSpPr/>
          <p:nvPr/>
        </p:nvSpPr>
        <p:spPr>
          <a:xfrm>
            <a:off x="594360" y="3703320"/>
            <a:ext cx="2331720" cy="274320"/>
          </a:xfrm>
          <a:prstGeom prst="rect">
            <a:avLst/>
          </a:prstGeom>
          <a:noFill/>
          <a:ln/>
        </p:spPr>
        <p:txBody>
          <a:bodyPr wrap="square" rtlCol="0" anchor="ctr"/>
          <a:lstStyle/>
          <a:p>
            <a:pPr indent="0" marL="0">
              <a:buNone/>
            </a:pPr>
            <a:r>
              <a:rPr lang="en-US" sz="1000" b="1" dirty="0">
                <a:solidFill>
                  <a:srgbClr val="C8161D"/>
                </a:solidFill>
                <a:latin typeface="Arial" pitchFamily="34" charset="0"/>
                <a:ea typeface="BIZ UDPGothic" pitchFamily="34" charset="-122"/>
                <a:cs typeface="BIZ UDPGothic" pitchFamily="34" charset="-120"/>
              </a:rPr>
              <a:t>1990年代</a:t>
            </a:r>
            <a:endParaRPr lang="en-US" sz="1000" dirty="0"/>
          </a:p>
        </p:txBody>
      </p:sp>
      <p:sp>
        <p:nvSpPr>
          <p:cNvPr id="20" name="Text 18"/>
          <p:cNvSpPr/>
          <p:nvPr/>
        </p:nvSpPr>
        <p:spPr>
          <a:xfrm>
            <a:off x="594360" y="4005072"/>
            <a:ext cx="2331720" cy="777240"/>
          </a:xfrm>
          <a:prstGeom prst="rect">
            <a:avLst/>
          </a:prstGeom>
          <a:noFill/>
          <a:ln/>
        </p:spPr>
        <p:txBody>
          <a:bodyPr wrap="square" rtlCol="0" anchor="ctr"/>
          <a:lstStyle/>
          <a:p>
            <a:pPr algn="ctr" indent="0" marL="0">
              <a:lnSpc>
                <a:spcPct val="120000"/>
              </a:lnSpc>
              <a:buNone/>
            </a:pPr>
            <a:r>
              <a:rPr lang="en-US" sz="1400" b="1" dirty="0">
                <a:solidFill>
                  <a:srgbClr val="16181D"/>
                </a:solidFill>
                <a:latin typeface="Arial" pitchFamily="34" charset="0"/>
                <a:ea typeface="BIZ UDPGothic" pitchFamily="34" charset="-122"/>
                <a:cs typeface="BIZ UDPGothic" pitchFamily="34" charset="-120"/>
              </a:rPr>
              <a:t>日本の給料</a:t>
            </a:r>
            <a:endParaRPr lang="en-US" sz="1400" dirty="0"/>
          </a:p>
          <a:p>
            <a:pPr algn="ctr" indent="0" marL="0">
              <a:lnSpc>
                <a:spcPct val="120000"/>
              </a:lnSpc>
              <a:buNone/>
            </a:pPr>
            <a:r>
              <a:rPr lang="en-US" sz="1400" b="1" dirty="0">
                <a:solidFill>
                  <a:srgbClr val="16181D"/>
                </a:solidFill>
                <a:latin typeface="Arial" pitchFamily="34" charset="0"/>
                <a:ea typeface="BIZ UDPGothic" pitchFamily="34" charset="-122"/>
                <a:cs typeface="BIZ UDPGothic" pitchFamily="34" charset="-120"/>
              </a:rPr>
              <a:t>≈ 韓国の2倍</a:t>
            </a:r>
            <a:endParaRPr lang="en-US" sz="1400" dirty="0"/>
          </a:p>
        </p:txBody>
      </p:sp>
      <p:sp>
        <p:nvSpPr>
          <p:cNvPr id="21" name="Shape 19"/>
          <p:cNvSpPr/>
          <p:nvPr/>
        </p:nvSpPr>
        <p:spPr>
          <a:xfrm>
            <a:off x="3291840" y="3611880"/>
            <a:ext cx="2606040" cy="1280160"/>
          </a:xfrm>
          <a:prstGeom prst="roundRect">
            <a:avLst>
              <a:gd name="adj" fmla="val 7143"/>
            </a:avLst>
          </a:prstGeom>
          <a:solidFill>
            <a:srgbClr val="FFFFFF"/>
          </a:solidFill>
          <a:ln/>
          <a:effectLst>
            <a:outerShdw sx="100000" sy="100000" kx="0" ky="0" algn="bl" rotWithShape="0" blurRad="127000" dist="38100" dir="2700000">
              <a:srgbClr val="000000">
                <a:alpha val="35000"/>
              </a:srgbClr>
            </a:outerShdw>
          </a:effectLst>
        </p:spPr>
      </p:sp>
      <p:sp>
        <p:nvSpPr>
          <p:cNvPr id="22" name="Text 20"/>
          <p:cNvSpPr/>
          <p:nvPr/>
        </p:nvSpPr>
        <p:spPr>
          <a:xfrm>
            <a:off x="3429000" y="3703320"/>
            <a:ext cx="2331720" cy="274320"/>
          </a:xfrm>
          <a:prstGeom prst="rect">
            <a:avLst/>
          </a:prstGeom>
          <a:noFill/>
          <a:ln/>
        </p:spPr>
        <p:txBody>
          <a:bodyPr wrap="square" rtlCol="0" anchor="ctr"/>
          <a:lstStyle/>
          <a:p>
            <a:pPr indent="0" marL="0">
              <a:buNone/>
            </a:pPr>
            <a:r>
              <a:rPr lang="en-US" sz="1000" b="1" dirty="0">
                <a:solidFill>
                  <a:srgbClr val="C8161D"/>
                </a:solidFill>
                <a:latin typeface="Arial" pitchFamily="34" charset="0"/>
                <a:ea typeface="BIZ UDPGothic" pitchFamily="34" charset="-122"/>
                <a:cs typeface="BIZ UDPGothic" pitchFamily="34" charset="-120"/>
              </a:rPr>
              <a:t>2024年現在</a:t>
            </a:r>
            <a:endParaRPr lang="en-US" sz="1000" dirty="0"/>
          </a:p>
        </p:txBody>
      </p:sp>
      <p:sp>
        <p:nvSpPr>
          <p:cNvPr id="23" name="Text 21"/>
          <p:cNvSpPr/>
          <p:nvPr/>
        </p:nvSpPr>
        <p:spPr>
          <a:xfrm>
            <a:off x="3429000" y="4005072"/>
            <a:ext cx="2331720" cy="777240"/>
          </a:xfrm>
          <a:prstGeom prst="rect">
            <a:avLst/>
          </a:prstGeom>
          <a:noFill/>
          <a:ln/>
        </p:spPr>
        <p:txBody>
          <a:bodyPr wrap="square" rtlCol="0" anchor="ctr"/>
          <a:lstStyle/>
          <a:p>
            <a:pPr algn="ctr" indent="0" marL="0">
              <a:lnSpc>
                <a:spcPct val="120000"/>
              </a:lnSpc>
              <a:buNone/>
            </a:pPr>
            <a:r>
              <a:rPr lang="en-US" sz="1400" b="1" dirty="0">
                <a:solidFill>
                  <a:srgbClr val="16181D"/>
                </a:solidFill>
                <a:latin typeface="Arial" pitchFamily="34" charset="0"/>
                <a:ea typeface="BIZ UDPGothic" pitchFamily="34" charset="-122"/>
                <a:cs typeface="BIZ UDPGothic" pitchFamily="34" charset="-120"/>
              </a:rPr>
              <a:t>韓国の給料</a:t>
            </a:r>
            <a:endParaRPr lang="en-US" sz="1400" dirty="0"/>
          </a:p>
          <a:p>
            <a:pPr algn="ctr" indent="0" marL="0">
              <a:lnSpc>
                <a:spcPct val="120000"/>
              </a:lnSpc>
              <a:buNone/>
            </a:pPr>
            <a:r>
              <a:rPr lang="en-US" sz="1400" b="1" dirty="0">
                <a:solidFill>
                  <a:srgbClr val="16181D"/>
                </a:solidFill>
                <a:latin typeface="Arial" pitchFamily="34" charset="0"/>
                <a:ea typeface="BIZ UDPGothic" pitchFamily="34" charset="-122"/>
                <a:cs typeface="BIZ UDPGothic" pitchFamily="34" charset="-120"/>
              </a:rPr>
              <a:t>≈ 日本と同じ</a:t>
            </a:r>
            <a:endParaRPr lang="en-US" sz="1400" dirty="0"/>
          </a:p>
        </p:txBody>
      </p:sp>
      <p:sp>
        <p:nvSpPr>
          <p:cNvPr id="24" name="Shape 22"/>
          <p:cNvSpPr/>
          <p:nvPr/>
        </p:nvSpPr>
        <p:spPr>
          <a:xfrm>
            <a:off x="6126480" y="3611880"/>
            <a:ext cx="2606040" cy="1280160"/>
          </a:xfrm>
          <a:prstGeom prst="roundRect">
            <a:avLst>
              <a:gd name="adj" fmla="val 7143"/>
            </a:avLst>
          </a:prstGeom>
          <a:solidFill>
            <a:srgbClr val="C8161D"/>
          </a:solidFill>
          <a:ln/>
          <a:effectLst>
            <a:outerShdw sx="100000" sy="100000" kx="0" ky="0" algn="bl" rotWithShape="0" blurRad="127000" dist="38100" dir="2700000">
              <a:srgbClr val="000000">
                <a:alpha val="35000"/>
              </a:srgbClr>
            </a:outerShdw>
          </a:effectLst>
        </p:spPr>
      </p:sp>
      <p:sp>
        <p:nvSpPr>
          <p:cNvPr id="25" name="Text 23"/>
          <p:cNvSpPr/>
          <p:nvPr/>
        </p:nvSpPr>
        <p:spPr>
          <a:xfrm>
            <a:off x="6263640" y="3703320"/>
            <a:ext cx="2331720" cy="27432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BIZ UDPGothic" pitchFamily="34" charset="-122"/>
                <a:cs typeface="BIZ UDPGothic" pitchFamily="34" charset="-120"/>
              </a:rPr>
              <a:t>このままだと…</a:t>
            </a:r>
            <a:endParaRPr lang="en-US" sz="1000" dirty="0"/>
          </a:p>
        </p:txBody>
      </p:sp>
      <p:sp>
        <p:nvSpPr>
          <p:cNvPr id="26" name="Text 24"/>
          <p:cNvSpPr/>
          <p:nvPr/>
        </p:nvSpPr>
        <p:spPr>
          <a:xfrm>
            <a:off x="6263640" y="4005072"/>
            <a:ext cx="2331720" cy="777240"/>
          </a:xfrm>
          <a:prstGeom prst="rect">
            <a:avLst/>
          </a:prstGeom>
          <a:noFill/>
          <a:ln/>
        </p:spPr>
        <p:txBody>
          <a:bodyPr wrap="square" rtlCol="0" anchor="ctr"/>
          <a:lstStyle/>
          <a:p>
            <a:pPr algn="ctr" indent="0" marL="0">
              <a:lnSpc>
                <a:spcPct val="120000"/>
              </a:lnSpc>
              <a:buNone/>
            </a:pPr>
            <a:r>
              <a:rPr lang="en-US" sz="1400" b="1" dirty="0">
                <a:solidFill>
                  <a:srgbClr val="FFFFFF"/>
                </a:solidFill>
                <a:latin typeface="Arial" pitchFamily="34" charset="0"/>
                <a:ea typeface="BIZ UDPGothic" pitchFamily="34" charset="-122"/>
                <a:cs typeface="BIZ UDPGothic" pitchFamily="34" charset="-120"/>
              </a:rPr>
              <a:t>さらに差が</a:t>
            </a:r>
            <a:endParaRPr lang="en-US" sz="1400" dirty="0"/>
          </a:p>
          <a:p>
            <a:pPr algn="ctr" indent="0" marL="0">
              <a:lnSpc>
                <a:spcPct val="120000"/>
              </a:lnSpc>
              <a:buNone/>
            </a:pPr>
            <a:r>
              <a:rPr lang="en-US" sz="1400" b="1" dirty="0">
                <a:solidFill>
                  <a:srgbClr val="FFFFFF"/>
                </a:solidFill>
                <a:latin typeface="Arial" pitchFamily="34" charset="0"/>
                <a:ea typeface="BIZ UDPGothic" pitchFamily="34" charset="-122"/>
                <a:cs typeface="BIZ UDPGothic" pitchFamily="34" charset="-120"/>
              </a:rPr>
              <a:t>開いていく</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rtlCol="0" anchor="ctr"/>
          <a:lstStyle/>
          <a:p>
            <a:pPr indent="0" marL="0">
              <a:buNone/>
            </a:pPr>
            <a:r>
              <a:rPr lang="en-US" sz="900" b="1" spc="300" kern="0" dirty="0">
                <a:solidFill>
                  <a:srgbClr val="C8161D"/>
                </a:solidFill>
                <a:latin typeface="Arial" pitchFamily="34" charset="0"/>
                <a:ea typeface="BIZ UDPGothic" pitchFamily="34" charset="-122"/>
                <a:cs typeface="BIZ UDPGothic" pitchFamily="34" charset="-120"/>
              </a:rPr>
              <a:t>問題提起 02 / 04</a:t>
            </a:r>
            <a:endParaRPr lang="en-US" sz="900" dirty="0"/>
          </a:p>
        </p:txBody>
      </p:sp>
      <p:sp>
        <p:nvSpPr>
          <p:cNvPr id="3" name="Text 1"/>
          <p:cNvSpPr/>
          <p:nvPr/>
        </p:nvSpPr>
        <p:spPr>
          <a:xfrm>
            <a:off x="457200" y="502920"/>
            <a:ext cx="8229600" cy="685800"/>
          </a:xfrm>
          <a:prstGeom prst="rect">
            <a:avLst/>
          </a:prstGeom>
          <a:noFill/>
          <a:ln/>
        </p:spPr>
        <p:txBody>
          <a:bodyPr wrap="square" rtlCol="0" anchor="ctr"/>
          <a:lstStyle/>
          <a:p>
            <a:pPr indent="0" marL="0">
              <a:buNone/>
            </a:pPr>
            <a:r>
              <a:rPr lang="en-US" sz="2600" b="1" dirty="0">
                <a:solidFill>
                  <a:srgbClr val="16181D"/>
                </a:solidFill>
                <a:latin typeface="Arial" pitchFamily="34" charset="0"/>
                <a:ea typeface="BIZ UDPGothic" pitchFamily="34" charset="-122"/>
                <a:cs typeface="BIZ UDPGothic" pitchFamily="34" charset="-120"/>
              </a:rPr>
              <a:t>なぜ給料が上がらないの？「ゾンビ企業」が原因</a:t>
            </a:r>
            <a:endParaRPr lang="en-US" sz="2600" dirty="0"/>
          </a:p>
        </p:txBody>
      </p:sp>
      <p:sp>
        <p:nvSpPr>
          <p:cNvPr id="4" name="Shape 2"/>
          <p:cNvSpPr/>
          <p:nvPr/>
        </p:nvSpPr>
        <p:spPr>
          <a:xfrm>
            <a:off x="457200" y="1261872"/>
            <a:ext cx="8229600" cy="22860"/>
          </a:xfrm>
          <a:prstGeom prst="rect">
            <a:avLst/>
          </a:prstGeom>
          <a:solidFill>
            <a:srgbClr val="DDE0E6"/>
          </a:solidFill>
          <a:ln/>
        </p:spPr>
      </p:sp>
      <p:sp>
        <p:nvSpPr>
          <p:cNvPr id="5" name="Text 3"/>
          <p:cNvSpPr/>
          <p:nvPr/>
        </p:nvSpPr>
        <p:spPr>
          <a:xfrm>
            <a:off x="457200" y="1417320"/>
            <a:ext cx="4114800" cy="347472"/>
          </a:xfrm>
          <a:prstGeom prst="rect">
            <a:avLst/>
          </a:prstGeom>
          <a:noFill/>
          <a:ln/>
        </p:spPr>
        <p:txBody>
          <a:bodyPr wrap="square" rtlCol="0" anchor="ctr"/>
          <a:lstStyle/>
          <a:p>
            <a:pPr indent="0" marL="0">
              <a:buNone/>
            </a:pPr>
            <a:r>
              <a:rPr lang="en-US" sz="1400" b="1" dirty="0">
                <a:solidFill>
                  <a:srgbClr val="C8161D"/>
                </a:solidFill>
                <a:latin typeface="Arial" pitchFamily="34" charset="0"/>
                <a:ea typeface="BIZ UDPGothic" pitchFamily="34" charset="-122"/>
                <a:cs typeface="BIZ UDPGothic" pitchFamily="34" charset="-120"/>
              </a:rPr>
              <a:t>ゾンビ企業って何？</a:t>
            </a:r>
            <a:endParaRPr lang="en-US" sz="1400" dirty="0"/>
          </a:p>
        </p:txBody>
      </p:sp>
      <p:sp>
        <p:nvSpPr>
          <p:cNvPr id="6" name="Text 4"/>
          <p:cNvSpPr/>
          <p:nvPr/>
        </p:nvSpPr>
        <p:spPr>
          <a:xfrm>
            <a:off x="457200" y="1828800"/>
            <a:ext cx="4114800" cy="1188720"/>
          </a:xfrm>
          <a:prstGeom prst="rect">
            <a:avLst/>
          </a:prstGeom>
          <a:noFill/>
          <a:ln/>
        </p:spPr>
        <p:txBody>
          <a:bodyPr wrap="square" rtlCol="0" anchor="ctr"/>
          <a:lstStyle/>
          <a:p>
            <a:pPr indent="0" marL="0">
              <a:lnSpc>
                <a:spcPct val="145000"/>
              </a:lnSpc>
              <a:buNone/>
            </a:pPr>
            <a:r>
              <a:rPr lang="en-US" sz="1300" dirty="0">
                <a:solidFill>
                  <a:srgbClr val="16181D"/>
                </a:solidFill>
                <a:latin typeface="Arial" pitchFamily="34" charset="0"/>
                <a:ea typeface="BIZ UDPGothic" pitchFamily="34" charset="-122"/>
                <a:cs typeface="BIZ UDPGothic" pitchFamily="34" charset="-120"/>
              </a:rPr>
              <a:t>本来なら潰れるべき</a:t>
            </a:r>
            <a:endParaRPr lang="en-US" sz="1300" dirty="0"/>
          </a:p>
          <a:p>
            <a:pPr indent="0" marL="0">
              <a:lnSpc>
                <a:spcPct val="145000"/>
              </a:lnSpc>
              <a:buNone/>
            </a:pPr>
            <a:r>
              <a:rPr lang="en-US" sz="1300" dirty="0">
                <a:solidFill>
                  <a:srgbClr val="16181D"/>
                </a:solidFill>
                <a:latin typeface="Arial" pitchFamily="34" charset="0"/>
                <a:ea typeface="BIZ UDPGothic" pitchFamily="34" charset="-122"/>
                <a:cs typeface="BIZ UDPGothic" pitchFamily="34" charset="-120"/>
              </a:rPr>
              <a:t>「稼げない会社」が、</a:t>
            </a:r>
            <a:endParaRPr lang="en-US" sz="1300" dirty="0"/>
          </a:p>
          <a:p>
            <a:pPr indent="0" marL="0">
              <a:lnSpc>
                <a:spcPct val="145000"/>
              </a:lnSpc>
              <a:buNone/>
            </a:pPr>
            <a:r>
              <a:rPr lang="en-US" sz="1300" dirty="0">
                <a:solidFill>
                  <a:srgbClr val="16181D"/>
                </a:solidFill>
                <a:latin typeface="Arial" pitchFamily="34" charset="0"/>
                <a:ea typeface="BIZ UDPGothic" pitchFamily="34" charset="-122"/>
                <a:cs typeface="BIZ UDPGothic" pitchFamily="34" charset="-120"/>
              </a:rPr>
              <a:t>国の補助金や低い利子のお金で</a:t>
            </a:r>
            <a:endParaRPr lang="en-US" sz="1300" dirty="0"/>
          </a:p>
          <a:p>
            <a:pPr indent="0" marL="0">
              <a:lnSpc>
                <a:spcPct val="145000"/>
              </a:lnSpc>
              <a:buNone/>
            </a:pPr>
            <a:r>
              <a:rPr lang="en-US" sz="1300" dirty="0">
                <a:solidFill>
                  <a:srgbClr val="16181D"/>
                </a:solidFill>
                <a:latin typeface="Arial" pitchFamily="34" charset="0"/>
                <a:ea typeface="BIZ UDPGothic" pitchFamily="34" charset="-122"/>
                <a:cs typeface="BIZ UDPGothic" pitchFamily="34" charset="-120"/>
              </a:rPr>
              <a:t>ずっと生き続けている会社のこと。</a:t>
            </a:r>
            <a:endParaRPr lang="en-US" sz="1300" dirty="0"/>
          </a:p>
        </p:txBody>
      </p:sp>
      <p:sp>
        <p:nvSpPr>
          <p:cNvPr id="7" name="Text 5"/>
          <p:cNvSpPr/>
          <p:nvPr/>
        </p:nvSpPr>
        <p:spPr>
          <a:xfrm>
            <a:off x="457200" y="3108960"/>
            <a:ext cx="4114800" cy="347472"/>
          </a:xfrm>
          <a:prstGeom prst="rect">
            <a:avLst/>
          </a:prstGeom>
          <a:noFill/>
          <a:ln/>
        </p:spPr>
        <p:txBody>
          <a:bodyPr wrap="square" rtlCol="0" anchor="ctr"/>
          <a:lstStyle/>
          <a:p>
            <a:pPr indent="0" marL="0">
              <a:buNone/>
            </a:pPr>
            <a:r>
              <a:rPr lang="en-US" sz="1400" b="1" dirty="0">
                <a:solidFill>
                  <a:srgbClr val="C8161D"/>
                </a:solidFill>
                <a:latin typeface="Arial" pitchFamily="34" charset="0"/>
                <a:ea typeface="BIZ UDPGothic" pitchFamily="34" charset="-122"/>
                <a:cs typeface="BIZ UDPGothic" pitchFamily="34" charset="-120"/>
              </a:rPr>
              <a:t>何が問題なの？</a:t>
            </a:r>
            <a:endParaRPr lang="en-US" sz="1400" dirty="0"/>
          </a:p>
        </p:txBody>
      </p:sp>
      <p:sp>
        <p:nvSpPr>
          <p:cNvPr id="8" name="Text 6"/>
          <p:cNvSpPr/>
          <p:nvPr/>
        </p:nvSpPr>
        <p:spPr>
          <a:xfrm>
            <a:off x="457200" y="3520440"/>
            <a:ext cx="4114800" cy="1417320"/>
          </a:xfrm>
          <a:prstGeom prst="rect">
            <a:avLst/>
          </a:prstGeom>
          <a:noFill/>
          <a:ln/>
        </p:spPr>
        <p:txBody>
          <a:bodyPr wrap="square" rtlCol="0" anchor="ctr"/>
          <a:lstStyle/>
          <a:p>
            <a:pPr indent="0" marL="0">
              <a:lnSpc>
                <a:spcPct val="145000"/>
              </a:lnSpc>
              <a:buNone/>
            </a:pPr>
            <a:r>
              <a:rPr lang="en-US" sz="1300" dirty="0">
                <a:solidFill>
                  <a:srgbClr val="16181D"/>
                </a:solidFill>
                <a:latin typeface="Arial" pitchFamily="34" charset="0"/>
                <a:ea typeface="BIZ UDPGothic" pitchFamily="34" charset="-122"/>
                <a:cs typeface="BIZ UDPGothic" pitchFamily="34" charset="-120"/>
              </a:rPr>
              <a:t>ゾンビ企業は低い給料しか払えない。</a:t>
            </a:r>
            <a:endParaRPr lang="en-US" sz="1300" dirty="0"/>
          </a:p>
          <a:p>
            <a:pPr indent="0" marL="0">
              <a:lnSpc>
                <a:spcPct val="145000"/>
              </a:lnSpc>
              <a:buNone/>
            </a:pPr>
            <a:r>
              <a:rPr lang="en-US" sz="1300" dirty="0">
                <a:solidFill>
                  <a:srgbClr val="16181D"/>
                </a:solidFill>
                <a:latin typeface="Arial" pitchFamily="34" charset="0"/>
                <a:ea typeface="BIZ UDPGothic" pitchFamily="34" charset="-122"/>
                <a:cs typeface="BIZ UDPGothic" pitchFamily="34" charset="-120"/>
              </a:rPr>
              <a:t>そこに働く人が増えると、</a:t>
            </a:r>
            <a:endParaRPr lang="en-US" sz="1300" dirty="0"/>
          </a:p>
          <a:p>
            <a:pPr indent="0" marL="0">
              <a:lnSpc>
                <a:spcPct val="145000"/>
              </a:lnSpc>
              <a:buNone/>
            </a:pPr>
            <a:r>
              <a:rPr lang="en-US" sz="1300" dirty="0">
                <a:solidFill>
                  <a:srgbClr val="16181D"/>
                </a:solidFill>
                <a:latin typeface="Arial" pitchFamily="34" charset="0"/>
                <a:ea typeface="BIZ UDPGothic" pitchFamily="34" charset="-122"/>
                <a:cs typeface="BIZ UDPGothic" pitchFamily="34" charset="-120"/>
              </a:rPr>
              <a:t>日本全体の給料の平均が下がる。</a:t>
            </a:r>
            <a:endParaRPr lang="en-US" sz="1300" dirty="0"/>
          </a:p>
          <a:p>
            <a:pPr indent="0" marL="0">
              <a:lnSpc>
                <a:spcPct val="145000"/>
              </a:lnSpc>
              <a:buNone/>
            </a:pPr>
            <a:r>
              <a:rPr lang="en-US" sz="1300" dirty="0">
                <a:solidFill>
                  <a:srgbClr val="16181D"/>
                </a:solidFill>
                <a:latin typeface="Arial" pitchFamily="34" charset="0"/>
                <a:ea typeface="BIZ UDPGothic" pitchFamily="34" charset="-122"/>
                <a:cs typeface="BIZ UDPGothic" pitchFamily="34" charset="-120"/>
              </a:rPr>
              <a:t>また補助金で毎年数兆円が</a:t>
            </a:r>
            <a:endParaRPr lang="en-US" sz="1300" dirty="0"/>
          </a:p>
          <a:p>
            <a:pPr indent="0" marL="0">
              <a:lnSpc>
                <a:spcPct val="145000"/>
              </a:lnSpc>
              <a:buNone/>
            </a:pPr>
            <a:r>
              <a:rPr lang="en-US" sz="1300" dirty="0">
                <a:solidFill>
                  <a:srgbClr val="16181D"/>
                </a:solidFill>
                <a:latin typeface="Arial" pitchFamily="34" charset="0"/>
                <a:ea typeface="BIZ UDPGothic" pitchFamily="34" charset="-122"/>
                <a:cs typeface="BIZ UDPGothic" pitchFamily="34" charset="-120"/>
              </a:rPr>
              <a:t>ムダになっている。</a:t>
            </a:r>
            <a:endParaRPr lang="en-US" sz="1300" dirty="0"/>
          </a:p>
        </p:txBody>
      </p:sp>
      <p:sp>
        <p:nvSpPr>
          <p:cNvPr id="9" name="Shape 7"/>
          <p:cNvSpPr/>
          <p:nvPr/>
        </p:nvSpPr>
        <p:spPr>
          <a:xfrm>
            <a:off x="4846320" y="1417320"/>
            <a:ext cx="3566160" cy="1417320"/>
          </a:xfrm>
          <a:prstGeom prst="roundRect">
            <a:avLst>
              <a:gd name="adj" fmla="val 6452"/>
            </a:avLst>
          </a:prstGeom>
          <a:solidFill>
            <a:srgbClr val="FFFFFF"/>
          </a:solidFill>
          <a:ln/>
          <a:effectLst>
            <a:outerShdw sx="100000" sy="100000" kx="0" ky="0" algn="bl" rotWithShape="0" blurRad="127000" dist="38100" dir="2700000">
              <a:srgbClr val="000000">
                <a:alpha val="35000"/>
              </a:srgbClr>
            </a:outerShdw>
          </a:effectLst>
        </p:spPr>
      </p:sp>
      <p:sp>
        <p:nvSpPr>
          <p:cNvPr id="10" name="Text 8"/>
          <p:cNvSpPr/>
          <p:nvPr/>
        </p:nvSpPr>
        <p:spPr>
          <a:xfrm>
            <a:off x="4846320" y="1527048"/>
            <a:ext cx="3566160" cy="680314"/>
          </a:xfrm>
          <a:prstGeom prst="rect">
            <a:avLst/>
          </a:prstGeom>
          <a:noFill/>
          <a:ln/>
        </p:spPr>
        <p:txBody>
          <a:bodyPr wrap="square" rtlCol="0" anchor="ctr"/>
          <a:lstStyle/>
          <a:p>
            <a:pPr algn="ctr" indent="0" marL="0">
              <a:buNone/>
            </a:pPr>
            <a:r>
              <a:rPr lang="en-US" sz="3600" b="1" dirty="0">
                <a:solidFill>
                  <a:srgbClr val="C8161D"/>
                </a:solidFill>
                <a:latin typeface="Arial" pitchFamily="34" charset="0"/>
                <a:ea typeface="BIZ UDPGothic" pitchFamily="34" charset="-122"/>
                <a:cs typeface="BIZ UDPGothic" pitchFamily="34" charset="-120"/>
              </a:rPr>
              <a:t>約30%</a:t>
            </a:r>
            <a:endParaRPr lang="en-US" sz="3600" dirty="0"/>
          </a:p>
        </p:txBody>
      </p:sp>
      <p:sp>
        <p:nvSpPr>
          <p:cNvPr id="11" name="Text 9"/>
          <p:cNvSpPr/>
          <p:nvPr/>
        </p:nvSpPr>
        <p:spPr>
          <a:xfrm>
            <a:off x="4846320" y="2211019"/>
            <a:ext cx="3566160" cy="329184"/>
          </a:xfrm>
          <a:prstGeom prst="rect">
            <a:avLst/>
          </a:prstGeom>
          <a:noFill/>
          <a:ln/>
        </p:spPr>
        <p:txBody>
          <a:bodyPr wrap="square" rtlCol="0" anchor="ctr"/>
          <a:lstStyle/>
          <a:p>
            <a:pPr algn="ctr" indent="0" marL="0">
              <a:buNone/>
            </a:pPr>
            <a:r>
              <a:rPr lang="en-US" sz="1200" b="1" dirty="0">
                <a:solidFill>
                  <a:srgbClr val="16181D"/>
                </a:solidFill>
                <a:latin typeface="Arial" pitchFamily="34" charset="0"/>
                <a:ea typeface="BIZ UDPGothic" pitchFamily="34" charset="-122"/>
                <a:cs typeface="BIZ UDPGothic" pitchFamily="34" charset="-120"/>
              </a:rPr>
              <a:t>中小企業の中の</a:t>
            </a:r>
            <a:endParaRPr lang="en-US" sz="1200" dirty="0"/>
          </a:p>
          <a:p>
            <a:pPr algn="ctr" indent="0" marL="0">
              <a:buNone/>
            </a:pPr>
            <a:r>
              <a:rPr lang="en-US" sz="1200" b="1" dirty="0">
                <a:solidFill>
                  <a:srgbClr val="16181D"/>
                </a:solidFill>
                <a:latin typeface="Arial" pitchFamily="34" charset="0"/>
                <a:ea typeface="BIZ UDPGothic" pitchFamily="34" charset="-122"/>
                <a:cs typeface="BIZ UDPGothic" pitchFamily="34" charset="-120"/>
              </a:rPr>
              <a:t>ゾンビ企業割合</a:t>
            </a:r>
            <a:endParaRPr lang="en-US" sz="1200" dirty="0"/>
          </a:p>
        </p:txBody>
      </p:sp>
      <p:sp>
        <p:nvSpPr>
          <p:cNvPr id="12" name="Shape 10"/>
          <p:cNvSpPr/>
          <p:nvPr/>
        </p:nvSpPr>
        <p:spPr>
          <a:xfrm>
            <a:off x="4846320" y="3017520"/>
            <a:ext cx="3566160" cy="1417320"/>
          </a:xfrm>
          <a:prstGeom prst="roundRect">
            <a:avLst>
              <a:gd name="adj" fmla="val 6452"/>
            </a:avLst>
          </a:prstGeom>
          <a:solidFill>
            <a:srgbClr val="FFFFFF"/>
          </a:solidFill>
          <a:ln/>
          <a:effectLst>
            <a:outerShdw sx="100000" sy="100000" kx="0" ky="0" algn="bl" rotWithShape="0" blurRad="127000" dist="38100" dir="2700000">
              <a:srgbClr val="000000">
                <a:alpha val="35000"/>
              </a:srgbClr>
            </a:outerShdw>
          </a:effectLst>
        </p:spPr>
      </p:sp>
      <p:sp>
        <p:nvSpPr>
          <p:cNvPr id="13" name="Text 11"/>
          <p:cNvSpPr/>
          <p:nvPr/>
        </p:nvSpPr>
        <p:spPr>
          <a:xfrm>
            <a:off x="4846320" y="3127248"/>
            <a:ext cx="3566160" cy="680314"/>
          </a:xfrm>
          <a:prstGeom prst="rect">
            <a:avLst/>
          </a:prstGeom>
          <a:noFill/>
          <a:ln/>
        </p:spPr>
        <p:txBody>
          <a:bodyPr wrap="square" rtlCol="0" anchor="ctr"/>
          <a:lstStyle/>
          <a:p>
            <a:pPr algn="ctr" indent="0" marL="0">
              <a:buNone/>
            </a:pPr>
            <a:r>
              <a:rPr lang="en-US" sz="3600" b="1" dirty="0">
                <a:solidFill>
                  <a:srgbClr val="C8161D"/>
                </a:solidFill>
                <a:latin typeface="Arial" pitchFamily="34" charset="0"/>
                <a:ea typeface="BIZ UDPGothic" pitchFamily="34" charset="-122"/>
                <a:cs typeface="BIZ UDPGothic" pitchFamily="34" charset="-120"/>
              </a:rPr>
              <a:t>数兆円/年</a:t>
            </a:r>
            <a:endParaRPr lang="en-US" sz="3600" dirty="0"/>
          </a:p>
        </p:txBody>
      </p:sp>
      <p:sp>
        <p:nvSpPr>
          <p:cNvPr id="14" name="Text 12"/>
          <p:cNvSpPr/>
          <p:nvPr/>
        </p:nvSpPr>
        <p:spPr>
          <a:xfrm>
            <a:off x="4846320" y="3811219"/>
            <a:ext cx="3566160" cy="329184"/>
          </a:xfrm>
          <a:prstGeom prst="rect">
            <a:avLst/>
          </a:prstGeom>
          <a:noFill/>
          <a:ln/>
        </p:spPr>
        <p:txBody>
          <a:bodyPr wrap="square" rtlCol="0" anchor="ctr"/>
          <a:lstStyle/>
          <a:p>
            <a:pPr algn="ctr" indent="0" marL="0">
              <a:buNone/>
            </a:pPr>
            <a:r>
              <a:rPr lang="en-US" sz="1200" b="1" dirty="0">
                <a:solidFill>
                  <a:srgbClr val="16181D"/>
                </a:solidFill>
                <a:latin typeface="Arial" pitchFamily="34" charset="0"/>
                <a:ea typeface="BIZ UDPGothic" pitchFamily="34" charset="-122"/>
                <a:cs typeface="BIZ UDPGothic" pitchFamily="34" charset="-120"/>
              </a:rPr>
              <a:t>ゾンビ企業に使われる</a:t>
            </a:r>
            <a:endParaRPr lang="en-US" sz="1200" dirty="0"/>
          </a:p>
          <a:p>
            <a:pPr algn="ctr" indent="0" marL="0">
              <a:buNone/>
            </a:pPr>
            <a:r>
              <a:rPr lang="en-US" sz="1200" b="1" dirty="0">
                <a:solidFill>
                  <a:srgbClr val="16181D"/>
                </a:solidFill>
                <a:latin typeface="Arial" pitchFamily="34" charset="0"/>
                <a:ea typeface="BIZ UDPGothic" pitchFamily="34" charset="-122"/>
                <a:cs typeface="BIZ UDPGothic" pitchFamily="34" charset="-120"/>
              </a:rPr>
              <a:t>補助金の規模</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rtlCol="0" anchor="ctr"/>
          <a:lstStyle/>
          <a:p>
            <a:pPr indent="0" marL="0">
              <a:buNone/>
            </a:pPr>
            <a:r>
              <a:rPr lang="en-US" sz="900" b="1" spc="300" kern="0" dirty="0">
                <a:solidFill>
                  <a:srgbClr val="C8161D"/>
                </a:solidFill>
                <a:latin typeface="Arial" pitchFamily="34" charset="0"/>
                <a:ea typeface="BIZ UDPGothic" pitchFamily="34" charset="-122"/>
                <a:cs typeface="BIZ UDPGothic" pitchFamily="34" charset="-120"/>
              </a:rPr>
              <a:t>問題提起 03 / 04</a:t>
            </a:r>
            <a:endParaRPr lang="en-US" sz="900" dirty="0"/>
          </a:p>
        </p:txBody>
      </p:sp>
      <p:sp>
        <p:nvSpPr>
          <p:cNvPr id="3" name="Text 1"/>
          <p:cNvSpPr/>
          <p:nvPr/>
        </p:nvSpPr>
        <p:spPr>
          <a:xfrm>
            <a:off x="457200" y="502920"/>
            <a:ext cx="8229600" cy="685800"/>
          </a:xfrm>
          <a:prstGeom prst="rect">
            <a:avLst/>
          </a:prstGeom>
          <a:noFill/>
          <a:ln/>
        </p:spPr>
        <p:txBody>
          <a:bodyPr wrap="square" rtlCol="0" anchor="ctr"/>
          <a:lstStyle/>
          <a:p>
            <a:pPr indent="0" marL="0">
              <a:buNone/>
            </a:pPr>
            <a:r>
              <a:rPr lang="en-US" sz="2600" b="1" dirty="0">
                <a:solidFill>
                  <a:srgbClr val="16181D"/>
                </a:solidFill>
                <a:latin typeface="Arial" pitchFamily="34" charset="0"/>
                <a:ea typeface="BIZ UDPGothic" pitchFamily="34" charset="-122"/>
                <a:cs typeface="BIZ UDPGothic" pitchFamily="34" charset="-120"/>
              </a:rPr>
              <a:t>もう一つの問題：「制度のバグ」が働く人を損させている</a:t>
            </a:r>
            <a:endParaRPr lang="en-US" sz="2600" dirty="0"/>
          </a:p>
        </p:txBody>
      </p:sp>
      <p:sp>
        <p:nvSpPr>
          <p:cNvPr id="4" name="Shape 2"/>
          <p:cNvSpPr/>
          <p:nvPr/>
        </p:nvSpPr>
        <p:spPr>
          <a:xfrm>
            <a:off x="457200" y="1261872"/>
            <a:ext cx="8229600" cy="22860"/>
          </a:xfrm>
          <a:prstGeom prst="rect">
            <a:avLst/>
          </a:prstGeom>
          <a:solidFill>
            <a:srgbClr val="DDE0E6"/>
          </a:solidFill>
          <a:ln/>
        </p:spPr>
      </p:sp>
      <p:sp>
        <p:nvSpPr>
          <p:cNvPr id="5" name="Shape 3"/>
          <p:cNvSpPr/>
          <p:nvPr/>
        </p:nvSpPr>
        <p:spPr>
          <a:xfrm>
            <a:off x="457200" y="1417320"/>
            <a:ext cx="2651760" cy="3520440"/>
          </a:xfrm>
          <a:prstGeom prst="roundRect">
            <a:avLst>
              <a:gd name="adj" fmla="val 3448"/>
            </a:avLst>
          </a:prstGeom>
          <a:solidFill>
            <a:srgbClr val="FFFFFF"/>
          </a:solidFill>
          <a:ln/>
          <a:effectLst>
            <a:outerShdw sx="100000" sy="100000" kx="0" ky="0" algn="bl" rotWithShape="0" blurRad="127000" dist="38100" dir="2700000">
              <a:srgbClr val="000000">
                <a:alpha val="35000"/>
              </a:srgbClr>
            </a:outerShdw>
          </a:effectLst>
        </p:spPr>
      </p:sp>
      <p:sp>
        <p:nvSpPr>
          <p:cNvPr id="6" name="Text 4"/>
          <p:cNvSpPr/>
          <p:nvPr/>
        </p:nvSpPr>
        <p:spPr>
          <a:xfrm>
            <a:off x="640080" y="1536192"/>
            <a:ext cx="2286000" cy="384048"/>
          </a:xfrm>
          <a:prstGeom prst="rect">
            <a:avLst/>
          </a:prstGeom>
          <a:noFill/>
          <a:ln/>
        </p:spPr>
        <p:txBody>
          <a:bodyPr wrap="square" rtlCol="0" anchor="ctr"/>
          <a:lstStyle/>
          <a:p>
            <a:pPr indent="0" marL="0">
              <a:buNone/>
            </a:pPr>
            <a:r>
              <a:rPr lang="en-US" sz="2400" b="1" dirty="0">
                <a:solidFill>
                  <a:srgbClr val="C8161D"/>
                </a:solidFill>
                <a:latin typeface="Arial" pitchFamily="34" charset="0"/>
                <a:ea typeface="BIZ UDPGothic" pitchFamily="34" charset="-122"/>
                <a:cs typeface="BIZ UDPGothic" pitchFamily="34" charset="-120"/>
              </a:rPr>
              <a:t>バグ①</a:t>
            </a:r>
            <a:endParaRPr lang="en-US" sz="2400" dirty="0"/>
          </a:p>
        </p:txBody>
      </p:sp>
      <p:sp>
        <p:nvSpPr>
          <p:cNvPr id="7" name="Text 5"/>
          <p:cNvSpPr/>
          <p:nvPr/>
        </p:nvSpPr>
        <p:spPr>
          <a:xfrm>
            <a:off x="640080" y="1965960"/>
            <a:ext cx="2286000" cy="384048"/>
          </a:xfrm>
          <a:prstGeom prst="rect">
            <a:avLst/>
          </a:prstGeom>
          <a:noFill/>
          <a:ln/>
        </p:spPr>
        <p:txBody>
          <a:bodyPr wrap="square" rtlCol="0" anchor="ctr"/>
          <a:lstStyle/>
          <a:p>
            <a:pPr indent="0" marL="0">
              <a:buNone/>
            </a:pPr>
            <a:r>
              <a:rPr lang="en-US" sz="1200" b="1" dirty="0">
                <a:solidFill>
                  <a:srgbClr val="16181D"/>
                </a:solidFill>
                <a:latin typeface="Arial" pitchFamily="34" charset="0"/>
                <a:ea typeface="BIZ UDPGothic" pitchFamily="34" charset="-122"/>
                <a:cs typeface="BIZ UDPGothic" pitchFamily="34" charset="-120"/>
              </a:rPr>
              <a:t>働くと損する生活保護</a:t>
            </a:r>
            <a:endParaRPr lang="en-US" sz="1200" dirty="0"/>
          </a:p>
        </p:txBody>
      </p:sp>
      <p:sp>
        <p:nvSpPr>
          <p:cNvPr id="8" name="Shape 6"/>
          <p:cNvSpPr/>
          <p:nvPr/>
        </p:nvSpPr>
        <p:spPr>
          <a:xfrm>
            <a:off x="640080" y="2395728"/>
            <a:ext cx="2286000" cy="22860"/>
          </a:xfrm>
          <a:prstGeom prst="rect">
            <a:avLst/>
          </a:prstGeom>
          <a:solidFill>
            <a:srgbClr val="DDE0E6"/>
          </a:solidFill>
          <a:ln/>
        </p:spPr>
      </p:sp>
      <p:sp>
        <p:nvSpPr>
          <p:cNvPr id="9" name="Text 7"/>
          <p:cNvSpPr/>
          <p:nvPr/>
        </p:nvSpPr>
        <p:spPr>
          <a:xfrm>
            <a:off x="640080" y="2487168"/>
            <a:ext cx="2286000" cy="2286000"/>
          </a:xfrm>
          <a:prstGeom prst="rect">
            <a:avLst/>
          </a:prstGeom>
          <a:noFill/>
          <a:ln/>
        </p:spPr>
        <p:txBody>
          <a:bodyPr wrap="square" rtlCol="0" anchor="ctr"/>
          <a:lstStyle/>
          <a:p>
            <a:pPr indent="0" marL="0">
              <a:lnSpc>
                <a:spcPct val="140000"/>
              </a:lnSpc>
              <a:buNone/>
            </a:pPr>
            <a:r>
              <a:rPr lang="en-US" sz="1100" dirty="0">
                <a:solidFill>
                  <a:srgbClr val="16181D"/>
                </a:solidFill>
                <a:latin typeface="Arial" pitchFamily="34" charset="0"/>
                <a:ea typeface="BIZ UDPGothic" pitchFamily="34" charset="-122"/>
                <a:cs typeface="BIZ UDPGothic" pitchFamily="34" charset="-120"/>
              </a:rPr>
              <a:t>生活保護をもらっている人がアルバイトをすると、その分だけ保護費が減ってしまう。だから「働かない方が得」になってしまっている。</a:t>
            </a:r>
            <a:endParaRPr lang="en-US" sz="1100" dirty="0"/>
          </a:p>
        </p:txBody>
      </p:sp>
      <p:sp>
        <p:nvSpPr>
          <p:cNvPr id="10" name="Shape 8"/>
          <p:cNvSpPr/>
          <p:nvPr/>
        </p:nvSpPr>
        <p:spPr>
          <a:xfrm>
            <a:off x="3291840" y="1417320"/>
            <a:ext cx="2651760" cy="3520440"/>
          </a:xfrm>
          <a:prstGeom prst="roundRect">
            <a:avLst>
              <a:gd name="adj" fmla="val 3448"/>
            </a:avLst>
          </a:prstGeom>
          <a:solidFill>
            <a:srgbClr val="FFFFFF"/>
          </a:solidFill>
          <a:ln/>
          <a:effectLst>
            <a:outerShdw sx="100000" sy="100000" kx="0" ky="0" algn="bl" rotWithShape="0" blurRad="127000" dist="38100" dir="2700000">
              <a:srgbClr val="000000">
                <a:alpha val="35000"/>
              </a:srgbClr>
            </a:outerShdw>
          </a:effectLst>
        </p:spPr>
      </p:sp>
      <p:sp>
        <p:nvSpPr>
          <p:cNvPr id="11" name="Text 9"/>
          <p:cNvSpPr/>
          <p:nvPr/>
        </p:nvSpPr>
        <p:spPr>
          <a:xfrm>
            <a:off x="3474720" y="1536192"/>
            <a:ext cx="2286000" cy="384048"/>
          </a:xfrm>
          <a:prstGeom prst="rect">
            <a:avLst/>
          </a:prstGeom>
          <a:noFill/>
          <a:ln/>
        </p:spPr>
        <p:txBody>
          <a:bodyPr wrap="square" rtlCol="0" anchor="ctr"/>
          <a:lstStyle/>
          <a:p>
            <a:pPr indent="0" marL="0">
              <a:buNone/>
            </a:pPr>
            <a:r>
              <a:rPr lang="en-US" sz="2400" b="1" dirty="0">
                <a:solidFill>
                  <a:srgbClr val="C8161D"/>
                </a:solidFill>
                <a:latin typeface="Arial" pitchFamily="34" charset="0"/>
                <a:ea typeface="BIZ UDPGothic" pitchFamily="34" charset="-122"/>
                <a:cs typeface="BIZ UDPGothic" pitchFamily="34" charset="-120"/>
              </a:rPr>
              <a:t>バグ②</a:t>
            </a:r>
            <a:endParaRPr lang="en-US" sz="2400" dirty="0"/>
          </a:p>
        </p:txBody>
      </p:sp>
      <p:sp>
        <p:nvSpPr>
          <p:cNvPr id="12" name="Text 10"/>
          <p:cNvSpPr/>
          <p:nvPr/>
        </p:nvSpPr>
        <p:spPr>
          <a:xfrm>
            <a:off x="3474720" y="1965960"/>
            <a:ext cx="2286000" cy="384048"/>
          </a:xfrm>
          <a:prstGeom prst="rect">
            <a:avLst/>
          </a:prstGeom>
          <a:noFill/>
          <a:ln/>
        </p:spPr>
        <p:txBody>
          <a:bodyPr wrap="square" rtlCol="0" anchor="ctr"/>
          <a:lstStyle/>
          <a:p>
            <a:pPr indent="0" marL="0">
              <a:buNone/>
            </a:pPr>
            <a:r>
              <a:rPr lang="en-US" sz="1200" b="1" dirty="0">
                <a:solidFill>
                  <a:srgbClr val="16181D"/>
                </a:solidFill>
                <a:latin typeface="Arial" pitchFamily="34" charset="0"/>
                <a:ea typeface="BIZ UDPGothic" pitchFamily="34" charset="-122"/>
                <a:cs typeface="BIZ UDPGothic" pitchFamily="34" charset="-120"/>
              </a:rPr>
              <a:t>失業給付が半年で終わる</a:t>
            </a:r>
            <a:endParaRPr lang="en-US" sz="1200" dirty="0"/>
          </a:p>
        </p:txBody>
      </p:sp>
      <p:sp>
        <p:nvSpPr>
          <p:cNvPr id="13" name="Shape 11"/>
          <p:cNvSpPr/>
          <p:nvPr/>
        </p:nvSpPr>
        <p:spPr>
          <a:xfrm>
            <a:off x="3474720" y="2395728"/>
            <a:ext cx="2286000" cy="22860"/>
          </a:xfrm>
          <a:prstGeom prst="rect">
            <a:avLst/>
          </a:prstGeom>
          <a:solidFill>
            <a:srgbClr val="DDE0E6"/>
          </a:solidFill>
          <a:ln/>
        </p:spPr>
      </p:sp>
      <p:sp>
        <p:nvSpPr>
          <p:cNvPr id="14" name="Text 12"/>
          <p:cNvSpPr/>
          <p:nvPr/>
        </p:nvSpPr>
        <p:spPr>
          <a:xfrm>
            <a:off x="3474720" y="2487168"/>
            <a:ext cx="2286000" cy="2286000"/>
          </a:xfrm>
          <a:prstGeom prst="rect">
            <a:avLst/>
          </a:prstGeom>
          <a:noFill/>
          <a:ln/>
        </p:spPr>
        <p:txBody>
          <a:bodyPr wrap="square" rtlCol="0" anchor="ctr"/>
          <a:lstStyle/>
          <a:p>
            <a:pPr indent="0" marL="0">
              <a:lnSpc>
                <a:spcPct val="140000"/>
              </a:lnSpc>
              <a:buNone/>
            </a:pPr>
            <a:r>
              <a:rPr lang="en-US" sz="1100" dirty="0">
                <a:solidFill>
                  <a:srgbClr val="16181D"/>
                </a:solidFill>
                <a:latin typeface="Arial" pitchFamily="34" charset="0"/>
                <a:ea typeface="BIZ UDPGothic" pitchFamily="34" charset="-122"/>
                <a:cs typeface="BIZ UDPGothic" pitchFamily="34" charset="-120"/>
              </a:rPr>
              <a:t>日本の失業給付は最長でも約11ヶ月。転職や学び直しをするには短すぎて、結局また低い給料の仕事に戻るしかない。</a:t>
            </a:r>
            <a:endParaRPr lang="en-US" sz="1100" dirty="0"/>
          </a:p>
        </p:txBody>
      </p:sp>
      <p:sp>
        <p:nvSpPr>
          <p:cNvPr id="15" name="Shape 13"/>
          <p:cNvSpPr/>
          <p:nvPr/>
        </p:nvSpPr>
        <p:spPr>
          <a:xfrm>
            <a:off x="6126480" y="1417320"/>
            <a:ext cx="2651760" cy="3520440"/>
          </a:xfrm>
          <a:prstGeom prst="roundRect">
            <a:avLst>
              <a:gd name="adj" fmla="val 3448"/>
            </a:avLst>
          </a:prstGeom>
          <a:solidFill>
            <a:srgbClr val="FFFFFF"/>
          </a:solidFill>
          <a:ln/>
          <a:effectLst>
            <a:outerShdw sx="100000" sy="100000" kx="0" ky="0" algn="bl" rotWithShape="0" blurRad="127000" dist="38100" dir="2700000">
              <a:srgbClr val="000000">
                <a:alpha val="35000"/>
              </a:srgbClr>
            </a:outerShdw>
          </a:effectLst>
        </p:spPr>
      </p:sp>
      <p:sp>
        <p:nvSpPr>
          <p:cNvPr id="16" name="Text 14"/>
          <p:cNvSpPr/>
          <p:nvPr/>
        </p:nvSpPr>
        <p:spPr>
          <a:xfrm>
            <a:off x="6309360" y="1536192"/>
            <a:ext cx="2286000" cy="384048"/>
          </a:xfrm>
          <a:prstGeom prst="rect">
            <a:avLst/>
          </a:prstGeom>
          <a:noFill/>
          <a:ln/>
        </p:spPr>
        <p:txBody>
          <a:bodyPr wrap="square" rtlCol="0" anchor="ctr"/>
          <a:lstStyle/>
          <a:p>
            <a:pPr indent="0" marL="0">
              <a:buNone/>
            </a:pPr>
            <a:r>
              <a:rPr lang="en-US" sz="2400" b="1" dirty="0">
                <a:solidFill>
                  <a:srgbClr val="C8161D"/>
                </a:solidFill>
                <a:latin typeface="Arial" pitchFamily="34" charset="0"/>
                <a:ea typeface="BIZ UDPGothic" pitchFamily="34" charset="-122"/>
                <a:cs typeface="BIZ UDPGothic" pitchFamily="34" charset="-120"/>
              </a:rPr>
              <a:t>バグ③</a:t>
            </a:r>
            <a:endParaRPr lang="en-US" sz="2400" dirty="0"/>
          </a:p>
        </p:txBody>
      </p:sp>
      <p:sp>
        <p:nvSpPr>
          <p:cNvPr id="17" name="Text 15"/>
          <p:cNvSpPr/>
          <p:nvPr/>
        </p:nvSpPr>
        <p:spPr>
          <a:xfrm>
            <a:off x="6309360" y="1965960"/>
            <a:ext cx="2286000" cy="384048"/>
          </a:xfrm>
          <a:prstGeom prst="rect">
            <a:avLst/>
          </a:prstGeom>
          <a:noFill/>
          <a:ln/>
        </p:spPr>
        <p:txBody>
          <a:bodyPr wrap="square" rtlCol="0" anchor="ctr"/>
          <a:lstStyle/>
          <a:p>
            <a:pPr indent="0" marL="0">
              <a:buNone/>
            </a:pPr>
            <a:r>
              <a:rPr lang="en-US" sz="1200" b="1" dirty="0">
                <a:solidFill>
                  <a:srgbClr val="16181D"/>
                </a:solidFill>
                <a:latin typeface="Arial" pitchFamily="34" charset="0"/>
                <a:ea typeface="BIZ UDPGothic" pitchFamily="34" charset="-122"/>
                <a:cs typeface="BIZ UDPGothic" pitchFamily="34" charset="-120"/>
              </a:rPr>
              <a:t>頑張ると税金が増える</a:t>
            </a:r>
            <a:endParaRPr lang="en-US" sz="1200" dirty="0"/>
          </a:p>
        </p:txBody>
      </p:sp>
      <p:sp>
        <p:nvSpPr>
          <p:cNvPr id="18" name="Shape 16"/>
          <p:cNvSpPr/>
          <p:nvPr/>
        </p:nvSpPr>
        <p:spPr>
          <a:xfrm>
            <a:off x="6309360" y="2395728"/>
            <a:ext cx="2286000" cy="22860"/>
          </a:xfrm>
          <a:prstGeom prst="rect">
            <a:avLst/>
          </a:prstGeom>
          <a:solidFill>
            <a:srgbClr val="DDE0E6"/>
          </a:solidFill>
          <a:ln/>
        </p:spPr>
      </p:sp>
      <p:sp>
        <p:nvSpPr>
          <p:cNvPr id="19" name="Text 17"/>
          <p:cNvSpPr/>
          <p:nvPr/>
        </p:nvSpPr>
        <p:spPr>
          <a:xfrm>
            <a:off x="6309360" y="2487168"/>
            <a:ext cx="2286000" cy="2286000"/>
          </a:xfrm>
          <a:prstGeom prst="rect">
            <a:avLst/>
          </a:prstGeom>
          <a:noFill/>
          <a:ln/>
        </p:spPr>
        <p:txBody>
          <a:bodyPr wrap="square" rtlCol="0" anchor="ctr"/>
          <a:lstStyle/>
          <a:p>
            <a:pPr indent="0" marL="0">
              <a:lnSpc>
                <a:spcPct val="140000"/>
              </a:lnSpc>
              <a:buNone/>
            </a:pPr>
            <a:r>
              <a:rPr lang="en-US" sz="1100" dirty="0">
                <a:solidFill>
                  <a:srgbClr val="16181D"/>
                </a:solidFill>
                <a:latin typeface="Arial" pitchFamily="34" charset="0"/>
                <a:ea typeface="BIZ UDPGothic" pitchFamily="34" charset="-122"/>
                <a:cs typeface="BIZ UDPGothic" pitchFamily="34" charset="-120"/>
              </a:rPr>
              <a:t>収入が増えるほど税率が上がる「累進課税」。残業したり副業したりすると、稼いだお金の多くが税金で消えてしまう。</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rtlCol="0" anchor="ctr"/>
          <a:lstStyle/>
          <a:p>
            <a:pPr indent="0" marL="0">
              <a:buNone/>
            </a:pPr>
            <a:r>
              <a:rPr lang="en-US" sz="900" b="1" spc="300" kern="0" dirty="0">
                <a:solidFill>
                  <a:srgbClr val="C8161D"/>
                </a:solidFill>
                <a:latin typeface="Arial" pitchFamily="34" charset="0"/>
                <a:ea typeface="BIZ UDPGothic" pitchFamily="34" charset="-122"/>
                <a:cs typeface="BIZ UDPGothic" pitchFamily="34" charset="-120"/>
              </a:rPr>
              <a:t>問題提起 04 / 04</a:t>
            </a:r>
            <a:endParaRPr lang="en-US" sz="900" dirty="0"/>
          </a:p>
        </p:txBody>
      </p:sp>
      <p:sp>
        <p:nvSpPr>
          <p:cNvPr id="3" name="Text 1"/>
          <p:cNvSpPr/>
          <p:nvPr/>
        </p:nvSpPr>
        <p:spPr>
          <a:xfrm>
            <a:off x="457200" y="502920"/>
            <a:ext cx="8229600" cy="685800"/>
          </a:xfrm>
          <a:prstGeom prst="rect">
            <a:avLst/>
          </a:prstGeom>
          <a:noFill/>
          <a:ln/>
        </p:spPr>
        <p:txBody>
          <a:bodyPr wrap="square" rtlCol="0" anchor="ctr"/>
          <a:lstStyle/>
          <a:p>
            <a:pPr indent="0" marL="0">
              <a:buNone/>
            </a:pPr>
            <a:r>
              <a:rPr lang="en-US" sz="3400" b="1" dirty="0">
                <a:solidFill>
                  <a:srgbClr val="16181D"/>
                </a:solidFill>
                <a:latin typeface="Arial" pitchFamily="34" charset="0"/>
                <a:ea typeface="BIZ UDPGothic" pitchFamily="34" charset="-122"/>
                <a:cs typeface="BIZ UDPGothic" pitchFamily="34" charset="-120"/>
              </a:rPr>
              <a:t>このプランで何を変える？6つの改革</a:t>
            </a:r>
            <a:endParaRPr lang="en-US" sz="3400" dirty="0"/>
          </a:p>
        </p:txBody>
      </p:sp>
      <p:sp>
        <p:nvSpPr>
          <p:cNvPr id="4" name="Shape 2"/>
          <p:cNvSpPr/>
          <p:nvPr/>
        </p:nvSpPr>
        <p:spPr>
          <a:xfrm>
            <a:off x="457200" y="1261872"/>
            <a:ext cx="8229600" cy="22860"/>
          </a:xfrm>
          <a:prstGeom prst="rect">
            <a:avLst/>
          </a:prstGeom>
          <a:solidFill>
            <a:srgbClr val="DDE0E6"/>
          </a:solidFill>
          <a:ln/>
        </p:spPr>
      </p:sp>
      <p:sp>
        <p:nvSpPr>
          <p:cNvPr id="5" name="Text 3"/>
          <p:cNvSpPr/>
          <p:nvPr/>
        </p:nvSpPr>
        <p:spPr>
          <a:xfrm>
            <a:off x="457200" y="1353312"/>
            <a:ext cx="8229600" cy="320040"/>
          </a:xfrm>
          <a:prstGeom prst="rect">
            <a:avLst/>
          </a:prstGeom>
          <a:noFill/>
          <a:ln/>
        </p:spPr>
        <p:txBody>
          <a:bodyPr wrap="square" rtlCol="0" anchor="ctr"/>
          <a:lstStyle/>
          <a:p>
            <a:pPr indent="0" marL="0">
              <a:buNone/>
            </a:pPr>
            <a:r>
              <a:rPr lang="en-US" sz="1200" dirty="0">
                <a:solidFill>
                  <a:srgbClr val="4B515C"/>
                </a:solidFill>
                <a:latin typeface="Arial" pitchFamily="34" charset="0"/>
                <a:ea typeface="BIZ UDPGothic" pitchFamily="34" charset="-122"/>
                <a:cs typeface="BIZ UDPGothic" pitchFamily="34" charset="-120"/>
              </a:rPr>
              <a:t>すべてがインフレに連動して自動調整される設計</a:t>
            </a:r>
            <a:endParaRPr lang="en-US" sz="1200" dirty="0"/>
          </a:p>
        </p:txBody>
      </p:sp>
      <p:sp>
        <p:nvSpPr>
          <p:cNvPr id="6" name="Shape 4"/>
          <p:cNvSpPr/>
          <p:nvPr/>
        </p:nvSpPr>
        <p:spPr>
          <a:xfrm>
            <a:off x="457200" y="1783080"/>
            <a:ext cx="2651760" cy="1371600"/>
          </a:xfrm>
          <a:prstGeom prst="roundRect">
            <a:avLst>
              <a:gd name="adj" fmla="val 6667"/>
            </a:avLst>
          </a:prstGeom>
          <a:solidFill>
            <a:srgbClr val="C8161D"/>
          </a:solidFill>
          <a:ln/>
          <a:effectLst>
            <a:outerShdw sx="100000" sy="100000" kx="0" ky="0" algn="bl" rotWithShape="0" blurRad="127000" dist="38100" dir="2700000">
              <a:srgbClr val="000000">
                <a:alpha val="35000"/>
              </a:srgbClr>
            </a:outerShdw>
          </a:effectLst>
        </p:spPr>
      </p:sp>
      <p:sp>
        <p:nvSpPr>
          <p:cNvPr id="7" name="Text 5"/>
          <p:cNvSpPr/>
          <p:nvPr/>
        </p:nvSpPr>
        <p:spPr>
          <a:xfrm>
            <a:off x="621792" y="1892808"/>
            <a:ext cx="548640" cy="41148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BIZ UDPGothic" pitchFamily="34" charset="-122"/>
                <a:cs typeface="BIZ UDPGothic" pitchFamily="34" charset="-120"/>
              </a:rPr>
              <a:t>①</a:t>
            </a:r>
            <a:endParaRPr lang="en-US" sz="2200" dirty="0"/>
          </a:p>
        </p:txBody>
      </p:sp>
      <p:sp>
        <p:nvSpPr>
          <p:cNvPr id="8" name="Text 6"/>
          <p:cNvSpPr/>
          <p:nvPr/>
        </p:nvSpPr>
        <p:spPr>
          <a:xfrm>
            <a:off x="621792" y="2286000"/>
            <a:ext cx="2331720" cy="731520"/>
          </a:xfrm>
          <a:prstGeom prst="rect">
            <a:avLst/>
          </a:prstGeom>
          <a:noFill/>
          <a:ln/>
        </p:spPr>
        <p:txBody>
          <a:bodyPr wrap="square" rtlCol="0" anchor="ctr"/>
          <a:lstStyle/>
          <a:p>
            <a:pPr indent="0" marL="0">
              <a:lnSpc>
                <a:spcPct val="120000"/>
              </a:lnSpc>
              <a:buNone/>
            </a:pPr>
            <a:r>
              <a:rPr lang="en-US" sz="1500" b="1" dirty="0">
                <a:solidFill>
                  <a:srgbClr val="FFFFFF"/>
                </a:solidFill>
                <a:latin typeface="Arial" pitchFamily="34" charset="0"/>
                <a:ea typeface="BIZ UDPGothic" pitchFamily="34" charset="-122"/>
                <a:cs typeface="BIZ UDPGothic" pitchFamily="34" charset="-120"/>
              </a:rPr>
              <a:t>最低賃金</a:t>
            </a:r>
            <a:endParaRPr lang="en-US" sz="1500" dirty="0"/>
          </a:p>
          <a:p>
            <a:pPr indent="0" marL="0">
              <a:lnSpc>
                <a:spcPct val="120000"/>
              </a:lnSpc>
              <a:buNone/>
            </a:pPr>
            <a:r>
              <a:rPr lang="en-US" sz="1500" b="1" dirty="0">
                <a:solidFill>
                  <a:srgbClr val="FFFFFF"/>
                </a:solidFill>
                <a:latin typeface="Arial" pitchFamily="34" charset="0"/>
                <a:ea typeface="BIZ UDPGothic" pitchFamily="34" charset="-122"/>
                <a:cs typeface="BIZ UDPGothic" pitchFamily="34" charset="-120"/>
              </a:rPr>
              <a:t>2,000円</a:t>
            </a:r>
            <a:endParaRPr lang="en-US" sz="1500" dirty="0"/>
          </a:p>
        </p:txBody>
      </p:sp>
      <p:sp>
        <p:nvSpPr>
          <p:cNvPr id="9" name="Shape 7"/>
          <p:cNvSpPr/>
          <p:nvPr/>
        </p:nvSpPr>
        <p:spPr>
          <a:xfrm>
            <a:off x="3291840" y="1783080"/>
            <a:ext cx="2651760" cy="1371600"/>
          </a:xfrm>
          <a:prstGeom prst="roundRect">
            <a:avLst>
              <a:gd name="adj" fmla="val 6667"/>
            </a:avLst>
          </a:prstGeom>
          <a:solidFill>
            <a:srgbClr val="FFFFFF"/>
          </a:solidFill>
          <a:ln/>
          <a:effectLst>
            <a:outerShdw sx="100000" sy="100000" kx="0" ky="0" algn="bl" rotWithShape="0" blurRad="127000" dist="38100" dir="2700000">
              <a:srgbClr val="000000">
                <a:alpha val="35000"/>
              </a:srgbClr>
            </a:outerShdw>
          </a:effectLst>
        </p:spPr>
      </p:sp>
      <p:sp>
        <p:nvSpPr>
          <p:cNvPr id="10" name="Text 8"/>
          <p:cNvSpPr/>
          <p:nvPr/>
        </p:nvSpPr>
        <p:spPr>
          <a:xfrm>
            <a:off x="3456432" y="1892808"/>
            <a:ext cx="548640" cy="411480"/>
          </a:xfrm>
          <a:prstGeom prst="rect">
            <a:avLst/>
          </a:prstGeom>
          <a:noFill/>
          <a:ln/>
        </p:spPr>
        <p:txBody>
          <a:bodyPr wrap="square" rtlCol="0" anchor="ctr"/>
          <a:lstStyle/>
          <a:p>
            <a:pPr indent="0" marL="0">
              <a:buNone/>
            </a:pPr>
            <a:r>
              <a:rPr lang="en-US" sz="2200" b="1" dirty="0">
                <a:solidFill>
                  <a:srgbClr val="C8161D"/>
                </a:solidFill>
                <a:latin typeface="Arial" pitchFamily="34" charset="0"/>
                <a:ea typeface="BIZ UDPGothic" pitchFamily="34" charset="-122"/>
                <a:cs typeface="BIZ UDPGothic" pitchFamily="34" charset="-120"/>
              </a:rPr>
              <a:t>②</a:t>
            </a:r>
            <a:endParaRPr lang="en-US" sz="2200" dirty="0"/>
          </a:p>
        </p:txBody>
      </p:sp>
      <p:sp>
        <p:nvSpPr>
          <p:cNvPr id="11" name="Text 9"/>
          <p:cNvSpPr/>
          <p:nvPr/>
        </p:nvSpPr>
        <p:spPr>
          <a:xfrm>
            <a:off x="3456432" y="2286000"/>
            <a:ext cx="2331720" cy="731520"/>
          </a:xfrm>
          <a:prstGeom prst="rect">
            <a:avLst/>
          </a:prstGeom>
          <a:noFill/>
          <a:ln/>
        </p:spPr>
        <p:txBody>
          <a:bodyPr wrap="square" rtlCol="0" anchor="ctr"/>
          <a:lstStyle/>
          <a:p>
            <a:pPr indent="0" marL="0">
              <a:lnSpc>
                <a:spcPct val="120000"/>
              </a:lnSpc>
              <a:buNone/>
            </a:pPr>
            <a:r>
              <a:rPr lang="en-US" sz="1500" b="1" dirty="0">
                <a:solidFill>
                  <a:srgbClr val="16181D"/>
                </a:solidFill>
                <a:latin typeface="Arial" pitchFamily="34" charset="0"/>
                <a:ea typeface="BIZ UDPGothic" pitchFamily="34" charset="-122"/>
                <a:cs typeface="BIZ UDPGothic" pitchFamily="34" charset="-120"/>
              </a:rPr>
              <a:t>税金を</a:t>
            </a:r>
            <a:endParaRPr lang="en-US" sz="1500" dirty="0"/>
          </a:p>
          <a:p>
            <a:pPr indent="0" marL="0">
              <a:lnSpc>
                <a:spcPct val="120000"/>
              </a:lnSpc>
              <a:buNone/>
            </a:pPr>
            <a:r>
              <a:rPr lang="en-US" sz="1500" b="1" dirty="0">
                <a:solidFill>
                  <a:srgbClr val="16181D"/>
                </a:solidFill>
                <a:latin typeface="Arial" pitchFamily="34" charset="0"/>
                <a:ea typeface="BIZ UDPGothic" pitchFamily="34" charset="-122"/>
                <a:cs typeface="BIZ UDPGothic" pitchFamily="34" charset="-120"/>
              </a:rPr>
              <a:t>フラットに</a:t>
            </a:r>
            <a:endParaRPr lang="en-US" sz="1500" dirty="0"/>
          </a:p>
        </p:txBody>
      </p:sp>
      <p:sp>
        <p:nvSpPr>
          <p:cNvPr id="12" name="Shape 10"/>
          <p:cNvSpPr/>
          <p:nvPr/>
        </p:nvSpPr>
        <p:spPr>
          <a:xfrm>
            <a:off x="6126480" y="1783080"/>
            <a:ext cx="2651760" cy="1371600"/>
          </a:xfrm>
          <a:prstGeom prst="roundRect">
            <a:avLst>
              <a:gd name="adj" fmla="val 6667"/>
            </a:avLst>
          </a:prstGeom>
          <a:solidFill>
            <a:srgbClr val="FFFFFF"/>
          </a:solidFill>
          <a:ln/>
          <a:effectLst>
            <a:outerShdw sx="100000" sy="100000" kx="0" ky="0" algn="bl" rotWithShape="0" blurRad="127000" dist="38100" dir="2700000">
              <a:srgbClr val="000000">
                <a:alpha val="35000"/>
              </a:srgbClr>
            </a:outerShdw>
          </a:effectLst>
        </p:spPr>
      </p:sp>
      <p:sp>
        <p:nvSpPr>
          <p:cNvPr id="13" name="Text 11"/>
          <p:cNvSpPr/>
          <p:nvPr/>
        </p:nvSpPr>
        <p:spPr>
          <a:xfrm>
            <a:off x="6291072" y="1892808"/>
            <a:ext cx="548640" cy="411480"/>
          </a:xfrm>
          <a:prstGeom prst="rect">
            <a:avLst/>
          </a:prstGeom>
          <a:noFill/>
          <a:ln/>
        </p:spPr>
        <p:txBody>
          <a:bodyPr wrap="square" rtlCol="0" anchor="ctr"/>
          <a:lstStyle/>
          <a:p>
            <a:pPr indent="0" marL="0">
              <a:buNone/>
            </a:pPr>
            <a:r>
              <a:rPr lang="en-US" sz="2200" b="1" dirty="0">
                <a:solidFill>
                  <a:srgbClr val="C8161D"/>
                </a:solidFill>
                <a:latin typeface="Arial" pitchFamily="34" charset="0"/>
                <a:ea typeface="BIZ UDPGothic" pitchFamily="34" charset="-122"/>
                <a:cs typeface="BIZ UDPGothic" pitchFamily="34" charset="-120"/>
              </a:rPr>
              <a:t>③</a:t>
            </a:r>
            <a:endParaRPr lang="en-US" sz="2200" dirty="0"/>
          </a:p>
        </p:txBody>
      </p:sp>
      <p:sp>
        <p:nvSpPr>
          <p:cNvPr id="14" name="Text 12"/>
          <p:cNvSpPr/>
          <p:nvPr/>
        </p:nvSpPr>
        <p:spPr>
          <a:xfrm>
            <a:off x="6291072" y="2286000"/>
            <a:ext cx="2331720" cy="731520"/>
          </a:xfrm>
          <a:prstGeom prst="rect">
            <a:avLst/>
          </a:prstGeom>
          <a:noFill/>
          <a:ln/>
        </p:spPr>
        <p:txBody>
          <a:bodyPr wrap="square" rtlCol="0" anchor="ctr"/>
          <a:lstStyle/>
          <a:p>
            <a:pPr indent="0" marL="0">
              <a:lnSpc>
                <a:spcPct val="120000"/>
              </a:lnSpc>
              <a:buNone/>
            </a:pPr>
            <a:r>
              <a:rPr lang="en-US" sz="1500" b="1" dirty="0">
                <a:solidFill>
                  <a:srgbClr val="16181D"/>
                </a:solidFill>
                <a:latin typeface="Arial" pitchFamily="34" charset="0"/>
                <a:ea typeface="BIZ UDPGothic" pitchFamily="34" charset="-122"/>
                <a:cs typeface="BIZ UDPGothic" pitchFamily="34" charset="-120"/>
              </a:rPr>
              <a:t>生活保護を</a:t>
            </a:r>
            <a:endParaRPr lang="en-US" sz="1500" dirty="0"/>
          </a:p>
          <a:p>
            <a:pPr indent="0" marL="0">
              <a:lnSpc>
                <a:spcPct val="120000"/>
              </a:lnSpc>
              <a:buNone/>
            </a:pPr>
            <a:r>
              <a:rPr lang="en-US" sz="1500" b="1" dirty="0">
                <a:solidFill>
                  <a:srgbClr val="16181D"/>
                </a:solidFill>
                <a:latin typeface="Arial" pitchFamily="34" charset="0"/>
                <a:ea typeface="BIZ UDPGothic" pitchFamily="34" charset="-122"/>
                <a:cs typeface="BIZ UDPGothic" pitchFamily="34" charset="-120"/>
              </a:rPr>
              <a:t>現金一本化</a:t>
            </a:r>
            <a:endParaRPr lang="en-US" sz="1500" dirty="0"/>
          </a:p>
        </p:txBody>
      </p:sp>
      <p:sp>
        <p:nvSpPr>
          <p:cNvPr id="15" name="Shape 13"/>
          <p:cNvSpPr/>
          <p:nvPr/>
        </p:nvSpPr>
        <p:spPr>
          <a:xfrm>
            <a:off x="457200" y="3291840"/>
            <a:ext cx="2651760" cy="1371600"/>
          </a:xfrm>
          <a:prstGeom prst="roundRect">
            <a:avLst>
              <a:gd name="adj" fmla="val 6667"/>
            </a:avLst>
          </a:prstGeom>
          <a:solidFill>
            <a:srgbClr val="FFFFFF"/>
          </a:solidFill>
          <a:ln/>
          <a:effectLst>
            <a:outerShdw sx="100000" sy="100000" kx="0" ky="0" algn="bl" rotWithShape="0" blurRad="127000" dist="38100" dir="2700000">
              <a:srgbClr val="000000">
                <a:alpha val="35000"/>
              </a:srgbClr>
            </a:outerShdw>
          </a:effectLst>
        </p:spPr>
      </p:sp>
      <p:sp>
        <p:nvSpPr>
          <p:cNvPr id="16" name="Text 14"/>
          <p:cNvSpPr/>
          <p:nvPr/>
        </p:nvSpPr>
        <p:spPr>
          <a:xfrm>
            <a:off x="621792" y="3401568"/>
            <a:ext cx="548640" cy="411480"/>
          </a:xfrm>
          <a:prstGeom prst="rect">
            <a:avLst/>
          </a:prstGeom>
          <a:noFill/>
          <a:ln/>
        </p:spPr>
        <p:txBody>
          <a:bodyPr wrap="square" rtlCol="0" anchor="ctr"/>
          <a:lstStyle/>
          <a:p>
            <a:pPr indent="0" marL="0">
              <a:buNone/>
            </a:pPr>
            <a:r>
              <a:rPr lang="en-US" sz="2200" b="1" dirty="0">
                <a:solidFill>
                  <a:srgbClr val="C8161D"/>
                </a:solidFill>
                <a:latin typeface="Arial" pitchFamily="34" charset="0"/>
                <a:ea typeface="BIZ UDPGothic" pitchFamily="34" charset="-122"/>
                <a:cs typeface="BIZ UDPGothic" pitchFamily="34" charset="-120"/>
              </a:rPr>
              <a:t>④</a:t>
            </a:r>
            <a:endParaRPr lang="en-US" sz="2200" dirty="0"/>
          </a:p>
        </p:txBody>
      </p:sp>
      <p:sp>
        <p:nvSpPr>
          <p:cNvPr id="17" name="Text 15"/>
          <p:cNvSpPr/>
          <p:nvPr/>
        </p:nvSpPr>
        <p:spPr>
          <a:xfrm>
            <a:off x="621792" y="3794760"/>
            <a:ext cx="2331720" cy="731520"/>
          </a:xfrm>
          <a:prstGeom prst="rect">
            <a:avLst/>
          </a:prstGeom>
          <a:noFill/>
          <a:ln/>
        </p:spPr>
        <p:txBody>
          <a:bodyPr wrap="square" rtlCol="0" anchor="ctr"/>
          <a:lstStyle/>
          <a:p>
            <a:pPr indent="0" marL="0">
              <a:lnSpc>
                <a:spcPct val="120000"/>
              </a:lnSpc>
              <a:buNone/>
            </a:pPr>
            <a:r>
              <a:rPr lang="en-US" sz="1500" b="1" dirty="0">
                <a:solidFill>
                  <a:srgbClr val="16181D"/>
                </a:solidFill>
                <a:latin typeface="Arial" pitchFamily="34" charset="0"/>
                <a:ea typeface="BIZ UDPGothic" pitchFamily="34" charset="-122"/>
                <a:cs typeface="BIZ UDPGothic" pitchFamily="34" charset="-120"/>
              </a:rPr>
              <a:t>障害者支援</a:t>
            </a:r>
            <a:endParaRPr lang="en-US" sz="1500" dirty="0"/>
          </a:p>
          <a:p>
            <a:pPr indent="0" marL="0">
              <a:lnSpc>
                <a:spcPct val="120000"/>
              </a:lnSpc>
              <a:buNone/>
            </a:pPr>
            <a:r>
              <a:rPr lang="en-US" sz="1500" b="1" dirty="0">
                <a:solidFill>
                  <a:srgbClr val="16181D"/>
                </a:solidFill>
                <a:latin typeface="Arial" pitchFamily="34" charset="0"/>
                <a:ea typeface="BIZ UDPGothic" pitchFamily="34" charset="-122"/>
                <a:cs typeface="BIZ UDPGothic" pitchFamily="34" charset="-120"/>
              </a:rPr>
              <a:t>手厚く</a:t>
            </a:r>
            <a:endParaRPr lang="en-US" sz="1500" dirty="0"/>
          </a:p>
        </p:txBody>
      </p:sp>
      <p:sp>
        <p:nvSpPr>
          <p:cNvPr id="18" name="Shape 16"/>
          <p:cNvSpPr/>
          <p:nvPr/>
        </p:nvSpPr>
        <p:spPr>
          <a:xfrm>
            <a:off x="3291840" y="3291840"/>
            <a:ext cx="2651760" cy="1371600"/>
          </a:xfrm>
          <a:prstGeom prst="roundRect">
            <a:avLst>
              <a:gd name="adj" fmla="val 6667"/>
            </a:avLst>
          </a:prstGeom>
          <a:solidFill>
            <a:srgbClr val="FFFFFF"/>
          </a:solidFill>
          <a:ln/>
          <a:effectLst>
            <a:outerShdw sx="100000" sy="100000" kx="0" ky="0" algn="bl" rotWithShape="0" blurRad="127000" dist="38100" dir="2700000">
              <a:srgbClr val="000000">
                <a:alpha val="35000"/>
              </a:srgbClr>
            </a:outerShdw>
          </a:effectLst>
        </p:spPr>
      </p:sp>
      <p:sp>
        <p:nvSpPr>
          <p:cNvPr id="19" name="Text 17"/>
          <p:cNvSpPr/>
          <p:nvPr/>
        </p:nvSpPr>
        <p:spPr>
          <a:xfrm>
            <a:off x="3456432" y="3401568"/>
            <a:ext cx="548640" cy="411480"/>
          </a:xfrm>
          <a:prstGeom prst="rect">
            <a:avLst/>
          </a:prstGeom>
          <a:noFill/>
          <a:ln/>
        </p:spPr>
        <p:txBody>
          <a:bodyPr wrap="square" rtlCol="0" anchor="ctr"/>
          <a:lstStyle/>
          <a:p>
            <a:pPr indent="0" marL="0">
              <a:buNone/>
            </a:pPr>
            <a:r>
              <a:rPr lang="en-US" sz="2200" b="1" dirty="0">
                <a:solidFill>
                  <a:srgbClr val="C8161D"/>
                </a:solidFill>
                <a:latin typeface="Arial" pitchFamily="34" charset="0"/>
                <a:ea typeface="BIZ UDPGothic" pitchFamily="34" charset="-122"/>
                <a:cs typeface="BIZ UDPGothic" pitchFamily="34" charset="-120"/>
              </a:rPr>
              <a:t>⑤</a:t>
            </a:r>
            <a:endParaRPr lang="en-US" sz="2200" dirty="0"/>
          </a:p>
        </p:txBody>
      </p:sp>
      <p:sp>
        <p:nvSpPr>
          <p:cNvPr id="20" name="Text 18"/>
          <p:cNvSpPr/>
          <p:nvPr/>
        </p:nvSpPr>
        <p:spPr>
          <a:xfrm>
            <a:off x="3456432" y="3794760"/>
            <a:ext cx="2331720" cy="731520"/>
          </a:xfrm>
          <a:prstGeom prst="rect">
            <a:avLst/>
          </a:prstGeom>
          <a:noFill/>
          <a:ln/>
        </p:spPr>
        <p:txBody>
          <a:bodyPr wrap="square" rtlCol="0" anchor="ctr"/>
          <a:lstStyle/>
          <a:p>
            <a:pPr indent="0" marL="0">
              <a:lnSpc>
                <a:spcPct val="120000"/>
              </a:lnSpc>
              <a:buNone/>
            </a:pPr>
            <a:r>
              <a:rPr lang="en-US" sz="1500" b="1" dirty="0">
                <a:solidFill>
                  <a:srgbClr val="16181D"/>
                </a:solidFill>
                <a:latin typeface="Arial" pitchFamily="34" charset="0"/>
                <a:ea typeface="BIZ UDPGothic" pitchFamily="34" charset="-122"/>
                <a:cs typeface="BIZ UDPGothic" pitchFamily="34" charset="-120"/>
              </a:rPr>
              <a:t>失業したら</a:t>
            </a:r>
            <a:endParaRPr lang="en-US" sz="1500" dirty="0"/>
          </a:p>
          <a:p>
            <a:pPr indent="0" marL="0">
              <a:lnSpc>
                <a:spcPct val="120000"/>
              </a:lnSpc>
              <a:buNone/>
            </a:pPr>
            <a:r>
              <a:rPr lang="en-US" sz="1500" b="1" dirty="0">
                <a:solidFill>
                  <a:srgbClr val="16181D"/>
                </a:solidFill>
                <a:latin typeface="Arial" pitchFamily="34" charset="0"/>
                <a:ea typeface="BIZ UDPGothic" pitchFamily="34" charset="-122"/>
                <a:cs typeface="BIZ UDPGothic" pitchFamily="34" charset="-120"/>
              </a:rPr>
              <a:t>3年サポート</a:t>
            </a:r>
            <a:endParaRPr lang="en-US" sz="1500" dirty="0"/>
          </a:p>
        </p:txBody>
      </p:sp>
      <p:sp>
        <p:nvSpPr>
          <p:cNvPr id="21" name="Shape 19"/>
          <p:cNvSpPr/>
          <p:nvPr/>
        </p:nvSpPr>
        <p:spPr>
          <a:xfrm>
            <a:off x="6126480" y="3291840"/>
            <a:ext cx="2651760" cy="1371600"/>
          </a:xfrm>
          <a:prstGeom prst="roundRect">
            <a:avLst>
              <a:gd name="adj" fmla="val 6667"/>
            </a:avLst>
          </a:prstGeom>
          <a:solidFill>
            <a:srgbClr val="FFFFFF"/>
          </a:solidFill>
          <a:ln/>
          <a:effectLst>
            <a:outerShdw sx="100000" sy="100000" kx="0" ky="0" algn="bl" rotWithShape="0" blurRad="127000" dist="38100" dir="2700000">
              <a:srgbClr val="000000">
                <a:alpha val="35000"/>
              </a:srgbClr>
            </a:outerShdw>
          </a:effectLst>
        </p:spPr>
      </p:sp>
      <p:sp>
        <p:nvSpPr>
          <p:cNvPr id="22" name="Text 20"/>
          <p:cNvSpPr/>
          <p:nvPr/>
        </p:nvSpPr>
        <p:spPr>
          <a:xfrm>
            <a:off x="6291072" y="3401568"/>
            <a:ext cx="548640" cy="411480"/>
          </a:xfrm>
          <a:prstGeom prst="rect">
            <a:avLst/>
          </a:prstGeom>
          <a:noFill/>
          <a:ln/>
        </p:spPr>
        <p:txBody>
          <a:bodyPr wrap="square" rtlCol="0" anchor="ctr"/>
          <a:lstStyle/>
          <a:p>
            <a:pPr indent="0" marL="0">
              <a:buNone/>
            </a:pPr>
            <a:r>
              <a:rPr lang="en-US" sz="2200" b="1" dirty="0">
                <a:solidFill>
                  <a:srgbClr val="C8161D"/>
                </a:solidFill>
                <a:latin typeface="Arial" pitchFamily="34" charset="0"/>
                <a:ea typeface="BIZ UDPGothic" pitchFamily="34" charset="-122"/>
                <a:cs typeface="BIZ UDPGothic" pitchFamily="34" charset="-120"/>
              </a:rPr>
              <a:t>⑥</a:t>
            </a:r>
            <a:endParaRPr lang="en-US" sz="2200" dirty="0"/>
          </a:p>
        </p:txBody>
      </p:sp>
      <p:sp>
        <p:nvSpPr>
          <p:cNvPr id="23" name="Text 21"/>
          <p:cNvSpPr/>
          <p:nvPr/>
        </p:nvSpPr>
        <p:spPr>
          <a:xfrm>
            <a:off x="6291072" y="3794760"/>
            <a:ext cx="2331720" cy="731520"/>
          </a:xfrm>
          <a:prstGeom prst="rect">
            <a:avLst/>
          </a:prstGeom>
          <a:noFill/>
          <a:ln/>
        </p:spPr>
        <p:txBody>
          <a:bodyPr wrap="square" rtlCol="0" anchor="ctr"/>
          <a:lstStyle/>
          <a:p>
            <a:pPr indent="0" marL="0">
              <a:lnSpc>
                <a:spcPct val="120000"/>
              </a:lnSpc>
              <a:buNone/>
            </a:pPr>
            <a:r>
              <a:rPr lang="en-US" sz="1500" b="1" dirty="0">
                <a:solidFill>
                  <a:srgbClr val="16181D"/>
                </a:solidFill>
                <a:latin typeface="Arial" pitchFamily="34" charset="0"/>
                <a:ea typeface="BIZ UDPGothic" pitchFamily="34" charset="-122"/>
                <a:cs typeface="BIZ UDPGothic" pitchFamily="34" charset="-120"/>
              </a:rPr>
              <a:t>社会保険料</a:t>
            </a:r>
            <a:endParaRPr lang="en-US" sz="1500" dirty="0"/>
          </a:p>
          <a:p>
            <a:pPr indent="0" marL="0">
              <a:lnSpc>
                <a:spcPct val="120000"/>
              </a:lnSpc>
              <a:buNone/>
            </a:pPr>
            <a:r>
              <a:rPr lang="en-US" sz="1500" b="1" dirty="0">
                <a:solidFill>
                  <a:srgbClr val="16181D"/>
                </a:solidFill>
                <a:latin typeface="Arial" pitchFamily="34" charset="0"/>
                <a:ea typeface="BIZ UDPGothic" pitchFamily="34" charset="-122"/>
                <a:cs typeface="BIZ UDPGothic" pitchFamily="34" charset="-120"/>
              </a:rPr>
              <a:t>を下げる</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rtlCol="0" anchor="ctr"/>
          <a:lstStyle/>
          <a:p>
            <a:pPr indent="0" marL="0">
              <a:buNone/>
            </a:pPr>
            <a:r>
              <a:rPr lang="en-US" sz="900" b="1" spc="300" kern="0" dirty="0">
                <a:solidFill>
                  <a:srgbClr val="C8161D"/>
                </a:solidFill>
                <a:latin typeface="Arial" pitchFamily="34" charset="0"/>
                <a:ea typeface="BIZ UDPGothic" pitchFamily="34" charset="-122"/>
                <a:cs typeface="BIZ UDPGothic" pitchFamily="34" charset="-120"/>
              </a:rPr>
              <a:t>何をするか 01 / 06</a:t>
            </a:r>
            <a:endParaRPr lang="en-US" sz="900" dirty="0"/>
          </a:p>
        </p:txBody>
      </p:sp>
      <p:sp>
        <p:nvSpPr>
          <p:cNvPr id="3" name="Text 1"/>
          <p:cNvSpPr/>
          <p:nvPr/>
        </p:nvSpPr>
        <p:spPr>
          <a:xfrm>
            <a:off x="457200" y="502920"/>
            <a:ext cx="8229600" cy="685800"/>
          </a:xfrm>
          <a:prstGeom prst="rect">
            <a:avLst/>
          </a:prstGeom>
          <a:noFill/>
          <a:ln/>
        </p:spPr>
        <p:txBody>
          <a:bodyPr wrap="square" rtlCol="0" anchor="ctr"/>
          <a:lstStyle/>
          <a:p>
            <a:pPr indent="0" marL="0">
              <a:buNone/>
            </a:pPr>
            <a:r>
              <a:rPr lang="en-US" sz="3400" b="1" dirty="0">
                <a:solidFill>
                  <a:srgbClr val="16181D"/>
                </a:solidFill>
                <a:latin typeface="Arial" pitchFamily="34" charset="0"/>
                <a:ea typeface="BIZ UDPGothic" pitchFamily="34" charset="-122"/>
                <a:cs typeface="BIZ UDPGothic" pitchFamily="34" charset="-120"/>
              </a:rPr>
              <a:t>最低賃金を時給2,000円にする</a:t>
            </a:r>
            <a:endParaRPr lang="en-US" sz="3400" dirty="0"/>
          </a:p>
        </p:txBody>
      </p:sp>
      <p:sp>
        <p:nvSpPr>
          <p:cNvPr id="4" name="Shape 2"/>
          <p:cNvSpPr/>
          <p:nvPr/>
        </p:nvSpPr>
        <p:spPr>
          <a:xfrm>
            <a:off x="457200" y="1261872"/>
            <a:ext cx="8229600" cy="22860"/>
          </a:xfrm>
          <a:prstGeom prst="rect">
            <a:avLst/>
          </a:prstGeom>
          <a:solidFill>
            <a:srgbClr val="DDE0E6"/>
          </a:solidFill>
          <a:ln/>
        </p:spPr>
      </p:sp>
      <p:sp>
        <p:nvSpPr>
          <p:cNvPr id="5" name="Shape 3"/>
          <p:cNvSpPr/>
          <p:nvPr/>
        </p:nvSpPr>
        <p:spPr>
          <a:xfrm>
            <a:off x="457200" y="1417320"/>
            <a:ext cx="3474720" cy="3429000"/>
          </a:xfrm>
          <a:prstGeom prst="roundRect">
            <a:avLst>
              <a:gd name="adj" fmla="val 2667"/>
            </a:avLst>
          </a:prstGeom>
          <a:solidFill>
            <a:srgbClr val="C8161D"/>
          </a:solidFill>
          <a:ln/>
          <a:effectLst>
            <a:outerShdw sx="100000" sy="100000" kx="0" ky="0" algn="bl" rotWithShape="0" blurRad="127000" dist="38100" dir="2700000">
              <a:srgbClr val="000000">
                <a:alpha val="35000"/>
              </a:srgbClr>
            </a:outerShdw>
          </a:effectLst>
        </p:spPr>
      </p:sp>
      <p:sp>
        <p:nvSpPr>
          <p:cNvPr id="6" name="Text 4"/>
          <p:cNvSpPr/>
          <p:nvPr/>
        </p:nvSpPr>
        <p:spPr>
          <a:xfrm>
            <a:off x="457200" y="1691640"/>
            <a:ext cx="3474720" cy="1188720"/>
          </a:xfrm>
          <a:prstGeom prst="rect">
            <a:avLst/>
          </a:prstGeom>
          <a:noFill/>
          <a:ln/>
        </p:spPr>
        <p:txBody>
          <a:bodyPr wrap="square" rtlCol="0" anchor="ctr"/>
          <a:lstStyle/>
          <a:p>
            <a:pPr algn="ctr" indent="0" marL="0">
              <a:buNone/>
            </a:pPr>
            <a:r>
              <a:rPr lang="en-US" sz="5200" b="1" dirty="0">
                <a:solidFill>
                  <a:srgbClr val="FFFFFF"/>
                </a:solidFill>
                <a:latin typeface="Arial" pitchFamily="34" charset="0"/>
                <a:ea typeface="BIZ UDPGothic" pitchFamily="34" charset="-122"/>
                <a:cs typeface="BIZ UDPGothic" pitchFamily="34" charset="-120"/>
              </a:rPr>
              <a:t>¥2,000</a:t>
            </a:r>
            <a:endParaRPr lang="en-US" sz="5200" dirty="0"/>
          </a:p>
        </p:txBody>
      </p:sp>
      <p:sp>
        <p:nvSpPr>
          <p:cNvPr id="7" name="Text 5"/>
          <p:cNvSpPr/>
          <p:nvPr/>
        </p:nvSpPr>
        <p:spPr>
          <a:xfrm>
            <a:off x="457200" y="2788920"/>
            <a:ext cx="3474720" cy="365760"/>
          </a:xfrm>
          <a:prstGeom prst="rect">
            <a:avLst/>
          </a:prstGeom>
          <a:noFill/>
          <a:ln/>
        </p:spPr>
        <p:txBody>
          <a:bodyPr wrap="square" rtlCol="0" anchor="ctr"/>
          <a:lstStyle/>
          <a:p>
            <a:pPr algn="ctr" indent="0" marL="0">
              <a:buNone/>
            </a:pPr>
            <a:r>
              <a:rPr lang="en-US" sz="1600" dirty="0">
                <a:solidFill>
                  <a:srgbClr val="FFFFFF"/>
                </a:solidFill>
                <a:latin typeface="Arial" pitchFamily="34" charset="0"/>
                <a:ea typeface="BIZ UDPGothic" pitchFamily="34" charset="-122"/>
                <a:cs typeface="BIZ UDPGothic" pitchFamily="34" charset="-120"/>
              </a:rPr>
              <a:t>時給</a:t>
            </a:r>
            <a:endParaRPr lang="en-US" sz="1600" dirty="0"/>
          </a:p>
        </p:txBody>
      </p:sp>
      <p:sp>
        <p:nvSpPr>
          <p:cNvPr id="8" name="Text 6"/>
          <p:cNvSpPr/>
          <p:nvPr/>
        </p:nvSpPr>
        <p:spPr>
          <a:xfrm>
            <a:off x="457200" y="3246120"/>
            <a:ext cx="3474720" cy="594360"/>
          </a:xfrm>
          <a:prstGeom prst="rect">
            <a:avLst/>
          </a:prstGeom>
          <a:noFill/>
          <a:ln/>
        </p:spPr>
        <p:txBody>
          <a:bodyPr wrap="square" rtlCol="0" anchor="ctr"/>
          <a:lstStyle/>
          <a:p>
            <a:pPr algn="ctr" indent="0" marL="0">
              <a:lnSpc>
                <a:spcPct val="130000"/>
              </a:lnSpc>
              <a:buNone/>
            </a:pPr>
            <a:r>
              <a:rPr lang="en-US" sz="1200" dirty="0">
                <a:solidFill>
                  <a:srgbClr val="FFFFFF"/>
                </a:solidFill>
                <a:latin typeface="Arial" pitchFamily="34" charset="0"/>
                <a:ea typeface="BIZ UDPGothic" pitchFamily="34" charset="-122"/>
                <a:cs typeface="BIZ UDPGothic" pitchFamily="34" charset="-120"/>
              </a:rPr>
              <a:t>インフレに合わせて</a:t>
            </a:r>
            <a:endParaRPr lang="en-US" sz="1200" dirty="0"/>
          </a:p>
          <a:p>
            <a:pPr algn="ctr" indent="0" marL="0">
              <a:lnSpc>
                <a:spcPct val="130000"/>
              </a:lnSpc>
              <a:buNone/>
            </a:pPr>
            <a:r>
              <a:rPr lang="en-US" sz="1200" dirty="0">
                <a:solidFill>
                  <a:srgbClr val="FFFFFF"/>
                </a:solidFill>
                <a:latin typeface="Arial" pitchFamily="34" charset="0"/>
                <a:ea typeface="BIZ UDPGothic" pitchFamily="34" charset="-122"/>
                <a:cs typeface="BIZ UDPGothic" pitchFamily="34" charset="-120"/>
              </a:rPr>
              <a:t>自動的に増える設計</a:t>
            </a:r>
            <a:endParaRPr lang="en-US" sz="1200" dirty="0"/>
          </a:p>
        </p:txBody>
      </p:sp>
      <p:sp>
        <p:nvSpPr>
          <p:cNvPr id="9" name="Shape 7"/>
          <p:cNvSpPr/>
          <p:nvPr/>
        </p:nvSpPr>
        <p:spPr>
          <a:xfrm>
            <a:off x="4114800" y="1417320"/>
            <a:ext cx="4480560" cy="1051560"/>
          </a:xfrm>
          <a:prstGeom prst="roundRect">
            <a:avLst>
              <a:gd name="adj" fmla="val 8696"/>
            </a:avLst>
          </a:prstGeom>
          <a:solidFill>
            <a:srgbClr val="FFFFFF"/>
          </a:solidFill>
          <a:ln/>
          <a:effectLst>
            <a:outerShdw sx="100000" sy="100000" kx="0" ky="0" algn="bl" rotWithShape="0" blurRad="127000" dist="38100" dir="2700000">
              <a:srgbClr val="000000">
                <a:alpha val="35000"/>
              </a:srgbClr>
            </a:outerShdw>
          </a:effectLst>
        </p:spPr>
      </p:sp>
      <p:sp>
        <p:nvSpPr>
          <p:cNvPr id="10" name="Text 8"/>
          <p:cNvSpPr/>
          <p:nvPr/>
        </p:nvSpPr>
        <p:spPr>
          <a:xfrm>
            <a:off x="4297680" y="1554480"/>
            <a:ext cx="4114800" cy="292608"/>
          </a:xfrm>
          <a:prstGeom prst="rect">
            <a:avLst/>
          </a:prstGeom>
          <a:noFill/>
          <a:ln/>
        </p:spPr>
        <p:txBody>
          <a:bodyPr wrap="square" rtlCol="0" anchor="ctr"/>
          <a:lstStyle/>
          <a:p>
            <a:pPr indent="0" marL="0">
              <a:buNone/>
            </a:pPr>
            <a:r>
              <a:rPr lang="en-US" sz="1200" b="1" dirty="0">
                <a:solidFill>
                  <a:srgbClr val="C8161D"/>
                </a:solidFill>
                <a:latin typeface="Arial" pitchFamily="34" charset="0"/>
                <a:ea typeface="BIZ UDPGothic" pitchFamily="34" charset="-122"/>
                <a:cs typeface="BIZ UDPGothic" pitchFamily="34" charset="-120"/>
              </a:rPr>
              <a:t>今はいくら？</a:t>
            </a:r>
            <a:endParaRPr lang="en-US" sz="1200" dirty="0"/>
          </a:p>
        </p:txBody>
      </p:sp>
      <p:sp>
        <p:nvSpPr>
          <p:cNvPr id="11" name="Text 9"/>
          <p:cNvSpPr/>
          <p:nvPr/>
        </p:nvSpPr>
        <p:spPr>
          <a:xfrm>
            <a:off x="4297680" y="1874520"/>
            <a:ext cx="4114800" cy="457200"/>
          </a:xfrm>
          <a:prstGeom prst="rect">
            <a:avLst/>
          </a:prstGeom>
          <a:noFill/>
          <a:ln/>
        </p:spPr>
        <p:txBody>
          <a:bodyPr wrap="square" rtlCol="0" anchor="ctr"/>
          <a:lstStyle/>
          <a:p>
            <a:pPr indent="0" marL="0">
              <a:lnSpc>
                <a:spcPct val="135000"/>
              </a:lnSpc>
              <a:buNone/>
            </a:pPr>
            <a:r>
              <a:rPr lang="en-US" sz="1100" dirty="0">
                <a:solidFill>
                  <a:srgbClr val="16181D"/>
                </a:solidFill>
                <a:latin typeface="Arial" pitchFamily="34" charset="0"/>
                <a:ea typeface="BIZ UDPGothic" pitchFamily="34" charset="-122"/>
                <a:cs typeface="BIZ UDPGothic" pitchFamily="34" charset="-120"/>
              </a:rPr>
              <a:t>全国平均で約1,055〜1,121円。韓国・イギリスはすでに2,000円超。日本だけ取り残されている。</a:t>
            </a:r>
            <a:endParaRPr lang="en-US" sz="1100" dirty="0"/>
          </a:p>
        </p:txBody>
      </p:sp>
      <p:sp>
        <p:nvSpPr>
          <p:cNvPr id="12" name="Shape 10"/>
          <p:cNvSpPr/>
          <p:nvPr/>
        </p:nvSpPr>
        <p:spPr>
          <a:xfrm>
            <a:off x="4114800" y="2578608"/>
            <a:ext cx="4480560" cy="1051560"/>
          </a:xfrm>
          <a:prstGeom prst="roundRect">
            <a:avLst>
              <a:gd name="adj" fmla="val 8696"/>
            </a:avLst>
          </a:prstGeom>
          <a:solidFill>
            <a:srgbClr val="FFFFFF"/>
          </a:solidFill>
          <a:ln/>
          <a:effectLst>
            <a:outerShdw sx="100000" sy="100000" kx="0" ky="0" algn="bl" rotWithShape="0" blurRad="127000" dist="38100" dir="2700000">
              <a:srgbClr val="000000">
                <a:alpha val="35000"/>
              </a:srgbClr>
            </a:outerShdw>
          </a:effectLst>
        </p:spPr>
      </p:sp>
      <p:sp>
        <p:nvSpPr>
          <p:cNvPr id="13" name="Text 11"/>
          <p:cNvSpPr/>
          <p:nvPr/>
        </p:nvSpPr>
        <p:spPr>
          <a:xfrm>
            <a:off x="4297680" y="2715768"/>
            <a:ext cx="4114800" cy="292608"/>
          </a:xfrm>
          <a:prstGeom prst="rect">
            <a:avLst/>
          </a:prstGeom>
          <a:noFill/>
          <a:ln/>
        </p:spPr>
        <p:txBody>
          <a:bodyPr wrap="square" rtlCol="0" anchor="ctr"/>
          <a:lstStyle/>
          <a:p>
            <a:pPr indent="0" marL="0">
              <a:buNone/>
            </a:pPr>
            <a:r>
              <a:rPr lang="en-US" sz="1200" b="1" dirty="0">
                <a:solidFill>
                  <a:srgbClr val="C8161D"/>
                </a:solidFill>
                <a:latin typeface="Arial" pitchFamily="34" charset="0"/>
                <a:ea typeface="BIZ UDPGothic" pitchFamily="34" charset="-122"/>
                <a:cs typeface="BIZ UDPGothic" pitchFamily="34" charset="-120"/>
              </a:rPr>
              <a:t>2,000円にすると何が変わる？</a:t>
            </a:r>
            <a:endParaRPr lang="en-US" sz="1200" dirty="0"/>
          </a:p>
        </p:txBody>
      </p:sp>
      <p:sp>
        <p:nvSpPr>
          <p:cNvPr id="14" name="Text 12"/>
          <p:cNvSpPr/>
          <p:nvPr/>
        </p:nvSpPr>
        <p:spPr>
          <a:xfrm>
            <a:off x="4297680" y="3035808"/>
            <a:ext cx="4114800" cy="457200"/>
          </a:xfrm>
          <a:prstGeom prst="rect">
            <a:avLst/>
          </a:prstGeom>
          <a:noFill/>
          <a:ln/>
        </p:spPr>
        <p:txBody>
          <a:bodyPr wrap="square" rtlCol="0" anchor="ctr"/>
          <a:lstStyle/>
          <a:p>
            <a:pPr indent="0" marL="0">
              <a:lnSpc>
                <a:spcPct val="135000"/>
              </a:lnSpc>
              <a:buNone/>
            </a:pPr>
            <a:r>
              <a:rPr lang="en-US" sz="1100" dirty="0">
                <a:solidFill>
                  <a:srgbClr val="16181D"/>
                </a:solidFill>
                <a:latin typeface="Arial" pitchFamily="34" charset="0"/>
                <a:ea typeface="BIZ UDPGothic" pitchFamily="34" charset="-122"/>
                <a:cs typeface="BIZ UDPGothic" pitchFamily="34" charset="-120"/>
              </a:rPr>
              <a:t>低い給料しか払えないゾンビ企業が自然に退場。残る企業は生産性が高い優良企業だけになる。</a:t>
            </a:r>
            <a:endParaRPr lang="en-US" sz="1100" dirty="0"/>
          </a:p>
        </p:txBody>
      </p:sp>
      <p:sp>
        <p:nvSpPr>
          <p:cNvPr id="15" name="Shape 13"/>
          <p:cNvSpPr/>
          <p:nvPr/>
        </p:nvSpPr>
        <p:spPr>
          <a:xfrm>
            <a:off x="4114800" y="3739896"/>
            <a:ext cx="4480560" cy="1051560"/>
          </a:xfrm>
          <a:prstGeom prst="roundRect">
            <a:avLst>
              <a:gd name="adj" fmla="val 8696"/>
            </a:avLst>
          </a:prstGeom>
          <a:solidFill>
            <a:srgbClr val="FFFFFF"/>
          </a:solidFill>
          <a:ln/>
          <a:effectLst>
            <a:outerShdw sx="100000" sy="100000" kx="0" ky="0" algn="bl" rotWithShape="0" blurRad="127000" dist="38100" dir="2700000">
              <a:srgbClr val="000000">
                <a:alpha val="35000"/>
              </a:srgbClr>
            </a:outerShdw>
          </a:effectLst>
        </p:spPr>
      </p:sp>
      <p:sp>
        <p:nvSpPr>
          <p:cNvPr id="16" name="Text 14"/>
          <p:cNvSpPr/>
          <p:nvPr/>
        </p:nvSpPr>
        <p:spPr>
          <a:xfrm>
            <a:off x="4297680" y="3877056"/>
            <a:ext cx="4114800" cy="292608"/>
          </a:xfrm>
          <a:prstGeom prst="rect">
            <a:avLst/>
          </a:prstGeom>
          <a:noFill/>
          <a:ln/>
        </p:spPr>
        <p:txBody>
          <a:bodyPr wrap="square" rtlCol="0" anchor="ctr"/>
          <a:lstStyle/>
          <a:p>
            <a:pPr indent="0" marL="0">
              <a:buNone/>
            </a:pPr>
            <a:r>
              <a:rPr lang="en-US" sz="1200" b="1" dirty="0">
                <a:solidFill>
                  <a:srgbClr val="C8161D"/>
                </a:solidFill>
                <a:latin typeface="Arial" pitchFamily="34" charset="0"/>
                <a:ea typeface="BIZ UDPGothic" pitchFamily="34" charset="-122"/>
                <a:cs typeface="BIZ UDPGothic" pitchFamily="34" charset="-120"/>
              </a:rPr>
              <a:t>「底上げ」に過ぎないという指摘</a:t>
            </a:r>
            <a:endParaRPr lang="en-US" sz="1200" dirty="0"/>
          </a:p>
        </p:txBody>
      </p:sp>
      <p:sp>
        <p:nvSpPr>
          <p:cNvPr id="17" name="Text 15"/>
          <p:cNvSpPr/>
          <p:nvPr/>
        </p:nvSpPr>
        <p:spPr>
          <a:xfrm>
            <a:off x="4297680" y="4197096"/>
            <a:ext cx="4114800" cy="457200"/>
          </a:xfrm>
          <a:prstGeom prst="rect">
            <a:avLst/>
          </a:prstGeom>
          <a:noFill/>
          <a:ln/>
        </p:spPr>
        <p:txBody>
          <a:bodyPr wrap="square" rtlCol="0" anchor="ctr"/>
          <a:lstStyle/>
          <a:p>
            <a:pPr indent="0" marL="0">
              <a:lnSpc>
                <a:spcPct val="135000"/>
              </a:lnSpc>
              <a:buNone/>
            </a:pPr>
            <a:r>
              <a:rPr lang="en-US" sz="1100" dirty="0">
                <a:solidFill>
                  <a:srgbClr val="16181D"/>
                </a:solidFill>
                <a:latin typeface="Arial" pitchFamily="34" charset="0"/>
                <a:ea typeface="BIZ UDPGothic" pitchFamily="34" charset="-122"/>
                <a:cs typeface="BIZ UDPGothic" pitchFamily="34" charset="-120"/>
              </a:rPr>
              <a:t>中間層の給料は自動的には上がらない。ゾンビ企業退場→人材集約→生産性向上という流れで全体に波及する。</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rtlCol="0" anchor="ctr"/>
          <a:lstStyle/>
          <a:p>
            <a:pPr indent="0" marL="0">
              <a:buNone/>
            </a:pPr>
            <a:r>
              <a:rPr lang="en-US" sz="900" b="1" spc="300" kern="0" dirty="0">
                <a:solidFill>
                  <a:srgbClr val="C8161D"/>
                </a:solidFill>
                <a:latin typeface="Arial" pitchFamily="34" charset="0"/>
                <a:ea typeface="BIZ UDPGothic" pitchFamily="34" charset="-122"/>
                <a:cs typeface="BIZ UDPGothic" pitchFamily="34" charset="-120"/>
              </a:rPr>
              <a:t>何をするか 01 補足</a:t>
            </a:r>
            <a:endParaRPr lang="en-US" sz="900" dirty="0"/>
          </a:p>
        </p:txBody>
      </p:sp>
      <p:sp>
        <p:nvSpPr>
          <p:cNvPr id="3" name="Text 1"/>
          <p:cNvSpPr/>
          <p:nvPr/>
        </p:nvSpPr>
        <p:spPr>
          <a:xfrm>
            <a:off x="457200" y="502920"/>
            <a:ext cx="8229600" cy="685800"/>
          </a:xfrm>
          <a:prstGeom prst="rect">
            <a:avLst/>
          </a:prstGeom>
          <a:noFill/>
          <a:ln/>
        </p:spPr>
        <p:txBody>
          <a:bodyPr wrap="square" rtlCol="0" anchor="ctr"/>
          <a:lstStyle/>
          <a:p>
            <a:pPr indent="0" marL="0">
              <a:buNone/>
            </a:pPr>
            <a:r>
              <a:rPr lang="en-US" sz="2800" b="1" dirty="0">
                <a:solidFill>
                  <a:srgbClr val="16181D"/>
                </a:solidFill>
                <a:latin typeface="Arial" pitchFamily="34" charset="0"/>
                <a:ea typeface="BIZ UDPGothic" pitchFamily="34" charset="-122"/>
                <a:cs typeface="BIZ UDPGothic" pitchFamily="34" charset="-120"/>
              </a:rPr>
              <a:t>2,000円の意味：全員の年収を底から押し上げる</a:t>
            </a:r>
            <a:endParaRPr lang="en-US" sz="2800" dirty="0"/>
          </a:p>
        </p:txBody>
      </p:sp>
      <p:sp>
        <p:nvSpPr>
          <p:cNvPr id="4" name="Shape 2"/>
          <p:cNvSpPr/>
          <p:nvPr/>
        </p:nvSpPr>
        <p:spPr>
          <a:xfrm>
            <a:off x="457200" y="1261872"/>
            <a:ext cx="8229600" cy="22860"/>
          </a:xfrm>
          <a:prstGeom prst="rect">
            <a:avLst/>
          </a:prstGeom>
          <a:solidFill>
            <a:srgbClr val="DDE0E6"/>
          </a:solidFill>
          <a:ln/>
        </p:spPr>
      </p:sp>
      <p:sp>
        <p:nvSpPr>
          <p:cNvPr id="5" name="Shape 3"/>
          <p:cNvSpPr/>
          <p:nvPr/>
        </p:nvSpPr>
        <p:spPr>
          <a:xfrm>
            <a:off x="457200" y="1417320"/>
            <a:ext cx="3931920" cy="3291840"/>
          </a:xfrm>
          <a:prstGeom prst="roundRect">
            <a:avLst>
              <a:gd name="adj" fmla="val 2778"/>
            </a:avLst>
          </a:prstGeom>
          <a:solidFill>
            <a:srgbClr val="FFFFFF"/>
          </a:solidFill>
          <a:ln/>
          <a:effectLst>
            <a:outerShdw sx="100000" sy="100000" kx="0" ky="0" algn="bl" rotWithShape="0" blurRad="127000" dist="38100" dir="2700000">
              <a:srgbClr val="000000">
                <a:alpha val="35000"/>
              </a:srgbClr>
            </a:outerShdw>
          </a:effectLst>
        </p:spPr>
      </p:sp>
      <p:sp>
        <p:nvSpPr>
          <p:cNvPr id="6" name="Text 4"/>
          <p:cNvSpPr/>
          <p:nvPr/>
        </p:nvSpPr>
        <p:spPr>
          <a:xfrm>
            <a:off x="640080" y="1536192"/>
            <a:ext cx="3566160" cy="320040"/>
          </a:xfrm>
          <a:prstGeom prst="rect">
            <a:avLst/>
          </a:prstGeom>
          <a:noFill/>
          <a:ln/>
        </p:spPr>
        <p:txBody>
          <a:bodyPr wrap="square" rtlCol="0" anchor="ctr"/>
          <a:lstStyle/>
          <a:p>
            <a:pPr indent="0" marL="0">
              <a:buNone/>
            </a:pPr>
            <a:r>
              <a:rPr lang="en-US" sz="1200" b="1" dirty="0">
                <a:solidFill>
                  <a:srgbClr val="4B515C"/>
                </a:solidFill>
                <a:latin typeface="Arial" pitchFamily="34" charset="0"/>
                <a:ea typeface="BIZ UDPGothic" pitchFamily="34" charset="-122"/>
                <a:cs typeface="BIZ UDPGothic" pitchFamily="34" charset="-120"/>
              </a:rPr>
              <a:t>今の状況</a:t>
            </a:r>
            <a:endParaRPr lang="en-US" sz="1200" dirty="0"/>
          </a:p>
        </p:txBody>
      </p:sp>
      <p:sp>
        <p:nvSpPr>
          <p:cNvPr id="7" name="Text 5"/>
          <p:cNvSpPr/>
          <p:nvPr/>
        </p:nvSpPr>
        <p:spPr>
          <a:xfrm>
            <a:off x="640080" y="1901952"/>
            <a:ext cx="2286000" cy="320040"/>
          </a:xfrm>
          <a:prstGeom prst="rect">
            <a:avLst/>
          </a:prstGeom>
          <a:noFill/>
          <a:ln/>
        </p:spPr>
        <p:txBody>
          <a:bodyPr wrap="square" rtlCol="0" anchor="ctr"/>
          <a:lstStyle/>
          <a:p>
            <a:pPr indent="0" marL="0">
              <a:buNone/>
            </a:pPr>
            <a:r>
              <a:rPr lang="en-US" sz="1200" dirty="0">
                <a:solidFill>
                  <a:srgbClr val="16181D"/>
                </a:solidFill>
                <a:latin typeface="Arial" pitchFamily="34" charset="0"/>
                <a:ea typeface="BIZ UDPGothic" pitchFamily="34" charset="-122"/>
                <a:cs typeface="BIZ UDPGothic" pitchFamily="34" charset="-120"/>
              </a:rPr>
              <a:t>最低賃金水準</a:t>
            </a:r>
            <a:endParaRPr lang="en-US" sz="1200" dirty="0"/>
          </a:p>
        </p:txBody>
      </p:sp>
      <p:sp>
        <p:nvSpPr>
          <p:cNvPr id="8" name="Text 6"/>
          <p:cNvSpPr/>
          <p:nvPr/>
        </p:nvSpPr>
        <p:spPr>
          <a:xfrm>
            <a:off x="640080" y="2240280"/>
            <a:ext cx="3566160" cy="457200"/>
          </a:xfrm>
          <a:prstGeom prst="rect">
            <a:avLst/>
          </a:prstGeom>
          <a:noFill/>
          <a:ln/>
        </p:spPr>
        <p:txBody>
          <a:bodyPr wrap="square" rtlCol="0" anchor="ctr"/>
          <a:lstStyle/>
          <a:p>
            <a:pPr indent="0" marL="0">
              <a:buNone/>
            </a:pPr>
            <a:r>
              <a:rPr lang="en-US" sz="2200" b="1" dirty="0">
                <a:solidFill>
                  <a:srgbClr val="4B515C"/>
                </a:solidFill>
                <a:latin typeface="Arial" pitchFamily="34" charset="0"/>
                <a:ea typeface="BIZ UDPGothic" pitchFamily="34" charset="-122"/>
                <a:cs typeface="BIZ UDPGothic" pitchFamily="34" charset="-120"/>
              </a:rPr>
              <a:t>約220万円/年</a:t>
            </a:r>
            <a:endParaRPr lang="en-US" sz="2200" dirty="0"/>
          </a:p>
        </p:txBody>
      </p:sp>
      <p:sp>
        <p:nvSpPr>
          <p:cNvPr id="9" name="Shape 7"/>
          <p:cNvSpPr/>
          <p:nvPr/>
        </p:nvSpPr>
        <p:spPr>
          <a:xfrm>
            <a:off x="3566160" y="2788920"/>
            <a:ext cx="640080" cy="22860"/>
          </a:xfrm>
          <a:prstGeom prst="rect">
            <a:avLst/>
          </a:prstGeom>
          <a:solidFill>
            <a:srgbClr val="DDE0E6"/>
          </a:solidFill>
          <a:ln/>
        </p:spPr>
      </p:sp>
      <p:sp>
        <p:nvSpPr>
          <p:cNvPr id="10" name="Text 8"/>
          <p:cNvSpPr/>
          <p:nvPr/>
        </p:nvSpPr>
        <p:spPr>
          <a:xfrm>
            <a:off x="640080" y="2880360"/>
            <a:ext cx="2286000" cy="320040"/>
          </a:xfrm>
          <a:prstGeom prst="rect">
            <a:avLst/>
          </a:prstGeom>
          <a:noFill/>
          <a:ln/>
        </p:spPr>
        <p:txBody>
          <a:bodyPr wrap="square" rtlCol="0" anchor="ctr"/>
          <a:lstStyle/>
          <a:p>
            <a:pPr indent="0" marL="0">
              <a:buNone/>
            </a:pPr>
            <a:r>
              <a:rPr lang="en-US" sz="1200" dirty="0">
                <a:solidFill>
                  <a:srgbClr val="16181D"/>
                </a:solidFill>
                <a:latin typeface="Arial" pitchFamily="34" charset="0"/>
                <a:ea typeface="BIZ UDPGothic" pitchFamily="34" charset="-122"/>
                <a:cs typeface="BIZ UDPGothic" pitchFamily="34" charset="-120"/>
              </a:rPr>
              <a:t>年収の中央値</a:t>
            </a:r>
            <a:endParaRPr lang="en-US" sz="1200" dirty="0"/>
          </a:p>
        </p:txBody>
      </p:sp>
      <p:sp>
        <p:nvSpPr>
          <p:cNvPr id="11" name="Text 9"/>
          <p:cNvSpPr/>
          <p:nvPr/>
        </p:nvSpPr>
        <p:spPr>
          <a:xfrm>
            <a:off x="640080" y="3218688"/>
            <a:ext cx="3566160" cy="457200"/>
          </a:xfrm>
          <a:prstGeom prst="rect">
            <a:avLst/>
          </a:prstGeom>
          <a:noFill/>
          <a:ln/>
        </p:spPr>
        <p:txBody>
          <a:bodyPr wrap="square" rtlCol="0" anchor="ctr"/>
          <a:lstStyle/>
          <a:p>
            <a:pPr indent="0" marL="0">
              <a:buNone/>
            </a:pPr>
            <a:r>
              <a:rPr lang="en-US" sz="2200" b="1" dirty="0">
                <a:solidFill>
                  <a:srgbClr val="16181D"/>
                </a:solidFill>
                <a:latin typeface="Arial" pitchFamily="34" charset="0"/>
                <a:ea typeface="BIZ UDPGothic" pitchFamily="34" charset="-122"/>
                <a:cs typeface="BIZ UDPGothic" pitchFamily="34" charset="-120"/>
              </a:rPr>
              <a:t>約380万円/年</a:t>
            </a:r>
            <a:endParaRPr lang="en-US" sz="2200" dirty="0"/>
          </a:p>
        </p:txBody>
      </p:sp>
      <p:sp>
        <p:nvSpPr>
          <p:cNvPr id="12" name="Text 10"/>
          <p:cNvSpPr/>
          <p:nvPr/>
        </p:nvSpPr>
        <p:spPr>
          <a:xfrm>
            <a:off x="640080" y="3703320"/>
            <a:ext cx="3566160" cy="292608"/>
          </a:xfrm>
          <a:prstGeom prst="rect">
            <a:avLst/>
          </a:prstGeom>
          <a:noFill/>
          <a:ln/>
        </p:spPr>
        <p:txBody>
          <a:bodyPr wrap="square" rtlCol="0" anchor="ctr"/>
          <a:lstStyle/>
          <a:p>
            <a:pPr indent="0" marL="0">
              <a:buNone/>
            </a:pPr>
            <a:r>
              <a:rPr lang="en-US" sz="1100" dirty="0">
                <a:solidFill>
                  <a:srgbClr val="C8161D"/>
                </a:solidFill>
                <a:latin typeface="Arial" pitchFamily="34" charset="0"/>
                <a:ea typeface="BIZ UDPGothic" pitchFamily="34" charset="-122"/>
                <a:cs typeface="BIZ UDPGothic" pitchFamily="34" charset="-120"/>
              </a:rPr>
              <a:t>差：約160万円</a:t>
            </a:r>
            <a:endParaRPr lang="en-US" sz="1100" dirty="0"/>
          </a:p>
        </p:txBody>
      </p:sp>
      <p:sp>
        <p:nvSpPr>
          <p:cNvPr id="13" name="Text 11"/>
          <p:cNvSpPr/>
          <p:nvPr/>
        </p:nvSpPr>
        <p:spPr>
          <a:xfrm>
            <a:off x="4434840" y="2514600"/>
            <a:ext cx="548640" cy="548640"/>
          </a:xfrm>
          <a:prstGeom prst="rect">
            <a:avLst/>
          </a:prstGeom>
          <a:noFill/>
          <a:ln/>
        </p:spPr>
        <p:txBody>
          <a:bodyPr wrap="square" rtlCol="0" anchor="ctr"/>
          <a:lstStyle/>
          <a:p>
            <a:pPr algn="ctr" indent="0" marL="0">
              <a:buNone/>
            </a:pPr>
            <a:r>
              <a:rPr lang="en-US" sz="2800" b="1" dirty="0">
                <a:solidFill>
                  <a:srgbClr val="C8161D"/>
                </a:solidFill>
                <a:latin typeface="Arial" pitchFamily="34" charset="0"/>
                <a:ea typeface="BIZ UDPGothic" pitchFamily="34" charset="-122"/>
                <a:cs typeface="BIZ UDPGothic" pitchFamily="34" charset="-120"/>
              </a:rPr>
              <a:t>→</a:t>
            </a:r>
            <a:endParaRPr lang="en-US" sz="2800" dirty="0"/>
          </a:p>
        </p:txBody>
      </p:sp>
      <p:sp>
        <p:nvSpPr>
          <p:cNvPr id="14" name="Shape 12"/>
          <p:cNvSpPr/>
          <p:nvPr/>
        </p:nvSpPr>
        <p:spPr>
          <a:xfrm>
            <a:off x="5029200" y="1417320"/>
            <a:ext cx="3657600" cy="3291840"/>
          </a:xfrm>
          <a:prstGeom prst="roundRect">
            <a:avLst>
              <a:gd name="adj" fmla="val 2778"/>
            </a:avLst>
          </a:prstGeom>
          <a:solidFill>
            <a:srgbClr val="C8161D"/>
          </a:solidFill>
          <a:ln/>
          <a:effectLst>
            <a:outerShdw sx="100000" sy="100000" kx="0" ky="0" algn="bl" rotWithShape="0" blurRad="127000" dist="38100" dir="2700000">
              <a:srgbClr val="000000">
                <a:alpha val="35000"/>
              </a:srgbClr>
            </a:outerShdw>
          </a:effectLst>
        </p:spPr>
      </p:sp>
      <p:sp>
        <p:nvSpPr>
          <p:cNvPr id="15" name="Text 13"/>
          <p:cNvSpPr/>
          <p:nvPr/>
        </p:nvSpPr>
        <p:spPr>
          <a:xfrm>
            <a:off x="5212080" y="1536192"/>
            <a:ext cx="329184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BIZ UDPGothic" pitchFamily="34" charset="-122"/>
                <a:cs typeface="BIZ UDPGothic" pitchFamily="34" charset="-120"/>
              </a:rPr>
              <a:t>改革後の目指す姿</a:t>
            </a:r>
            <a:endParaRPr lang="en-US" sz="1200" dirty="0"/>
          </a:p>
        </p:txBody>
      </p:sp>
      <p:sp>
        <p:nvSpPr>
          <p:cNvPr id="16" name="Text 14"/>
          <p:cNvSpPr/>
          <p:nvPr/>
        </p:nvSpPr>
        <p:spPr>
          <a:xfrm>
            <a:off x="5212080" y="1901952"/>
            <a:ext cx="2743200" cy="320040"/>
          </a:xfrm>
          <a:prstGeom prst="rect">
            <a:avLst/>
          </a:prstGeom>
          <a:noFill/>
          <a:ln/>
        </p:spPr>
        <p:txBody>
          <a:bodyPr wrap="square" rtlCol="0" anchor="ctr"/>
          <a:lstStyle/>
          <a:p>
            <a:pPr indent="0" marL="0">
              <a:buNone/>
            </a:pPr>
            <a:r>
              <a:rPr lang="en-US" sz="1200" dirty="0">
                <a:solidFill>
                  <a:srgbClr val="FFFFFF"/>
                </a:solidFill>
                <a:latin typeface="Arial" pitchFamily="34" charset="0"/>
                <a:ea typeface="BIZ UDPGothic" pitchFamily="34" charset="-122"/>
                <a:cs typeface="BIZ UDPGothic" pitchFamily="34" charset="-120"/>
              </a:rPr>
              <a:t>最低賃金水準</a:t>
            </a:r>
            <a:endParaRPr lang="en-US" sz="1200" dirty="0"/>
          </a:p>
        </p:txBody>
      </p:sp>
      <p:sp>
        <p:nvSpPr>
          <p:cNvPr id="17" name="Text 15"/>
          <p:cNvSpPr/>
          <p:nvPr/>
        </p:nvSpPr>
        <p:spPr>
          <a:xfrm>
            <a:off x="5212080" y="2240280"/>
            <a:ext cx="3291840" cy="731520"/>
          </a:xfrm>
          <a:prstGeom prst="rect">
            <a:avLst/>
          </a:prstGeom>
          <a:noFill/>
          <a:ln/>
        </p:spPr>
        <p:txBody>
          <a:bodyPr wrap="square" rtlCol="0" anchor="ctr"/>
          <a:lstStyle/>
          <a:p>
            <a:pPr indent="0" marL="0">
              <a:lnSpc>
                <a:spcPct val="120000"/>
              </a:lnSpc>
              <a:buNone/>
            </a:pPr>
            <a:r>
              <a:rPr lang="en-US" sz="1600" b="1" dirty="0">
                <a:solidFill>
                  <a:srgbClr val="FFFFFF"/>
                </a:solidFill>
                <a:latin typeface="Arial" pitchFamily="34" charset="0"/>
                <a:ea typeface="BIZ UDPGothic" pitchFamily="34" charset="-122"/>
                <a:cs typeface="BIZ UDPGothic" pitchFamily="34" charset="-120"/>
              </a:rPr>
              <a:t>約384万円/年</a:t>
            </a:r>
            <a:endParaRPr lang="en-US" sz="1600" dirty="0"/>
          </a:p>
          <a:p>
            <a:pPr indent="0" marL="0">
              <a:lnSpc>
                <a:spcPct val="120000"/>
              </a:lnSpc>
              <a:buNone/>
            </a:pPr>
            <a:r>
              <a:rPr lang="en-US" sz="1600" b="1" dirty="0">
                <a:solidFill>
                  <a:srgbClr val="FFFFFF"/>
                </a:solidFill>
                <a:latin typeface="Arial" pitchFamily="34" charset="0"/>
                <a:ea typeface="BIZ UDPGothic" pitchFamily="34" charset="-122"/>
                <a:cs typeface="BIZ UDPGothic" pitchFamily="34" charset="-120"/>
              </a:rPr>
              <a:t>（2,000円×8h×20日×12ヶ月）</a:t>
            </a:r>
            <a:endParaRPr lang="en-US" sz="1600" dirty="0"/>
          </a:p>
        </p:txBody>
      </p:sp>
      <p:sp>
        <p:nvSpPr>
          <p:cNvPr id="18" name="Shape 16"/>
          <p:cNvSpPr/>
          <p:nvPr/>
        </p:nvSpPr>
        <p:spPr>
          <a:xfrm>
            <a:off x="3291840" y="3063240"/>
            <a:ext cx="5212080" cy="22860"/>
          </a:xfrm>
          <a:prstGeom prst="rect">
            <a:avLst/>
          </a:prstGeom>
          <a:solidFill>
            <a:srgbClr val="DDE0E6"/>
          </a:solidFill>
          <a:ln/>
        </p:spPr>
      </p:sp>
      <p:sp>
        <p:nvSpPr>
          <p:cNvPr id="19" name="Text 17"/>
          <p:cNvSpPr/>
          <p:nvPr/>
        </p:nvSpPr>
        <p:spPr>
          <a:xfrm>
            <a:off x="5212080" y="3154680"/>
            <a:ext cx="3291840" cy="320040"/>
          </a:xfrm>
          <a:prstGeom prst="rect">
            <a:avLst/>
          </a:prstGeom>
          <a:noFill/>
          <a:ln/>
        </p:spPr>
        <p:txBody>
          <a:bodyPr wrap="square" rtlCol="0" anchor="ctr"/>
          <a:lstStyle/>
          <a:p>
            <a:pPr indent="0" marL="0">
              <a:buNone/>
            </a:pPr>
            <a:r>
              <a:rPr lang="en-US" sz="1100" dirty="0">
                <a:solidFill>
                  <a:srgbClr val="FFFFFF"/>
                </a:solidFill>
                <a:latin typeface="Arial" pitchFamily="34" charset="0"/>
                <a:ea typeface="BIZ UDPGothic" pitchFamily="34" charset="-122"/>
                <a:cs typeface="BIZ UDPGothic" pitchFamily="34" charset="-120"/>
              </a:rPr>
              <a:t>↓ それに伴い中央値も上昇</a:t>
            </a:r>
            <a:endParaRPr lang="en-US" sz="1100" dirty="0"/>
          </a:p>
        </p:txBody>
      </p:sp>
      <p:sp>
        <p:nvSpPr>
          <p:cNvPr id="20" name="Text 18"/>
          <p:cNvSpPr/>
          <p:nvPr/>
        </p:nvSpPr>
        <p:spPr>
          <a:xfrm>
            <a:off x="5212080" y="3493008"/>
            <a:ext cx="3291840" cy="50292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BIZ UDPGothic" pitchFamily="34" charset="-122"/>
                <a:cs typeface="BIZ UDPGothic" pitchFamily="34" charset="-120"/>
              </a:rPr>
              <a:t>約550〜600万円/年</a:t>
            </a:r>
            <a:endParaRPr lang="en-US" sz="2200" dirty="0"/>
          </a:p>
        </p:txBody>
      </p:sp>
      <p:sp>
        <p:nvSpPr>
          <p:cNvPr id="21" name="Text 19"/>
          <p:cNvSpPr/>
          <p:nvPr/>
        </p:nvSpPr>
        <p:spPr>
          <a:xfrm>
            <a:off x="5212080" y="4005072"/>
            <a:ext cx="3291840" cy="292608"/>
          </a:xfrm>
          <a:prstGeom prst="rect">
            <a:avLst/>
          </a:prstGeom>
          <a:noFill/>
          <a:ln/>
        </p:spPr>
        <p:txBody>
          <a:bodyPr wrap="square" rtlCol="0" anchor="ctr"/>
          <a:lstStyle/>
          <a:p>
            <a:pPr indent="0" marL="0">
              <a:buNone/>
            </a:pPr>
            <a:r>
              <a:rPr lang="en-US" sz="1100" dirty="0">
                <a:solidFill>
                  <a:srgbClr val="FFFFFF"/>
                </a:solidFill>
                <a:latin typeface="Arial" pitchFamily="34" charset="0"/>
                <a:ea typeface="BIZ UDPGothic" pitchFamily="34" charset="-122"/>
                <a:cs typeface="BIZ UDPGothic" pitchFamily="34" charset="-120"/>
              </a:rPr>
              <a:t>全員の年収が比例して上がる</a:t>
            </a:r>
            <a:endParaRPr lang="en-US" sz="1100" dirty="0"/>
          </a:p>
        </p:txBody>
      </p:sp>
      <p:sp>
        <p:nvSpPr>
          <p:cNvPr id="22" name="Shape 20"/>
          <p:cNvSpPr/>
          <p:nvPr/>
        </p:nvSpPr>
        <p:spPr>
          <a:xfrm>
            <a:off x="457200" y="4800600"/>
            <a:ext cx="8229600" cy="292608"/>
          </a:xfrm>
          <a:prstGeom prst="roundRect">
            <a:avLst>
              <a:gd name="adj" fmla="val 15625"/>
            </a:avLst>
          </a:prstGeom>
          <a:solidFill>
            <a:srgbClr val="DDE0E6"/>
          </a:solidFill>
          <a:ln/>
        </p:spPr>
      </p:sp>
      <p:sp>
        <p:nvSpPr>
          <p:cNvPr id="23" name="Text 21"/>
          <p:cNvSpPr/>
          <p:nvPr/>
        </p:nvSpPr>
        <p:spPr>
          <a:xfrm>
            <a:off x="640080" y="4800600"/>
            <a:ext cx="7863840" cy="292608"/>
          </a:xfrm>
          <a:prstGeom prst="rect">
            <a:avLst/>
          </a:prstGeom>
          <a:noFill/>
          <a:ln/>
        </p:spPr>
        <p:txBody>
          <a:bodyPr wrap="square" rtlCol="0" anchor="ctr"/>
          <a:lstStyle/>
          <a:p>
            <a:pPr indent="0" marL="0">
              <a:buNone/>
            </a:pPr>
            <a:r>
              <a:rPr lang="en-US" sz="1000" dirty="0">
                <a:solidFill>
                  <a:srgbClr val="16181D"/>
                </a:solidFill>
                <a:latin typeface="Arial" pitchFamily="34" charset="0"/>
                <a:ea typeface="BIZ UDPGothic" pitchFamily="34" charset="-122"/>
                <a:cs typeface="BIZ UDPGothic" pitchFamily="34" charset="-120"/>
              </a:rPr>
              <a:t>「底を切り上げる」ことで底から天井まで全体が押し上がる。最低賃金の人を中央値に合わせるのではなく、今の中央値の水準そのものを底に設定する施策。</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rtlCol="0" anchor="ctr"/>
          <a:lstStyle/>
          <a:p>
            <a:pPr indent="0" marL="0">
              <a:buNone/>
            </a:pPr>
            <a:r>
              <a:rPr lang="en-US" sz="900" b="1" spc="300" kern="0" dirty="0">
                <a:solidFill>
                  <a:srgbClr val="C8161D"/>
                </a:solidFill>
                <a:latin typeface="Arial" pitchFamily="34" charset="0"/>
                <a:ea typeface="BIZ UDPGothic" pitchFamily="34" charset="-122"/>
                <a:cs typeface="BIZ UDPGothic" pitchFamily="34" charset="-120"/>
              </a:rPr>
              <a:t>何をするか 02 / 06</a:t>
            </a:r>
            <a:endParaRPr lang="en-US" sz="900" dirty="0"/>
          </a:p>
        </p:txBody>
      </p:sp>
      <p:sp>
        <p:nvSpPr>
          <p:cNvPr id="3" name="Text 1"/>
          <p:cNvSpPr/>
          <p:nvPr/>
        </p:nvSpPr>
        <p:spPr>
          <a:xfrm>
            <a:off x="457200" y="502920"/>
            <a:ext cx="8229600" cy="685800"/>
          </a:xfrm>
          <a:prstGeom prst="rect">
            <a:avLst/>
          </a:prstGeom>
          <a:noFill/>
          <a:ln/>
        </p:spPr>
        <p:txBody>
          <a:bodyPr wrap="square" rtlCol="0" anchor="ctr"/>
          <a:lstStyle/>
          <a:p>
            <a:pPr indent="0" marL="0">
              <a:buNone/>
            </a:pPr>
            <a:r>
              <a:rPr lang="en-US" sz="2600" b="1" dirty="0">
                <a:solidFill>
                  <a:srgbClr val="16181D"/>
                </a:solidFill>
                <a:latin typeface="Arial" pitchFamily="34" charset="0"/>
                <a:ea typeface="BIZ UDPGothic" pitchFamily="34" charset="-122"/>
                <a:cs typeface="BIZ UDPGothic" pitchFamily="34" charset="-120"/>
              </a:rPr>
              <a:t>税金の仕組みを変える：頑張った分だけ手元に残る</a:t>
            </a:r>
            <a:endParaRPr lang="en-US" sz="2600" dirty="0"/>
          </a:p>
        </p:txBody>
      </p:sp>
      <p:sp>
        <p:nvSpPr>
          <p:cNvPr id="4" name="Shape 2"/>
          <p:cNvSpPr/>
          <p:nvPr/>
        </p:nvSpPr>
        <p:spPr>
          <a:xfrm>
            <a:off x="457200" y="1261872"/>
            <a:ext cx="8229600" cy="22860"/>
          </a:xfrm>
          <a:prstGeom prst="rect">
            <a:avLst/>
          </a:prstGeom>
          <a:solidFill>
            <a:srgbClr val="DDE0E6"/>
          </a:solidFill>
          <a:ln/>
        </p:spPr>
      </p:sp>
      <p:sp>
        <p:nvSpPr>
          <p:cNvPr id="5" name="Shape 3"/>
          <p:cNvSpPr/>
          <p:nvPr/>
        </p:nvSpPr>
        <p:spPr>
          <a:xfrm>
            <a:off x="457200" y="1417320"/>
            <a:ext cx="3931920" cy="1691640"/>
          </a:xfrm>
          <a:prstGeom prst="roundRect">
            <a:avLst>
              <a:gd name="adj" fmla="val 5405"/>
            </a:avLst>
          </a:prstGeom>
          <a:solidFill>
            <a:srgbClr val="FFFFFF"/>
          </a:solidFill>
          <a:ln/>
          <a:effectLst>
            <a:outerShdw sx="100000" sy="100000" kx="0" ky="0" algn="bl" rotWithShape="0" blurRad="127000" dist="38100" dir="2700000">
              <a:srgbClr val="000000">
                <a:alpha val="35000"/>
              </a:srgbClr>
            </a:outerShdw>
          </a:effectLst>
        </p:spPr>
      </p:sp>
      <p:sp>
        <p:nvSpPr>
          <p:cNvPr id="6" name="Text 4"/>
          <p:cNvSpPr/>
          <p:nvPr/>
        </p:nvSpPr>
        <p:spPr>
          <a:xfrm>
            <a:off x="640080" y="1536192"/>
            <a:ext cx="3566160" cy="320040"/>
          </a:xfrm>
          <a:prstGeom prst="rect">
            <a:avLst/>
          </a:prstGeom>
          <a:noFill/>
          <a:ln/>
        </p:spPr>
        <p:txBody>
          <a:bodyPr wrap="square" rtlCol="0" anchor="ctr"/>
          <a:lstStyle/>
          <a:p>
            <a:pPr indent="0" marL="0">
              <a:buNone/>
            </a:pPr>
            <a:r>
              <a:rPr lang="en-US" sz="1200" b="1" dirty="0">
                <a:solidFill>
                  <a:srgbClr val="4B515C"/>
                </a:solidFill>
                <a:latin typeface="Arial" pitchFamily="34" charset="0"/>
                <a:ea typeface="BIZ UDPGothic" pitchFamily="34" charset="-122"/>
                <a:cs typeface="BIZ UDPGothic" pitchFamily="34" charset="-120"/>
              </a:rPr>
              <a:t>所得税（今の仕組み）</a:t>
            </a:r>
            <a:endParaRPr lang="en-US" sz="1200" dirty="0"/>
          </a:p>
        </p:txBody>
      </p:sp>
      <p:sp>
        <p:nvSpPr>
          <p:cNvPr id="7" name="Text 5"/>
          <p:cNvSpPr/>
          <p:nvPr/>
        </p:nvSpPr>
        <p:spPr>
          <a:xfrm>
            <a:off x="640080" y="1901952"/>
            <a:ext cx="3566160" cy="1097280"/>
          </a:xfrm>
          <a:prstGeom prst="rect">
            <a:avLst/>
          </a:prstGeom>
          <a:noFill/>
          <a:ln/>
        </p:spPr>
        <p:txBody>
          <a:bodyPr wrap="square" rtlCol="0" anchor="ctr"/>
          <a:lstStyle/>
          <a:p>
            <a:pPr indent="0" marL="0">
              <a:lnSpc>
                <a:spcPct val="140000"/>
              </a:lnSpc>
              <a:buNone/>
            </a:pPr>
            <a:r>
              <a:rPr lang="en-US" sz="1200" dirty="0">
                <a:solidFill>
                  <a:srgbClr val="16181D"/>
                </a:solidFill>
                <a:latin typeface="Arial" pitchFamily="34" charset="0"/>
                <a:ea typeface="BIZ UDPGothic" pitchFamily="34" charset="-122"/>
                <a:cs typeface="BIZ UDPGothic" pitchFamily="34" charset="-120"/>
              </a:rPr>
              <a:t>収入が増えるほど税率UP</a:t>
            </a:r>
            <a:endParaRPr lang="en-US" sz="1200" dirty="0"/>
          </a:p>
          <a:p>
            <a:pPr indent="0" marL="0">
              <a:lnSpc>
                <a:spcPct val="140000"/>
              </a:lnSpc>
              <a:buNone/>
            </a:pPr>
            <a:r>
              <a:rPr lang="en-US" sz="1200" dirty="0">
                <a:solidFill>
                  <a:srgbClr val="16181D"/>
                </a:solidFill>
                <a:latin typeface="Arial" pitchFamily="34" charset="0"/>
                <a:ea typeface="BIZ UDPGothic" pitchFamily="34" charset="-122"/>
                <a:cs typeface="BIZ UDPGothic" pitchFamily="34" charset="-120"/>
              </a:rPr>
              <a:t>最高で所得税45%＋住民税10%＝55%！</a:t>
            </a:r>
            <a:endParaRPr lang="en-US" sz="1200" dirty="0"/>
          </a:p>
          <a:p>
            <a:pPr indent="0" marL="0">
              <a:lnSpc>
                <a:spcPct val="140000"/>
              </a:lnSpc>
              <a:buNone/>
            </a:pPr>
            <a:r>
              <a:rPr lang="en-US" sz="1200" dirty="0">
                <a:solidFill>
                  <a:srgbClr val="16181D"/>
                </a:solidFill>
                <a:latin typeface="Arial" pitchFamily="34" charset="0"/>
                <a:ea typeface="BIZ UDPGothic" pitchFamily="34" charset="-122"/>
                <a:cs typeface="BIZ UDPGothic" pitchFamily="34" charset="-120"/>
              </a:rPr>
              <a:t>→ 稼いでも半分以上が税金に</a:t>
            </a:r>
            <a:endParaRPr lang="en-US" sz="1200" dirty="0"/>
          </a:p>
        </p:txBody>
      </p:sp>
      <p:sp>
        <p:nvSpPr>
          <p:cNvPr id="8" name="Text 6"/>
          <p:cNvSpPr/>
          <p:nvPr/>
        </p:nvSpPr>
        <p:spPr>
          <a:xfrm>
            <a:off x="4434840" y="2011680"/>
            <a:ext cx="457200" cy="548640"/>
          </a:xfrm>
          <a:prstGeom prst="rect">
            <a:avLst/>
          </a:prstGeom>
          <a:noFill/>
          <a:ln/>
        </p:spPr>
        <p:txBody>
          <a:bodyPr wrap="square" rtlCol="0" anchor="ctr"/>
          <a:lstStyle/>
          <a:p>
            <a:pPr algn="ctr" indent="0" marL="0">
              <a:buNone/>
            </a:pPr>
            <a:r>
              <a:rPr lang="en-US" sz="2600" b="1" dirty="0">
                <a:solidFill>
                  <a:srgbClr val="C8161D"/>
                </a:solidFill>
                <a:latin typeface="Arial" pitchFamily="34" charset="0"/>
                <a:ea typeface="BIZ UDPGothic" pitchFamily="34" charset="-122"/>
                <a:cs typeface="BIZ UDPGothic" pitchFamily="34" charset="-120"/>
              </a:rPr>
              <a:t>→</a:t>
            </a:r>
            <a:endParaRPr lang="en-US" sz="2600" dirty="0"/>
          </a:p>
        </p:txBody>
      </p:sp>
      <p:sp>
        <p:nvSpPr>
          <p:cNvPr id="9" name="Shape 7"/>
          <p:cNvSpPr/>
          <p:nvPr/>
        </p:nvSpPr>
        <p:spPr>
          <a:xfrm>
            <a:off x="4846320" y="1417320"/>
            <a:ext cx="3749040" cy="1691640"/>
          </a:xfrm>
          <a:prstGeom prst="roundRect">
            <a:avLst>
              <a:gd name="adj" fmla="val 5405"/>
            </a:avLst>
          </a:prstGeom>
          <a:solidFill>
            <a:srgbClr val="C8161D"/>
          </a:solidFill>
          <a:ln/>
          <a:effectLst>
            <a:outerShdw sx="100000" sy="100000" kx="0" ky="0" algn="bl" rotWithShape="0" blurRad="127000" dist="38100" dir="2700000">
              <a:srgbClr val="000000">
                <a:alpha val="35000"/>
              </a:srgbClr>
            </a:outerShdw>
          </a:effectLst>
        </p:spPr>
      </p:sp>
      <p:sp>
        <p:nvSpPr>
          <p:cNvPr id="10" name="Text 8"/>
          <p:cNvSpPr/>
          <p:nvPr/>
        </p:nvSpPr>
        <p:spPr>
          <a:xfrm>
            <a:off x="5029200" y="1536192"/>
            <a:ext cx="338328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BIZ UDPGothic" pitchFamily="34" charset="-122"/>
                <a:cs typeface="BIZ UDPGothic" pitchFamily="34" charset="-120"/>
              </a:rPr>
              <a:t>フラット税（新しい仕組み）</a:t>
            </a:r>
            <a:endParaRPr lang="en-US" sz="1200" dirty="0"/>
          </a:p>
        </p:txBody>
      </p:sp>
      <p:sp>
        <p:nvSpPr>
          <p:cNvPr id="11" name="Text 9"/>
          <p:cNvSpPr/>
          <p:nvPr/>
        </p:nvSpPr>
        <p:spPr>
          <a:xfrm>
            <a:off x="5029200" y="1901952"/>
            <a:ext cx="3383280" cy="1097280"/>
          </a:xfrm>
          <a:prstGeom prst="rect">
            <a:avLst/>
          </a:prstGeom>
          <a:noFill/>
          <a:ln/>
        </p:spPr>
        <p:txBody>
          <a:bodyPr wrap="square" rtlCol="0" anchor="ctr"/>
          <a:lstStyle/>
          <a:p>
            <a:pPr indent="0" marL="0">
              <a:lnSpc>
                <a:spcPct val="140000"/>
              </a:lnSpc>
              <a:buNone/>
            </a:pPr>
            <a:r>
              <a:rPr lang="en-US" sz="1200" dirty="0">
                <a:solidFill>
                  <a:srgbClr val="FFFFFF"/>
                </a:solidFill>
                <a:latin typeface="Arial" pitchFamily="34" charset="0"/>
                <a:ea typeface="BIZ UDPGothic" pitchFamily="34" charset="-122"/>
                <a:cs typeface="BIZ UDPGothic" pitchFamily="34" charset="-120"/>
              </a:rPr>
              <a:t>全員が同じ税率</a:t>
            </a:r>
            <a:endParaRPr lang="en-US" sz="1200" dirty="0"/>
          </a:p>
          <a:p>
            <a:pPr indent="0" marL="0">
              <a:lnSpc>
                <a:spcPct val="140000"/>
              </a:lnSpc>
              <a:buNone/>
            </a:pPr>
            <a:r>
              <a:rPr lang="en-US" sz="1200" dirty="0">
                <a:solidFill>
                  <a:srgbClr val="FFFFFF"/>
                </a:solidFill>
                <a:latin typeface="Arial" pitchFamily="34" charset="0"/>
                <a:ea typeface="BIZ UDPGothic" pitchFamily="34" charset="-122"/>
                <a:cs typeface="BIZ UDPGothic" pitchFamily="34" charset="-120"/>
              </a:rPr>
              <a:t>稼いでも税率は変わらない</a:t>
            </a:r>
            <a:endParaRPr lang="en-US" sz="1200" dirty="0"/>
          </a:p>
          <a:p>
            <a:pPr indent="0" marL="0">
              <a:lnSpc>
                <a:spcPct val="140000"/>
              </a:lnSpc>
              <a:buNone/>
            </a:pPr>
            <a:r>
              <a:rPr lang="en-US" sz="1200" dirty="0">
                <a:solidFill>
                  <a:srgbClr val="FFFFFF"/>
                </a:solidFill>
                <a:latin typeface="Arial" pitchFamily="34" charset="0"/>
                <a:ea typeface="BIZ UDPGothic" pitchFamily="34" charset="-122"/>
                <a:cs typeface="BIZ UDPGothic" pitchFamily="34" charset="-120"/>
              </a:rPr>
              <a:t>→ 頑張れば頑張るほど手取りが増える</a:t>
            </a:r>
            <a:endParaRPr lang="en-US" sz="1200" dirty="0"/>
          </a:p>
        </p:txBody>
      </p:sp>
      <p:sp>
        <p:nvSpPr>
          <p:cNvPr id="12" name="Shape 10"/>
          <p:cNvSpPr/>
          <p:nvPr/>
        </p:nvSpPr>
        <p:spPr>
          <a:xfrm>
            <a:off x="457200" y="3246120"/>
            <a:ext cx="2606040" cy="1600200"/>
          </a:xfrm>
          <a:prstGeom prst="roundRect">
            <a:avLst>
              <a:gd name="adj" fmla="val 5714"/>
            </a:avLst>
          </a:prstGeom>
          <a:solidFill>
            <a:srgbClr val="FFFFFF"/>
          </a:solidFill>
          <a:ln/>
          <a:effectLst>
            <a:outerShdw sx="100000" sy="100000" kx="0" ky="0" algn="bl" rotWithShape="0" blurRad="127000" dist="38100" dir="2700000">
              <a:srgbClr val="000000">
                <a:alpha val="35000"/>
              </a:srgbClr>
            </a:outerShdw>
          </a:effectLst>
        </p:spPr>
      </p:sp>
      <p:sp>
        <p:nvSpPr>
          <p:cNvPr id="13" name="Text 11"/>
          <p:cNvSpPr/>
          <p:nvPr/>
        </p:nvSpPr>
        <p:spPr>
          <a:xfrm>
            <a:off x="640080" y="3383280"/>
            <a:ext cx="2240280" cy="292608"/>
          </a:xfrm>
          <a:prstGeom prst="rect">
            <a:avLst/>
          </a:prstGeom>
          <a:noFill/>
          <a:ln/>
        </p:spPr>
        <p:txBody>
          <a:bodyPr wrap="square" rtlCol="0" anchor="ctr"/>
          <a:lstStyle/>
          <a:p>
            <a:pPr indent="0" marL="0">
              <a:buNone/>
            </a:pPr>
            <a:r>
              <a:rPr lang="en-US" sz="1200" b="1" dirty="0">
                <a:solidFill>
                  <a:srgbClr val="C8161D"/>
                </a:solidFill>
                <a:latin typeface="Arial" pitchFamily="34" charset="0"/>
                <a:ea typeface="BIZ UDPGothic" pitchFamily="34" charset="-122"/>
                <a:cs typeface="BIZ UDPGothic" pitchFamily="34" charset="-120"/>
              </a:rPr>
              <a:t>正直な話</a:t>
            </a:r>
            <a:endParaRPr lang="en-US" sz="1200" dirty="0"/>
          </a:p>
        </p:txBody>
      </p:sp>
      <p:sp>
        <p:nvSpPr>
          <p:cNvPr id="14" name="Text 12"/>
          <p:cNvSpPr/>
          <p:nvPr/>
        </p:nvSpPr>
        <p:spPr>
          <a:xfrm>
            <a:off x="640080" y="3703320"/>
            <a:ext cx="2240280" cy="1005840"/>
          </a:xfrm>
          <a:prstGeom prst="rect">
            <a:avLst/>
          </a:prstGeom>
          <a:noFill/>
          <a:ln/>
        </p:spPr>
        <p:txBody>
          <a:bodyPr wrap="square" rtlCol="0" anchor="ctr"/>
          <a:lstStyle/>
          <a:p>
            <a:pPr indent="0" marL="0">
              <a:lnSpc>
                <a:spcPct val="135000"/>
              </a:lnSpc>
              <a:buNone/>
            </a:pPr>
            <a:r>
              <a:rPr lang="en-US" sz="1100" dirty="0">
                <a:solidFill>
                  <a:srgbClr val="16181D"/>
                </a:solidFill>
                <a:latin typeface="Arial" pitchFamily="34" charset="0"/>
                <a:ea typeface="BIZ UDPGothic" pitchFamily="34" charset="-122"/>
                <a:cs typeface="BIZ UDPGothic" pitchFamily="34" charset="-120"/>
              </a:rPr>
              <a:t>フラット税で一番得をするのは高所得者。「金持ち優遇」という批判は正しい。だからこそ次の「控除のフラット化」とセットで設計する。</a:t>
            </a:r>
            <a:endParaRPr lang="en-US" sz="1100" dirty="0"/>
          </a:p>
        </p:txBody>
      </p:sp>
      <p:sp>
        <p:nvSpPr>
          <p:cNvPr id="15" name="Shape 13"/>
          <p:cNvSpPr/>
          <p:nvPr/>
        </p:nvSpPr>
        <p:spPr>
          <a:xfrm>
            <a:off x="3200400" y="3246120"/>
            <a:ext cx="2606040" cy="1600200"/>
          </a:xfrm>
          <a:prstGeom prst="roundRect">
            <a:avLst>
              <a:gd name="adj" fmla="val 5714"/>
            </a:avLst>
          </a:prstGeom>
          <a:solidFill>
            <a:srgbClr val="FFFFFF"/>
          </a:solidFill>
          <a:ln/>
          <a:effectLst>
            <a:outerShdw sx="100000" sy="100000" kx="0" ky="0" algn="bl" rotWithShape="0" blurRad="127000" dist="38100" dir="2700000">
              <a:srgbClr val="000000">
                <a:alpha val="35000"/>
              </a:srgbClr>
            </a:outerShdw>
          </a:effectLst>
        </p:spPr>
      </p:sp>
      <p:sp>
        <p:nvSpPr>
          <p:cNvPr id="16" name="Text 14"/>
          <p:cNvSpPr/>
          <p:nvPr/>
        </p:nvSpPr>
        <p:spPr>
          <a:xfrm>
            <a:off x="3383280" y="3383280"/>
            <a:ext cx="2240280" cy="292608"/>
          </a:xfrm>
          <a:prstGeom prst="rect">
            <a:avLst/>
          </a:prstGeom>
          <a:noFill/>
          <a:ln/>
        </p:spPr>
        <p:txBody>
          <a:bodyPr wrap="square" rtlCol="0" anchor="ctr"/>
          <a:lstStyle/>
          <a:p>
            <a:pPr indent="0" marL="0">
              <a:buNone/>
            </a:pPr>
            <a:r>
              <a:rPr lang="en-US" sz="1200" b="1" dirty="0">
                <a:solidFill>
                  <a:srgbClr val="C8161D"/>
                </a:solidFill>
                <a:latin typeface="Arial" pitchFamily="34" charset="0"/>
                <a:ea typeface="BIZ UDPGothic" pitchFamily="34" charset="-122"/>
                <a:cs typeface="BIZ UDPGothic" pitchFamily="34" charset="-120"/>
              </a:rPr>
              <a:t>控除もフラットにする</a:t>
            </a:r>
            <a:endParaRPr lang="en-US" sz="1200" dirty="0"/>
          </a:p>
        </p:txBody>
      </p:sp>
      <p:sp>
        <p:nvSpPr>
          <p:cNvPr id="17" name="Text 15"/>
          <p:cNvSpPr/>
          <p:nvPr/>
        </p:nvSpPr>
        <p:spPr>
          <a:xfrm>
            <a:off x="3383280" y="3703320"/>
            <a:ext cx="2240280" cy="1005840"/>
          </a:xfrm>
          <a:prstGeom prst="rect">
            <a:avLst/>
          </a:prstGeom>
          <a:noFill/>
          <a:ln/>
        </p:spPr>
        <p:txBody>
          <a:bodyPr wrap="square" rtlCol="0" anchor="ctr"/>
          <a:lstStyle/>
          <a:p>
            <a:pPr indent="0" marL="0">
              <a:lnSpc>
                <a:spcPct val="135000"/>
              </a:lnSpc>
              <a:buNone/>
            </a:pPr>
            <a:r>
              <a:rPr lang="en-US" sz="1100" dirty="0">
                <a:solidFill>
                  <a:srgbClr val="16181D"/>
                </a:solidFill>
                <a:latin typeface="Arial" pitchFamily="34" charset="0"/>
                <a:ea typeface="BIZ UDPGothic" pitchFamily="34" charset="-122"/>
                <a:cs typeface="BIZ UDPGothic" pitchFamily="34" charset="-120"/>
              </a:rPr>
              <a:t>給与から引ける「みなし経費（給与所得控除）」も全員一律120万円に固定。年収が高い人ほど課税ベースが広がる設計で格差を緩和。</a:t>
            </a:r>
            <a:endParaRPr lang="en-US" sz="1100" dirty="0"/>
          </a:p>
        </p:txBody>
      </p:sp>
      <p:sp>
        <p:nvSpPr>
          <p:cNvPr id="18" name="Shape 16"/>
          <p:cNvSpPr/>
          <p:nvPr/>
        </p:nvSpPr>
        <p:spPr>
          <a:xfrm>
            <a:off x="5943600" y="3246120"/>
            <a:ext cx="2651760" cy="1600200"/>
          </a:xfrm>
          <a:prstGeom prst="roundRect">
            <a:avLst>
              <a:gd name="adj" fmla="val 5714"/>
            </a:avLst>
          </a:prstGeom>
          <a:solidFill>
            <a:srgbClr val="FFFFFF"/>
          </a:solidFill>
          <a:ln/>
          <a:effectLst>
            <a:outerShdw sx="100000" sy="100000" kx="0" ky="0" algn="bl" rotWithShape="0" blurRad="127000" dist="38100" dir="2700000">
              <a:srgbClr val="000000">
                <a:alpha val="35000"/>
              </a:srgbClr>
            </a:outerShdw>
          </a:effectLst>
        </p:spPr>
      </p:sp>
      <p:sp>
        <p:nvSpPr>
          <p:cNvPr id="19" name="Text 17"/>
          <p:cNvSpPr/>
          <p:nvPr/>
        </p:nvSpPr>
        <p:spPr>
          <a:xfrm>
            <a:off x="6126480" y="3383280"/>
            <a:ext cx="2286000" cy="292608"/>
          </a:xfrm>
          <a:prstGeom prst="rect">
            <a:avLst/>
          </a:prstGeom>
          <a:noFill/>
          <a:ln/>
        </p:spPr>
        <p:txBody>
          <a:bodyPr wrap="square" rtlCol="0" anchor="ctr"/>
          <a:lstStyle/>
          <a:p>
            <a:pPr indent="0" marL="0">
              <a:buNone/>
            </a:pPr>
            <a:r>
              <a:rPr lang="en-US" sz="1200" b="1" dirty="0">
                <a:solidFill>
                  <a:srgbClr val="C8161D"/>
                </a:solidFill>
                <a:latin typeface="Arial" pitchFamily="34" charset="0"/>
                <a:ea typeface="BIZ UDPGothic" pitchFamily="34" charset="-122"/>
                <a:cs typeface="BIZ UDPGothic" pitchFamily="34" charset="-120"/>
              </a:rPr>
              <a:t>消費税も上げる</a:t>
            </a:r>
            <a:endParaRPr lang="en-US" sz="1200" dirty="0"/>
          </a:p>
        </p:txBody>
      </p:sp>
      <p:sp>
        <p:nvSpPr>
          <p:cNvPr id="20" name="Text 18"/>
          <p:cNvSpPr/>
          <p:nvPr/>
        </p:nvSpPr>
        <p:spPr>
          <a:xfrm>
            <a:off x="6126480" y="3703320"/>
            <a:ext cx="2286000" cy="1005840"/>
          </a:xfrm>
          <a:prstGeom prst="rect">
            <a:avLst/>
          </a:prstGeom>
          <a:noFill/>
          <a:ln/>
        </p:spPr>
        <p:txBody>
          <a:bodyPr wrap="square" rtlCol="0" anchor="ctr"/>
          <a:lstStyle/>
          <a:p>
            <a:pPr indent="0" marL="0">
              <a:lnSpc>
                <a:spcPct val="135000"/>
              </a:lnSpc>
              <a:buNone/>
            </a:pPr>
            <a:r>
              <a:rPr lang="en-US" sz="1100" dirty="0">
                <a:solidFill>
                  <a:srgbClr val="16181D"/>
                </a:solidFill>
                <a:latin typeface="Arial" pitchFamily="34" charset="0"/>
                <a:ea typeface="BIZ UDPGothic" pitchFamily="34" charset="-122"/>
                <a:cs typeface="BIZ UDPGothic" pitchFamily="34" charset="-120"/>
              </a:rPr>
              <a:t>所得税が減った分を補うため、消費税を10%→15%に。安定した財源になるので、社会保障の財源として活用する。</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rtlCol="0" anchor="ctr"/>
          <a:lstStyle/>
          <a:p>
            <a:pPr indent="0" marL="0">
              <a:buNone/>
            </a:pPr>
            <a:r>
              <a:rPr lang="en-US" sz="900" b="1" spc="300" kern="0" dirty="0">
                <a:solidFill>
                  <a:srgbClr val="C8161D"/>
                </a:solidFill>
                <a:latin typeface="Arial" pitchFamily="34" charset="0"/>
                <a:ea typeface="BIZ UDPGothic" pitchFamily="34" charset="-122"/>
                <a:cs typeface="BIZ UDPGothic" pitchFamily="34" charset="-120"/>
              </a:rPr>
              <a:t>何をするか 03 / 06</a:t>
            </a:r>
            <a:endParaRPr lang="en-US" sz="900" dirty="0"/>
          </a:p>
        </p:txBody>
      </p:sp>
      <p:sp>
        <p:nvSpPr>
          <p:cNvPr id="3" name="Text 1"/>
          <p:cNvSpPr/>
          <p:nvPr/>
        </p:nvSpPr>
        <p:spPr>
          <a:xfrm>
            <a:off x="457200" y="502920"/>
            <a:ext cx="8229600" cy="685800"/>
          </a:xfrm>
          <a:prstGeom prst="rect">
            <a:avLst/>
          </a:prstGeom>
          <a:noFill/>
          <a:ln/>
        </p:spPr>
        <p:txBody>
          <a:bodyPr wrap="square" rtlCol="0" anchor="ctr"/>
          <a:lstStyle/>
          <a:p>
            <a:pPr indent="0" marL="0">
              <a:buNone/>
            </a:pPr>
            <a:r>
              <a:rPr lang="en-US" sz="2600" b="1" dirty="0">
                <a:solidFill>
                  <a:srgbClr val="16181D"/>
                </a:solidFill>
                <a:latin typeface="Arial" pitchFamily="34" charset="0"/>
                <a:ea typeface="BIZ UDPGothic" pitchFamily="34" charset="-122"/>
                <a:cs typeface="BIZ UDPGothic" pitchFamily="34" charset="-120"/>
              </a:rPr>
              <a:t>失業したら3年間、生活を保障しながら学び直せる</a:t>
            </a:r>
            <a:endParaRPr lang="en-US" sz="2600" dirty="0"/>
          </a:p>
        </p:txBody>
      </p:sp>
      <p:sp>
        <p:nvSpPr>
          <p:cNvPr id="4" name="Shape 2"/>
          <p:cNvSpPr/>
          <p:nvPr/>
        </p:nvSpPr>
        <p:spPr>
          <a:xfrm>
            <a:off x="457200" y="1261872"/>
            <a:ext cx="8229600" cy="22860"/>
          </a:xfrm>
          <a:prstGeom prst="rect">
            <a:avLst/>
          </a:prstGeom>
          <a:solidFill>
            <a:srgbClr val="DDE0E6"/>
          </a:solidFill>
          <a:ln/>
        </p:spPr>
      </p:sp>
      <p:sp>
        <p:nvSpPr>
          <p:cNvPr id="5" name="Shape 3"/>
          <p:cNvSpPr/>
          <p:nvPr/>
        </p:nvSpPr>
        <p:spPr>
          <a:xfrm>
            <a:off x="457200" y="1417320"/>
            <a:ext cx="3794760" cy="3429000"/>
          </a:xfrm>
          <a:prstGeom prst="roundRect">
            <a:avLst>
              <a:gd name="adj" fmla="val 2667"/>
            </a:avLst>
          </a:prstGeom>
          <a:solidFill>
            <a:srgbClr val="FFFFFF"/>
          </a:solidFill>
          <a:ln/>
          <a:effectLst>
            <a:outerShdw sx="100000" sy="100000" kx="0" ky="0" algn="bl" rotWithShape="0" blurRad="127000" dist="38100" dir="2700000">
              <a:srgbClr val="000000">
                <a:alpha val="35000"/>
              </a:srgbClr>
            </a:outerShdw>
          </a:effectLst>
        </p:spPr>
      </p:sp>
      <p:sp>
        <p:nvSpPr>
          <p:cNvPr id="6" name="Text 4"/>
          <p:cNvSpPr/>
          <p:nvPr/>
        </p:nvSpPr>
        <p:spPr>
          <a:xfrm>
            <a:off x="640080" y="1554480"/>
            <a:ext cx="3429000" cy="320040"/>
          </a:xfrm>
          <a:prstGeom prst="rect">
            <a:avLst/>
          </a:prstGeom>
          <a:noFill/>
          <a:ln/>
        </p:spPr>
        <p:txBody>
          <a:bodyPr wrap="square" rtlCol="0" anchor="ctr"/>
          <a:lstStyle/>
          <a:p>
            <a:pPr indent="0" marL="0">
              <a:buNone/>
            </a:pPr>
            <a:r>
              <a:rPr lang="en-US" sz="1200" b="1" dirty="0">
                <a:solidFill>
                  <a:srgbClr val="4B515C"/>
                </a:solidFill>
                <a:latin typeface="Arial" pitchFamily="34" charset="0"/>
                <a:ea typeface="BIZ UDPGothic" pitchFamily="34" charset="-122"/>
                <a:cs typeface="BIZ UDPGothic" pitchFamily="34" charset="-120"/>
              </a:rPr>
              <a:t>今の日本の失業給付</a:t>
            </a:r>
            <a:endParaRPr lang="en-US" sz="1200" dirty="0"/>
          </a:p>
        </p:txBody>
      </p:sp>
      <p:sp>
        <p:nvSpPr>
          <p:cNvPr id="7" name="Text 5"/>
          <p:cNvSpPr/>
          <p:nvPr/>
        </p:nvSpPr>
        <p:spPr>
          <a:xfrm>
            <a:off x="640080" y="1938528"/>
            <a:ext cx="3429000" cy="2743200"/>
          </a:xfrm>
          <a:prstGeom prst="rect">
            <a:avLst/>
          </a:prstGeom>
          <a:noFill/>
          <a:ln/>
        </p:spPr>
        <p:txBody>
          <a:bodyPr wrap="square" rtlCol="0" anchor="ctr"/>
          <a:lstStyle/>
          <a:p>
            <a:pPr indent="0" marL="0">
              <a:lnSpc>
                <a:spcPct val="150000"/>
              </a:lnSpc>
              <a:buNone/>
            </a:pPr>
            <a:r>
              <a:rPr lang="en-US" sz="1150" dirty="0">
                <a:solidFill>
                  <a:srgbClr val="16181D"/>
                </a:solidFill>
                <a:latin typeface="Arial" pitchFamily="34" charset="0"/>
                <a:ea typeface="BIZ UDPGothic" pitchFamily="34" charset="-122"/>
                <a:cs typeface="BIZ UDPGothic" pitchFamily="34" charset="-120"/>
              </a:rPr>
              <a:t>給付期間：最長330日（約11ヶ月）</a:t>
            </a:r>
            <a:endParaRPr lang="en-US" sz="1150" dirty="0"/>
          </a:p>
          <a:p>
            <a:pPr indent="0" marL="0">
              <a:lnSpc>
                <a:spcPct val="150000"/>
              </a:lnSpc>
              <a:buNone/>
            </a:pPr>
            <a:endParaRPr lang="en-US" sz="1150" dirty="0"/>
          </a:p>
          <a:p>
            <a:pPr indent="0" marL="0">
              <a:lnSpc>
                <a:spcPct val="150000"/>
              </a:lnSpc>
              <a:buNone/>
            </a:pPr>
            <a:r>
              <a:rPr lang="en-US" sz="1150" dirty="0">
                <a:solidFill>
                  <a:srgbClr val="16181D"/>
                </a:solidFill>
                <a:latin typeface="Arial" pitchFamily="34" charset="0"/>
                <a:ea typeface="BIZ UDPGothic" pitchFamily="34" charset="-122"/>
                <a:cs typeface="BIZ UDPGothic" pitchFamily="34" charset="-120"/>
              </a:rPr>
              <a:t>給付額：直前の給料の50〜80%</a:t>
            </a:r>
            <a:endParaRPr lang="en-US" sz="1150" dirty="0"/>
          </a:p>
          <a:p>
            <a:pPr indent="0" marL="0">
              <a:lnSpc>
                <a:spcPct val="150000"/>
              </a:lnSpc>
              <a:buNone/>
            </a:pPr>
            <a:endParaRPr lang="en-US" sz="1150" dirty="0"/>
          </a:p>
          <a:p>
            <a:pPr indent="0" marL="0">
              <a:lnSpc>
                <a:spcPct val="150000"/>
              </a:lnSpc>
              <a:buNone/>
            </a:pPr>
            <a:r>
              <a:rPr lang="en-US" sz="1150" dirty="0">
                <a:solidFill>
                  <a:srgbClr val="16181D"/>
                </a:solidFill>
                <a:latin typeface="Arial" pitchFamily="34" charset="0"/>
                <a:ea typeface="BIZ UDPGothic" pitchFamily="34" charset="-122"/>
                <a:cs typeface="BIZ UDPGothic" pitchFamily="34" charset="-120"/>
              </a:rPr>
              <a:t>学び直し：任意（ほぼ機能しない）</a:t>
            </a:r>
            <a:endParaRPr lang="en-US" sz="1150" dirty="0"/>
          </a:p>
          <a:p>
            <a:pPr indent="0" marL="0">
              <a:lnSpc>
                <a:spcPct val="150000"/>
              </a:lnSpc>
              <a:buNone/>
            </a:pPr>
            <a:endParaRPr lang="en-US" sz="1150" dirty="0"/>
          </a:p>
          <a:p>
            <a:pPr indent="0" marL="0">
              <a:lnSpc>
                <a:spcPct val="150000"/>
              </a:lnSpc>
              <a:buNone/>
            </a:pPr>
            <a:r>
              <a:rPr lang="en-US" sz="1150" dirty="0">
                <a:solidFill>
                  <a:srgbClr val="16181D"/>
                </a:solidFill>
                <a:latin typeface="Arial" pitchFamily="34" charset="0"/>
                <a:ea typeface="BIZ UDPGothic" pitchFamily="34" charset="-122"/>
                <a:cs typeface="BIZ UDPGothic" pitchFamily="34" charset="-120"/>
              </a:rPr>
              <a:t>問題点：転職・キャリアチェンジには</a:t>
            </a:r>
            <a:endParaRPr lang="en-US" sz="1150" dirty="0"/>
          </a:p>
          <a:p>
            <a:pPr indent="0" marL="0">
              <a:lnSpc>
                <a:spcPct val="150000"/>
              </a:lnSpc>
              <a:buNone/>
            </a:pPr>
            <a:r>
              <a:rPr lang="en-US" sz="1150" dirty="0">
                <a:solidFill>
                  <a:srgbClr val="16181D"/>
                </a:solidFill>
                <a:latin typeface="Arial" pitchFamily="34" charset="0"/>
                <a:ea typeface="BIZ UDPGothic" pitchFamily="34" charset="-122"/>
                <a:cs typeface="BIZ UDPGothic" pitchFamily="34" charset="-120"/>
              </a:rPr>
              <a:t>短すぎて、結局また低賃金の仕事に</a:t>
            </a:r>
            <a:endParaRPr lang="en-US" sz="1150" dirty="0"/>
          </a:p>
          <a:p>
            <a:pPr indent="0" marL="0">
              <a:lnSpc>
                <a:spcPct val="150000"/>
              </a:lnSpc>
              <a:buNone/>
            </a:pPr>
            <a:r>
              <a:rPr lang="en-US" sz="1150" dirty="0">
                <a:solidFill>
                  <a:srgbClr val="16181D"/>
                </a:solidFill>
                <a:latin typeface="Arial" pitchFamily="34" charset="0"/>
                <a:ea typeface="BIZ UDPGothic" pitchFamily="34" charset="-122"/>
                <a:cs typeface="BIZ UDPGothic" pitchFamily="34" charset="-120"/>
              </a:rPr>
              <a:t>戻るしかなくなる。</a:t>
            </a:r>
            <a:endParaRPr lang="en-US" sz="1150" dirty="0"/>
          </a:p>
        </p:txBody>
      </p:sp>
      <p:sp>
        <p:nvSpPr>
          <p:cNvPr id="8" name="Text 6"/>
          <p:cNvSpPr/>
          <p:nvPr/>
        </p:nvSpPr>
        <p:spPr>
          <a:xfrm>
            <a:off x="4297680" y="2743200"/>
            <a:ext cx="502920" cy="640080"/>
          </a:xfrm>
          <a:prstGeom prst="rect">
            <a:avLst/>
          </a:prstGeom>
          <a:noFill/>
          <a:ln/>
        </p:spPr>
        <p:txBody>
          <a:bodyPr wrap="square" rtlCol="0" anchor="ctr"/>
          <a:lstStyle/>
          <a:p>
            <a:pPr algn="ctr" indent="0" marL="0">
              <a:buNone/>
            </a:pPr>
            <a:r>
              <a:rPr lang="en-US" sz="2800" b="1" dirty="0">
                <a:solidFill>
                  <a:srgbClr val="C8161D"/>
                </a:solidFill>
                <a:latin typeface="Arial" pitchFamily="34" charset="0"/>
                <a:ea typeface="BIZ UDPGothic" pitchFamily="34" charset="-122"/>
                <a:cs typeface="BIZ UDPGothic" pitchFamily="34" charset="-120"/>
              </a:rPr>
              <a:t>→</a:t>
            </a:r>
            <a:endParaRPr lang="en-US" sz="2800" dirty="0"/>
          </a:p>
        </p:txBody>
      </p:sp>
      <p:sp>
        <p:nvSpPr>
          <p:cNvPr id="9" name="Shape 7"/>
          <p:cNvSpPr/>
          <p:nvPr/>
        </p:nvSpPr>
        <p:spPr>
          <a:xfrm>
            <a:off x="4800600" y="1417320"/>
            <a:ext cx="3794760" cy="3429000"/>
          </a:xfrm>
          <a:prstGeom prst="roundRect">
            <a:avLst>
              <a:gd name="adj" fmla="val 2667"/>
            </a:avLst>
          </a:prstGeom>
          <a:solidFill>
            <a:srgbClr val="C8161D"/>
          </a:solidFill>
          <a:ln/>
          <a:effectLst>
            <a:outerShdw sx="100000" sy="100000" kx="0" ky="0" algn="bl" rotWithShape="0" blurRad="127000" dist="38100" dir="2700000">
              <a:srgbClr val="000000">
                <a:alpha val="35000"/>
              </a:srgbClr>
            </a:outerShdw>
          </a:effectLst>
        </p:spPr>
      </p:sp>
      <p:sp>
        <p:nvSpPr>
          <p:cNvPr id="10" name="Text 8"/>
          <p:cNvSpPr/>
          <p:nvPr/>
        </p:nvSpPr>
        <p:spPr>
          <a:xfrm>
            <a:off x="4983480" y="1554480"/>
            <a:ext cx="342900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BIZ UDPGothic" pitchFamily="34" charset="-122"/>
                <a:cs typeface="BIZ UDPGothic" pitchFamily="34" charset="-120"/>
              </a:rPr>
              <a:t>REBOOTプランの失業給付</a:t>
            </a:r>
            <a:endParaRPr lang="en-US" sz="1200" dirty="0"/>
          </a:p>
        </p:txBody>
      </p:sp>
      <p:sp>
        <p:nvSpPr>
          <p:cNvPr id="11" name="Text 9"/>
          <p:cNvSpPr/>
          <p:nvPr/>
        </p:nvSpPr>
        <p:spPr>
          <a:xfrm>
            <a:off x="4983480" y="1938528"/>
            <a:ext cx="3429000" cy="2743200"/>
          </a:xfrm>
          <a:prstGeom prst="rect">
            <a:avLst/>
          </a:prstGeom>
          <a:noFill/>
          <a:ln/>
        </p:spPr>
        <p:txBody>
          <a:bodyPr wrap="square" rtlCol="0" anchor="ctr"/>
          <a:lstStyle/>
          <a:p>
            <a:pPr indent="0" marL="0">
              <a:lnSpc>
                <a:spcPct val="150000"/>
              </a:lnSpc>
              <a:buNone/>
            </a:pPr>
            <a:r>
              <a:rPr lang="en-US" sz="1150" dirty="0">
                <a:solidFill>
                  <a:srgbClr val="FFFFFF"/>
                </a:solidFill>
                <a:latin typeface="Arial" pitchFamily="34" charset="0"/>
                <a:ea typeface="BIZ UDPGothic" pitchFamily="34" charset="-122"/>
                <a:cs typeface="BIZ UDPGothic" pitchFamily="34" charset="-120"/>
              </a:rPr>
              <a:t>給付期間：最低3年間</a:t>
            </a:r>
            <a:endParaRPr lang="en-US" sz="1150" dirty="0"/>
          </a:p>
          <a:p>
            <a:pPr indent="0" marL="0">
              <a:lnSpc>
                <a:spcPct val="150000"/>
              </a:lnSpc>
              <a:buNone/>
            </a:pPr>
            <a:r>
              <a:rPr lang="en-US" sz="1150" dirty="0">
                <a:solidFill>
                  <a:srgbClr val="FFFFFF"/>
                </a:solidFill>
                <a:latin typeface="Arial" pitchFamily="34" charset="0"/>
                <a:ea typeface="BIZ UDPGothic" pitchFamily="34" charset="-122"/>
                <a:cs typeface="BIZ UDPGothic" pitchFamily="34" charset="-120"/>
              </a:rPr>
              <a:t>（大学に入った場合は最大4年）</a:t>
            </a:r>
            <a:endParaRPr lang="en-US" sz="1150" dirty="0"/>
          </a:p>
          <a:p>
            <a:pPr indent="0" marL="0">
              <a:lnSpc>
                <a:spcPct val="150000"/>
              </a:lnSpc>
              <a:buNone/>
            </a:pPr>
            <a:endParaRPr lang="en-US" sz="1150" dirty="0"/>
          </a:p>
          <a:p>
            <a:pPr indent="0" marL="0">
              <a:lnSpc>
                <a:spcPct val="150000"/>
              </a:lnSpc>
              <a:buNone/>
            </a:pPr>
            <a:r>
              <a:rPr lang="en-US" sz="1150" dirty="0">
                <a:solidFill>
                  <a:srgbClr val="FFFFFF"/>
                </a:solidFill>
                <a:latin typeface="Arial" pitchFamily="34" charset="0"/>
                <a:ea typeface="BIZ UDPGothic" pitchFamily="34" charset="-122"/>
                <a:cs typeface="BIZ UDPGothic" pitchFamily="34" charset="-120"/>
              </a:rPr>
              <a:t>給付額：直前3年間の給料と同額</a:t>
            </a:r>
            <a:endParaRPr lang="en-US" sz="1150" dirty="0"/>
          </a:p>
          <a:p>
            <a:pPr indent="0" marL="0">
              <a:lnSpc>
                <a:spcPct val="150000"/>
              </a:lnSpc>
              <a:buNone/>
            </a:pPr>
            <a:r>
              <a:rPr lang="en-US" sz="1150" dirty="0">
                <a:solidFill>
                  <a:srgbClr val="FFFFFF"/>
                </a:solidFill>
                <a:latin typeface="Arial" pitchFamily="34" charset="0"/>
                <a:ea typeface="BIZ UDPGothic" pitchFamily="34" charset="-122"/>
                <a:cs typeface="BIZ UDPGothic" pitchFamily="34" charset="-120"/>
              </a:rPr>
              <a:t>（上限：年600万円）</a:t>
            </a:r>
            <a:endParaRPr lang="en-US" sz="1150" dirty="0"/>
          </a:p>
          <a:p>
            <a:pPr indent="0" marL="0">
              <a:lnSpc>
                <a:spcPct val="150000"/>
              </a:lnSpc>
              <a:buNone/>
            </a:pPr>
            <a:endParaRPr lang="en-US" sz="1150" dirty="0"/>
          </a:p>
          <a:p>
            <a:pPr indent="0" marL="0">
              <a:lnSpc>
                <a:spcPct val="150000"/>
              </a:lnSpc>
              <a:buNone/>
            </a:pPr>
            <a:r>
              <a:rPr lang="en-US" sz="1150" dirty="0">
                <a:solidFill>
                  <a:srgbClr val="FFFFFF"/>
                </a:solidFill>
                <a:latin typeface="Arial" pitchFamily="34" charset="0"/>
                <a:ea typeface="BIZ UDPGothic" pitchFamily="34" charset="-122"/>
                <a:cs typeface="BIZ UDPGothic" pitchFamily="34" charset="-120"/>
              </a:rPr>
              <a:t>学び直し：2年目から義務化</a:t>
            </a:r>
            <a:endParaRPr lang="en-US" sz="1150" dirty="0"/>
          </a:p>
          <a:p>
            <a:pPr indent="0" marL="0">
              <a:lnSpc>
                <a:spcPct val="150000"/>
              </a:lnSpc>
              <a:buNone/>
            </a:pPr>
            <a:endParaRPr lang="en-US" sz="1150" dirty="0"/>
          </a:p>
          <a:p>
            <a:pPr indent="0" marL="0">
              <a:lnSpc>
                <a:spcPct val="150000"/>
              </a:lnSpc>
              <a:buNone/>
            </a:pPr>
            <a:r>
              <a:rPr lang="en-US" sz="1150" dirty="0">
                <a:solidFill>
                  <a:srgbClr val="FFFFFF"/>
                </a:solidFill>
                <a:latin typeface="Arial" pitchFamily="34" charset="0"/>
                <a:ea typeface="BIZ UDPGothic" pitchFamily="34" charset="-122"/>
                <a:cs typeface="BIZ UDPGothic" pitchFamily="34" charset="-120"/>
              </a:rPr>
              <a:t>目指す姿：失業は「人生の再設計期間」。</a:t>
            </a:r>
            <a:endParaRPr lang="en-US" sz="1150" dirty="0"/>
          </a:p>
          <a:p>
            <a:pPr indent="0" marL="0">
              <a:lnSpc>
                <a:spcPct val="150000"/>
              </a:lnSpc>
              <a:buNone/>
            </a:pPr>
            <a:r>
              <a:rPr lang="en-US" sz="1150" dirty="0">
                <a:solidFill>
                  <a:srgbClr val="FFFFFF"/>
                </a:solidFill>
                <a:latin typeface="Arial" pitchFamily="34" charset="0"/>
                <a:ea typeface="BIZ UDPGothic" pitchFamily="34" charset="-122"/>
                <a:cs typeface="BIZ UDPGothic" pitchFamily="34" charset="-120"/>
              </a:rPr>
              <a:t>3年あれば新しいキャリアを</a:t>
            </a:r>
            <a:endParaRPr lang="en-US" sz="1150" dirty="0"/>
          </a:p>
          <a:p>
            <a:pPr indent="0" marL="0">
              <a:lnSpc>
                <a:spcPct val="150000"/>
              </a:lnSpc>
              <a:buNone/>
            </a:pPr>
            <a:r>
              <a:rPr lang="en-US" sz="1150" dirty="0">
                <a:solidFill>
                  <a:srgbClr val="FFFFFF"/>
                </a:solidFill>
                <a:latin typeface="Arial" pitchFamily="34" charset="0"/>
                <a:ea typeface="BIZ UDPGothic" pitchFamily="34" charset="-122"/>
                <a:cs typeface="BIZ UDPGothic" pitchFamily="34" charset="-120"/>
              </a:rPr>
              <a:t>本気で作れる。</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rtlCol="0" anchor="ctr"/>
          <a:lstStyle/>
          <a:p>
            <a:pPr indent="0" marL="0">
              <a:buNone/>
            </a:pPr>
            <a:r>
              <a:rPr lang="en-US" sz="900" b="1" spc="300" kern="0" dirty="0">
                <a:solidFill>
                  <a:srgbClr val="C8161D"/>
                </a:solidFill>
                <a:latin typeface="Arial" pitchFamily="34" charset="0"/>
                <a:ea typeface="BIZ UDPGothic" pitchFamily="34" charset="-122"/>
                <a:cs typeface="BIZ UDPGothic" pitchFamily="34" charset="-120"/>
              </a:rPr>
              <a:t>何をするか 04 / 06</a:t>
            </a:r>
            <a:endParaRPr lang="en-US" sz="900" dirty="0"/>
          </a:p>
        </p:txBody>
      </p:sp>
      <p:sp>
        <p:nvSpPr>
          <p:cNvPr id="3" name="Text 1"/>
          <p:cNvSpPr/>
          <p:nvPr/>
        </p:nvSpPr>
        <p:spPr>
          <a:xfrm>
            <a:off x="457200" y="502920"/>
            <a:ext cx="8229600" cy="685800"/>
          </a:xfrm>
          <a:prstGeom prst="rect">
            <a:avLst/>
          </a:prstGeom>
          <a:noFill/>
          <a:ln/>
        </p:spPr>
        <p:txBody>
          <a:bodyPr wrap="square" rtlCol="0" anchor="ctr"/>
          <a:lstStyle/>
          <a:p>
            <a:pPr indent="0" marL="0">
              <a:buNone/>
            </a:pPr>
            <a:r>
              <a:rPr lang="en-US" sz="2600" b="1" dirty="0">
                <a:solidFill>
                  <a:srgbClr val="16181D"/>
                </a:solidFill>
                <a:latin typeface="Arial" pitchFamily="34" charset="0"/>
                <a:ea typeface="BIZ UDPGothic" pitchFamily="34" charset="-122"/>
                <a:cs typeface="BIZ UDPGothic" pitchFamily="34" charset="-120"/>
              </a:rPr>
              <a:t>生活保護を「現金一本化」する：不公平をなくす</a:t>
            </a:r>
            <a:endParaRPr lang="en-US" sz="2600" dirty="0"/>
          </a:p>
        </p:txBody>
      </p:sp>
      <p:sp>
        <p:nvSpPr>
          <p:cNvPr id="4" name="Shape 2"/>
          <p:cNvSpPr/>
          <p:nvPr/>
        </p:nvSpPr>
        <p:spPr>
          <a:xfrm>
            <a:off x="457200" y="1261872"/>
            <a:ext cx="8229600" cy="22860"/>
          </a:xfrm>
          <a:prstGeom prst="rect">
            <a:avLst/>
          </a:prstGeom>
          <a:solidFill>
            <a:srgbClr val="DDE0E6"/>
          </a:solidFill>
          <a:ln/>
        </p:spPr>
      </p:sp>
      <p:sp>
        <p:nvSpPr>
          <p:cNvPr id="5" name="Text 3"/>
          <p:cNvSpPr/>
          <p:nvPr/>
        </p:nvSpPr>
        <p:spPr>
          <a:xfrm>
            <a:off x="457200" y="1371600"/>
            <a:ext cx="8229600" cy="411480"/>
          </a:xfrm>
          <a:prstGeom prst="rect">
            <a:avLst/>
          </a:prstGeom>
          <a:noFill/>
          <a:ln/>
        </p:spPr>
        <p:txBody>
          <a:bodyPr wrap="square" rtlCol="0" anchor="ctr"/>
          <a:lstStyle/>
          <a:p>
            <a:pPr indent="0" marL="0">
              <a:buNone/>
            </a:pPr>
            <a:r>
              <a:rPr lang="en-US" sz="1300" dirty="0">
                <a:solidFill>
                  <a:srgbClr val="4B515C"/>
                </a:solidFill>
                <a:latin typeface="Arial" pitchFamily="34" charset="0"/>
                <a:ea typeface="BIZ UDPGothic" pitchFamily="34" charset="-122"/>
                <a:cs typeface="BIZ UDPGothic" pitchFamily="34" charset="-120"/>
              </a:rPr>
              <a:t>今の生活保護は「現金」＋「いろんなサービス」のパッケージ。これが不公平を生んでいる。</a:t>
            </a:r>
            <a:endParaRPr lang="en-US" sz="1300" dirty="0"/>
          </a:p>
        </p:txBody>
      </p:sp>
      <p:sp>
        <p:nvSpPr>
          <p:cNvPr id="6" name="Shape 4"/>
          <p:cNvSpPr/>
          <p:nvPr/>
        </p:nvSpPr>
        <p:spPr>
          <a:xfrm>
            <a:off x="457200" y="1874520"/>
            <a:ext cx="1920240" cy="1005840"/>
          </a:xfrm>
          <a:prstGeom prst="roundRect">
            <a:avLst>
              <a:gd name="adj" fmla="val 9091"/>
            </a:avLst>
          </a:prstGeom>
          <a:solidFill>
            <a:srgbClr val="FFFFFF"/>
          </a:solidFill>
          <a:ln/>
          <a:effectLst>
            <a:outerShdw sx="100000" sy="100000" kx="0" ky="0" algn="bl" rotWithShape="0" blurRad="127000" dist="38100" dir="2700000">
              <a:srgbClr val="000000">
                <a:alpha val="35000"/>
              </a:srgbClr>
            </a:outerShdw>
          </a:effectLst>
        </p:spPr>
      </p:sp>
      <p:sp>
        <p:nvSpPr>
          <p:cNvPr id="7" name="Text 5"/>
          <p:cNvSpPr/>
          <p:nvPr/>
        </p:nvSpPr>
        <p:spPr>
          <a:xfrm>
            <a:off x="594360" y="1965960"/>
            <a:ext cx="1645920" cy="292608"/>
          </a:xfrm>
          <a:prstGeom prst="rect">
            <a:avLst/>
          </a:prstGeom>
          <a:noFill/>
          <a:ln/>
        </p:spPr>
        <p:txBody>
          <a:bodyPr wrap="square" rtlCol="0" anchor="ctr"/>
          <a:lstStyle/>
          <a:p>
            <a:pPr indent="0" marL="0">
              <a:buNone/>
            </a:pPr>
            <a:r>
              <a:rPr lang="en-US" sz="1200" b="1" dirty="0">
                <a:solidFill>
                  <a:srgbClr val="C8161D"/>
                </a:solidFill>
                <a:latin typeface="Arial" pitchFamily="34" charset="0"/>
                <a:ea typeface="BIZ UDPGothic" pitchFamily="34" charset="-122"/>
                <a:cs typeface="BIZ UDPGothic" pitchFamily="34" charset="-120"/>
              </a:rPr>
              <a:t>住宅扶助</a:t>
            </a:r>
            <a:endParaRPr lang="en-US" sz="1200" dirty="0"/>
          </a:p>
        </p:txBody>
      </p:sp>
      <p:sp>
        <p:nvSpPr>
          <p:cNvPr id="8" name="Text 6"/>
          <p:cNvSpPr/>
          <p:nvPr/>
        </p:nvSpPr>
        <p:spPr>
          <a:xfrm>
            <a:off x="594360" y="2286000"/>
            <a:ext cx="1645920" cy="502920"/>
          </a:xfrm>
          <a:prstGeom prst="rect">
            <a:avLst/>
          </a:prstGeom>
          <a:noFill/>
          <a:ln/>
        </p:spPr>
        <p:txBody>
          <a:bodyPr wrap="square" rtlCol="0" anchor="ctr"/>
          <a:lstStyle/>
          <a:p>
            <a:pPr indent="0" marL="0">
              <a:buNone/>
            </a:pPr>
            <a:r>
              <a:rPr lang="en-US" sz="1000" dirty="0">
                <a:solidFill>
                  <a:srgbClr val="16181D"/>
                </a:solidFill>
                <a:latin typeface="Arial" pitchFamily="34" charset="0"/>
                <a:ea typeface="BIZ UDPGothic" pitchFamily="34" charset="-122"/>
                <a:cs typeface="BIZ UDPGothic" pitchFamily="34" charset="-120"/>
              </a:rPr>
              <a:t>家賃を直接払ってくれる</a:t>
            </a:r>
            <a:endParaRPr lang="en-US" sz="1000" dirty="0"/>
          </a:p>
        </p:txBody>
      </p:sp>
      <p:sp>
        <p:nvSpPr>
          <p:cNvPr id="9" name="Shape 7"/>
          <p:cNvSpPr/>
          <p:nvPr/>
        </p:nvSpPr>
        <p:spPr>
          <a:xfrm>
            <a:off x="2560320" y="1874520"/>
            <a:ext cx="1920240" cy="1005840"/>
          </a:xfrm>
          <a:prstGeom prst="roundRect">
            <a:avLst>
              <a:gd name="adj" fmla="val 9091"/>
            </a:avLst>
          </a:prstGeom>
          <a:solidFill>
            <a:srgbClr val="FFFFFF"/>
          </a:solidFill>
          <a:ln/>
          <a:effectLst>
            <a:outerShdw sx="100000" sy="100000" kx="0" ky="0" algn="bl" rotWithShape="0" blurRad="127000" dist="38100" dir="2700000">
              <a:srgbClr val="000000">
                <a:alpha val="35000"/>
              </a:srgbClr>
            </a:outerShdw>
          </a:effectLst>
        </p:spPr>
      </p:sp>
      <p:sp>
        <p:nvSpPr>
          <p:cNvPr id="10" name="Text 8"/>
          <p:cNvSpPr/>
          <p:nvPr/>
        </p:nvSpPr>
        <p:spPr>
          <a:xfrm>
            <a:off x="2697480" y="1965960"/>
            <a:ext cx="1645920" cy="292608"/>
          </a:xfrm>
          <a:prstGeom prst="rect">
            <a:avLst/>
          </a:prstGeom>
          <a:noFill/>
          <a:ln/>
        </p:spPr>
        <p:txBody>
          <a:bodyPr wrap="square" rtlCol="0" anchor="ctr"/>
          <a:lstStyle/>
          <a:p>
            <a:pPr indent="0" marL="0">
              <a:buNone/>
            </a:pPr>
            <a:r>
              <a:rPr lang="en-US" sz="1200" b="1" dirty="0">
                <a:solidFill>
                  <a:srgbClr val="C8161D"/>
                </a:solidFill>
                <a:latin typeface="Arial" pitchFamily="34" charset="0"/>
                <a:ea typeface="BIZ UDPGothic" pitchFamily="34" charset="-122"/>
                <a:cs typeface="BIZ UDPGothic" pitchFamily="34" charset="-120"/>
              </a:rPr>
              <a:t>医療扶助</a:t>
            </a:r>
            <a:endParaRPr lang="en-US" sz="1200" dirty="0"/>
          </a:p>
        </p:txBody>
      </p:sp>
      <p:sp>
        <p:nvSpPr>
          <p:cNvPr id="11" name="Text 9"/>
          <p:cNvSpPr/>
          <p:nvPr/>
        </p:nvSpPr>
        <p:spPr>
          <a:xfrm>
            <a:off x="2697480" y="2286000"/>
            <a:ext cx="1645920" cy="502920"/>
          </a:xfrm>
          <a:prstGeom prst="rect">
            <a:avLst/>
          </a:prstGeom>
          <a:noFill/>
          <a:ln/>
        </p:spPr>
        <p:txBody>
          <a:bodyPr wrap="square" rtlCol="0" anchor="ctr"/>
          <a:lstStyle/>
          <a:p>
            <a:pPr indent="0" marL="0">
              <a:buNone/>
            </a:pPr>
            <a:r>
              <a:rPr lang="en-US" sz="1000" dirty="0">
                <a:solidFill>
                  <a:srgbClr val="16181D"/>
                </a:solidFill>
                <a:latin typeface="Arial" pitchFamily="34" charset="0"/>
                <a:ea typeface="BIZ UDPGothic" pitchFamily="34" charset="-122"/>
                <a:cs typeface="BIZ UDPGothic" pitchFamily="34" charset="-120"/>
              </a:rPr>
              <a:t>医療費が完全に無料</a:t>
            </a:r>
            <a:endParaRPr lang="en-US" sz="1000" dirty="0"/>
          </a:p>
        </p:txBody>
      </p:sp>
      <p:sp>
        <p:nvSpPr>
          <p:cNvPr id="12" name="Shape 10"/>
          <p:cNvSpPr/>
          <p:nvPr/>
        </p:nvSpPr>
        <p:spPr>
          <a:xfrm>
            <a:off x="4663440" y="1874520"/>
            <a:ext cx="1920240" cy="1005840"/>
          </a:xfrm>
          <a:prstGeom prst="roundRect">
            <a:avLst>
              <a:gd name="adj" fmla="val 9091"/>
            </a:avLst>
          </a:prstGeom>
          <a:solidFill>
            <a:srgbClr val="FFFFFF"/>
          </a:solidFill>
          <a:ln/>
          <a:effectLst>
            <a:outerShdw sx="100000" sy="100000" kx="0" ky="0" algn="bl" rotWithShape="0" blurRad="127000" dist="38100" dir="2700000">
              <a:srgbClr val="000000">
                <a:alpha val="35000"/>
              </a:srgbClr>
            </a:outerShdw>
          </a:effectLst>
        </p:spPr>
      </p:sp>
      <p:sp>
        <p:nvSpPr>
          <p:cNvPr id="13" name="Text 11"/>
          <p:cNvSpPr/>
          <p:nvPr/>
        </p:nvSpPr>
        <p:spPr>
          <a:xfrm>
            <a:off x="4800600" y="1965960"/>
            <a:ext cx="1645920" cy="292608"/>
          </a:xfrm>
          <a:prstGeom prst="rect">
            <a:avLst/>
          </a:prstGeom>
          <a:noFill/>
          <a:ln/>
        </p:spPr>
        <p:txBody>
          <a:bodyPr wrap="square" rtlCol="0" anchor="ctr"/>
          <a:lstStyle/>
          <a:p>
            <a:pPr indent="0" marL="0">
              <a:buNone/>
            </a:pPr>
            <a:r>
              <a:rPr lang="en-US" sz="1200" b="1" dirty="0">
                <a:solidFill>
                  <a:srgbClr val="C8161D"/>
                </a:solidFill>
                <a:latin typeface="Arial" pitchFamily="34" charset="0"/>
                <a:ea typeface="BIZ UDPGothic" pitchFamily="34" charset="-122"/>
                <a:cs typeface="BIZ UDPGothic" pitchFamily="34" charset="-120"/>
              </a:rPr>
              <a:t>交通費補助</a:t>
            </a:r>
            <a:endParaRPr lang="en-US" sz="1200" dirty="0"/>
          </a:p>
        </p:txBody>
      </p:sp>
      <p:sp>
        <p:nvSpPr>
          <p:cNvPr id="14" name="Text 12"/>
          <p:cNvSpPr/>
          <p:nvPr/>
        </p:nvSpPr>
        <p:spPr>
          <a:xfrm>
            <a:off x="4800600" y="2286000"/>
            <a:ext cx="1645920" cy="502920"/>
          </a:xfrm>
          <a:prstGeom prst="rect">
            <a:avLst/>
          </a:prstGeom>
          <a:noFill/>
          <a:ln/>
        </p:spPr>
        <p:txBody>
          <a:bodyPr wrap="square" rtlCol="0" anchor="ctr"/>
          <a:lstStyle/>
          <a:p>
            <a:pPr indent="0" marL="0">
              <a:buNone/>
            </a:pPr>
            <a:r>
              <a:rPr lang="en-US" sz="1000" dirty="0">
                <a:solidFill>
                  <a:srgbClr val="16181D"/>
                </a:solidFill>
                <a:latin typeface="Arial" pitchFamily="34" charset="0"/>
                <a:ea typeface="BIZ UDPGothic" pitchFamily="34" charset="-122"/>
                <a:cs typeface="BIZ UDPGothic" pitchFamily="34" charset="-120"/>
              </a:rPr>
              <a:t>バス代なども支援</a:t>
            </a:r>
            <a:endParaRPr lang="en-US" sz="1000" dirty="0"/>
          </a:p>
        </p:txBody>
      </p:sp>
      <p:sp>
        <p:nvSpPr>
          <p:cNvPr id="15" name="Shape 13"/>
          <p:cNvSpPr/>
          <p:nvPr/>
        </p:nvSpPr>
        <p:spPr>
          <a:xfrm>
            <a:off x="6766560" y="1874520"/>
            <a:ext cx="1920240" cy="1005840"/>
          </a:xfrm>
          <a:prstGeom prst="roundRect">
            <a:avLst>
              <a:gd name="adj" fmla="val 9091"/>
            </a:avLst>
          </a:prstGeom>
          <a:solidFill>
            <a:srgbClr val="FFFFFF"/>
          </a:solidFill>
          <a:ln/>
          <a:effectLst>
            <a:outerShdw sx="100000" sy="100000" kx="0" ky="0" algn="bl" rotWithShape="0" blurRad="127000" dist="38100" dir="2700000">
              <a:srgbClr val="000000">
                <a:alpha val="35000"/>
              </a:srgbClr>
            </a:outerShdw>
          </a:effectLst>
        </p:spPr>
      </p:sp>
      <p:sp>
        <p:nvSpPr>
          <p:cNvPr id="16" name="Text 14"/>
          <p:cNvSpPr/>
          <p:nvPr/>
        </p:nvSpPr>
        <p:spPr>
          <a:xfrm>
            <a:off x="6903720" y="1965960"/>
            <a:ext cx="1645920" cy="292608"/>
          </a:xfrm>
          <a:prstGeom prst="rect">
            <a:avLst/>
          </a:prstGeom>
          <a:noFill/>
          <a:ln/>
        </p:spPr>
        <p:txBody>
          <a:bodyPr wrap="square" rtlCol="0" anchor="ctr"/>
          <a:lstStyle/>
          <a:p>
            <a:pPr indent="0" marL="0">
              <a:buNone/>
            </a:pPr>
            <a:r>
              <a:rPr lang="en-US" sz="1200" b="1" dirty="0">
                <a:solidFill>
                  <a:srgbClr val="C8161D"/>
                </a:solidFill>
                <a:latin typeface="Arial" pitchFamily="34" charset="0"/>
                <a:ea typeface="BIZ UDPGothic" pitchFamily="34" charset="-122"/>
                <a:cs typeface="BIZ UDPGothic" pitchFamily="34" charset="-120"/>
              </a:rPr>
              <a:t>現金給付</a:t>
            </a:r>
            <a:endParaRPr lang="en-US" sz="1200" dirty="0"/>
          </a:p>
        </p:txBody>
      </p:sp>
      <p:sp>
        <p:nvSpPr>
          <p:cNvPr id="17" name="Text 15"/>
          <p:cNvSpPr/>
          <p:nvPr/>
        </p:nvSpPr>
        <p:spPr>
          <a:xfrm>
            <a:off x="6903720" y="2286000"/>
            <a:ext cx="1645920" cy="502920"/>
          </a:xfrm>
          <a:prstGeom prst="rect">
            <a:avLst/>
          </a:prstGeom>
          <a:noFill/>
          <a:ln/>
        </p:spPr>
        <p:txBody>
          <a:bodyPr wrap="square" rtlCol="0" anchor="ctr"/>
          <a:lstStyle/>
          <a:p>
            <a:pPr indent="0" marL="0">
              <a:buNone/>
            </a:pPr>
            <a:r>
              <a:rPr lang="en-US" sz="1000" dirty="0">
                <a:solidFill>
                  <a:srgbClr val="16181D"/>
                </a:solidFill>
                <a:latin typeface="Arial" pitchFamily="34" charset="0"/>
                <a:ea typeface="BIZ UDPGothic" pitchFamily="34" charset="-122"/>
                <a:cs typeface="BIZ UDPGothic" pitchFamily="34" charset="-120"/>
              </a:rPr>
              <a:t>生活費として支給</a:t>
            </a:r>
            <a:endParaRPr lang="en-US" sz="1000" dirty="0"/>
          </a:p>
        </p:txBody>
      </p:sp>
      <p:sp>
        <p:nvSpPr>
          <p:cNvPr id="18" name="Shape 16"/>
          <p:cNvSpPr/>
          <p:nvPr/>
        </p:nvSpPr>
        <p:spPr>
          <a:xfrm>
            <a:off x="457200" y="3017520"/>
            <a:ext cx="8229600" cy="594360"/>
          </a:xfrm>
          <a:prstGeom prst="roundRect">
            <a:avLst>
              <a:gd name="adj" fmla="val 12308"/>
            </a:avLst>
          </a:prstGeom>
          <a:solidFill>
            <a:srgbClr val="DDE0E6"/>
          </a:solidFill>
          <a:ln/>
        </p:spPr>
      </p:sp>
      <p:sp>
        <p:nvSpPr>
          <p:cNvPr id="19" name="Text 17"/>
          <p:cNvSpPr/>
          <p:nvPr/>
        </p:nvSpPr>
        <p:spPr>
          <a:xfrm>
            <a:off x="640080" y="3090672"/>
            <a:ext cx="7863840" cy="457200"/>
          </a:xfrm>
          <a:prstGeom prst="rect">
            <a:avLst/>
          </a:prstGeom>
          <a:noFill/>
          <a:ln/>
        </p:spPr>
        <p:txBody>
          <a:bodyPr wrap="square" rtlCol="0" anchor="ctr"/>
          <a:lstStyle/>
          <a:p>
            <a:pPr indent="0" marL="0">
              <a:buNone/>
            </a:pPr>
            <a:r>
              <a:rPr lang="en-US" sz="1200" dirty="0">
                <a:solidFill>
                  <a:srgbClr val="16181D"/>
                </a:solidFill>
                <a:latin typeface="Arial" pitchFamily="34" charset="0"/>
                <a:ea typeface="BIZ UDPGothic" pitchFamily="34" charset="-122"/>
                <a:cs typeface="BIZ UDPGothic" pitchFamily="34" charset="-120"/>
              </a:rPr>
              <a:t>問題点：医療費が無料なのに最低賃金で働く人は医療費を払う。「生活保護の方が得」という不公平が生まれる。</a:t>
            </a:r>
            <a:endParaRPr lang="en-US" sz="1200" dirty="0"/>
          </a:p>
        </p:txBody>
      </p:sp>
      <p:sp>
        <p:nvSpPr>
          <p:cNvPr id="20" name="Text 18"/>
          <p:cNvSpPr/>
          <p:nvPr/>
        </p:nvSpPr>
        <p:spPr>
          <a:xfrm>
            <a:off x="457200" y="3730752"/>
            <a:ext cx="1371600" cy="320040"/>
          </a:xfrm>
          <a:prstGeom prst="rect">
            <a:avLst/>
          </a:prstGeom>
          <a:noFill/>
          <a:ln/>
        </p:spPr>
        <p:txBody>
          <a:bodyPr wrap="square" rtlCol="0" anchor="ctr"/>
          <a:lstStyle/>
          <a:p>
            <a:pPr indent="0" marL="0">
              <a:buNone/>
            </a:pPr>
            <a:r>
              <a:rPr lang="en-US" sz="1300" b="1" dirty="0">
                <a:solidFill>
                  <a:srgbClr val="C8161D"/>
                </a:solidFill>
                <a:latin typeface="Arial" pitchFamily="34" charset="0"/>
                <a:ea typeface="BIZ UDPGothic" pitchFamily="34" charset="-122"/>
                <a:cs typeface="BIZ UDPGothic" pitchFamily="34" charset="-120"/>
              </a:rPr>
              <a:t>→ 解決策</a:t>
            </a:r>
            <a:endParaRPr lang="en-US" sz="1300" dirty="0"/>
          </a:p>
        </p:txBody>
      </p:sp>
      <p:sp>
        <p:nvSpPr>
          <p:cNvPr id="21" name="Text 19"/>
          <p:cNvSpPr/>
          <p:nvPr/>
        </p:nvSpPr>
        <p:spPr>
          <a:xfrm>
            <a:off x="457200" y="4096512"/>
            <a:ext cx="8229600" cy="777240"/>
          </a:xfrm>
          <a:prstGeom prst="rect">
            <a:avLst/>
          </a:prstGeom>
          <a:noFill/>
          <a:ln/>
        </p:spPr>
        <p:txBody>
          <a:bodyPr wrap="square" rtlCol="0" anchor="ctr"/>
          <a:lstStyle/>
          <a:p>
            <a:pPr indent="0" marL="0">
              <a:lnSpc>
                <a:spcPct val="140000"/>
              </a:lnSpc>
              <a:buNone/>
            </a:pPr>
            <a:r>
              <a:rPr lang="en-US" sz="1200" dirty="0">
                <a:solidFill>
                  <a:srgbClr val="16181D"/>
                </a:solidFill>
                <a:latin typeface="Arial" pitchFamily="34" charset="0"/>
                <a:ea typeface="BIZ UDPGothic" pitchFamily="34" charset="-122"/>
                <a:cs typeface="BIZ UDPGothic" pitchFamily="34" charset="-120"/>
              </a:rPr>
              <a:t>すべての現物給付を廃止して「現金一本化」。支給額＝最低賃金×0.8（都道府県別）。医療費は別の仕組みで全員公平に設計する（次のスライドへ）。</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rtlCol="0" anchor="ctr"/>
          <a:lstStyle/>
          <a:p>
            <a:pPr indent="0" marL="0">
              <a:buNone/>
            </a:pPr>
            <a:r>
              <a:rPr lang="en-US" sz="900" b="1" spc="300" kern="0" dirty="0">
                <a:solidFill>
                  <a:srgbClr val="C8161D"/>
                </a:solidFill>
                <a:latin typeface="Arial" pitchFamily="34" charset="0"/>
                <a:ea typeface="BIZ UDPGothic" pitchFamily="34" charset="-122"/>
                <a:cs typeface="BIZ UDPGothic" pitchFamily="34" charset="-120"/>
              </a:rPr>
              <a:t>何をするか 05 / 06</a:t>
            </a:r>
            <a:endParaRPr lang="en-US" sz="900" dirty="0"/>
          </a:p>
        </p:txBody>
      </p:sp>
      <p:sp>
        <p:nvSpPr>
          <p:cNvPr id="3" name="Text 1"/>
          <p:cNvSpPr/>
          <p:nvPr/>
        </p:nvSpPr>
        <p:spPr>
          <a:xfrm>
            <a:off x="457200" y="502920"/>
            <a:ext cx="8229600" cy="685800"/>
          </a:xfrm>
          <a:prstGeom prst="rect">
            <a:avLst/>
          </a:prstGeom>
          <a:noFill/>
          <a:ln/>
        </p:spPr>
        <p:txBody>
          <a:bodyPr wrap="square" rtlCol="0" anchor="ctr"/>
          <a:lstStyle/>
          <a:p>
            <a:pPr indent="0" marL="0">
              <a:buNone/>
            </a:pPr>
            <a:r>
              <a:rPr lang="en-US" sz="2600" b="1" dirty="0">
                <a:solidFill>
                  <a:srgbClr val="16181D"/>
                </a:solidFill>
                <a:latin typeface="Arial" pitchFamily="34" charset="0"/>
                <a:ea typeface="BIZ UDPGothic" pitchFamily="34" charset="-122"/>
                <a:cs typeface="BIZ UDPGothic" pitchFamily="34" charset="-120"/>
              </a:rPr>
              <a:t>医療費の負担を「年齢」でなく「収入」で決める</a:t>
            </a:r>
            <a:endParaRPr lang="en-US" sz="2600" dirty="0"/>
          </a:p>
        </p:txBody>
      </p:sp>
      <p:sp>
        <p:nvSpPr>
          <p:cNvPr id="4" name="Shape 2"/>
          <p:cNvSpPr/>
          <p:nvPr/>
        </p:nvSpPr>
        <p:spPr>
          <a:xfrm>
            <a:off x="457200" y="1261872"/>
            <a:ext cx="8229600" cy="22860"/>
          </a:xfrm>
          <a:prstGeom prst="rect">
            <a:avLst/>
          </a:prstGeom>
          <a:solidFill>
            <a:srgbClr val="DDE0E6"/>
          </a:solidFill>
          <a:ln/>
        </p:spPr>
      </p:sp>
      <p:sp>
        <p:nvSpPr>
          <p:cNvPr id="5" name="Shape 3"/>
          <p:cNvSpPr/>
          <p:nvPr/>
        </p:nvSpPr>
        <p:spPr>
          <a:xfrm>
            <a:off x="457200" y="1417320"/>
            <a:ext cx="3840480" cy="1417320"/>
          </a:xfrm>
          <a:prstGeom prst="roundRect">
            <a:avLst>
              <a:gd name="adj" fmla="val 6452"/>
            </a:avLst>
          </a:prstGeom>
          <a:solidFill>
            <a:srgbClr val="FFFFFF"/>
          </a:solidFill>
          <a:ln/>
          <a:effectLst>
            <a:outerShdw sx="100000" sy="100000" kx="0" ky="0" algn="bl" rotWithShape="0" blurRad="127000" dist="38100" dir="2700000">
              <a:srgbClr val="000000">
                <a:alpha val="35000"/>
              </a:srgbClr>
            </a:outerShdw>
          </a:effectLst>
        </p:spPr>
      </p:sp>
      <p:sp>
        <p:nvSpPr>
          <p:cNvPr id="6" name="Text 4"/>
          <p:cNvSpPr/>
          <p:nvPr/>
        </p:nvSpPr>
        <p:spPr>
          <a:xfrm>
            <a:off x="640080" y="1554480"/>
            <a:ext cx="3474720" cy="292608"/>
          </a:xfrm>
          <a:prstGeom prst="rect">
            <a:avLst/>
          </a:prstGeom>
          <a:noFill/>
          <a:ln/>
        </p:spPr>
        <p:txBody>
          <a:bodyPr wrap="square" rtlCol="0" anchor="ctr"/>
          <a:lstStyle/>
          <a:p>
            <a:pPr indent="0" marL="0">
              <a:buNone/>
            </a:pPr>
            <a:r>
              <a:rPr lang="en-US" sz="1200" b="1" dirty="0">
                <a:solidFill>
                  <a:srgbClr val="C8161D"/>
                </a:solidFill>
                <a:latin typeface="Arial" pitchFamily="34" charset="0"/>
                <a:ea typeface="BIZ UDPGothic" pitchFamily="34" charset="-122"/>
                <a:cs typeface="BIZ UDPGothic" pitchFamily="34" charset="-120"/>
              </a:rPr>
              <a:t>今の問題</a:t>
            </a:r>
            <a:endParaRPr lang="en-US" sz="1200" dirty="0"/>
          </a:p>
        </p:txBody>
      </p:sp>
      <p:sp>
        <p:nvSpPr>
          <p:cNvPr id="7" name="Text 5"/>
          <p:cNvSpPr/>
          <p:nvPr/>
        </p:nvSpPr>
        <p:spPr>
          <a:xfrm>
            <a:off x="640080" y="1874520"/>
            <a:ext cx="3474720" cy="822960"/>
          </a:xfrm>
          <a:prstGeom prst="rect">
            <a:avLst/>
          </a:prstGeom>
          <a:noFill/>
          <a:ln/>
        </p:spPr>
        <p:txBody>
          <a:bodyPr wrap="square" rtlCol="0" anchor="ctr"/>
          <a:lstStyle/>
          <a:p>
            <a:pPr indent="0" marL="0">
              <a:lnSpc>
                <a:spcPct val="135000"/>
              </a:lnSpc>
              <a:buNone/>
            </a:pPr>
            <a:r>
              <a:rPr lang="en-US" sz="1100" dirty="0">
                <a:solidFill>
                  <a:srgbClr val="16181D"/>
                </a:solidFill>
                <a:latin typeface="Arial" pitchFamily="34" charset="0"/>
                <a:ea typeface="BIZ UDPGothic" pitchFamily="34" charset="-122"/>
                <a:cs typeface="BIZ UDPGothic" pitchFamily="34" charset="-120"/>
              </a:rPr>
              <a:t>今は「年齢」で医療費の負担が決まる。75歳以上は1割、現役世代は3割。でもお金持ちのお年寄りも1割、最低賃金で働く若者も3割。これは公平じゃない。</a:t>
            </a:r>
            <a:endParaRPr lang="en-US" sz="1100" dirty="0"/>
          </a:p>
        </p:txBody>
      </p:sp>
      <p:sp>
        <p:nvSpPr>
          <p:cNvPr id="8" name="Shape 6"/>
          <p:cNvSpPr/>
          <p:nvPr/>
        </p:nvSpPr>
        <p:spPr>
          <a:xfrm>
            <a:off x="4480560" y="1417320"/>
            <a:ext cx="4206240" cy="1417320"/>
          </a:xfrm>
          <a:prstGeom prst="roundRect">
            <a:avLst>
              <a:gd name="adj" fmla="val 6452"/>
            </a:avLst>
          </a:prstGeom>
          <a:solidFill>
            <a:srgbClr val="C8161D"/>
          </a:solidFill>
          <a:ln/>
          <a:effectLst>
            <a:outerShdw sx="100000" sy="100000" kx="0" ky="0" algn="bl" rotWithShape="0" blurRad="127000" dist="38100" dir="2700000">
              <a:srgbClr val="000000">
                <a:alpha val="35000"/>
              </a:srgbClr>
            </a:outerShdw>
          </a:effectLst>
        </p:spPr>
      </p:sp>
      <p:sp>
        <p:nvSpPr>
          <p:cNvPr id="9" name="Text 7"/>
          <p:cNvSpPr/>
          <p:nvPr/>
        </p:nvSpPr>
        <p:spPr>
          <a:xfrm>
            <a:off x="4663440" y="1536192"/>
            <a:ext cx="384048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BIZ UDPGothic" pitchFamily="34" charset="-122"/>
                <a:cs typeface="BIZ UDPGothic" pitchFamily="34" charset="-120"/>
              </a:rPr>
              <a:t>新しい仕組み</a:t>
            </a:r>
            <a:endParaRPr lang="en-US" sz="1200" dirty="0"/>
          </a:p>
        </p:txBody>
      </p:sp>
      <p:sp>
        <p:nvSpPr>
          <p:cNvPr id="10" name="Text 8"/>
          <p:cNvSpPr/>
          <p:nvPr/>
        </p:nvSpPr>
        <p:spPr>
          <a:xfrm>
            <a:off x="4663440" y="1901952"/>
            <a:ext cx="3840480" cy="822960"/>
          </a:xfrm>
          <a:prstGeom prst="rect">
            <a:avLst/>
          </a:prstGeom>
          <a:noFill/>
          <a:ln/>
        </p:spPr>
        <p:txBody>
          <a:bodyPr wrap="square" rtlCol="0" anchor="ctr"/>
          <a:lstStyle/>
          <a:p>
            <a:pPr indent="0" marL="0">
              <a:lnSpc>
                <a:spcPct val="140000"/>
              </a:lnSpc>
              <a:buNone/>
            </a:pPr>
            <a:r>
              <a:rPr lang="en-US" sz="1150" dirty="0">
                <a:solidFill>
                  <a:srgbClr val="FFFFFF"/>
                </a:solidFill>
                <a:latin typeface="Arial" pitchFamily="34" charset="0"/>
                <a:ea typeface="BIZ UDPGothic" pitchFamily="34" charset="-122"/>
                <a:cs typeface="BIZ UDPGothic" pitchFamily="34" charset="-120"/>
              </a:rPr>
              <a:t>収入が低い人ほど負担が少なく、</a:t>
            </a:r>
            <a:endParaRPr lang="en-US" sz="1150" dirty="0"/>
          </a:p>
          <a:p>
            <a:pPr indent="0" marL="0">
              <a:lnSpc>
                <a:spcPct val="140000"/>
              </a:lnSpc>
              <a:buNone/>
            </a:pPr>
            <a:r>
              <a:rPr lang="en-US" sz="1150" dirty="0">
                <a:solidFill>
                  <a:srgbClr val="FFFFFF"/>
                </a:solidFill>
                <a:latin typeface="Arial" pitchFamily="34" charset="0"/>
                <a:ea typeface="BIZ UDPGothic" pitchFamily="34" charset="-122"/>
                <a:cs typeface="BIZ UDPGothic" pitchFamily="34" charset="-120"/>
              </a:rPr>
              <a:t>収入が高い人ほど多く払う連続的な設計。</a:t>
            </a:r>
            <a:endParaRPr lang="en-US" sz="1150" dirty="0"/>
          </a:p>
          <a:p>
            <a:pPr indent="0" marL="0">
              <a:lnSpc>
                <a:spcPct val="140000"/>
              </a:lnSpc>
              <a:buNone/>
            </a:pPr>
            <a:r>
              <a:rPr lang="en-US" sz="1150" dirty="0">
                <a:solidFill>
                  <a:srgbClr val="FFFFFF"/>
                </a:solidFill>
                <a:latin typeface="Arial" pitchFamily="34" charset="0"/>
                <a:ea typeface="BIZ UDPGothic" pitchFamily="34" charset="-122"/>
                <a:cs typeface="BIZ UDPGothic" pitchFamily="34" charset="-120"/>
              </a:rPr>
              <a:t>マイナ保険証で自動的に計算される。</a:t>
            </a:r>
            <a:endParaRPr lang="en-US" sz="1150" dirty="0"/>
          </a:p>
        </p:txBody>
      </p:sp>
      <p:sp>
        <p:nvSpPr>
          <p:cNvPr id="11" name="Text 9"/>
          <p:cNvSpPr/>
          <p:nvPr/>
        </p:nvSpPr>
        <p:spPr>
          <a:xfrm>
            <a:off x="457200" y="2999232"/>
            <a:ext cx="8229600" cy="320040"/>
          </a:xfrm>
          <a:prstGeom prst="rect">
            <a:avLst/>
          </a:prstGeom>
          <a:noFill/>
          <a:ln/>
        </p:spPr>
        <p:txBody>
          <a:bodyPr wrap="square" rtlCol="0" anchor="ctr"/>
          <a:lstStyle/>
          <a:p>
            <a:pPr indent="0" marL="0">
              <a:buNone/>
            </a:pPr>
            <a:r>
              <a:rPr lang="en-US" sz="1300" b="1" dirty="0">
                <a:solidFill>
                  <a:srgbClr val="16181D"/>
                </a:solidFill>
                <a:latin typeface="Arial" pitchFamily="34" charset="0"/>
                <a:ea typeface="BIZ UDPGothic" pitchFamily="34" charset="-122"/>
                <a:cs typeface="BIZ UDPGothic" pitchFamily="34" charset="-120"/>
              </a:rPr>
              <a:t>負担率の計算式</a:t>
            </a:r>
            <a:endParaRPr lang="en-US" sz="1300" dirty="0"/>
          </a:p>
        </p:txBody>
      </p:sp>
      <p:sp>
        <p:nvSpPr>
          <p:cNvPr id="12" name="Shape 10"/>
          <p:cNvSpPr/>
          <p:nvPr/>
        </p:nvSpPr>
        <p:spPr>
          <a:xfrm>
            <a:off x="457200" y="3364992"/>
            <a:ext cx="8229600" cy="731520"/>
          </a:xfrm>
          <a:prstGeom prst="roundRect">
            <a:avLst>
              <a:gd name="adj" fmla="val 12500"/>
            </a:avLst>
          </a:prstGeom>
          <a:solidFill>
            <a:srgbClr val="DDE0E6"/>
          </a:solidFill>
          <a:ln/>
          <a:effectLst>
            <a:outerShdw sx="100000" sy="100000" kx="0" ky="0" algn="bl" rotWithShape="0" blurRad="127000" dist="38100" dir="2700000">
              <a:srgbClr val="000000">
                <a:alpha val="35000"/>
              </a:srgbClr>
            </a:outerShdw>
          </a:effectLst>
        </p:spPr>
      </p:sp>
      <p:sp>
        <p:nvSpPr>
          <p:cNvPr id="13" name="Text 11"/>
          <p:cNvSpPr/>
          <p:nvPr/>
        </p:nvSpPr>
        <p:spPr>
          <a:xfrm>
            <a:off x="457200" y="3456432"/>
            <a:ext cx="8229600" cy="502920"/>
          </a:xfrm>
          <a:prstGeom prst="rect">
            <a:avLst/>
          </a:prstGeom>
          <a:noFill/>
          <a:ln/>
        </p:spPr>
        <p:txBody>
          <a:bodyPr wrap="square" rtlCol="0" anchor="ctr"/>
          <a:lstStyle/>
          <a:p>
            <a:pPr algn="ctr" indent="0" marL="0">
              <a:buNone/>
            </a:pPr>
            <a:r>
              <a:rPr lang="en-US" sz="1800" b="1" dirty="0">
                <a:solidFill>
                  <a:srgbClr val="C8161D"/>
                </a:solidFill>
                <a:latin typeface="Arial" pitchFamily="34" charset="0"/>
                <a:ea typeface="BIZ UDPGothic" pitchFamily="34" charset="-122"/>
                <a:cs typeface="BIZ UDPGothic" pitchFamily="34" charset="-120"/>
              </a:rPr>
              <a:t>医療費の負担率 ＝ 10% ＋ （収入の順位 ÷ 100） × 20%</a:t>
            </a:r>
            <a:endParaRPr lang="en-US" sz="1800" dirty="0"/>
          </a:p>
        </p:txBody>
      </p:sp>
      <p:sp>
        <p:nvSpPr>
          <p:cNvPr id="14" name="Text 12"/>
          <p:cNvSpPr/>
          <p:nvPr/>
        </p:nvSpPr>
        <p:spPr>
          <a:xfrm>
            <a:off x="457200" y="4206240"/>
            <a:ext cx="5943600" cy="274320"/>
          </a:xfrm>
          <a:prstGeom prst="rect">
            <a:avLst/>
          </a:prstGeom>
          <a:noFill/>
          <a:ln/>
        </p:spPr>
        <p:txBody>
          <a:bodyPr wrap="square" rtlCol="0" anchor="ctr"/>
          <a:lstStyle/>
          <a:p>
            <a:pPr indent="0" marL="0">
              <a:buNone/>
            </a:pPr>
            <a:r>
              <a:rPr lang="en-US" sz="1200" dirty="0">
                <a:solidFill>
                  <a:srgbClr val="16181D"/>
                </a:solidFill>
                <a:latin typeface="Arial" pitchFamily="34" charset="0"/>
                <a:ea typeface="BIZ UDPGothic" pitchFamily="34" charset="-122"/>
                <a:cs typeface="BIZ UDPGothic" pitchFamily="34" charset="-120"/>
              </a:rPr>
              <a:t>一番収入が少ない人（0%）</a:t>
            </a:r>
            <a:endParaRPr lang="en-US" sz="1200" dirty="0"/>
          </a:p>
        </p:txBody>
      </p:sp>
      <p:sp>
        <p:nvSpPr>
          <p:cNvPr id="15" name="Text 13"/>
          <p:cNvSpPr/>
          <p:nvPr/>
        </p:nvSpPr>
        <p:spPr>
          <a:xfrm>
            <a:off x="6858000" y="4206240"/>
            <a:ext cx="1828800" cy="274320"/>
          </a:xfrm>
          <a:prstGeom prst="rect">
            <a:avLst/>
          </a:prstGeom>
          <a:noFill/>
          <a:ln/>
        </p:spPr>
        <p:txBody>
          <a:bodyPr wrap="square" rtlCol="0" anchor="ctr"/>
          <a:lstStyle/>
          <a:p>
            <a:pPr algn="r" indent="0" marL="0">
              <a:buNone/>
            </a:pPr>
            <a:r>
              <a:rPr lang="en-US" sz="1400" b="1" dirty="0">
                <a:solidFill>
                  <a:srgbClr val="C8161D"/>
                </a:solidFill>
                <a:latin typeface="Arial" pitchFamily="34" charset="0"/>
                <a:ea typeface="BIZ UDPGothic" pitchFamily="34" charset="-122"/>
                <a:cs typeface="BIZ UDPGothic" pitchFamily="34" charset="-120"/>
              </a:rPr>
              <a:t>10%</a:t>
            </a:r>
            <a:endParaRPr lang="en-US" sz="1400" dirty="0"/>
          </a:p>
        </p:txBody>
      </p:sp>
      <p:sp>
        <p:nvSpPr>
          <p:cNvPr id="16" name="Text 14"/>
          <p:cNvSpPr/>
          <p:nvPr/>
        </p:nvSpPr>
        <p:spPr>
          <a:xfrm>
            <a:off x="457200" y="4507992"/>
            <a:ext cx="5943600" cy="274320"/>
          </a:xfrm>
          <a:prstGeom prst="rect">
            <a:avLst/>
          </a:prstGeom>
          <a:noFill/>
          <a:ln/>
        </p:spPr>
        <p:txBody>
          <a:bodyPr wrap="square" rtlCol="0" anchor="ctr"/>
          <a:lstStyle/>
          <a:p>
            <a:pPr indent="0" marL="0">
              <a:buNone/>
            </a:pPr>
            <a:r>
              <a:rPr lang="en-US" sz="1200" dirty="0">
                <a:solidFill>
                  <a:srgbClr val="16181D"/>
                </a:solidFill>
                <a:latin typeface="Arial" pitchFamily="34" charset="0"/>
                <a:ea typeface="BIZ UDPGothic" pitchFamily="34" charset="-122"/>
                <a:cs typeface="BIZ UDPGothic" pitchFamily="34" charset="-120"/>
              </a:rPr>
              <a:t>収入が真ん中の人（50%）</a:t>
            </a:r>
            <a:endParaRPr lang="en-US" sz="1200" dirty="0"/>
          </a:p>
        </p:txBody>
      </p:sp>
      <p:sp>
        <p:nvSpPr>
          <p:cNvPr id="17" name="Text 15"/>
          <p:cNvSpPr/>
          <p:nvPr/>
        </p:nvSpPr>
        <p:spPr>
          <a:xfrm>
            <a:off x="6858000" y="4507992"/>
            <a:ext cx="1828800" cy="274320"/>
          </a:xfrm>
          <a:prstGeom prst="rect">
            <a:avLst/>
          </a:prstGeom>
          <a:noFill/>
          <a:ln/>
        </p:spPr>
        <p:txBody>
          <a:bodyPr wrap="square" rtlCol="0" anchor="ctr"/>
          <a:lstStyle/>
          <a:p>
            <a:pPr algn="r" indent="0" marL="0">
              <a:buNone/>
            </a:pPr>
            <a:r>
              <a:rPr lang="en-US" sz="1400" b="1" dirty="0">
                <a:solidFill>
                  <a:srgbClr val="C8161D"/>
                </a:solidFill>
                <a:latin typeface="Arial" pitchFamily="34" charset="0"/>
                <a:ea typeface="BIZ UDPGothic" pitchFamily="34" charset="-122"/>
                <a:cs typeface="BIZ UDPGothic" pitchFamily="34" charset="-120"/>
              </a:rPr>
              <a:t>20%</a:t>
            </a:r>
            <a:endParaRPr lang="en-US" sz="1400" dirty="0"/>
          </a:p>
        </p:txBody>
      </p:sp>
      <p:sp>
        <p:nvSpPr>
          <p:cNvPr id="18" name="Text 16"/>
          <p:cNvSpPr/>
          <p:nvPr/>
        </p:nvSpPr>
        <p:spPr>
          <a:xfrm>
            <a:off x="457200" y="4809744"/>
            <a:ext cx="5943600" cy="274320"/>
          </a:xfrm>
          <a:prstGeom prst="rect">
            <a:avLst/>
          </a:prstGeom>
          <a:noFill/>
          <a:ln/>
        </p:spPr>
        <p:txBody>
          <a:bodyPr wrap="square" rtlCol="0" anchor="ctr"/>
          <a:lstStyle/>
          <a:p>
            <a:pPr indent="0" marL="0">
              <a:buNone/>
            </a:pPr>
            <a:r>
              <a:rPr lang="en-US" sz="1200" dirty="0">
                <a:solidFill>
                  <a:srgbClr val="16181D"/>
                </a:solidFill>
                <a:latin typeface="Arial" pitchFamily="34" charset="0"/>
                <a:ea typeface="BIZ UDPGothic" pitchFamily="34" charset="-122"/>
                <a:cs typeface="BIZ UDPGothic" pitchFamily="34" charset="-120"/>
              </a:rPr>
              <a:t>一番収入が多い人（100%）</a:t>
            </a:r>
            <a:endParaRPr lang="en-US" sz="1200" dirty="0"/>
          </a:p>
        </p:txBody>
      </p:sp>
      <p:sp>
        <p:nvSpPr>
          <p:cNvPr id="19" name="Text 17"/>
          <p:cNvSpPr/>
          <p:nvPr/>
        </p:nvSpPr>
        <p:spPr>
          <a:xfrm>
            <a:off x="6858000" y="4809744"/>
            <a:ext cx="1828800" cy="274320"/>
          </a:xfrm>
          <a:prstGeom prst="rect">
            <a:avLst/>
          </a:prstGeom>
          <a:noFill/>
          <a:ln/>
        </p:spPr>
        <p:txBody>
          <a:bodyPr wrap="square" rtlCol="0" anchor="ctr"/>
          <a:lstStyle/>
          <a:p>
            <a:pPr algn="r" indent="0" marL="0">
              <a:buNone/>
            </a:pPr>
            <a:r>
              <a:rPr lang="en-US" sz="1400" b="1" dirty="0">
                <a:solidFill>
                  <a:srgbClr val="C8161D"/>
                </a:solidFill>
                <a:latin typeface="Arial" pitchFamily="34" charset="0"/>
                <a:ea typeface="BIZ UDPGothic" pitchFamily="34" charset="-122"/>
                <a:cs typeface="BIZ UDPGothic" pitchFamily="34" charset="-120"/>
              </a:rPr>
              <a:t>30%</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rtlCol="0" anchor="ctr"/>
          <a:lstStyle/>
          <a:p>
            <a:pPr indent="0" marL="0">
              <a:buNone/>
            </a:pPr>
            <a:r>
              <a:rPr lang="en-US" sz="900" b="1" spc="300" kern="0" dirty="0">
                <a:solidFill>
                  <a:srgbClr val="C8161D"/>
                </a:solidFill>
                <a:latin typeface="Arial" pitchFamily="34" charset="0"/>
                <a:ea typeface="BIZ UDPGothic" pitchFamily="34" charset="-122"/>
                <a:cs typeface="BIZ UDPGothic" pitchFamily="34" charset="-120"/>
              </a:rPr>
              <a:t>何をするか 06 / 06</a:t>
            </a:r>
            <a:endParaRPr lang="en-US" sz="900" dirty="0"/>
          </a:p>
        </p:txBody>
      </p:sp>
      <p:sp>
        <p:nvSpPr>
          <p:cNvPr id="3" name="Text 1"/>
          <p:cNvSpPr/>
          <p:nvPr/>
        </p:nvSpPr>
        <p:spPr>
          <a:xfrm>
            <a:off x="457200" y="502920"/>
            <a:ext cx="8229600" cy="685800"/>
          </a:xfrm>
          <a:prstGeom prst="rect">
            <a:avLst/>
          </a:prstGeom>
          <a:noFill/>
          <a:ln/>
        </p:spPr>
        <p:txBody>
          <a:bodyPr wrap="square" rtlCol="0" anchor="ctr"/>
          <a:lstStyle/>
          <a:p>
            <a:pPr indent="0" marL="0">
              <a:buNone/>
            </a:pPr>
            <a:r>
              <a:rPr lang="en-US" sz="2600" b="1" dirty="0">
                <a:solidFill>
                  <a:srgbClr val="16181D"/>
                </a:solidFill>
                <a:latin typeface="Arial" pitchFamily="34" charset="0"/>
                <a:ea typeface="BIZ UDPGothic" pitchFamily="34" charset="-122"/>
                <a:cs typeface="BIZ UDPGothic" pitchFamily="34" charset="-120"/>
              </a:rPr>
              <a:t>社会保険料を下げる：給料から引かれる額を減らす</a:t>
            </a:r>
            <a:endParaRPr lang="en-US" sz="2600" dirty="0"/>
          </a:p>
        </p:txBody>
      </p:sp>
      <p:sp>
        <p:nvSpPr>
          <p:cNvPr id="4" name="Shape 2"/>
          <p:cNvSpPr/>
          <p:nvPr/>
        </p:nvSpPr>
        <p:spPr>
          <a:xfrm>
            <a:off x="457200" y="1261872"/>
            <a:ext cx="8229600" cy="22860"/>
          </a:xfrm>
          <a:prstGeom prst="rect">
            <a:avLst/>
          </a:prstGeom>
          <a:solidFill>
            <a:srgbClr val="DDE0E6"/>
          </a:solidFill>
          <a:ln/>
        </p:spPr>
      </p:sp>
      <p:sp>
        <p:nvSpPr>
          <p:cNvPr id="5" name="Text 3"/>
          <p:cNvSpPr/>
          <p:nvPr/>
        </p:nvSpPr>
        <p:spPr>
          <a:xfrm>
            <a:off x="457200" y="1371600"/>
            <a:ext cx="8229600" cy="594360"/>
          </a:xfrm>
          <a:prstGeom prst="rect">
            <a:avLst/>
          </a:prstGeom>
          <a:noFill/>
          <a:ln/>
        </p:spPr>
        <p:txBody>
          <a:bodyPr wrap="square" rtlCol="0" anchor="ctr"/>
          <a:lstStyle/>
          <a:p>
            <a:pPr indent="0" marL="0">
              <a:lnSpc>
                <a:spcPct val="140000"/>
              </a:lnSpc>
              <a:buNone/>
            </a:pPr>
            <a:r>
              <a:rPr lang="en-US" sz="1250" dirty="0">
                <a:solidFill>
                  <a:srgbClr val="4B515C"/>
                </a:solidFill>
                <a:latin typeface="Arial" pitchFamily="34" charset="0"/>
                <a:ea typeface="BIZ UDPGothic" pitchFamily="34" charset="-122"/>
                <a:cs typeface="BIZ UDPGothic" pitchFamily="34" charset="-120"/>
              </a:rPr>
              <a:t>給料明細を見てほしい。「健康保険料」「厚生年金保険料」などで合計約15%が引かれている（会社も同額を払っている）。労使合計で約30%。これを下げる。</a:t>
            </a:r>
            <a:endParaRPr lang="en-US" sz="1250" dirty="0"/>
          </a:p>
        </p:txBody>
      </p:sp>
      <p:sp>
        <p:nvSpPr>
          <p:cNvPr id="6" name="Shape 4"/>
          <p:cNvSpPr/>
          <p:nvPr/>
        </p:nvSpPr>
        <p:spPr>
          <a:xfrm>
            <a:off x="457200" y="2103120"/>
            <a:ext cx="3749040" cy="1508760"/>
          </a:xfrm>
          <a:prstGeom prst="roundRect">
            <a:avLst>
              <a:gd name="adj" fmla="val 6061"/>
            </a:avLst>
          </a:prstGeom>
          <a:solidFill>
            <a:srgbClr val="FFFFFF"/>
          </a:solidFill>
          <a:ln/>
          <a:effectLst>
            <a:outerShdw sx="100000" sy="100000" kx="0" ky="0" algn="bl" rotWithShape="0" blurRad="127000" dist="38100" dir="2700000">
              <a:srgbClr val="000000">
                <a:alpha val="35000"/>
              </a:srgbClr>
            </a:outerShdw>
          </a:effectLst>
        </p:spPr>
      </p:sp>
      <p:sp>
        <p:nvSpPr>
          <p:cNvPr id="7" name="Text 5"/>
          <p:cNvSpPr/>
          <p:nvPr/>
        </p:nvSpPr>
        <p:spPr>
          <a:xfrm>
            <a:off x="457200" y="2212848"/>
            <a:ext cx="3749040" cy="724205"/>
          </a:xfrm>
          <a:prstGeom prst="rect">
            <a:avLst/>
          </a:prstGeom>
          <a:noFill/>
          <a:ln/>
        </p:spPr>
        <p:txBody>
          <a:bodyPr wrap="square" rtlCol="0" anchor="ctr"/>
          <a:lstStyle/>
          <a:p>
            <a:pPr algn="ctr" indent="0" marL="0">
              <a:buNone/>
            </a:pPr>
            <a:r>
              <a:rPr lang="en-US" sz="3600" b="1" dirty="0">
                <a:solidFill>
                  <a:srgbClr val="C8161D"/>
                </a:solidFill>
                <a:latin typeface="Arial" pitchFamily="34" charset="0"/>
                <a:ea typeface="BIZ UDPGothic" pitchFamily="34" charset="-122"/>
                <a:cs typeface="BIZ UDPGothic" pitchFamily="34" charset="-120"/>
              </a:rPr>
              <a:t>30%</a:t>
            </a:r>
            <a:endParaRPr lang="en-US" sz="3600" dirty="0"/>
          </a:p>
        </p:txBody>
      </p:sp>
      <p:sp>
        <p:nvSpPr>
          <p:cNvPr id="8" name="Text 6"/>
          <p:cNvSpPr/>
          <p:nvPr/>
        </p:nvSpPr>
        <p:spPr>
          <a:xfrm>
            <a:off x="457200" y="2948026"/>
            <a:ext cx="3749040" cy="329184"/>
          </a:xfrm>
          <a:prstGeom prst="rect">
            <a:avLst/>
          </a:prstGeom>
          <a:noFill/>
          <a:ln/>
        </p:spPr>
        <p:txBody>
          <a:bodyPr wrap="square" rtlCol="0" anchor="ctr"/>
          <a:lstStyle/>
          <a:p>
            <a:pPr algn="ctr" indent="0" marL="0">
              <a:buNone/>
            </a:pPr>
            <a:r>
              <a:rPr lang="en-US" sz="1200" b="1" dirty="0">
                <a:solidFill>
                  <a:srgbClr val="16181D"/>
                </a:solidFill>
                <a:latin typeface="Arial" pitchFamily="34" charset="0"/>
                <a:ea typeface="BIZ UDPGothic" pitchFamily="34" charset="-122"/>
                <a:cs typeface="BIZ UDPGothic" pitchFamily="34" charset="-120"/>
              </a:rPr>
              <a:t>今の社会保険料</a:t>
            </a:r>
            <a:endParaRPr lang="en-US" sz="1200" dirty="0"/>
          </a:p>
          <a:p>
            <a:pPr algn="ctr" indent="0" marL="0">
              <a:buNone/>
            </a:pPr>
            <a:r>
              <a:rPr lang="en-US" sz="1200" b="1" dirty="0">
                <a:solidFill>
                  <a:srgbClr val="16181D"/>
                </a:solidFill>
                <a:latin typeface="Arial" pitchFamily="34" charset="0"/>
                <a:ea typeface="BIZ UDPGothic" pitchFamily="34" charset="-122"/>
                <a:cs typeface="BIZ UDPGothic" pitchFamily="34" charset="-120"/>
              </a:rPr>
              <a:t>（労使合計）</a:t>
            </a:r>
            <a:endParaRPr lang="en-US" sz="1200" dirty="0"/>
          </a:p>
        </p:txBody>
      </p:sp>
      <p:sp>
        <p:nvSpPr>
          <p:cNvPr id="9" name="Text 7"/>
          <p:cNvSpPr/>
          <p:nvPr/>
        </p:nvSpPr>
        <p:spPr>
          <a:xfrm>
            <a:off x="457200" y="3279953"/>
            <a:ext cx="3749040" cy="256032"/>
          </a:xfrm>
          <a:prstGeom prst="rect">
            <a:avLst/>
          </a:prstGeom>
          <a:noFill/>
          <a:ln/>
        </p:spPr>
        <p:txBody>
          <a:bodyPr wrap="square" rtlCol="0" anchor="ctr"/>
          <a:lstStyle/>
          <a:p>
            <a:pPr algn="ctr" indent="0" marL="0">
              <a:buNone/>
            </a:pPr>
            <a:r>
              <a:rPr lang="en-US" sz="900" dirty="0">
                <a:solidFill>
                  <a:srgbClr val="4B515C"/>
                </a:solidFill>
                <a:latin typeface="Arial" pitchFamily="34" charset="0"/>
                <a:ea typeface="BIZ UDPGothic" pitchFamily="34" charset="-122"/>
                <a:cs typeface="BIZ UDPGothic" pitchFamily="34" charset="-120"/>
              </a:rPr>
              <a:t>会社と自分で半分ずつ</a:t>
            </a:r>
            <a:endParaRPr lang="en-US" sz="900" dirty="0"/>
          </a:p>
        </p:txBody>
      </p:sp>
      <p:sp>
        <p:nvSpPr>
          <p:cNvPr id="10" name="Text 8"/>
          <p:cNvSpPr/>
          <p:nvPr/>
        </p:nvSpPr>
        <p:spPr>
          <a:xfrm>
            <a:off x="4251960" y="2651760"/>
            <a:ext cx="548640" cy="502920"/>
          </a:xfrm>
          <a:prstGeom prst="rect">
            <a:avLst/>
          </a:prstGeom>
          <a:noFill/>
          <a:ln/>
        </p:spPr>
        <p:txBody>
          <a:bodyPr wrap="square" rtlCol="0" anchor="ctr"/>
          <a:lstStyle/>
          <a:p>
            <a:pPr algn="ctr" indent="0" marL="0">
              <a:buNone/>
            </a:pPr>
            <a:r>
              <a:rPr lang="en-US" sz="2600" b="1" dirty="0">
                <a:solidFill>
                  <a:srgbClr val="C8161D"/>
                </a:solidFill>
                <a:latin typeface="Arial" pitchFamily="34" charset="0"/>
                <a:ea typeface="BIZ UDPGothic" pitchFamily="34" charset="-122"/>
                <a:cs typeface="BIZ UDPGothic" pitchFamily="34" charset="-120"/>
              </a:rPr>
              <a:t>→</a:t>
            </a:r>
            <a:endParaRPr lang="en-US" sz="2600" dirty="0"/>
          </a:p>
        </p:txBody>
      </p:sp>
      <p:sp>
        <p:nvSpPr>
          <p:cNvPr id="11" name="Shape 9"/>
          <p:cNvSpPr/>
          <p:nvPr/>
        </p:nvSpPr>
        <p:spPr>
          <a:xfrm>
            <a:off x="4846320" y="2103120"/>
            <a:ext cx="3749040" cy="1508760"/>
          </a:xfrm>
          <a:prstGeom prst="roundRect">
            <a:avLst>
              <a:gd name="adj" fmla="val 6061"/>
            </a:avLst>
          </a:prstGeom>
          <a:solidFill>
            <a:srgbClr val="FFFFFF"/>
          </a:solidFill>
          <a:ln/>
          <a:effectLst>
            <a:outerShdw sx="100000" sy="100000" kx="0" ky="0" algn="bl" rotWithShape="0" blurRad="127000" dist="38100" dir="2700000">
              <a:srgbClr val="000000">
                <a:alpha val="35000"/>
              </a:srgbClr>
            </a:outerShdw>
          </a:effectLst>
        </p:spPr>
      </p:sp>
      <p:sp>
        <p:nvSpPr>
          <p:cNvPr id="12" name="Text 10"/>
          <p:cNvSpPr/>
          <p:nvPr/>
        </p:nvSpPr>
        <p:spPr>
          <a:xfrm>
            <a:off x="4846320" y="2212848"/>
            <a:ext cx="3749040" cy="724205"/>
          </a:xfrm>
          <a:prstGeom prst="rect">
            <a:avLst/>
          </a:prstGeom>
          <a:noFill/>
          <a:ln/>
        </p:spPr>
        <p:txBody>
          <a:bodyPr wrap="square" rtlCol="0" anchor="ctr"/>
          <a:lstStyle/>
          <a:p>
            <a:pPr algn="ctr" indent="0" marL="0">
              <a:buNone/>
            </a:pPr>
            <a:r>
              <a:rPr lang="en-US" sz="3600" b="1" dirty="0">
                <a:solidFill>
                  <a:srgbClr val="C8161D"/>
                </a:solidFill>
                <a:latin typeface="Arial" pitchFamily="34" charset="0"/>
                <a:ea typeface="BIZ UDPGothic" pitchFamily="34" charset="-122"/>
                <a:cs typeface="BIZ UDPGothic" pitchFamily="34" charset="-120"/>
              </a:rPr>
              <a:t>約22〜23%</a:t>
            </a:r>
            <a:endParaRPr lang="en-US" sz="3600" dirty="0"/>
          </a:p>
        </p:txBody>
      </p:sp>
      <p:sp>
        <p:nvSpPr>
          <p:cNvPr id="13" name="Text 11"/>
          <p:cNvSpPr/>
          <p:nvPr/>
        </p:nvSpPr>
        <p:spPr>
          <a:xfrm>
            <a:off x="4846320" y="2948026"/>
            <a:ext cx="3749040" cy="329184"/>
          </a:xfrm>
          <a:prstGeom prst="rect">
            <a:avLst/>
          </a:prstGeom>
          <a:noFill/>
          <a:ln/>
        </p:spPr>
        <p:txBody>
          <a:bodyPr wrap="square" rtlCol="0" anchor="ctr"/>
          <a:lstStyle/>
          <a:p>
            <a:pPr algn="ctr" indent="0" marL="0">
              <a:buNone/>
            </a:pPr>
            <a:r>
              <a:rPr lang="en-US" sz="1200" b="1" dirty="0">
                <a:solidFill>
                  <a:srgbClr val="16181D"/>
                </a:solidFill>
                <a:latin typeface="Arial" pitchFamily="34" charset="0"/>
                <a:ea typeface="BIZ UDPGothic" pitchFamily="34" charset="-122"/>
                <a:cs typeface="BIZ UDPGothic" pitchFamily="34" charset="-120"/>
              </a:rPr>
              <a:t>目標水準</a:t>
            </a:r>
            <a:endParaRPr lang="en-US" sz="1200" dirty="0"/>
          </a:p>
        </p:txBody>
      </p:sp>
      <p:sp>
        <p:nvSpPr>
          <p:cNvPr id="14" name="Text 12"/>
          <p:cNvSpPr/>
          <p:nvPr/>
        </p:nvSpPr>
        <p:spPr>
          <a:xfrm>
            <a:off x="4846320" y="3279953"/>
            <a:ext cx="3749040" cy="256032"/>
          </a:xfrm>
          <a:prstGeom prst="rect">
            <a:avLst/>
          </a:prstGeom>
          <a:noFill/>
          <a:ln/>
        </p:spPr>
        <p:txBody>
          <a:bodyPr wrap="square" rtlCol="0" anchor="ctr"/>
          <a:lstStyle/>
          <a:p>
            <a:pPr algn="ctr" indent="0" marL="0">
              <a:buNone/>
            </a:pPr>
            <a:r>
              <a:rPr lang="en-US" sz="900" dirty="0">
                <a:solidFill>
                  <a:srgbClr val="4B515C"/>
                </a:solidFill>
                <a:latin typeface="Arial" pitchFamily="34" charset="0"/>
                <a:ea typeface="BIZ UDPGothic" pitchFamily="34" charset="-122"/>
                <a:cs typeface="BIZ UDPGothic" pitchFamily="34" charset="-120"/>
              </a:rPr>
              <a:t>消費税15%維持を前提に</a:t>
            </a:r>
            <a:endParaRPr lang="en-US" sz="900" dirty="0"/>
          </a:p>
        </p:txBody>
      </p:sp>
      <p:sp>
        <p:nvSpPr>
          <p:cNvPr id="15" name="Text 13"/>
          <p:cNvSpPr/>
          <p:nvPr/>
        </p:nvSpPr>
        <p:spPr>
          <a:xfrm>
            <a:off x="457200" y="3749040"/>
            <a:ext cx="8229600" cy="347472"/>
          </a:xfrm>
          <a:prstGeom prst="rect">
            <a:avLst/>
          </a:prstGeom>
          <a:noFill/>
          <a:ln/>
        </p:spPr>
        <p:txBody>
          <a:bodyPr wrap="square" rtlCol="0" anchor="ctr"/>
          <a:lstStyle/>
          <a:p>
            <a:pPr indent="0" marL="0">
              <a:buNone/>
            </a:pPr>
            <a:r>
              <a:rPr lang="en-US" sz="1400" b="1" dirty="0">
                <a:solidFill>
                  <a:srgbClr val="16181D"/>
                </a:solidFill>
                <a:latin typeface="Arial" pitchFamily="34" charset="0"/>
                <a:ea typeface="BIZ UDPGothic" pitchFamily="34" charset="-122"/>
                <a:cs typeface="BIZ UDPGothic" pitchFamily="34" charset="-120"/>
              </a:rPr>
              <a:t>財源はどこから？</a:t>
            </a:r>
            <a:endParaRPr lang="en-US" sz="1400" dirty="0"/>
          </a:p>
        </p:txBody>
      </p:sp>
      <p:sp>
        <p:nvSpPr>
          <p:cNvPr id="16" name="Shape 14"/>
          <p:cNvSpPr/>
          <p:nvPr/>
        </p:nvSpPr>
        <p:spPr>
          <a:xfrm>
            <a:off x="457200" y="4160520"/>
            <a:ext cx="3840480" cy="868680"/>
          </a:xfrm>
          <a:prstGeom prst="roundRect">
            <a:avLst>
              <a:gd name="adj" fmla="val 10526"/>
            </a:avLst>
          </a:prstGeom>
          <a:solidFill>
            <a:srgbClr val="FFFFFF"/>
          </a:solidFill>
          <a:ln/>
          <a:effectLst>
            <a:outerShdw sx="100000" sy="100000" kx="0" ky="0" algn="bl" rotWithShape="0" blurRad="127000" dist="38100" dir="2700000">
              <a:srgbClr val="000000">
                <a:alpha val="35000"/>
              </a:srgbClr>
            </a:outerShdw>
          </a:effectLst>
        </p:spPr>
      </p:sp>
      <p:sp>
        <p:nvSpPr>
          <p:cNvPr id="17" name="Text 15"/>
          <p:cNvSpPr/>
          <p:nvPr/>
        </p:nvSpPr>
        <p:spPr>
          <a:xfrm>
            <a:off x="640080" y="4297680"/>
            <a:ext cx="3474720" cy="292608"/>
          </a:xfrm>
          <a:prstGeom prst="rect">
            <a:avLst/>
          </a:prstGeom>
          <a:noFill/>
          <a:ln/>
        </p:spPr>
        <p:txBody>
          <a:bodyPr wrap="square" rtlCol="0" anchor="ctr"/>
          <a:lstStyle/>
          <a:p>
            <a:pPr indent="0" marL="0">
              <a:buNone/>
            </a:pPr>
            <a:r>
              <a:rPr lang="en-US" sz="1200" b="1" dirty="0">
                <a:solidFill>
                  <a:srgbClr val="C8161D"/>
                </a:solidFill>
                <a:latin typeface="Arial" pitchFamily="34" charset="0"/>
                <a:ea typeface="BIZ UDPGothic" pitchFamily="34" charset="-122"/>
                <a:cs typeface="BIZ UDPGothic" pitchFamily="34" charset="-120"/>
              </a:rPr>
              <a:t>消費税10%→15%の増収</a:t>
            </a:r>
            <a:endParaRPr lang="en-US" sz="1200" dirty="0"/>
          </a:p>
        </p:txBody>
      </p:sp>
      <p:sp>
        <p:nvSpPr>
          <p:cNvPr id="18" name="Text 16"/>
          <p:cNvSpPr/>
          <p:nvPr/>
        </p:nvSpPr>
        <p:spPr>
          <a:xfrm>
            <a:off x="640080" y="4617720"/>
            <a:ext cx="3474720" cy="274320"/>
          </a:xfrm>
          <a:prstGeom prst="rect">
            <a:avLst/>
          </a:prstGeom>
          <a:noFill/>
          <a:ln/>
        </p:spPr>
        <p:txBody>
          <a:bodyPr wrap="square" rtlCol="0" anchor="ctr"/>
          <a:lstStyle/>
          <a:p>
            <a:pPr indent="0" marL="0">
              <a:lnSpc>
                <a:spcPct val="135000"/>
              </a:lnSpc>
              <a:buNone/>
            </a:pPr>
            <a:r>
              <a:rPr lang="en-US" sz="1100" dirty="0">
                <a:solidFill>
                  <a:srgbClr val="16181D"/>
                </a:solidFill>
                <a:latin typeface="Arial" pitchFamily="34" charset="0"/>
                <a:ea typeface="BIZ UDPGothic" pitchFamily="34" charset="-122"/>
                <a:cs typeface="BIZ UDPGothic" pitchFamily="34" charset="-120"/>
              </a:rPr>
              <a:t>+13兆円</a:t>
            </a:r>
            <a:endParaRPr lang="en-US" sz="1100" dirty="0"/>
          </a:p>
        </p:txBody>
      </p:sp>
      <p:sp>
        <p:nvSpPr>
          <p:cNvPr id="19" name="Shape 17"/>
          <p:cNvSpPr/>
          <p:nvPr/>
        </p:nvSpPr>
        <p:spPr>
          <a:xfrm>
            <a:off x="4480560" y="4160520"/>
            <a:ext cx="4206240" cy="868680"/>
          </a:xfrm>
          <a:prstGeom prst="roundRect">
            <a:avLst>
              <a:gd name="adj" fmla="val 10526"/>
            </a:avLst>
          </a:prstGeom>
          <a:solidFill>
            <a:srgbClr val="FFFFFF"/>
          </a:solidFill>
          <a:ln/>
          <a:effectLst>
            <a:outerShdw sx="100000" sy="100000" kx="0" ky="0" algn="bl" rotWithShape="0" blurRad="127000" dist="38100" dir="2700000">
              <a:srgbClr val="000000">
                <a:alpha val="35000"/>
              </a:srgbClr>
            </a:outerShdw>
          </a:effectLst>
        </p:spPr>
      </p:sp>
      <p:sp>
        <p:nvSpPr>
          <p:cNvPr id="20" name="Text 18"/>
          <p:cNvSpPr/>
          <p:nvPr/>
        </p:nvSpPr>
        <p:spPr>
          <a:xfrm>
            <a:off x="4663440" y="4297680"/>
            <a:ext cx="3840480" cy="292608"/>
          </a:xfrm>
          <a:prstGeom prst="rect">
            <a:avLst/>
          </a:prstGeom>
          <a:noFill/>
          <a:ln/>
        </p:spPr>
        <p:txBody>
          <a:bodyPr wrap="square" rtlCol="0" anchor="ctr"/>
          <a:lstStyle/>
          <a:p>
            <a:pPr indent="0" marL="0">
              <a:buNone/>
            </a:pPr>
            <a:r>
              <a:rPr lang="en-US" sz="1200" b="1" dirty="0">
                <a:solidFill>
                  <a:srgbClr val="C8161D"/>
                </a:solidFill>
                <a:latin typeface="Arial" pitchFamily="34" charset="0"/>
                <a:ea typeface="BIZ UDPGothic" pitchFamily="34" charset="-122"/>
                <a:cs typeface="BIZ UDPGothic" pitchFamily="34" charset="-120"/>
              </a:rPr>
              <a:t>3年後の財政黒字</a:t>
            </a:r>
            <a:endParaRPr lang="en-US" sz="1200" dirty="0"/>
          </a:p>
        </p:txBody>
      </p:sp>
      <p:sp>
        <p:nvSpPr>
          <p:cNvPr id="21" name="Text 19"/>
          <p:cNvSpPr/>
          <p:nvPr/>
        </p:nvSpPr>
        <p:spPr>
          <a:xfrm>
            <a:off x="4663440" y="4617720"/>
            <a:ext cx="3840480" cy="274320"/>
          </a:xfrm>
          <a:prstGeom prst="rect">
            <a:avLst/>
          </a:prstGeom>
          <a:noFill/>
          <a:ln/>
        </p:spPr>
        <p:txBody>
          <a:bodyPr wrap="square" rtlCol="0" anchor="ctr"/>
          <a:lstStyle/>
          <a:p>
            <a:pPr indent="0" marL="0">
              <a:lnSpc>
                <a:spcPct val="135000"/>
              </a:lnSpc>
              <a:buNone/>
            </a:pPr>
            <a:r>
              <a:rPr lang="en-US" sz="1100" dirty="0">
                <a:solidFill>
                  <a:srgbClr val="16181D"/>
                </a:solidFill>
                <a:latin typeface="Arial" pitchFamily="34" charset="0"/>
                <a:ea typeface="BIZ UDPGothic" pitchFamily="34" charset="-122"/>
                <a:cs typeface="BIZ UDPGothic" pitchFamily="34" charset="-120"/>
              </a:rPr>
              <a:t>+3〜5兆円 → 合計16〜18兆円で7〜8ポイント引き下げが可能</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rtlCol="0" anchor="ctr"/>
          <a:lstStyle/>
          <a:p>
            <a:pPr indent="0" marL="0">
              <a:buNone/>
            </a:pPr>
            <a:r>
              <a:rPr lang="en-US" sz="900" b="1" spc="300" kern="0" dirty="0">
                <a:solidFill>
                  <a:srgbClr val="C8161D"/>
                </a:solidFill>
                <a:latin typeface="Arial" pitchFamily="34" charset="0"/>
                <a:ea typeface="BIZ UDPGothic" pitchFamily="34" charset="-122"/>
                <a:cs typeface="BIZ UDPGothic" pitchFamily="34" charset="-120"/>
              </a:rPr>
              <a:t>なぜなのか</a:t>
            </a:r>
            <a:endParaRPr lang="en-US" sz="900" dirty="0"/>
          </a:p>
        </p:txBody>
      </p:sp>
      <p:sp>
        <p:nvSpPr>
          <p:cNvPr id="3" name="Text 1"/>
          <p:cNvSpPr/>
          <p:nvPr/>
        </p:nvSpPr>
        <p:spPr>
          <a:xfrm>
            <a:off x="457200" y="502920"/>
            <a:ext cx="8229600" cy="685800"/>
          </a:xfrm>
          <a:prstGeom prst="rect">
            <a:avLst/>
          </a:prstGeom>
          <a:noFill/>
          <a:ln/>
        </p:spPr>
        <p:txBody>
          <a:bodyPr wrap="square" rtlCol="0" anchor="ctr"/>
          <a:lstStyle/>
          <a:p>
            <a:pPr indent="0" marL="0">
              <a:buNone/>
            </a:pPr>
            <a:r>
              <a:rPr lang="en-US" sz="2600" b="1" dirty="0">
                <a:solidFill>
                  <a:srgbClr val="16181D"/>
                </a:solidFill>
                <a:latin typeface="Arial" pitchFamily="34" charset="0"/>
                <a:ea typeface="BIZ UDPGothic" pitchFamily="34" charset="-122"/>
                <a:cs typeface="BIZ UDPGothic" pitchFamily="34" charset="-120"/>
              </a:rPr>
              <a:t>全部がつながっている：「中央値」という一本の軸</a:t>
            </a:r>
            <a:endParaRPr lang="en-US" sz="2600" dirty="0"/>
          </a:p>
        </p:txBody>
      </p:sp>
      <p:sp>
        <p:nvSpPr>
          <p:cNvPr id="4" name="Shape 2"/>
          <p:cNvSpPr/>
          <p:nvPr/>
        </p:nvSpPr>
        <p:spPr>
          <a:xfrm>
            <a:off x="457200" y="1261872"/>
            <a:ext cx="8229600" cy="22860"/>
          </a:xfrm>
          <a:prstGeom prst="rect">
            <a:avLst/>
          </a:prstGeom>
          <a:solidFill>
            <a:srgbClr val="DDE0E6"/>
          </a:solidFill>
          <a:ln/>
        </p:spPr>
      </p:sp>
      <p:sp>
        <p:nvSpPr>
          <p:cNvPr id="5" name="Text 3"/>
          <p:cNvSpPr/>
          <p:nvPr/>
        </p:nvSpPr>
        <p:spPr>
          <a:xfrm>
            <a:off x="457200" y="1371600"/>
            <a:ext cx="8229600" cy="457200"/>
          </a:xfrm>
          <a:prstGeom prst="rect">
            <a:avLst/>
          </a:prstGeom>
          <a:noFill/>
          <a:ln/>
        </p:spPr>
        <p:txBody>
          <a:bodyPr wrap="square" rtlCol="0" anchor="ctr"/>
          <a:lstStyle/>
          <a:p>
            <a:pPr indent="0" marL="0">
              <a:buNone/>
            </a:pPr>
            <a:r>
              <a:rPr lang="en-US" sz="1300" dirty="0">
                <a:solidFill>
                  <a:srgbClr val="4B515C"/>
                </a:solidFill>
                <a:latin typeface="Arial" pitchFamily="34" charset="0"/>
                <a:ea typeface="BIZ UDPGothic" pitchFamily="34" charset="-122"/>
                <a:cs typeface="BIZ UDPGothic" pitchFamily="34" charset="-120"/>
              </a:rPr>
              <a:t>このプランはバラバラに見えて、すべて「年収の真ん中（中央値）380万円」を基準に設計されている。</a:t>
            </a:r>
            <a:endParaRPr lang="en-US" sz="1300" dirty="0"/>
          </a:p>
        </p:txBody>
      </p:sp>
      <p:sp>
        <p:nvSpPr>
          <p:cNvPr id="6" name="Shape 4"/>
          <p:cNvSpPr/>
          <p:nvPr/>
        </p:nvSpPr>
        <p:spPr>
          <a:xfrm>
            <a:off x="457200" y="1965960"/>
            <a:ext cx="1965960" cy="1508760"/>
          </a:xfrm>
          <a:prstGeom prst="roundRect">
            <a:avLst>
              <a:gd name="adj" fmla="val 6061"/>
            </a:avLst>
          </a:prstGeom>
          <a:solidFill>
            <a:srgbClr val="C8161D"/>
          </a:solidFill>
          <a:ln/>
          <a:effectLst>
            <a:outerShdw sx="100000" sy="100000" kx="0" ky="0" algn="bl" rotWithShape="0" blurRad="127000" dist="38100" dir="2700000">
              <a:srgbClr val="000000">
                <a:alpha val="35000"/>
              </a:srgbClr>
            </a:outerShdw>
          </a:effectLst>
        </p:spPr>
      </p:sp>
      <p:sp>
        <p:nvSpPr>
          <p:cNvPr id="7" name="Text 5"/>
          <p:cNvSpPr/>
          <p:nvPr/>
        </p:nvSpPr>
        <p:spPr>
          <a:xfrm>
            <a:off x="457200" y="2084832"/>
            <a:ext cx="1965960" cy="777240"/>
          </a:xfrm>
          <a:prstGeom prst="rect">
            <a:avLst/>
          </a:prstGeom>
          <a:noFill/>
          <a:ln/>
        </p:spPr>
        <p:txBody>
          <a:bodyPr wrap="square" rtlCol="0" anchor="ctr"/>
          <a:lstStyle/>
          <a:p>
            <a:pPr algn="ctr" indent="0" marL="0">
              <a:lnSpc>
                <a:spcPct val="120000"/>
              </a:lnSpc>
              <a:buNone/>
            </a:pPr>
            <a:r>
              <a:rPr lang="en-US" sz="1300" b="1" dirty="0">
                <a:solidFill>
                  <a:srgbClr val="FFFFFF"/>
                </a:solidFill>
                <a:latin typeface="Arial" pitchFamily="34" charset="0"/>
                <a:ea typeface="BIZ UDPGothic" pitchFamily="34" charset="-122"/>
                <a:cs typeface="BIZ UDPGothic" pitchFamily="34" charset="-120"/>
              </a:rPr>
              <a:t>最低賃金</a:t>
            </a:r>
            <a:endParaRPr lang="en-US" sz="1300" dirty="0"/>
          </a:p>
          <a:p>
            <a:pPr algn="ctr" indent="0" marL="0">
              <a:lnSpc>
                <a:spcPct val="120000"/>
              </a:lnSpc>
              <a:buNone/>
            </a:pPr>
            <a:r>
              <a:rPr lang="en-US" sz="1300" b="1" dirty="0">
                <a:solidFill>
                  <a:srgbClr val="FFFFFF"/>
                </a:solidFill>
                <a:latin typeface="Arial" pitchFamily="34" charset="0"/>
                <a:ea typeface="BIZ UDPGothic" pitchFamily="34" charset="-122"/>
                <a:cs typeface="BIZ UDPGothic" pitchFamily="34" charset="-120"/>
              </a:rPr>
              <a:t>2,000円</a:t>
            </a:r>
            <a:endParaRPr lang="en-US" sz="1300" dirty="0"/>
          </a:p>
        </p:txBody>
      </p:sp>
      <p:sp>
        <p:nvSpPr>
          <p:cNvPr id="8" name="Text 6"/>
          <p:cNvSpPr/>
          <p:nvPr/>
        </p:nvSpPr>
        <p:spPr>
          <a:xfrm>
            <a:off x="457200" y="2852928"/>
            <a:ext cx="1965960" cy="502920"/>
          </a:xfrm>
          <a:prstGeom prst="rect">
            <a:avLst/>
          </a:prstGeom>
          <a:noFill/>
          <a:ln/>
        </p:spPr>
        <p:txBody>
          <a:bodyPr wrap="square" rtlCol="0" anchor="ctr"/>
          <a:lstStyle/>
          <a:p>
            <a:pPr algn="ctr" indent="0" marL="0">
              <a:lnSpc>
                <a:spcPct val="120000"/>
              </a:lnSpc>
              <a:buNone/>
            </a:pPr>
            <a:r>
              <a:rPr lang="en-US" sz="900" dirty="0">
                <a:solidFill>
                  <a:srgbClr val="FFFFFF"/>
                </a:solidFill>
                <a:latin typeface="Arial" pitchFamily="34" charset="0"/>
                <a:ea typeface="BIZ UDPGothic" pitchFamily="34" charset="-122"/>
                <a:cs typeface="BIZ UDPGothic" pitchFamily="34" charset="-120"/>
              </a:rPr>
              <a:t>＝年収380万円</a:t>
            </a:r>
            <a:endParaRPr lang="en-US" sz="900" dirty="0"/>
          </a:p>
        </p:txBody>
      </p:sp>
      <p:sp>
        <p:nvSpPr>
          <p:cNvPr id="9" name="Text 7"/>
          <p:cNvSpPr/>
          <p:nvPr/>
        </p:nvSpPr>
        <p:spPr>
          <a:xfrm>
            <a:off x="2450592" y="2468880"/>
            <a:ext cx="320040" cy="365760"/>
          </a:xfrm>
          <a:prstGeom prst="rect">
            <a:avLst/>
          </a:prstGeom>
          <a:noFill/>
          <a:ln/>
        </p:spPr>
        <p:txBody>
          <a:bodyPr wrap="square" rtlCol="0" anchor="ctr"/>
          <a:lstStyle/>
          <a:p>
            <a:pPr algn="ctr" indent="0" marL="0">
              <a:buNone/>
            </a:pPr>
            <a:r>
              <a:rPr lang="en-US" sz="1800" b="1" dirty="0">
                <a:solidFill>
                  <a:srgbClr val="C8161D"/>
                </a:solidFill>
                <a:latin typeface="Arial" pitchFamily="34" charset="0"/>
                <a:ea typeface="BIZ UDPGothic" pitchFamily="34" charset="-122"/>
                <a:cs typeface="BIZ UDPGothic" pitchFamily="34" charset="-120"/>
              </a:rPr>
              <a:t>→</a:t>
            </a:r>
            <a:endParaRPr lang="en-US" sz="1800" dirty="0"/>
          </a:p>
        </p:txBody>
      </p:sp>
      <p:sp>
        <p:nvSpPr>
          <p:cNvPr id="10" name="Shape 8"/>
          <p:cNvSpPr/>
          <p:nvPr/>
        </p:nvSpPr>
        <p:spPr>
          <a:xfrm>
            <a:off x="2606040" y="1965960"/>
            <a:ext cx="1965960" cy="1508760"/>
          </a:xfrm>
          <a:prstGeom prst="roundRect">
            <a:avLst>
              <a:gd name="adj" fmla="val 6061"/>
            </a:avLst>
          </a:prstGeom>
          <a:solidFill>
            <a:srgbClr val="FFFFFF"/>
          </a:solidFill>
          <a:ln/>
          <a:effectLst>
            <a:outerShdw sx="100000" sy="100000" kx="0" ky="0" algn="bl" rotWithShape="0" blurRad="127000" dist="38100" dir="2700000">
              <a:srgbClr val="000000">
                <a:alpha val="35000"/>
              </a:srgbClr>
            </a:outerShdw>
          </a:effectLst>
        </p:spPr>
      </p:sp>
      <p:sp>
        <p:nvSpPr>
          <p:cNvPr id="11" name="Text 9"/>
          <p:cNvSpPr/>
          <p:nvPr/>
        </p:nvSpPr>
        <p:spPr>
          <a:xfrm>
            <a:off x="2606040" y="2084832"/>
            <a:ext cx="1965960" cy="777240"/>
          </a:xfrm>
          <a:prstGeom prst="rect">
            <a:avLst/>
          </a:prstGeom>
          <a:noFill/>
          <a:ln/>
        </p:spPr>
        <p:txBody>
          <a:bodyPr wrap="square" rtlCol="0" anchor="ctr"/>
          <a:lstStyle/>
          <a:p>
            <a:pPr algn="ctr" indent="0" marL="0">
              <a:lnSpc>
                <a:spcPct val="120000"/>
              </a:lnSpc>
              <a:buNone/>
            </a:pPr>
            <a:r>
              <a:rPr lang="en-US" sz="1300" b="1" dirty="0">
                <a:solidFill>
                  <a:srgbClr val="16181D"/>
                </a:solidFill>
                <a:latin typeface="Arial" pitchFamily="34" charset="0"/>
                <a:ea typeface="BIZ UDPGothic" pitchFamily="34" charset="-122"/>
                <a:cs typeface="BIZ UDPGothic" pitchFamily="34" charset="-120"/>
              </a:rPr>
              <a:t>フラット税</a:t>
            </a:r>
            <a:endParaRPr lang="en-US" sz="1300" dirty="0"/>
          </a:p>
          <a:p>
            <a:pPr algn="ctr" indent="0" marL="0">
              <a:lnSpc>
                <a:spcPct val="120000"/>
              </a:lnSpc>
              <a:buNone/>
            </a:pPr>
            <a:r>
              <a:rPr lang="en-US" sz="1300" b="1" dirty="0">
                <a:solidFill>
                  <a:srgbClr val="16181D"/>
                </a:solidFill>
                <a:latin typeface="Arial" pitchFamily="34" charset="0"/>
                <a:ea typeface="BIZ UDPGothic" pitchFamily="34" charset="-122"/>
                <a:cs typeface="BIZ UDPGothic" pitchFamily="34" charset="-120"/>
              </a:rPr>
              <a:t>2.0%</a:t>
            </a:r>
            <a:endParaRPr lang="en-US" sz="1300" dirty="0"/>
          </a:p>
        </p:txBody>
      </p:sp>
      <p:sp>
        <p:nvSpPr>
          <p:cNvPr id="12" name="Text 10"/>
          <p:cNvSpPr/>
          <p:nvPr/>
        </p:nvSpPr>
        <p:spPr>
          <a:xfrm>
            <a:off x="2606040" y="2852928"/>
            <a:ext cx="1965960" cy="502920"/>
          </a:xfrm>
          <a:prstGeom prst="rect">
            <a:avLst/>
          </a:prstGeom>
          <a:noFill/>
          <a:ln/>
        </p:spPr>
        <p:txBody>
          <a:bodyPr wrap="square" rtlCol="0" anchor="ctr"/>
          <a:lstStyle/>
          <a:p>
            <a:pPr algn="ctr" indent="0" marL="0">
              <a:lnSpc>
                <a:spcPct val="120000"/>
              </a:lnSpc>
              <a:buNone/>
            </a:pPr>
            <a:r>
              <a:rPr lang="en-US" sz="900" dirty="0">
                <a:solidFill>
                  <a:srgbClr val="4B515C"/>
                </a:solidFill>
                <a:latin typeface="Arial" pitchFamily="34" charset="0"/>
                <a:ea typeface="BIZ UDPGothic" pitchFamily="34" charset="-122"/>
                <a:cs typeface="BIZ UDPGothic" pitchFamily="34" charset="-120"/>
              </a:rPr>
              <a:t>380万円の</a:t>
            </a:r>
            <a:endParaRPr lang="en-US" sz="900" dirty="0"/>
          </a:p>
          <a:p>
            <a:pPr algn="ctr" indent="0" marL="0">
              <a:lnSpc>
                <a:spcPct val="120000"/>
              </a:lnSpc>
              <a:buNone/>
            </a:pPr>
            <a:r>
              <a:rPr lang="en-US" sz="900" dirty="0">
                <a:solidFill>
                  <a:srgbClr val="4B515C"/>
                </a:solidFill>
                <a:latin typeface="Arial" pitchFamily="34" charset="0"/>
                <a:ea typeface="BIZ UDPGothic" pitchFamily="34" charset="-122"/>
                <a:cs typeface="BIZ UDPGothic" pitchFamily="34" charset="-120"/>
              </a:rPr>
              <a:t>実効税率</a:t>
            </a:r>
            <a:endParaRPr lang="en-US" sz="900" dirty="0"/>
          </a:p>
        </p:txBody>
      </p:sp>
      <p:sp>
        <p:nvSpPr>
          <p:cNvPr id="13" name="Text 11"/>
          <p:cNvSpPr/>
          <p:nvPr/>
        </p:nvSpPr>
        <p:spPr>
          <a:xfrm>
            <a:off x="4599432" y="2468880"/>
            <a:ext cx="320040" cy="365760"/>
          </a:xfrm>
          <a:prstGeom prst="rect">
            <a:avLst/>
          </a:prstGeom>
          <a:noFill/>
          <a:ln/>
        </p:spPr>
        <p:txBody>
          <a:bodyPr wrap="square" rtlCol="0" anchor="ctr"/>
          <a:lstStyle/>
          <a:p>
            <a:pPr algn="ctr" indent="0" marL="0">
              <a:buNone/>
            </a:pPr>
            <a:r>
              <a:rPr lang="en-US" sz="1800" b="1" dirty="0">
                <a:solidFill>
                  <a:srgbClr val="C8161D"/>
                </a:solidFill>
                <a:latin typeface="Arial" pitchFamily="34" charset="0"/>
                <a:ea typeface="BIZ UDPGothic" pitchFamily="34" charset="-122"/>
                <a:cs typeface="BIZ UDPGothic" pitchFamily="34" charset="-120"/>
              </a:rPr>
              <a:t>→</a:t>
            </a:r>
            <a:endParaRPr lang="en-US" sz="1800" dirty="0"/>
          </a:p>
        </p:txBody>
      </p:sp>
      <p:sp>
        <p:nvSpPr>
          <p:cNvPr id="14" name="Shape 12"/>
          <p:cNvSpPr/>
          <p:nvPr/>
        </p:nvSpPr>
        <p:spPr>
          <a:xfrm>
            <a:off x="4754880" y="1965960"/>
            <a:ext cx="1965960" cy="1508760"/>
          </a:xfrm>
          <a:prstGeom prst="roundRect">
            <a:avLst>
              <a:gd name="adj" fmla="val 6061"/>
            </a:avLst>
          </a:prstGeom>
          <a:solidFill>
            <a:srgbClr val="FFFFFF"/>
          </a:solidFill>
          <a:ln/>
          <a:effectLst>
            <a:outerShdw sx="100000" sy="100000" kx="0" ky="0" algn="bl" rotWithShape="0" blurRad="127000" dist="38100" dir="2700000">
              <a:srgbClr val="000000">
                <a:alpha val="35000"/>
              </a:srgbClr>
            </a:outerShdw>
          </a:effectLst>
        </p:spPr>
      </p:sp>
      <p:sp>
        <p:nvSpPr>
          <p:cNvPr id="15" name="Text 13"/>
          <p:cNvSpPr/>
          <p:nvPr/>
        </p:nvSpPr>
        <p:spPr>
          <a:xfrm>
            <a:off x="4754880" y="2084832"/>
            <a:ext cx="1965960" cy="777240"/>
          </a:xfrm>
          <a:prstGeom prst="rect">
            <a:avLst/>
          </a:prstGeom>
          <a:noFill/>
          <a:ln/>
        </p:spPr>
        <p:txBody>
          <a:bodyPr wrap="square" rtlCol="0" anchor="ctr"/>
          <a:lstStyle/>
          <a:p>
            <a:pPr algn="ctr" indent="0" marL="0">
              <a:lnSpc>
                <a:spcPct val="120000"/>
              </a:lnSpc>
              <a:buNone/>
            </a:pPr>
            <a:r>
              <a:rPr lang="en-US" sz="1300" b="1" dirty="0">
                <a:solidFill>
                  <a:srgbClr val="16181D"/>
                </a:solidFill>
                <a:latin typeface="Arial" pitchFamily="34" charset="0"/>
                <a:ea typeface="BIZ UDPGothic" pitchFamily="34" charset="-122"/>
                <a:cs typeface="BIZ UDPGothic" pitchFamily="34" charset="-120"/>
              </a:rPr>
              <a:t>生活保護</a:t>
            </a:r>
            <a:endParaRPr lang="en-US" sz="1300" dirty="0"/>
          </a:p>
          <a:p>
            <a:pPr algn="ctr" indent="0" marL="0">
              <a:lnSpc>
                <a:spcPct val="120000"/>
              </a:lnSpc>
              <a:buNone/>
            </a:pPr>
            <a:r>
              <a:rPr lang="en-US" sz="1300" b="1" dirty="0">
                <a:solidFill>
                  <a:srgbClr val="16181D"/>
                </a:solidFill>
                <a:latin typeface="Arial" pitchFamily="34" charset="0"/>
                <a:ea typeface="BIZ UDPGothic" pitchFamily="34" charset="-122"/>
                <a:cs typeface="BIZ UDPGothic" pitchFamily="34" charset="-120"/>
              </a:rPr>
              <a:t>最低賃金×0.8</a:t>
            </a:r>
            <a:endParaRPr lang="en-US" sz="1300" dirty="0"/>
          </a:p>
        </p:txBody>
      </p:sp>
      <p:sp>
        <p:nvSpPr>
          <p:cNvPr id="16" name="Text 14"/>
          <p:cNvSpPr/>
          <p:nvPr/>
        </p:nvSpPr>
        <p:spPr>
          <a:xfrm>
            <a:off x="4754880" y="2852928"/>
            <a:ext cx="1965960" cy="502920"/>
          </a:xfrm>
          <a:prstGeom prst="rect">
            <a:avLst/>
          </a:prstGeom>
          <a:noFill/>
          <a:ln/>
        </p:spPr>
        <p:txBody>
          <a:bodyPr wrap="square" rtlCol="0" anchor="ctr"/>
          <a:lstStyle/>
          <a:p>
            <a:pPr algn="ctr" indent="0" marL="0">
              <a:lnSpc>
                <a:spcPct val="120000"/>
              </a:lnSpc>
              <a:buNone/>
            </a:pPr>
            <a:r>
              <a:rPr lang="en-US" sz="900" dirty="0">
                <a:solidFill>
                  <a:srgbClr val="4B515C"/>
                </a:solidFill>
                <a:latin typeface="Arial" pitchFamily="34" charset="0"/>
                <a:ea typeface="BIZ UDPGothic" pitchFamily="34" charset="-122"/>
                <a:cs typeface="BIZ UDPGothic" pitchFamily="34" charset="-120"/>
              </a:rPr>
              <a:t>地域別に連動</a:t>
            </a:r>
            <a:endParaRPr lang="en-US" sz="900" dirty="0"/>
          </a:p>
        </p:txBody>
      </p:sp>
      <p:sp>
        <p:nvSpPr>
          <p:cNvPr id="17" name="Text 15"/>
          <p:cNvSpPr/>
          <p:nvPr/>
        </p:nvSpPr>
        <p:spPr>
          <a:xfrm>
            <a:off x="6748272" y="2468880"/>
            <a:ext cx="320040" cy="365760"/>
          </a:xfrm>
          <a:prstGeom prst="rect">
            <a:avLst/>
          </a:prstGeom>
          <a:noFill/>
          <a:ln/>
        </p:spPr>
        <p:txBody>
          <a:bodyPr wrap="square" rtlCol="0" anchor="ctr"/>
          <a:lstStyle/>
          <a:p>
            <a:pPr algn="ctr" indent="0" marL="0">
              <a:buNone/>
            </a:pPr>
            <a:r>
              <a:rPr lang="en-US" sz="1800" b="1" dirty="0">
                <a:solidFill>
                  <a:srgbClr val="C8161D"/>
                </a:solidFill>
                <a:latin typeface="Arial" pitchFamily="34" charset="0"/>
                <a:ea typeface="BIZ UDPGothic" pitchFamily="34" charset="-122"/>
                <a:cs typeface="BIZ UDPGothic" pitchFamily="34" charset="-120"/>
              </a:rPr>
              <a:t>→</a:t>
            </a:r>
            <a:endParaRPr lang="en-US" sz="1800" dirty="0"/>
          </a:p>
        </p:txBody>
      </p:sp>
      <p:sp>
        <p:nvSpPr>
          <p:cNvPr id="18" name="Shape 16"/>
          <p:cNvSpPr/>
          <p:nvPr/>
        </p:nvSpPr>
        <p:spPr>
          <a:xfrm>
            <a:off x="6903720" y="1965960"/>
            <a:ext cx="1965960" cy="1508760"/>
          </a:xfrm>
          <a:prstGeom prst="roundRect">
            <a:avLst>
              <a:gd name="adj" fmla="val 6061"/>
            </a:avLst>
          </a:prstGeom>
          <a:solidFill>
            <a:srgbClr val="FFFFFF"/>
          </a:solidFill>
          <a:ln/>
          <a:effectLst>
            <a:outerShdw sx="100000" sy="100000" kx="0" ky="0" algn="bl" rotWithShape="0" blurRad="127000" dist="38100" dir="2700000">
              <a:srgbClr val="000000">
                <a:alpha val="35000"/>
              </a:srgbClr>
            </a:outerShdw>
          </a:effectLst>
        </p:spPr>
      </p:sp>
      <p:sp>
        <p:nvSpPr>
          <p:cNvPr id="19" name="Text 17"/>
          <p:cNvSpPr/>
          <p:nvPr/>
        </p:nvSpPr>
        <p:spPr>
          <a:xfrm>
            <a:off x="6903720" y="2084832"/>
            <a:ext cx="1965960" cy="777240"/>
          </a:xfrm>
          <a:prstGeom prst="rect">
            <a:avLst/>
          </a:prstGeom>
          <a:noFill/>
          <a:ln/>
        </p:spPr>
        <p:txBody>
          <a:bodyPr wrap="square" rtlCol="0" anchor="ctr"/>
          <a:lstStyle/>
          <a:p>
            <a:pPr algn="ctr" indent="0" marL="0">
              <a:lnSpc>
                <a:spcPct val="120000"/>
              </a:lnSpc>
              <a:buNone/>
            </a:pPr>
            <a:r>
              <a:rPr lang="en-US" sz="1300" b="1" dirty="0">
                <a:solidFill>
                  <a:srgbClr val="16181D"/>
                </a:solidFill>
                <a:latin typeface="Arial" pitchFamily="34" charset="0"/>
                <a:ea typeface="BIZ UDPGothic" pitchFamily="34" charset="-122"/>
                <a:cs typeface="BIZ UDPGothic" pitchFamily="34" charset="-120"/>
              </a:rPr>
              <a:t>医療費</a:t>
            </a:r>
            <a:endParaRPr lang="en-US" sz="1300" dirty="0"/>
          </a:p>
          <a:p>
            <a:pPr algn="ctr" indent="0" marL="0">
              <a:lnSpc>
                <a:spcPct val="120000"/>
              </a:lnSpc>
              <a:buNone/>
            </a:pPr>
            <a:r>
              <a:rPr lang="en-US" sz="1300" b="1" dirty="0">
                <a:solidFill>
                  <a:srgbClr val="16181D"/>
                </a:solidFill>
                <a:latin typeface="Arial" pitchFamily="34" charset="0"/>
                <a:ea typeface="BIZ UDPGothic" pitchFamily="34" charset="-122"/>
                <a:cs typeface="BIZ UDPGothic" pitchFamily="34" charset="-120"/>
              </a:rPr>
              <a:t>所得で連続変動</a:t>
            </a:r>
            <a:endParaRPr lang="en-US" sz="1300" dirty="0"/>
          </a:p>
        </p:txBody>
      </p:sp>
      <p:sp>
        <p:nvSpPr>
          <p:cNvPr id="20" name="Text 18"/>
          <p:cNvSpPr/>
          <p:nvPr/>
        </p:nvSpPr>
        <p:spPr>
          <a:xfrm>
            <a:off x="6903720" y="2852928"/>
            <a:ext cx="1965960" cy="502920"/>
          </a:xfrm>
          <a:prstGeom prst="rect">
            <a:avLst/>
          </a:prstGeom>
          <a:noFill/>
          <a:ln/>
        </p:spPr>
        <p:txBody>
          <a:bodyPr wrap="square" rtlCol="0" anchor="ctr"/>
          <a:lstStyle/>
          <a:p>
            <a:pPr algn="ctr" indent="0" marL="0">
              <a:lnSpc>
                <a:spcPct val="120000"/>
              </a:lnSpc>
              <a:buNone/>
            </a:pPr>
            <a:r>
              <a:rPr lang="en-US" sz="900" dirty="0">
                <a:solidFill>
                  <a:srgbClr val="4B515C"/>
                </a:solidFill>
                <a:latin typeface="Arial" pitchFamily="34" charset="0"/>
                <a:ea typeface="BIZ UDPGothic" pitchFamily="34" charset="-122"/>
                <a:cs typeface="BIZ UDPGothic" pitchFamily="34" charset="-120"/>
              </a:rPr>
              <a:t>崖をなくす</a:t>
            </a:r>
            <a:endParaRPr lang="en-US" sz="900" dirty="0"/>
          </a:p>
        </p:txBody>
      </p:sp>
      <p:sp>
        <p:nvSpPr>
          <p:cNvPr id="21" name="Text 19"/>
          <p:cNvSpPr/>
          <p:nvPr/>
        </p:nvSpPr>
        <p:spPr>
          <a:xfrm>
            <a:off x="457200" y="3639312"/>
            <a:ext cx="8229600" cy="347472"/>
          </a:xfrm>
          <a:prstGeom prst="rect">
            <a:avLst/>
          </a:prstGeom>
          <a:noFill/>
          <a:ln/>
        </p:spPr>
        <p:txBody>
          <a:bodyPr wrap="square" rtlCol="0" anchor="ctr"/>
          <a:lstStyle/>
          <a:p>
            <a:pPr algn="ctr" indent="0" marL="0">
              <a:buNone/>
            </a:pPr>
            <a:r>
              <a:rPr lang="en-US" sz="1400" b="1" dirty="0">
                <a:solidFill>
                  <a:srgbClr val="C8161D"/>
                </a:solidFill>
                <a:latin typeface="Arial" pitchFamily="34" charset="0"/>
                <a:ea typeface="BIZ UDPGothic" pitchFamily="34" charset="-122"/>
                <a:cs typeface="BIZ UDPGothic" pitchFamily="34" charset="-120"/>
              </a:rPr>
              <a:t>市場原理に任せ、出口設計だけ政治がやる</a:t>
            </a:r>
            <a:endParaRPr lang="en-US" sz="1400" dirty="0"/>
          </a:p>
        </p:txBody>
      </p:sp>
      <p:sp>
        <p:nvSpPr>
          <p:cNvPr id="22" name="Text 20"/>
          <p:cNvSpPr/>
          <p:nvPr/>
        </p:nvSpPr>
        <p:spPr>
          <a:xfrm>
            <a:off x="457200" y="4041648"/>
            <a:ext cx="8229600" cy="685800"/>
          </a:xfrm>
          <a:prstGeom prst="rect">
            <a:avLst/>
          </a:prstGeom>
          <a:noFill/>
          <a:ln/>
        </p:spPr>
        <p:txBody>
          <a:bodyPr wrap="square" rtlCol="0" anchor="ctr"/>
          <a:lstStyle/>
          <a:p>
            <a:pPr algn="ctr" indent="0" marL="0">
              <a:lnSpc>
                <a:spcPct val="140000"/>
              </a:lnSpc>
              <a:buNone/>
            </a:pPr>
            <a:r>
              <a:rPr lang="en-US" sz="1200" dirty="0">
                <a:solidFill>
                  <a:srgbClr val="16181D"/>
                </a:solidFill>
                <a:latin typeface="Arial" pitchFamily="34" charset="0"/>
                <a:ea typeface="BIZ UDPGothic" pitchFamily="34" charset="-122"/>
                <a:cs typeface="BIZ UDPGothic" pitchFamily="34" charset="-120"/>
              </a:rPr>
              <a:t>企業の生死は市場が決める。政治は「落ちた人をどう支えるか」だけを設計する。これがこのプランの哲学。</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rtlCol="0" anchor="ctr"/>
          <a:lstStyle/>
          <a:p>
            <a:pPr indent="0" marL="0">
              <a:buNone/>
            </a:pPr>
            <a:r>
              <a:rPr lang="en-US" sz="900" b="1" spc="300" kern="0" dirty="0">
                <a:solidFill>
                  <a:srgbClr val="C8161D"/>
                </a:solidFill>
                <a:latin typeface="Arial" pitchFamily="34" charset="0"/>
                <a:ea typeface="BIZ UDPGothic" pitchFamily="34" charset="-122"/>
                <a:cs typeface="BIZ UDPGothic" pitchFamily="34" charset="-120"/>
              </a:rPr>
              <a:t>数字でまとめ 01 / 04</a:t>
            </a:r>
            <a:endParaRPr lang="en-US" sz="900" dirty="0"/>
          </a:p>
        </p:txBody>
      </p:sp>
      <p:sp>
        <p:nvSpPr>
          <p:cNvPr id="3" name="Text 1"/>
          <p:cNvSpPr/>
          <p:nvPr/>
        </p:nvSpPr>
        <p:spPr>
          <a:xfrm>
            <a:off x="457200" y="502920"/>
            <a:ext cx="8229600" cy="685800"/>
          </a:xfrm>
          <a:prstGeom prst="rect">
            <a:avLst/>
          </a:prstGeom>
          <a:noFill/>
          <a:ln/>
        </p:spPr>
        <p:txBody>
          <a:bodyPr wrap="square" rtlCol="0" anchor="ctr"/>
          <a:lstStyle/>
          <a:p>
            <a:pPr indent="0" marL="0">
              <a:buNone/>
            </a:pPr>
            <a:r>
              <a:rPr lang="en-US" sz="3400" b="1" dirty="0">
                <a:solidFill>
                  <a:srgbClr val="16181D"/>
                </a:solidFill>
                <a:latin typeface="Arial" pitchFamily="34" charset="0"/>
                <a:ea typeface="BIZ UDPGothic" pitchFamily="34" charset="-122"/>
                <a:cs typeface="BIZ UDPGothic" pitchFamily="34" charset="-120"/>
              </a:rPr>
              <a:t>お金の話①：最初の1年はどうなる？</a:t>
            </a:r>
            <a:endParaRPr lang="en-US" sz="3400" dirty="0"/>
          </a:p>
        </p:txBody>
      </p:sp>
      <p:sp>
        <p:nvSpPr>
          <p:cNvPr id="4" name="Shape 2"/>
          <p:cNvSpPr/>
          <p:nvPr/>
        </p:nvSpPr>
        <p:spPr>
          <a:xfrm>
            <a:off x="457200" y="1261872"/>
            <a:ext cx="8229600" cy="22860"/>
          </a:xfrm>
          <a:prstGeom prst="rect">
            <a:avLst/>
          </a:prstGeom>
          <a:solidFill>
            <a:srgbClr val="DDE0E6"/>
          </a:solidFill>
          <a:ln/>
        </p:spPr>
      </p:sp>
      <p:sp>
        <p:nvSpPr>
          <p:cNvPr id="5" name="Shape 3"/>
          <p:cNvSpPr/>
          <p:nvPr/>
        </p:nvSpPr>
        <p:spPr>
          <a:xfrm>
            <a:off x="457200" y="1417320"/>
            <a:ext cx="3794760" cy="3429000"/>
          </a:xfrm>
          <a:prstGeom prst="roundRect">
            <a:avLst>
              <a:gd name="adj" fmla="val 2667"/>
            </a:avLst>
          </a:prstGeom>
          <a:solidFill>
            <a:srgbClr val="FFFFFF"/>
          </a:solidFill>
          <a:ln/>
          <a:effectLst>
            <a:outerShdw sx="100000" sy="100000" kx="0" ky="0" algn="bl" rotWithShape="0" blurRad="127000" dist="38100" dir="2700000">
              <a:srgbClr val="000000">
                <a:alpha val="35000"/>
              </a:srgbClr>
            </a:outerShdw>
          </a:effectLst>
        </p:spPr>
      </p:sp>
      <p:sp>
        <p:nvSpPr>
          <p:cNvPr id="6" name="Text 4"/>
          <p:cNvSpPr/>
          <p:nvPr/>
        </p:nvSpPr>
        <p:spPr>
          <a:xfrm>
            <a:off x="640080" y="1554480"/>
            <a:ext cx="3429000" cy="320040"/>
          </a:xfrm>
          <a:prstGeom prst="rect">
            <a:avLst/>
          </a:prstGeom>
          <a:noFill/>
          <a:ln/>
        </p:spPr>
        <p:txBody>
          <a:bodyPr wrap="square" rtlCol="0" anchor="ctr"/>
          <a:lstStyle/>
          <a:p>
            <a:pPr indent="0" marL="0">
              <a:buNone/>
            </a:pPr>
            <a:r>
              <a:rPr lang="en-US" sz="1200" b="1" dirty="0">
                <a:solidFill>
                  <a:srgbClr val="C8161D"/>
                </a:solidFill>
                <a:latin typeface="Arial" pitchFamily="34" charset="0"/>
                <a:ea typeface="BIZ UDPGothic" pitchFamily="34" charset="-122"/>
                <a:cs typeface="BIZ UDPGothic" pitchFamily="34" charset="-120"/>
              </a:rPr>
              <a:t>増えるお金（歳出増）</a:t>
            </a:r>
            <a:endParaRPr lang="en-US" sz="1200" dirty="0"/>
          </a:p>
        </p:txBody>
      </p:sp>
      <p:sp>
        <p:nvSpPr>
          <p:cNvPr id="7" name="Text 5"/>
          <p:cNvSpPr/>
          <p:nvPr/>
        </p:nvSpPr>
        <p:spPr>
          <a:xfrm>
            <a:off x="640080" y="1965960"/>
            <a:ext cx="2103120" cy="292608"/>
          </a:xfrm>
          <a:prstGeom prst="rect">
            <a:avLst/>
          </a:prstGeom>
          <a:noFill/>
          <a:ln/>
        </p:spPr>
        <p:txBody>
          <a:bodyPr wrap="square" rtlCol="0" anchor="ctr"/>
          <a:lstStyle/>
          <a:p>
            <a:pPr indent="0" marL="0">
              <a:buNone/>
            </a:pPr>
            <a:r>
              <a:rPr lang="en-US" sz="1100" dirty="0">
                <a:solidFill>
                  <a:srgbClr val="16181D"/>
                </a:solidFill>
                <a:latin typeface="Arial" pitchFamily="34" charset="0"/>
                <a:ea typeface="BIZ UDPGothic" pitchFamily="34" charset="-122"/>
                <a:cs typeface="BIZ UDPGothic" pitchFamily="34" charset="-120"/>
              </a:rPr>
              <a:t>失業給付を拡充</a:t>
            </a:r>
            <a:endParaRPr lang="en-US" sz="1100" dirty="0"/>
          </a:p>
        </p:txBody>
      </p:sp>
      <p:sp>
        <p:nvSpPr>
          <p:cNvPr id="8" name="Text 6"/>
          <p:cNvSpPr/>
          <p:nvPr/>
        </p:nvSpPr>
        <p:spPr>
          <a:xfrm>
            <a:off x="640080" y="2240280"/>
            <a:ext cx="2103120" cy="228600"/>
          </a:xfrm>
          <a:prstGeom prst="rect">
            <a:avLst/>
          </a:prstGeom>
          <a:noFill/>
          <a:ln/>
        </p:spPr>
        <p:txBody>
          <a:bodyPr wrap="square" rtlCol="0" anchor="ctr"/>
          <a:lstStyle/>
          <a:p>
            <a:pPr indent="0" marL="0">
              <a:buNone/>
            </a:pPr>
            <a:r>
              <a:rPr lang="en-US" sz="900" dirty="0">
                <a:solidFill>
                  <a:srgbClr val="4B515C"/>
                </a:solidFill>
                <a:latin typeface="Arial" pitchFamily="34" charset="0"/>
                <a:ea typeface="BIZ UDPGothic" pitchFamily="34" charset="-122"/>
                <a:cs typeface="BIZ UDPGothic" pitchFamily="34" charset="-120"/>
              </a:rPr>
              <a:t>（200万人×300万円）</a:t>
            </a:r>
            <a:endParaRPr lang="en-US" sz="900" dirty="0"/>
          </a:p>
        </p:txBody>
      </p:sp>
      <p:sp>
        <p:nvSpPr>
          <p:cNvPr id="9" name="Text 7"/>
          <p:cNvSpPr/>
          <p:nvPr/>
        </p:nvSpPr>
        <p:spPr>
          <a:xfrm>
            <a:off x="2834640" y="1965960"/>
            <a:ext cx="1234440" cy="292608"/>
          </a:xfrm>
          <a:prstGeom prst="rect">
            <a:avLst/>
          </a:prstGeom>
          <a:noFill/>
          <a:ln/>
        </p:spPr>
        <p:txBody>
          <a:bodyPr wrap="square" rtlCol="0" anchor="ctr"/>
          <a:lstStyle/>
          <a:p>
            <a:pPr algn="r" indent="0" marL="0">
              <a:buNone/>
            </a:pPr>
            <a:r>
              <a:rPr lang="en-US" sz="1300" b="1" dirty="0">
                <a:solidFill>
                  <a:srgbClr val="16181D"/>
                </a:solidFill>
                <a:latin typeface="Arial" pitchFamily="34" charset="0"/>
                <a:ea typeface="BIZ UDPGothic" pitchFamily="34" charset="-122"/>
                <a:cs typeface="BIZ UDPGothic" pitchFamily="34" charset="-120"/>
              </a:rPr>
              <a:t>+6兆円</a:t>
            </a:r>
            <a:endParaRPr lang="en-US" sz="1300" dirty="0"/>
          </a:p>
        </p:txBody>
      </p:sp>
      <p:sp>
        <p:nvSpPr>
          <p:cNvPr id="10" name="Text 8"/>
          <p:cNvSpPr/>
          <p:nvPr/>
        </p:nvSpPr>
        <p:spPr>
          <a:xfrm>
            <a:off x="640080" y="2679192"/>
            <a:ext cx="2103120" cy="292608"/>
          </a:xfrm>
          <a:prstGeom prst="rect">
            <a:avLst/>
          </a:prstGeom>
          <a:noFill/>
          <a:ln/>
        </p:spPr>
        <p:txBody>
          <a:bodyPr wrap="square" rtlCol="0" anchor="ctr"/>
          <a:lstStyle/>
          <a:p>
            <a:pPr indent="0" marL="0">
              <a:buNone/>
            </a:pPr>
            <a:r>
              <a:rPr lang="en-US" sz="1100" dirty="0">
                <a:solidFill>
                  <a:srgbClr val="16181D"/>
                </a:solidFill>
                <a:latin typeface="Arial" pitchFamily="34" charset="0"/>
                <a:ea typeface="BIZ UDPGothic" pitchFamily="34" charset="-122"/>
                <a:cs typeface="BIZ UDPGothic" pitchFamily="34" charset="-120"/>
              </a:rPr>
              <a:t>障害者支援の上乗せ</a:t>
            </a:r>
            <a:endParaRPr lang="en-US" sz="1100" dirty="0"/>
          </a:p>
        </p:txBody>
      </p:sp>
      <p:sp>
        <p:nvSpPr>
          <p:cNvPr id="11" name="Text 9"/>
          <p:cNvSpPr/>
          <p:nvPr/>
        </p:nvSpPr>
        <p:spPr>
          <a:xfrm>
            <a:off x="2834640" y="2679192"/>
            <a:ext cx="1234440" cy="292608"/>
          </a:xfrm>
          <a:prstGeom prst="rect">
            <a:avLst/>
          </a:prstGeom>
          <a:noFill/>
          <a:ln/>
        </p:spPr>
        <p:txBody>
          <a:bodyPr wrap="square" rtlCol="0" anchor="ctr"/>
          <a:lstStyle/>
          <a:p>
            <a:pPr algn="r" indent="0" marL="0">
              <a:buNone/>
            </a:pPr>
            <a:r>
              <a:rPr lang="en-US" sz="1300" b="1" dirty="0">
                <a:solidFill>
                  <a:srgbClr val="16181D"/>
                </a:solidFill>
                <a:latin typeface="Arial" pitchFamily="34" charset="0"/>
                <a:ea typeface="BIZ UDPGothic" pitchFamily="34" charset="-122"/>
                <a:cs typeface="BIZ UDPGothic" pitchFamily="34" charset="-120"/>
              </a:rPr>
              <a:t>+0.5兆円</a:t>
            </a:r>
            <a:endParaRPr lang="en-US" sz="1300" dirty="0"/>
          </a:p>
        </p:txBody>
      </p:sp>
      <p:sp>
        <p:nvSpPr>
          <p:cNvPr id="12" name="Text 10"/>
          <p:cNvSpPr/>
          <p:nvPr/>
        </p:nvSpPr>
        <p:spPr>
          <a:xfrm>
            <a:off x="640080" y="3392424"/>
            <a:ext cx="2103120" cy="292608"/>
          </a:xfrm>
          <a:prstGeom prst="rect">
            <a:avLst/>
          </a:prstGeom>
          <a:noFill/>
          <a:ln/>
        </p:spPr>
        <p:txBody>
          <a:bodyPr wrap="square" rtlCol="0" anchor="ctr"/>
          <a:lstStyle/>
          <a:p>
            <a:pPr indent="0" marL="0">
              <a:buNone/>
            </a:pPr>
            <a:r>
              <a:rPr lang="en-US" sz="1100" dirty="0">
                <a:solidFill>
                  <a:srgbClr val="16181D"/>
                </a:solidFill>
                <a:latin typeface="Arial" pitchFamily="34" charset="0"/>
                <a:ea typeface="BIZ UDPGothic" pitchFamily="34" charset="-122"/>
                <a:cs typeface="BIZ UDPGothic" pitchFamily="34" charset="-120"/>
              </a:rPr>
              <a:t>年金の上乗せ</a:t>
            </a:r>
            <a:endParaRPr lang="en-US" sz="1100" dirty="0"/>
          </a:p>
        </p:txBody>
      </p:sp>
      <p:sp>
        <p:nvSpPr>
          <p:cNvPr id="13" name="Text 11"/>
          <p:cNvSpPr/>
          <p:nvPr/>
        </p:nvSpPr>
        <p:spPr>
          <a:xfrm>
            <a:off x="640080" y="3666744"/>
            <a:ext cx="2103120" cy="228600"/>
          </a:xfrm>
          <a:prstGeom prst="rect">
            <a:avLst/>
          </a:prstGeom>
          <a:noFill/>
          <a:ln/>
        </p:spPr>
        <p:txBody>
          <a:bodyPr wrap="square" rtlCol="0" anchor="ctr"/>
          <a:lstStyle/>
          <a:p>
            <a:pPr indent="0" marL="0">
              <a:buNone/>
            </a:pPr>
            <a:r>
              <a:rPr lang="en-US" sz="900" dirty="0">
                <a:solidFill>
                  <a:srgbClr val="4B515C"/>
                </a:solidFill>
                <a:latin typeface="Arial" pitchFamily="34" charset="0"/>
                <a:ea typeface="BIZ UDPGothic" pitchFamily="34" charset="-122"/>
                <a:cs typeface="BIZ UDPGothic" pitchFamily="34" charset="-120"/>
              </a:rPr>
              <a:t>（500万人×60万円）</a:t>
            </a:r>
            <a:endParaRPr lang="en-US" sz="900" dirty="0"/>
          </a:p>
        </p:txBody>
      </p:sp>
      <p:sp>
        <p:nvSpPr>
          <p:cNvPr id="14" name="Text 12"/>
          <p:cNvSpPr/>
          <p:nvPr/>
        </p:nvSpPr>
        <p:spPr>
          <a:xfrm>
            <a:off x="2834640" y="3392424"/>
            <a:ext cx="1234440" cy="292608"/>
          </a:xfrm>
          <a:prstGeom prst="rect">
            <a:avLst/>
          </a:prstGeom>
          <a:noFill/>
          <a:ln/>
        </p:spPr>
        <p:txBody>
          <a:bodyPr wrap="square" rtlCol="0" anchor="ctr"/>
          <a:lstStyle/>
          <a:p>
            <a:pPr algn="r" indent="0" marL="0">
              <a:buNone/>
            </a:pPr>
            <a:r>
              <a:rPr lang="en-US" sz="1300" b="1" dirty="0">
                <a:solidFill>
                  <a:srgbClr val="16181D"/>
                </a:solidFill>
                <a:latin typeface="Arial" pitchFamily="34" charset="0"/>
                <a:ea typeface="BIZ UDPGothic" pitchFamily="34" charset="-122"/>
                <a:cs typeface="BIZ UDPGothic" pitchFamily="34" charset="-120"/>
              </a:rPr>
              <a:t>+3兆円</a:t>
            </a:r>
            <a:endParaRPr lang="en-US" sz="1300" dirty="0"/>
          </a:p>
        </p:txBody>
      </p:sp>
      <p:sp>
        <p:nvSpPr>
          <p:cNvPr id="15" name="Shape 13"/>
          <p:cNvSpPr/>
          <p:nvPr/>
        </p:nvSpPr>
        <p:spPr>
          <a:xfrm>
            <a:off x="640080" y="4114800"/>
            <a:ext cx="3429000" cy="22860"/>
          </a:xfrm>
          <a:prstGeom prst="rect">
            <a:avLst/>
          </a:prstGeom>
          <a:solidFill>
            <a:srgbClr val="DDE0E6"/>
          </a:solidFill>
          <a:ln/>
        </p:spPr>
      </p:sp>
      <p:sp>
        <p:nvSpPr>
          <p:cNvPr id="16" name="Text 14"/>
          <p:cNvSpPr/>
          <p:nvPr/>
        </p:nvSpPr>
        <p:spPr>
          <a:xfrm>
            <a:off x="640080" y="4187952"/>
            <a:ext cx="1828800" cy="347472"/>
          </a:xfrm>
          <a:prstGeom prst="rect">
            <a:avLst/>
          </a:prstGeom>
          <a:noFill/>
          <a:ln/>
        </p:spPr>
        <p:txBody>
          <a:bodyPr wrap="square" rtlCol="0" anchor="ctr"/>
          <a:lstStyle/>
          <a:p>
            <a:pPr indent="0" marL="0">
              <a:buNone/>
            </a:pPr>
            <a:r>
              <a:rPr lang="en-US" sz="1200" b="1" dirty="0">
                <a:solidFill>
                  <a:srgbClr val="16181D"/>
                </a:solidFill>
                <a:latin typeface="Arial" pitchFamily="34" charset="0"/>
                <a:ea typeface="BIZ UDPGothic" pitchFamily="34" charset="-122"/>
                <a:cs typeface="BIZ UDPGothic" pitchFamily="34" charset="-120"/>
              </a:rPr>
              <a:t>歳出増 合計</a:t>
            </a:r>
            <a:endParaRPr lang="en-US" sz="1200" dirty="0"/>
          </a:p>
        </p:txBody>
      </p:sp>
      <p:sp>
        <p:nvSpPr>
          <p:cNvPr id="17" name="Text 15"/>
          <p:cNvSpPr/>
          <p:nvPr/>
        </p:nvSpPr>
        <p:spPr>
          <a:xfrm>
            <a:off x="2834640" y="4187952"/>
            <a:ext cx="1234440" cy="347472"/>
          </a:xfrm>
          <a:prstGeom prst="rect">
            <a:avLst/>
          </a:prstGeom>
          <a:noFill/>
          <a:ln/>
        </p:spPr>
        <p:txBody>
          <a:bodyPr wrap="square" rtlCol="0" anchor="ctr"/>
          <a:lstStyle/>
          <a:p>
            <a:pPr algn="r" indent="0" marL="0">
              <a:buNone/>
            </a:pPr>
            <a:r>
              <a:rPr lang="en-US" sz="1600" b="1" dirty="0">
                <a:solidFill>
                  <a:srgbClr val="C8161D"/>
                </a:solidFill>
                <a:latin typeface="Arial" pitchFamily="34" charset="0"/>
                <a:ea typeface="BIZ UDPGothic" pitchFamily="34" charset="-122"/>
                <a:cs typeface="BIZ UDPGothic" pitchFamily="34" charset="-120"/>
              </a:rPr>
              <a:t>+9.5兆円</a:t>
            </a:r>
            <a:endParaRPr lang="en-US" sz="1600" dirty="0"/>
          </a:p>
        </p:txBody>
      </p:sp>
      <p:sp>
        <p:nvSpPr>
          <p:cNvPr id="18" name="Shape 16"/>
          <p:cNvSpPr/>
          <p:nvPr/>
        </p:nvSpPr>
        <p:spPr>
          <a:xfrm>
            <a:off x="4434840" y="1417320"/>
            <a:ext cx="4251960" cy="3429000"/>
          </a:xfrm>
          <a:prstGeom prst="roundRect">
            <a:avLst>
              <a:gd name="adj" fmla="val 2667"/>
            </a:avLst>
          </a:prstGeom>
          <a:solidFill>
            <a:srgbClr val="FFFFFF"/>
          </a:solidFill>
          <a:ln/>
          <a:effectLst>
            <a:outerShdw sx="100000" sy="100000" kx="0" ky="0" algn="bl" rotWithShape="0" blurRad="127000" dist="38100" dir="2700000">
              <a:srgbClr val="000000">
                <a:alpha val="35000"/>
              </a:srgbClr>
            </a:outerShdw>
          </a:effectLst>
        </p:spPr>
      </p:sp>
      <p:sp>
        <p:nvSpPr>
          <p:cNvPr id="19" name="Text 17"/>
          <p:cNvSpPr/>
          <p:nvPr/>
        </p:nvSpPr>
        <p:spPr>
          <a:xfrm>
            <a:off x="4617720" y="1554480"/>
            <a:ext cx="3886200" cy="320040"/>
          </a:xfrm>
          <a:prstGeom prst="rect">
            <a:avLst/>
          </a:prstGeom>
          <a:noFill/>
          <a:ln/>
        </p:spPr>
        <p:txBody>
          <a:bodyPr wrap="square" rtlCol="0" anchor="ctr"/>
          <a:lstStyle/>
          <a:p>
            <a:pPr indent="0" marL="0">
              <a:buNone/>
            </a:pPr>
            <a:r>
              <a:rPr lang="en-US" sz="1200" b="1" dirty="0">
                <a:solidFill>
                  <a:srgbClr val="C8161D"/>
                </a:solidFill>
                <a:latin typeface="Arial" pitchFamily="34" charset="0"/>
                <a:ea typeface="BIZ UDPGothic" pitchFamily="34" charset="-122"/>
                <a:cs typeface="BIZ UDPGothic" pitchFamily="34" charset="-120"/>
              </a:rPr>
              <a:t>変わる税収（歳入）</a:t>
            </a:r>
            <a:endParaRPr lang="en-US" sz="1200" dirty="0"/>
          </a:p>
        </p:txBody>
      </p:sp>
      <p:sp>
        <p:nvSpPr>
          <p:cNvPr id="20" name="Text 18"/>
          <p:cNvSpPr/>
          <p:nvPr/>
        </p:nvSpPr>
        <p:spPr>
          <a:xfrm>
            <a:off x="4617720" y="1965960"/>
            <a:ext cx="2560320" cy="292608"/>
          </a:xfrm>
          <a:prstGeom prst="rect">
            <a:avLst/>
          </a:prstGeom>
          <a:noFill/>
          <a:ln/>
        </p:spPr>
        <p:txBody>
          <a:bodyPr wrap="square" rtlCol="0" anchor="ctr"/>
          <a:lstStyle/>
          <a:p>
            <a:pPr indent="0" marL="0">
              <a:buNone/>
            </a:pPr>
            <a:r>
              <a:rPr lang="en-US" sz="1100" dirty="0">
                <a:solidFill>
                  <a:srgbClr val="16181D"/>
                </a:solidFill>
                <a:latin typeface="Arial" pitchFamily="34" charset="0"/>
                <a:ea typeface="BIZ UDPGothic" pitchFamily="34" charset="-122"/>
                <a:cs typeface="BIZ UDPGothic" pitchFamily="34" charset="-120"/>
              </a:rPr>
              <a:t>消費税10%→15%の増収</a:t>
            </a:r>
            <a:endParaRPr lang="en-US" sz="1100" dirty="0"/>
          </a:p>
        </p:txBody>
      </p:sp>
      <p:sp>
        <p:nvSpPr>
          <p:cNvPr id="21" name="Text 19"/>
          <p:cNvSpPr/>
          <p:nvPr/>
        </p:nvSpPr>
        <p:spPr>
          <a:xfrm>
            <a:off x="7178040" y="1965960"/>
            <a:ext cx="1325880" cy="292608"/>
          </a:xfrm>
          <a:prstGeom prst="rect">
            <a:avLst/>
          </a:prstGeom>
          <a:noFill/>
          <a:ln/>
        </p:spPr>
        <p:txBody>
          <a:bodyPr wrap="square" rtlCol="0" anchor="ctr"/>
          <a:lstStyle/>
          <a:p>
            <a:pPr algn="r" indent="0" marL="0">
              <a:buNone/>
            </a:pPr>
            <a:r>
              <a:rPr lang="en-US" sz="1300" b="1" dirty="0">
                <a:solidFill>
                  <a:srgbClr val="16181D"/>
                </a:solidFill>
                <a:latin typeface="Arial" pitchFamily="34" charset="0"/>
                <a:ea typeface="BIZ UDPGothic" pitchFamily="34" charset="-122"/>
                <a:cs typeface="BIZ UDPGothic" pitchFamily="34" charset="-120"/>
              </a:rPr>
              <a:t>+13兆円</a:t>
            </a:r>
            <a:endParaRPr lang="en-US" sz="1300" dirty="0"/>
          </a:p>
        </p:txBody>
      </p:sp>
      <p:sp>
        <p:nvSpPr>
          <p:cNvPr id="22" name="Text 20"/>
          <p:cNvSpPr/>
          <p:nvPr/>
        </p:nvSpPr>
        <p:spPr>
          <a:xfrm>
            <a:off x="4617720" y="2679192"/>
            <a:ext cx="2560320" cy="292608"/>
          </a:xfrm>
          <a:prstGeom prst="rect">
            <a:avLst/>
          </a:prstGeom>
          <a:noFill/>
          <a:ln/>
        </p:spPr>
        <p:txBody>
          <a:bodyPr wrap="square" rtlCol="0" anchor="ctr"/>
          <a:lstStyle/>
          <a:p>
            <a:pPr indent="0" marL="0">
              <a:buNone/>
            </a:pPr>
            <a:r>
              <a:rPr lang="en-US" sz="1100" dirty="0">
                <a:solidFill>
                  <a:srgbClr val="16181D"/>
                </a:solidFill>
                <a:latin typeface="Arial" pitchFamily="34" charset="0"/>
                <a:ea typeface="BIZ UDPGothic" pitchFamily="34" charset="-122"/>
                <a:cs typeface="BIZ UDPGothic" pitchFamily="34" charset="-120"/>
              </a:rPr>
              <a:t>フラット税による減収</a:t>
            </a:r>
            <a:endParaRPr lang="en-US" sz="1100" dirty="0"/>
          </a:p>
        </p:txBody>
      </p:sp>
      <p:sp>
        <p:nvSpPr>
          <p:cNvPr id="23" name="Text 21"/>
          <p:cNvSpPr/>
          <p:nvPr/>
        </p:nvSpPr>
        <p:spPr>
          <a:xfrm>
            <a:off x="7178040" y="2679192"/>
            <a:ext cx="1325880" cy="292608"/>
          </a:xfrm>
          <a:prstGeom prst="rect">
            <a:avLst/>
          </a:prstGeom>
          <a:noFill/>
          <a:ln/>
        </p:spPr>
        <p:txBody>
          <a:bodyPr wrap="square" rtlCol="0" anchor="ctr"/>
          <a:lstStyle/>
          <a:p>
            <a:pPr algn="r" indent="0" marL="0">
              <a:buNone/>
            </a:pPr>
            <a:r>
              <a:rPr lang="en-US" sz="1300" b="1" dirty="0">
                <a:solidFill>
                  <a:srgbClr val="4B515C"/>
                </a:solidFill>
                <a:latin typeface="Arial" pitchFamily="34" charset="0"/>
                <a:ea typeface="BIZ UDPGothic" pitchFamily="34" charset="-122"/>
                <a:cs typeface="BIZ UDPGothic" pitchFamily="34" charset="-120"/>
              </a:rPr>
              <a:t>−6.5兆円</a:t>
            </a:r>
            <a:endParaRPr lang="en-US" sz="1300" dirty="0"/>
          </a:p>
        </p:txBody>
      </p:sp>
      <p:sp>
        <p:nvSpPr>
          <p:cNvPr id="24" name="Shape 22"/>
          <p:cNvSpPr/>
          <p:nvPr/>
        </p:nvSpPr>
        <p:spPr>
          <a:xfrm>
            <a:off x="4617720" y="3429000"/>
            <a:ext cx="3886200" cy="22860"/>
          </a:xfrm>
          <a:prstGeom prst="rect">
            <a:avLst/>
          </a:prstGeom>
          <a:solidFill>
            <a:srgbClr val="DDE0E6"/>
          </a:solidFill>
          <a:ln/>
        </p:spPr>
      </p:sp>
      <p:sp>
        <p:nvSpPr>
          <p:cNvPr id="25" name="Text 23"/>
          <p:cNvSpPr/>
          <p:nvPr/>
        </p:nvSpPr>
        <p:spPr>
          <a:xfrm>
            <a:off x="4617720" y="3502152"/>
            <a:ext cx="1828800" cy="347472"/>
          </a:xfrm>
          <a:prstGeom prst="rect">
            <a:avLst/>
          </a:prstGeom>
          <a:noFill/>
          <a:ln/>
        </p:spPr>
        <p:txBody>
          <a:bodyPr wrap="square" rtlCol="0" anchor="ctr"/>
          <a:lstStyle/>
          <a:p>
            <a:pPr indent="0" marL="0">
              <a:buNone/>
            </a:pPr>
            <a:r>
              <a:rPr lang="en-US" sz="1200" b="1" dirty="0">
                <a:solidFill>
                  <a:srgbClr val="16181D"/>
                </a:solidFill>
                <a:latin typeface="Arial" pitchFamily="34" charset="0"/>
                <a:ea typeface="BIZ UDPGothic" pitchFamily="34" charset="-122"/>
                <a:cs typeface="BIZ UDPGothic" pitchFamily="34" charset="-120"/>
              </a:rPr>
              <a:t>歳入増 合計</a:t>
            </a:r>
            <a:endParaRPr lang="en-US" sz="1200" dirty="0"/>
          </a:p>
        </p:txBody>
      </p:sp>
      <p:sp>
        <p:nvSpPr>
          <p:cNvPr id="26" name="Text 24"/>
          <p:cNvSpPr/>
          <p:nvPr/>
        </p:nvSpPr>
        <p:spPr>
          <a:xfrm>
            <a:off x="7178040" y="3502152"/>
            <a:ext cx="1325880" cy="347472"/>
          </a:xfrm>
          <a:prstGeom prst="rect">
            <a:avLst/>
          </a:prstGeom>
          <a:noFill/>
          <a:ln/>
        </p:spPr>
        <p:txBody>
          <a:bodyPr wrap="square" rtlCol="0" anchor="ctr"/>
          <a:lstStyle/>
          <a:p>
            <a:pPr algn="r" indent="0" marL="0">
              <a:buNone/>
            </a:pPr>
            <a:r>
              <a:rPr lang="en-US" sz="1600" b="1" dirty="0">
                <a:solidFill>
                  <a:srgbClr val="16181D"/>
                </a:solidFill>
                <a:latin typeface="Arial" pitchFamily="34" charset="0"/>
                <a:ea typeface="BIZ UDPGothic" pitchFamily="34" charset="-122"/>
                <a:cs typeface="BIZ UDPGothic" pitchFamily="34" charset="-120"/>
              </a:rPr>
              <a:t>+6.5兆円</a:t>
            </a:r>
            <a:endParaRPr lang="en-US" sz="1600" dirty="0"/>
          </a:p>
        </p:txBody>
      </p:sp>
      <p:sp>
        <p:nvSpPr>
          <p:cNvPr id="27" name="Shape 25"/>
          <p:cNvSpPr/>
          <p:nvPr/>
        </p:nvSpPr>
        <p:spPr>
          <a:xfrm>
            <a:off x="4617720" y="4114800"/>
            <a:ext cx="3886200" cy="22860"/>
          </a:xfrm>
          <a:prstGeom prst="rect">
            <a:avLst/>
          </a:prstGeom>
          <a:solidFill>
            <a:srgbClr val="DDE0E6"/>
          </a:solidFill>
          <a:ln/>
        </p:spPr>
      </p:sp>
      <p:sp>
        <p:nvSpPr>
          <p:cNvPr id="28" name="Shape 26"/>
          <p:cNvSpPr/>
          <p:nvPr/>
        </p:nvSpPr>
        <p:spPr>
          <a:xfrm>
            <a:off x="4434840" y="4187952"/>
            <a:ext cx="4251960" cy="594360"/>
          </a:xfrm>
          <a:prstGeom prst="roundRect">
            <a:avLst>
              <a:gd name="adj" fmla="val 15385"/>
            </a:avLst>
          </a:prstGeom>
          <a:solidFill>
            <a:srgbClr val="C8161D"/>
          </a:solidFill>
          <a:ln/>
          <a:effectLst>
            <a:outerShdw sx="100000" sy="100000" kx="0" ky="0" algn="bl" rotWithShape="0" blurRad="127000" dist="38100" dir="2700000">
              <a:srgbClr val="000000">
                <a:alpha val="35000"/>
              </a:srgbClr>
            </a:outerShdw>
          </a:effectLst>
        </p:spPr>
      </p:sp>
      <p:sp>
        <p:nvSpPr>
          <p:cNvPr id="29" name="Text 27"/>
          <p:cNvSpPr/>
          <p:nvPr/>
        </p:nvSpPr>
        <p:spPr>
          <a:xfrm>
            <a:off x="4617720" y="4251960"/>
            <a:ext cx="2286000" cy="41148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BIZ UDPGothic" pitchFamily="34" charset="-122"/>
                <a:cs typeface="BIZ UDPGothic" pitchFamily="34" charset="-120"/>
              </a:rPr>
              <a:t>初年度の赤字</a:t>
            </a:r>
            <a:endParaRPr lang="en-US" sz="1300" dirty="0"/>
          </a:p>
        </p:txBody>
      </p:sp>
      <p:sp>
        <p:nvSpPr>
          <p:cNvPr id="30" name="Text 28"/>
          <p:cNvSpPr/>
          <p:nvPr/>
        </p:nvSpPr>
        <p:spPr>
          <a:xfrm>
            <a:off x="7178040" y="4251960"/>
            <a:ext cx="1325880" cy="411480"/>
          </a:xfrm>
          <a:prstGeom prst="rect">
            <a:avLst/>
          </a:prstGeom>
          <a:noFill/>
          <a:ln/>
        </p:spPr>
        <p:txBody>
          <a:bodyPr wrap="square" rtlCol="0" anchor="ctr"/>
          <a:lstStyle/>
          <a:p>
            <a:pPr algn="r" indent="0" marL="0">
              <a:buNone/>
            </a:pPr>
            <a:r>
              <a:rPr lang="en-US" sz="1800" b="1" dirty="0">
                <a:solidFill>
                  <a:srgbClr val="FFFFFF"/>
                </a:solidFill>
                <a:latin typeface="Arial" pitchFamily="34" charset="0"/>
                <a:ea typeface="BIZ UDPGothic" pitchFamily="34" charset="-122"/>
                <a:cs typeface="BIZ UDPGothic" pitchFamily="34" charset="-120"/>
              </a:rPr>
              <a:t>▲3兆円</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rtlCol="0" anchor="ctr"/>
          <a:lstStyle/>
          <a:p>
            <a:pPr indent="0" marL="0">
              <a:buNone/>
            </a:pPr>
            <a:r>
              <a:rPr lang="en-US" sz="900" b="1" spc="300" kern="0" dirty="0">
                <a:solidFill>
                  <a:srgbClr val="C8161D"/>
                </a:solidFill>
                <a:latin typeface="Arial" pitchFamily="34" charset="0"/>
                <a:ea typeface="BIZ UDPGothic" pitchFamily="34" charset="-122"/>
                <a:cs typeface="BIZ UDPGothic" pitchFamily="34" charset="-120"/>
              </a:rPr>
              <a:t>数字でまとめ 02 / 04</a:t>
            </a:r>
            <a:endParaRPr lang="en-US" sz="900" dirty="0"/>
          </a:p>
        </p:txBody>
      </p:sp>
      <p:sp>
        <p:nvSpPr>
          <p:cNvPr id="3" name="Text 1"/>
          <p:cNvSpPr/>
          <p:nvPr/>
        </p:nvSpPr>
        <p:spPr>
          <a:xfrm>
            <a:off x="457200" y="502920"/>
            <a:ext cx="8229600" cy="685800"/>
          </a:xfrm>
          <a:prstGeom prst="rect">
            <a:avLst/>
          </a:prstGeom>
          <a:noFill/>
          <a:ln/>
        </p:spPr>
        <p:txBody>
          <a:bodyPr wrap="square" rtlCol="0" anchor="ctr"/>
          <a:lstStyle/>
          <a:p>
            <a:pPr indent="0" marL="0">
              <a:buNone/>
            </a:pPr>
            <a:r>
              <a:rPr lang="en-US" sz="3400" b="1" dirty="0">
                <a:solidFill>
                  <a:srgbClr val="16181D"/>
                </a:solidFill>
                <a:latin typeface="Arial" pitchFamily="34" charset="0"/>
                <a:ea typeface="BIZ UDPGothic" pitchFamily="34" charset="-122"/>
                <a:cs typeface="BIZ UDPGothic" pitchFamily="34" charset="-120"/>
              </a:rPr>
              <a:t>お金の話②：3年後には黒字に転換する</a:t>
            </a:r>
            <a:endParaRPr lang="en-US" sz="3400" dirty="0"/>
          </a:p>
        </p:txBody>
      </p:sp>
      <p:sp>
        <p:nvSpPr>
          <p:cNvPr id="4" name="Shape 2"/>
          <p:cNvSpPr/>
          <p:nvPr/>
        </p:nvSpPr>
        <p:spPr>
          <a:xfrm>
            <a:off x="457200" y="1261872"/>
            <a:ext cx="8229600" cy="22860"/>
          </a:xfrm>
          <a:prstGeom prst="rect">
            <a:avLst/>
          </a:prstGeom>
          <a:solidFill>
            <a:srgbClr val="DDE0E6"/>
          </a:solidFill>
          <a:ln/>
        </p:spPr>
      </p:sp>
      <p:sp>
        <p:nvSpPr>
          <p:cNvPr id="5" name="Shape 3"/>
          <p:cNvSpPr/>
          <p:nvPr/>
        </p:nvSpPr>
        <p:spPr>
          <a:xfrm>
            <a:off x="457200" y="1417320"/>
            <a:ext cx="8229600" cy="3063240"/>
          </a:xfrm>
          <a:prstGeom prst="roundRect">
            <a:avLst>
              <a:gd name="adj" fmla="val 2985"/>
            </a:avLst>
          </a:prstGeom>
          <a:solidFill>
            <a:srgbClr val="FFFFFF"/>
          </a:solidFill>
          <a:ln/>
          <a:effectLst>
            <a:outerShdw sx="100000" sy="100000" kx="0" ky="0" algn="bl" rotWithShape="0" blurRad="127000" dist="38100" dir="2700000">
              <a:srgbClr val="000000">
                <a:alpha val="35000"/>
              </a:srgbClr>
            </a:outerShdw>
          </a:effectLst>
        </p:spPr>
      </p:sp>
      <p:sp>
        <p:nvSpPr>
          <p:cNvPr id="6" name="Text 4"/>
          <p:cNvSpPr/>
          <p:nvPr/>
        </p:nvSpPr>
        <p:spPr>
          <a:xfrm>
            <a:off x="640080" y="1554480"/>
            <a:ext cx="7863840" cy="320040"/>
          </a:xfrm>
          <a:prstGeom prst="rect">
            <a:avLst/>
          </a:prstGeom>
          <a:noFill/>
          <a:ln/>
        </p:spPr>
        <p:txBody>
          <a:bodyPr wrap="square" rtlCol="0" anchor="ctr"/>
          <a:lstStyle/>
          <a:p>
            <a:pPr indent="0" marL="0">
              <a:buNone/>
            </a:pPr>
            <a:r>
              <a:rPr lang="en-US" sz="1200" b="1" dirty="0">
                <a:solidFill>
                  <a:srgbClr val="C8161D"/>
                </a:solidFill>
                <a:latin typeface="Arial" pitchFamily="34" charset="0"/>
                <a:ea typeface="BIZ UDPGothic" pitchFamily="34" charset="-122"/>
                <a:cs typeface="BIZ UDPGothic" pitchFamily="34" charset="-120"/>
              </a:rPr>
              <a:t>3年後に加わるプラス効果</a:t>
            </a:r>
            <a:endParaRPr lang="en-US" sz="1200" dirty="0"/>
          </a:p>
        </p:txBody>
      </p:sp>
      <p:sp>
        <p:nvSpPr>
          <p:cNvPr id="7" name="Text 5"/>
          <p:cNvSpPr/>
          <p:nvPr/>
        </p:nvSpPr>
        <p:spPr>
          <a:xfrm>
            <a:off x="640080" y="1965960"/>
            <a:ext cx="3017520" cy="347472"/>
          </a:xfrm>
          <a:prstGeom prst="rect">
            <a:avLst/>
          </a:prstGeom>
          <a:noFill/>
          <a:ln/>
        </p:spPr>
        <p:txBody>
          <a:bodyPr wrap="square" rtlCol="0" anchor="ctr"/>
          <a:lstStyle/>
          <a:p>
            <a:pPr indent="0" marL="0">
              <a:buNone/>
            </a:pPr>
            <a:r>
              <a:rPr lang="en-US" sz="1100" dirty="0">
                <a:solidFill>
                  <a:srgbClr val="16181D"/>
                </a:solidFill>
                <a:latin typeface="Arial" pitchFamily="34" charset="0"/>
                <a:ea typeface="BIZ UDPGothic" pitchFamily="34" charset="-122"/>
                <a:cs typeface="BIZ UDPGothic" pitchFamily="34" charset="-120"/>
              </a:rPr>
              <a:t>ゾンビ企業向け補助金の削減</a:t>
            </a:r>
            <a:endParaRPr lang="en-US" sz="1100" dirty="0"/>
          </a:p>
        </p:txBody>
      </p:sp>
      <p:sp>
        <p:nvSpPr>
          <p:cNvPr id="8" name="Text 6"/>
          <p:cNvSpPr/>
          <p:nvPr/>
        </p:nvSpPr>
        <p:spPr>
          <a:xfrm>
            <a:off x="3566160" y="1965960"/>
            <a:ext cx="1097280" cy="347472"/>
          </a:xfrm>
          <a:prstGeom prst="rect">
            <a:avLst/>
          </a:prstGeom>
          <a:noFill/>
          <a:ln/>
        </p:spPr>
        <p:txBody>
          <a:bodyPr wrap="square" rtlCol="0" anchor="ctr"/>
          <a:lstStyle/>
          <a:p>
            <a:pPr algn="r" indent="0" marL="0">
              <a:buNone/>
            </a:pPr>
            <a:r>
              <a:rPr lang="en-US" sz="1200" b="1" dirty="0">
                <a:solidFill>
                  <a:srgbClr val="4B515C"/>
                </a:solidFill>
                <a:latin typeface="Arial" pitchFamily="34" charset="0"/>
                <a:ea typeface="BIZ UDPGothic" pitchFamily="34" charset="-122"/>
                <a:cs typeface="BIZ UDPGothic" pitchFamily="34" charset="-120"/>
              </a:rPr>
              <a:t>−3〜4兆円</a:t>
            </a:r>
            <a:endParaRPr lang="en-US" sz="1200" dirty="0"/>
          </a:p>
        </p:txBody>
      </p:sp>
      <p:sp>
        <p:nvSpPr>
          <p:cNvPr id="9" name="Text 7"/>
          <p:cNvSpPr/>
          <p:nvPr/>
        </p:nvSpPr>
        <p:spPr>
          <a:xfrm>
            <a:off x="4754880" y="1965960"/>
            <a:ext cx="3017520" cy="347472"/>
          </a:xfrm>
          <a:prstGeom prst="rect">
            <a:avLst/>
          </a:prstGeom>
          <a:noFill/>
          <a:ln/>
        </p:spPr>
        <p:txBody>
          <a:bodyPr wrap="square" rtlCol="0" anchor="ctr"/>
          <a:lstStyle/>
          <a:p>
            <a:pPr indent="0" marL="0">
              <a:buNone/>
            </a:pPr>
            <a:r>
              <a:rPr lang="en-US" sz="1100" dirty="0">
                <a:solidFill>
                  <a:srgbClr val="16181D"/>
                </a:solidFill>
                <a:latin typeface="Arial" pitchFamily="34" charset="0"/>
                <a:ea typeface="BIZ UDPGothic" pitchFamily="34" charset="-122"/>
                <a:cs typeface="BIZ UDPGothic" pitchFamily="34" charset="-120"/>
              </a:rPr>
              <a:t>生活保護の適正化</a:t>
            </a:r>
            <a:endParaRPr lang="en-US" sz="1100" dirty="0"/>
          </a:p>
        </p:txBody>
      </p:sp>
      <p:sp>
        <p:nvSpPr>
          <p:cNvPr id="10" name="Text 8"/>
          <p:cNvSpPr/>
          <p:nvPr/>
        </p:nvSpPr>
        <p:spPr>
          <a:xfrm>
            <a:off x="7680960" y="1965960"/>
            <a:ext cx="1097280" cy="347472"/>
          </a:xfrm>
          <a:prstGeom prst="rect">
            <a:avLst/>
          </a:prstGeom>
          <a:noFill/>
          <a:ln/>
        </p:spPr>
        <p:txBody>
          <a:bodyPr wrap="square" rtlCol="0" anchor="ctr"/>
          <a:lstStyle/>
          <a:p>
            <a:pPr algn="r" indent="0" marL="0">
              <a:buNone/>
            </a:pPr>
            <a:r>
              <a:rPr lang="en-US" sz="1200" b="1" dirty="0">
                <a:solidFill>
                  <a:srgbClr val="4B515C"/>
                </a:solidFill>
                <a:latin typeface="Arial" pitchFamily="34" charset="0"/>
                <a:ea typeface="BIZ UDPGothic" pitchFamily="34" charset="-122"/>
                <a:cs typeface="BIZ UDPGothic" pitchFamily="34" charset="-120"/>
              </a:rPr>
              <a:t>−1兆円</a:t>
            </a:r>
            <a:endParaRPr lang="en-US" sz="1200" dirty="0"/>
          </a:p>
        </p:txBody>
      </p:sp>
      <p:sp>
        <p:nvSpPr>
          <p:cNvPr id="11" name="Text 9"/>
          <p:cNvSpPr/>
          <p:nvPr/>
        </p:nvSpPr>
        <p:spPr>
          <a:xfrm>
            <a:off x="640080" y="2532888"/>
            <a:ext cx="3017520" cy="347472"/>
          </a:xfrm>
          <a:prstGeom prst="rect">
            <a:avLst/>
          </a:prstGeom>
          <a:noFill/>
          <a:ln/>
        </p:spPr>
        <p:txBody>
          <a:bodyPr wrap="square" rtlCol="0" anchor="ctr"/>
          <a:lstStyle/>
          <a:p>
            <a:pPr indent="0" marL="0">
              <a:buNone/>
            </a:pPr>
            <a:r>
              <a:rPr lang="en-US" sz="1100" dirty="0">
                <a:solidFill>
                  <a:srgbClr val="16181D"/>
                </a:solidFill>
                <a:latin typeface="Arial" pitchFamily="34" charset="0"/>
                <a:ea typeface="BIZ UDPGothic" pitchFamily="34" charset="-122"/>
                <a:cs typeface="BIZ UDPGothic" pitchFamily="34" charset="-120"/>
              </a:rPr>
              <a:t>行政コストの削減</a:t>
            </a:r>
            <a:endParaRPr lang="en-US" sz="1100" dirty="0"/>
          </a:p>
        </p:txBody>
      </p:sp>
      <p:sp>
        <p:nvSpPr>
          <p:cNvPr id="12" name="Text 10"/>
          <p:cNvSpPr/>
          <p:nvPr/>
        </p:nvSpPr>
        <p:spPr>
          <a:xfrm>
            <a:off x="3566160" y="2532888"/>
            <a:ext cx="1097280" cy="347472"/>
          </a:xfrm>
          <a:prstGeom prst="rect">
            <a:avLst/>
          </a:prstGeom>
          <a:noFill/>
          <a:ln/>
        </p:spPr>
        <p:txBody>
          <a:bodyPr wrap="square" rtlCol="0" anchor="ctr"/>
          <a:lstStyle/>
          <a:p>
            <a:pPr algn="r" indent="0" marL="0">
              <a:buNone/>
            </a:pPr>
            <a:r>
              <a:rPr lang="en-US" sz="1200" b="1" dirty="0">
                <a:solidFill>
                  <a:srgbClr val="4B515C"/>
                </a:solidFill>
                <a:latin typeface="Arial" pitchFamily="34" charset="0"/>
                <a:ea typeface="BIZ UDPGothic" pitchFamily="34" charset="-122"/>
                <a:cs typeface="BIZ UDPGothic" pitchFamily="34" charset="-120"/>
              </a:rPr>
              <a:t>−0.5兆円</a:t>
            </a:r>
            <a:endParaRPr lang="en-US" sz="1200" dirty="0"/>
          </a:p>
        </p:txBody>
      </p:sp>
      <p:sp>
        <p:nvSpPr>
          <p:cNvPr id="13" name="Text 11"/>
          <p:cNvSpPr/>
          <p:nvPr/>
        </p:nvSpPr>
        <p:spPr>
          <a:xfrm>
            <a:off x="4754880" y="2532888"/>
            <a:ext cx="3017520" cy="347472"/>
          </a:xfrm>
          <a:prstGeom prst="rect">
            <a:avLst/>
          </a:prstGeom>
          <a:noFill/>
          <a:ln/>
        </p:spPr>
        <p:txBody>
          <a:bodyPr wrap="square" rtlCol="0" anchor="ctr"/>
          <a:lstStyle/>
          <a:p>
            <a:pPr indent="0" marL="0">
              <a:buNone/>
            </a:pPr>
            <a:r>
              <a:rPr lang="en-US" sz="1100" dirty="0">
                <a:solidFill>
                  <a:srgbClr val="16181D"/>
                </a:solidFill>
                <a:latin typeface="Arial" pitchFamily="34" charset="0"/>
                <a:ea typeface="BIZ UDPGothic" pitchFamily="34" charset="-122"/>
                <a:cs typeface="BIZ UDPGothic" pitchFamily="34" charset="-120"/>
              </a:rPr>
              <a:t>最低賃金上昇による税収・社保増収</a:t>
            </a:r>
            <a:endParaRPr lang="en-US" sz="1100" dirty="0"/>
          </a:p>
        </p:txBody>
      </p:sp>
      <p:sp>
        <p:nvSpPr>
          <p:cNvPr id="14" name="Text 12"/>
          <p:cNvSpPr/>
          <p:nvPr/>
        </p:nvSpPr>
        <p:spPr>
          <a:xfrm>
            <a:off x="7680960" y="2532888"/>
            <a:ext cx="1097280" cy="347472"/>
          </a:xfrm>
          <a:prstGeom prst="rect">
            <a:avLst/>
          </a:prstGeom>
          <a:noFill/>
          <a:ln/>
        </p:spPr>
        <p:txBody>
          <a:bodyPr wrap="square" rtlCol="0" anchor="ctr"/>
          <a:lstStyle/>
          <a:p>
            <a:pPr algn="r" indent="0" marL="0">
              <a:buNone/>
            </a:pPr>
            <a:r>
              <a:rPr lang="en-US" sz="1200" b="1" dirty="0">
                <a:solidFill>
                  <a:srgbClr val="1D4F91"/>
                </a:solidFill>
                <a:latin typeface="Arial" pitchFamily="34" charset="0"/>
                <a:ea typeface="BIZ UDPGothic" pitchFamily="34" charset="-122"/>
                <a:cs typeface="BIZ UDPGothic" pitchFamily="34" charset="-120"/>
              </a:rPr>
              <a:t>+8〜10兆円</a:t>
            </a:r>
            <a:endParaRPr lang="en-US" sz="1200" dirty="0"/>
          </a:p>
        </p:txBody>
      </p:sp>
      <p:sp>
        <p:nvSpPr>
          <p:cNvPr id="15" name="Text 13"/>
          <p:cNvSpPr/>
          <p:nvPr/>
        </p:nvSpPr>
        <p:spPr>
          <a:xfrm>
            <a:off x="640080" y="3099816"/>
            <a:ext cx="3017520" cy="347472"/>
          </a:xfrm>
          <a:prstGeom prst="rect">
            <a:avLst/>
          </a:prstGeom>
          <a:noFill/>
          <a:ln/>
        </p:spPr>
        <p:txBody>
          <a:bodyPr wrap="square" rtlCol="0" anchor="ctr"/>
          <a:lstStyle/>
          <a:p>
            <a:pPr indent="0" marL="0">
              <a:buNone/>
            </a:pPr>
            <a:r>
              <a:rPr lang="en-US" sz="1100" dirty="0">
                <a:solidFill>
                  <a:srgbClr val="16181D"/>
                </a:solidFill>
                <a:latin typeface="Arial" pitchFamily="34" charset="0"/>
                <a:ea typeface="BIZ UDPGothic" pitchFamily="34" charset="-122"/>
                <a:cs typeface="BIZ UDPGothic" pitchFamily="34" charset="-120"/>
              </a:rPr>
              <a:t>消費が増えた分の消費税増収</a:t>
            </a:r>
            <a:endParaRPr lang="en-US" sz="1100" dirty="0"/>
          </a:p>
        </p:txBody>
      </p:sp>
      <p:sp>
        <p:nvSpPr>
          <p:cNvPr id="16" name="Text 14"/>
          <p:cNvSpPr/>
          <p:nvPr/>
        </p:nvSpPr>
        <p:spPr>
          <a:xfrm>
            <a:off x="3566160" y="3099816"/>
            <a:ext cx="1097280" cy="347472"/>
          </a:xfrm>
          <a:prstGeom prst="rect">
            <a:avLst/>
          </a:prstGeom>
          <a:noFill/>
          <a:ln/>
        </p:spPr>
        <p:txBody>
          <a:bodyPr wrap="square" rtlCol="0" anchor="ctr"/>
          <a:lstStyle/>
          <a:p>
            <a:pPr algn="r" indent="0" marL="0">
              <a:buNone/>
            </a:pPr>
            <a:r>
              <a:rPr lang="en-US" sz="1200" b="1" dirty="0">
                <a:solidFill>
                  <a:srgbClr val="1D4F91"/>
                </a:solidFill>
                <a:latin typeface="Arial" pitchFamily="34" charset="0"/>
                <a:ea typeface="BIZ UDPGothic" pitchFamily="34" charset="-122"/>
                <a:cs typeface="BIZ UDPGothic" pitchFamily="34" charset="-120"/>
              </a:rPr>
              <a:t>+3兆円</a:t>
            </a:r>
            <a:endParaRPr lang="en-US" sz="1200" dirty="0"/>
          </a:p>
        </p:txBody>
      </p:sp>
      <p:sp>
        <p:nvSpPr>
          <p:cNvPr id="17" name="Text 15"/>
          <p:cNvSpPr/>
          <p:nvPr/>
        </p:nvSpPr>
        <p:spPr>
          <a:xfrm>
            <a:off x="4754880" y="3099816"/>
            <a:ext cx="3017520" cy="347472"/>
          </a:xfrm>
          <a:prstGeom prst="rect">
            <a:avLst/>
          </a:prstGeom>
          <a:noFill/>
          <a:ln/>
        </p:spPr>
        <p:txBody>
          <a:bodyPr wrap="square" rtlCol="0" anchor="ctr"/>
          <a:lstStyle/>
          <a:p>
            <a:pPr indent="0" marL="0">
              <a:buNone/>
            </a:pPr>
            <a:r>
              <a:rPr lang="en-US" sz="1100" dirty="0">
                <a:solidFill>
                  <a:srgbClr val="16181D"/>
                </a:solidFill>
                <a:latin typeface="Arial" pitchFamily="34" charset="0"/>
                <a:ea typeface="BIZ UDPGothic" pitchFamily="34" charset="-122"/>
                <a:cs typeface="BIZ UDPGothic" pitchFamily="34" charset="-120"/>
              </a:rPr>
              <a:t>生産性向上による法人税増収</a:t>
            </a:r>
            <a:endParaRPr lang="en-US" sz="1100" dirty="0"/>
          </a:p>
        </p:txBody>
      </p:sp>
      <p:sp>
        <p:nvSpPr>
          <p:cNvPr id="18" name="Text 16"/>
          <p:cNvSpPr/>
          <p:nvPr/>
        </p:nvSpPr>
        <p:spPr>
          <a:xfrm>
            <a:off x="7680960" y="3099816"/>
            <a:ext cx="1097280" cy="347472"/>
          </a:xfrm>
          <a:prstGeom prst="rect">
            <a:avLst/>
          </a:prstGeom>
          <a:noFill/>
          <a:ln/>
        </p:spPr>
        <p:txBody>
          <a:bodyPr wrap="square" rtlCol="0" anchor="ctr"/>
          <a:lstStyle/>
          <a:p>
            <a:pPr algn="r" indent="0" marL="0">
              <a:buNone/>
            </a:pPr>
            <a:r>
              <a:rPr lang="en-US" sz="1200" b="1" dirty="0">
                <a:solidFill>
                  <a:srgbClr val="1D4F91"/>
                </a:solidFill>
                <a:latin typeface="Arial" pitchFamily="34" charset="0"/>
                <a:ea typeface="BIZ UDPGothic" pitchFamily="34" charset="-122"/>
                <a:cs typeface="BIZ UDPGothic" pitchFamily="34" charset="-120"/>
              </a:rPr>
              <a:t>+2〜3兆円</a:t>
            </a:r>
            <a:endParaRPr lang="en-US" sz="1200" dirty="0"/>
          </a:p>
        </p:txBody>
      </p:sp>
      <p:sp>
        <p:nvSpPr>
          <p:cNvPr id="19" name="Shape 17"/>
          <p:cNvSpPr/>
          <p:nvPr/>
        </p:nvSpPr>
        <p:spPr>
          <a:xfrm>
            <a:off x="457200" y="4617720"/>
            <a:ext cx="8229600" cy="320040"/>
          </a:xfrm>
          <a:prstGeom prst="roundRect">
            <a:avLst>
              <a:gd name="adj" fmla="val 28571"/>
            </a:avLst>
          </a:prstGeom>
          <a:solidFill>
            <a:srgbClr val="C8161D"/>
          </a:solidFill>
          <a:ln/>
          <a:effectLst>
            <a:outerShdw sx="100000" sy="100000" kx="0" ky="0" algn="bl" rotWithShape="0" blurRad="127000" dist="38100" dir="2700000">
              <a:srgbClr val="000000">
                <a:alpha val="35000"/>
              </a:srgbClr>
            </a:outerShdw>
          </a:effectLst>
        </p:spPr>
      </p:sp>
      <p:sp>
        <p:nvSpPr>
          <p:cNvPr id="20" name="Text 18"/>
          <p:cNvSpPr/>
          <p:nvPr/>
        </p:nvSpPr>
        <p:spPr>
          <a:xfrm>
            <a:off x="640080" y="4636008"/>
            <a:ext cx="4114800" cy="256032"/>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BIZ UDPGothic" pitchFamily="34" charset="-122"/>
                <a:cs typeface="BIZ UDPGothic" pitchFamily="34" charset="-120"/>
              </a:rPr>
              <a:t>3年後の収支</a:t>
            </a:r>
            <a:endParaRPr lang="en-US" sz="1200" dirty="0"/>
          </a:p>
        </p:txBody>
      </p:sp>
      <p:sp>
        <p:nvSpPr>
          <p:cNvPr id="21" name="Text 19"/>
          <p:cNvSpPr/>
          <p:nvPr/>
        </p:nvSpPr>
        <p:spPr>
          <a:xfrm>
            <a:off x="4572000" y="4636008"/>
            <a:ext cx="3931920" cy="256032"/>
          </a:xfrm>
          <a:prstGeom prst="rect">
            <a:avLst/>
          </a:prstGeom>
          <a:noFill/>
          <a:ln/>
        </p:spPr>
        <p:txBody>
          <a:bodyPr wrap="square" rtlCol="0" anchor="ctr"/>
          <a:lstStyle/>
          <a:p>
            <a:pPr algn="r" indent="0" marL="0">
              <a:buNone/>
            </a:pPr>
            <a:r>
              <a:rPr lang="en-US" sz="1400" b="1" dirty="0">
                <a:solidFill>
                  <a:srgbClr val="FFFFFF"/>
                </a:solidFill>
                <a:latin typeface="Arial" pitchFamily="34" charset="0"/>
                <a:ea typeface="BIZ UDPGothic" pitchFamily="34" charset="-122"/>
                <a:cs typeface="BIZ UDPGothic" pitchFamily="34" charset="-120"/>
              </a:rPr>
              <a:t>+3〜5兆円（黒字転換）</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rtlCol="0" anchor="ctr"/>
          <a:lstStyle/>
          <a:p>
            <a:pPr indent="0" marL="0">
              <a:buNone/>
            </a:pPr>
            <a:r>
              <a:rPr lang="en-US" sz="900" b="1" spc="300" kern="0" dirty="0">
                <a:solidFill>
                  <a:srgbClr val="C8161D"/>
                </a:solidFill>
                <a:latin typeface="Arial" pitchFamily="34" charset="0"/>
                <a:ea typeface="BIZ UDPGothic" pitchFamily="34" charset="-122"/>
                <a:cs typeface="BIZ UDPGothic" pitchFamily="34" charset="-120"/>
              </a:rPr>
              <a:t>数字でまとめ 03 / 04</a:t>
            </a:r>
            <a:endParaRPr lang="en-US" sz="900" dirty="0"/>
          </a:p>
        </p:txBody>
      </p:sp>
      <p:sp>
        <p:nvSpPr>
          <p:cNvPr id="3" name="Text 1"/>
          <p:cNvSpPr/>
          <p:nvPr/>
        </p:nvSpPr>
        <p:spPr>
          <a:xfrm>
            <a:off x="457200" y="502920"/>
            <a:ext cx="8229600" cy="685800"/>
          </a:xfrm>
          <a:prstGeom prst="rect">
            <a:avLst/>
          </a:prstGeom>
          <a:noFill/>
          <a:ln/>
        </p:spPr>
        <p:txBody>
          <a:bodyPr wrap="square" rtlCol="0" anchor="ctr"/>
          <a:lstStyle/>
          <a:p>
            <a:pPr indent="0" marL="0">
              <a:buNone/>
            </a:pPr>
            <a:r>
              <a:rPr lang="en-US" sz="3400" b="1" dirty="0">
                <a:solidFill>
                  <a:srgbClr val="16181D"/>
                </a:solidFill>
                <a:latin typeface="Arial" pitchFamily="34" charset="0"/>
                <a:ea typeface="BIZ UDPGothic" pitchFamily="34" charset="-122"/>
                <a:cs typeface="BIZ UDPGothic" pitchFamily="34" charset="-120"/>
              </a:rPr>
              <a:t>お金の話③：3つの軸が同時に動く</a:t>
            </a:r>
            <a:endParaRPr lang="en-US" sz="3400" dirty="0"/>
          </a:p>
        </p:txBody>
      </p:sp>
      <p:sp>
        <p:nvSpPr>
          <p:cNvPr id="4" name="Shape 2"/>
          <p:cNvSpPr/>
          <p:nvPr/>
        </p:nvSpPr>
        <p:spPr>
          <a:xfrm>
            <a:off x="457200" y="1261872"/>
            <a:ext cx="8229600" cy="22860"/>
          </a:xfrm>
          <a:prstGeom prst="rect">
            <a:avLst/>
          </a:prstGeom>
          <a:solidFill>
            <a:srgbClr val="DDE0E6"/>
          </a:solidFill>
          <a:ln/>
        </p:spPr>
      </p:sp>
      <p:sp>
        <p:nvSpPr>
          <p:cNvPr id="5" name="Shape 3"/>
          <p:cNvSpPr/>
          <p:nvPr/>
        </p:nvSpPr>
        <p:spPr>
          <a:xfrm>
            <a:off x="457200" y="1417320"/>
            <a:ext cx="8229600" cy="1024128"/>
          </a:xfrm>
          <a:prstGeom prst="roundRect">
            <a:avLst>
              <a:gd name="adj" fmla="val 8929"/>
            </a:avLst>
          </a:prstGeom>
          <a:solidFill>
            <a:srgbClr val="C8161D"/>
          </a:solidFill>
          <a:ln/>
          <a:effectLst>
            <a:outerShdw sx="100000" sy="100000" kx="0" ky="0" algn="bl" rotWithShape="0" blurRad="127000" dist="38100" dir="2700000">
              <a:srgbClr val="000000">
                <a:alpha val="35000"/>
              </a:srgbClr>
            </a:outerShdw>
          </a:effectLst>
        </p:spPr>
      </p:sp>
      <p:sp>
        <p:nvSpPr>
          <p:cNvPr id="6" name="Text 4"/>
          <p:cNvSpPr/>
          <p:nvPr/>
        </p:nvSpPr>
        <p:spPr>
          <a:xfrm>
            <a:off x="640080" y="1527048"/>
            <a:ext cx="594360" cy="804672"/>
          </a:xfrm>
          <a:prstGeom prst="rect">
            <a:avLst/>
          </a:prstGeom>
          <a:noFill/>
          <a:ln/>
        </p:spPr>
        <p:txBody>
          <a:bodyPr wrap="square" rtlCol="0" anchor="ctr"/>
          <a:lstStyle/>
          <a:p>
            <a:pPr indent="0" marL="0">
              <a:buNone/>
            </a:pPr>
            <a:r>
              <a:rPr lang="en-US" sz="3400" b="1" dirty="0">
                <a:solidFill>
                  <a:srgbClr val="FFFFFF"/>
                </a:solidFill>
                <a:latin typeface="Arial" pitchFamily="34" charset="0"/>
                <a:ea typeface="BIZ UDPGothic" pitchFamily="34" charset="-122"/>
                <a:cs typeface="BIZ UDPGothic" pitchFamily="34" charset="-120"/>
              </a:rPr>
              <a:t>①</a:t>
            </a:r>
            <a:endParaRPr lang="en-US" sz="3400" dirty="0"/>
          </a:p>
        </p:txBody>
      </p:sp>
      <p:sp>
        <p:nvSpPr>
          <p:cNvPr id="7" name="Text 5"/>
          <p:cNvSpPr/>
          <p:nvPr/>
        </p:nvSpPr>
        <p:spPr>
          <a:xfrm>
            <a:off x="1371600" y="1545336"/>
            <a:ext cx="2743200" cy="384048"/>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BIZ UDPGothic" pitchFamily="34" charset="-122"/>
                <a:cs typeface="BIZ UDPGothic" pitchFamily="34" charset="-120"/>
              </a:rPr>
              <a:t>所得を上げる</a:t>
            </a:r>
            <a:endParaRPr lang="en-US" sz="1600" dirty="0"/>
          </a:p>
        </p:txBody>
      </p:sp>
      <p:sp>
        <p:nvSpPr>
          <p:cNvPr id="8" name="Text 6"/>
          <p:cNvSpPr/>
          <p:nvPr/>
        </p:nvSpPr>
        <p:spPr>
          <a:xfrm>
            <a:off x="1371600" y="1947672"/>
            <a:ext cx="4114800" cy="365760"/>
          </a:xfrm>
          <a:prstGeom prst="rect">
            <a:avLst/>
          </a:prstGeom>
          <a:noFill/>
          <a:ln/>
        </p:spPr>
        <p:txBody>
          <a:bodyPr wrap="square" rtlCol="0" anchor="ctr"/>
          <a:lstStyle/>
          <a:p>
            <a:pPr indent="0" marL="0">
              <a:buNone/>
            </a:pPr>
            <a:r>
              <a:rPr lang="en-US" sz="1400" dirty="0">
                <a:solidFill>
                  <a:srgbClr val="FFFFFF"/>
                </a:solidFill>
                <a:latin typeface="Arial" pitchFamily="34" charset="0"/>
                <a:ea typeface="BIZ UDPGothic" pitchFamily="34" charset="-122"/>
                <a:cs typeface="BIZ UDPGothic" pitchFamily="34" charset="-120"/>
              </a:rPr>
              <a:t>最低賃金 2,000円</a:t>
            </a:r>
            <a:endParaRPr lang="en-US" sz="1400" dirty="0"/>
          </a:p>
        </p:txBody>
      </p:sp>
      <p:sp>
        <p:nvSpPr>
          <p:cNvPr id="9" name="Text 7"/>
          <p:cNvSpPr/>
          <p:nvPr/>
        </p:nvSpPr>
        <p:spPr>
          <a:xfrm>
            <a:off x="6583680" y="1691640"/>
            <a:ext cx="1920240" cy="502920"/>
          </a:xfrm>
          <a:prstGeom prst="rect">
            <a:avLst/>
          </a:prstGeom>
          <a:noFill/>
          <a:ln/>
        </p:spPr>
        <p:txBody>
          <a:bodyPr wrap="square" rtlCol="0" anchor="ctr"/>
          <a:lstStyle/>
          <a:p>
            <a:pPr algn="r" indent="0" marL="0">
              <a:buNone/>
            </a:pPr>
            <a:r>
              <a:rPr lang="en-US" sz="1100" dirty="0">
                <a:solidFill>
                  <a:srgbClr val="FFFFFF"/>
                </a:solidFill>
                <a:latin typeface="Arial" pitchFamily="34" charset="0"/>
                <a:ea typeface="BIZ UDPGothic" pitchFamily="34" charset="-122"/>
                <a:cs typeface="BIZ UDPGothic" pitchFamily="34" charset="-120"/>
              </a:rPr>
              <a:t>中央値380万円水準へ</a:t>
            </a:r>
            <a:endParaRPr lang="en-US" sz="1100" dirty="0"/>
          </a:p>
        </p:txBody>
      </p:sp>
      <p:sp>
        <p:nvSpPr>
          <p:cNvPr id="10" name="Shape 8"/>
          <p:cNvSpPr/>
          <p:nvPr/>
        </p:nvSpPr>
        <p:spPr>
          <a:xfrm>
            <a:off x="457200" y="2587752"/>
            <a:ext cx="8229600" cy="1024128"/>
          </a:xfrm>
          <a:prstGeom prst="roundRect">
            <a:avLst>
              <a:gd name="adj" fmla="val 8929"/>
            </a:avLst>
          </a:prstGeom>
          <a:solidFill>
            <a:srgbClr val="FFFFFF"/>
          </a:solidFill>
          <a:ln/>
          <a:effectLst>
            <a:outerShdw sx="100000" sy="100000" kx="0" ky="0" algn="bl" rotWithShape="0" blurRad="127000" dist="38100" dir="2700000">
              <a:srgbClr val="000000">
                <a:alpha val="35000"/>
              </a:srgbClr>
            </a:outerShdw>
          </a:effectLst>
        </p:spPr>
      </p:sp>
      <p:sp>
        <p:nvSpPr>
          <p:cNvPr id="11" name="Text 9"/>
          <p:cNvSpPr/>
          <p:nvPr/>
        </p:nvSpPr>
        <p:spPr>
          <a:xfrm>
            <a:off x="640080" y="2697480"/>
            <a:ext cx="594360" cy="804672"/>
          </a:xfrm>
          <a:prstGeom prst="rect">
            <a:avLst/>
          </a:prstGeom>
          <a:noFill/>
          <a:ln/>
        </p:spPr>
        <p:txBody>
          <a:bodyPr wrap="square" rtlCol="0" anchor="ctr"/>
          <a:lstStyle/>
          <a:p>
            <a:pPr indent="0" marL="0">
              <a:buNone/>
            </a:pPr>
            <a:r>
              <a:rPr lang="en-US" sz="3400" b="1" dirty="0">
                <a:solidFill>
                  <a:srgbClr val="C8161D"/>
                </a:solidFill>
                <a:latin typeface="Arial" pitchFamily="34" charset="0"/>
                <a:ea typeface="BIZ UDPGothic" pitchFamily="34" charset="-122"/>
                <a:cs typeface="BIZ UDPGothic" pitchFamily="34" charset="-120"/>
              </a:rPr>
              <a:t>②</a:t>
            </a:r>
            <a:endParaRPr lang="en-US" sz="3400" dirty="0"/>
          </a:p>
        </p:txBody>
      </p:sp>
      <p:sp>
        <p:nvSpPr>
          <p:cNvPr id="12" name="Text 10"/>
          <p:cNvSpPr/>
          <p:nvPr/>
        </p:nvSpPr>
        <p:spPr>
          <a:xfrm>
            <a:off x="1371600" y="2715768"/>
            <a:ext cx="2743200" cy="384048"/>
          </a:xfrm>
          <a:prstGeom prst="rect">
            <a:avLst/>
          </a:prstGeom>
          <a:noFill/>
          <a:ln/>
        </p:spPr>
        <p:txBody>
          <a:bodyPr wrap="square" rtlCol="0" anchor="ctr"/>
          <a:lstStyle/>
          <a:p>
            <a:pPr indent="0" marL="0">
              <a:buNone/>
            </a:pPr>
            <a:r>
              <a:rPr lang="en-US" sz="1600" b="1" dirty="0">
                <a:solidFill>
                  <a:srgbClr val="16181D"/>
                </a:solidFill>
                <a:latin typeface="Arial" pitchFamily="34" charset="0"/>
                <a:ea typeface="BIZ UDPGothic" pitchFamily="34" charset="-122"/>
                <a:cs typeface="BIZ UDPGothic" pitchFamily="34" charset="-120"/>
              </a:rPr>
              <a:t>消費税を上げる</a:t>
            </a:r>
            <a:endParaRPr lang="en-US" sz="1600" dirty="0"/>
          </a:p>
        </p:txBody>
      </p:sp>
      <p:sp>
        <p:nvSpPr>
          <p:cNvPr id="13" name="Text 11"/>
          <p:cNvSpPr/>
          <p:nvPr/>
        </p:nvSpPr>
        <p:spPr>
          <a:xfrm>
            <a:off x="1371600" y="3118104"/>
            <a:ext cx="4114800" cy="365760"/>
          </a:xfrm>
          <a:prstGeom prst="rect">
            <a:avLst/>
          </a:prstGeom>
          <a:noFill/>
          <a:ln/>
        </p:spPr>
        <p:txBody>
          <a:bodyPr wrap="square" rtlCol="0" anchor="ctr"/>
          <a:lstStyle/>
          <a:p>
            <a:pPr indent="0" marL="0">
              <a:buNone/>
            </a:pPr>
            <a:r>
              <a:rPr lang="en-US" sz="1400" dirty="0">
                <a:solidFill>
                  <a:srgbClr val="4B515C"/>
                </a:solidFill>
                <a:latin typeface="Arial" pitchFamily="34" charset="0"/>
                <a:ea typeface="BIZ UDPGothic" pitchFamily="34" charset="-122"/>
                <a:cs typeface="BIZ UDPGothic" pitchFamily="34" charset="-120"/>
              </a:rPr>
              <a:t>10% → 15%</a:t>
            </a:r>
            <a:endParaRPr lang="en-US" sz="1400" dirty="0"/>
          </a:p>
        </p:txBody>
      </p:sp>
      <p:sp>
        <p:nvSpPr>
          <p:cNvPr id="14" name="Text 12"/>
          <p:cNvSpPr/>
          <p:nvPr/>
        </p:nvSpPr>
        <p:spPr>
          <a:xfrm>
            <a:off x="6583680" y="2862072"/>
            <a:ext cx="1920240" cy="502920"/>
          </a:xfrm>
          <a:prstGeom prst="rect">
            <a:avLst/>
          </a:prstGeom>
          <a:noFill/>
          <a:ln/>
        </p:spPr>
        <p:txBody>
          <a:bodyPr wrap="square" rtlCol="0" anchor="ctr"/>
          <a:lstStyle/>
          <a:p>
            <a:pPr algn="r" indent="0" marL="0">
              <a:buNone/>
            </a:pPr>
            <a:r>
              <a:rPr lang="en-US" sz="1100" dirty="0">
                <a:solidFill>
                  <a:srgbClr val="4B515C"/>
                </a:solidFill>
                <a:latin typeface="Arial" pitchFamily="34" charset="0"/>
                <a:ea typeface="BIZ UDPGothic" pitchFamily="34" charset="-122"/>
                <a:cs typeface="BIZ UDPGothic" pitchFamily="34" charset="-120"/>
              </a:rPr>
              <a:t>これ以上は上げない</a:t>
            </a:r>
            <a:endParaRPr lang="en-US" sz="1100" dirty="0"/>
          </a:p>
        </p:txBody>
      </p:sp>
      <p:sp>
        <p:nvSpPr>
          <p:cNvPr id="15" name="Shape 13"/>
          <p:cNvSpPr/>
          <p:nvPr/>
        </p:nvSpPr>
        <p:spPr>
          <a:xfrm>
            <a:off x="457200" y="3758184"/>
            <a:ext cx="8229600" cy="1024128"/>
          </a:xfrm>
          <a:prstGeom prst="roundRect">
            <a:avLst>
              <a:gd name="adj" fmla="val 8929"/>
            </a:avLst>
          </a:prstGeom>
          <a:solidFill>
            <a:srgbClr val="FFFFFF"/>
          </a:solidFill>
          <a:ln/>
          <a:effectLst>
            <a:outerShdw sx="100000" sy="100000" kx="0" ky="0" algn="bl" rotWithShape="0" blurRad="127000" dist="38100" dir="2700000">
              <a:srgbClr val="000000">
                <a:alpha val="35000"/>
              </a:srgbClr>
            </a:outerShdw>
          </a:effectLst>
        </p:spPr>
      </p:sp>
      <p:sp>
        <p:nvSpPr>
          <p:cNvPr id="16" name="Text 14"/>
          <p:cNvSpPr/>
          <p:nvPr/>
        </p:nvSpPr>
        <p:spPr>
          <a:xfrm>
            <a:off x="640080" y="3867912"/>
            <a:ext cx="594360" cy="804672"/>
          </a:xfrm>
          <a:prstGeom prst="rect">
            <a:avLst/>
          </a:prstGeom>
          <a:noFill/>
          <a:ln/>
        </p:spPr>
        <p:txBody>
          <a:bodyPr wrap="square" rtlCol="0" anchor="ctr"/>
          <a:lstStyle/>
          <a:p>
            <a:pPr indent="0" marL="0">
              <a:buNone/>
            </a:pPr>
            <a:r>
              <a:rPr lang="en-US" sz="3400" b="1" dirty="0">
                <a:solidFill>
                  <a:srgbClr val="C8161D"/>
                </a:solidFill>
                <a:latin typeface="Arial" pitchFamily="34" charset="0"/>
                <a:ea typeface="BIZ UDPGothic" pitchFamily="34" charset="-122"/>
                <a:cs typeface="BIZ UDPGothic" pitchFamily="34" charset="-120"/>
              </a:rPr>
              <a:t>③</a:t>
            </a:r>
            <a:endParaRPr lang="en-US" sz="3400" dirty="0"/>
          </a:p>
        </p:txBody>
      </p:sp>
      <p:sp>
        <p:nvSpPr>
          <p:cNvPr id="17" name="Text 15"/>
          <p:cNvSpPr/>
          <p:nvPr/>
        </p:nvSpPr>
        <p:spPr>
          <a:xfrm>
            <a:off x="1371600" y="3886200"/>
            <a:ext cx="2743200" cy="384048"/>
          </a:xfrm>
          <a:prstGeom prst="rect">
            <a:avLst/>
          </a:prstGeom>
          <a:noFill/>
          <a:ln/>
        </p:spPr>
        <p:txBody>
          <a:bodyPr wrap="square" rtlCol="0" anchor="ctr"/>
          <a:lstStyle/>
          <a:p>
            <a:pPr indent="0" marL="0">
              <a:buNone/>
            </a:pPr>
            <a:r>
              <a:rPr lang="en-US" sz="1600" b="1" dirty="0">
                <a:solidFill>
                  <a:srgbClr val="16181D"/>
                </a:solidFill>
                <a:latin typeface="Arial" pitchFamily="34" charset="0"/>
                <a:ea typeface="BIZ UDPGothic" pitchFamily="34" charset="-122"/>
                <a:cs typeface="BIZ UDPGothic" pitchFamily="34" charset="-120"/>
              </a:rPr>
              <a:t>社会保険料を下げる</a:t>
            </a:r>
            <a:endParaRPr lang="en-US" sz="1600" dirty="0"/>
          </a:p>
        </p:txBody>
      </p:sp>
      <p:sp>
        <p:nvSpPr>
          <p:cNvPr id="18" name="Text 16"/>
          <p:cNvSpPr/>
          <p:nvPr/>
        </p:nvSpPr>
        <p:spPr>
          <a:xfrm>
            <a:off x="1371600" y="4288536"/>
            <a:ext cx="4114800" cy="365760"/>
          </a:xfrm>
          <a:prstGeom prst="rect">
            <a:avLst/>
          </a:prstGeom>
          <a:noFill/>
          <a:ln/>
        </p:spPr>
        <p:txBody>
          <a:bodyPr wrap="square" rtlCol="0" anchor="ctr"/>
          <a:lstStyle/>
          <a:p>
            <a:pPr indent="0" marL="0">
              <a:buNone/>
            </a:pPr>
            <a:r>
              <a:rPr lang="en-US" sz="1400" dirty="0">
                <a:solidFill>
                  <a:srgbClr val="4B515C"/>
                </a:solidFill>
                <a:latin typeface="Arial" pitchFamily="34" charset="0"/>
                <a:ea typeface="BIZ UDPGothic" pitchFamily="34" charset="-122"/>
                <a:cs typeface="BIZ UDPGothic" pitchFamily="34" charset="-120"/>
              </a:rPr>
              <a:t>30% → 22〜23%</a:t>
            </a:r>
            <a:endParaRPr lang="en-US" sz="1400" dirty="0"/>
          </a:p>
        </p:txBody>
      </p:sp>
      <p:sp>
        <p:nvSpPr>
          <p:cNvPr id="19" name="Text 17"/>
          <p:cNvSpPr/>
          <p:nvPr/>
        </p:nvSpPr>
        <p:spPr>
          <a:xfrm>
            <a:off x="6583680" y="4032504"/>
            <a:ext cx="1920240" cy="502920"/>
          </a:xfrm>
          <a:prstGeom prst="rect">
            <a:avLst/>
          </a:prstGeom>
          <a:noFill/>
          <a:ln/>
        </p:spPr>
        <p:txBody>
          <a:bodyPr wrap="square" rtlCol="0" anchor="ctr"/>
          <a:lstStyle/>
          <a:p>
            <a:pPr algn="r" indent="0" marL="0">
              <a:buNone/>
            </a:pPr>
            <a:r>
              <a:rPr lang="en-US" sz="1100" dirty="0">
                <a:solidFill>
                  <a:srgbClr val="4B515C"/>
                </a:solidFill>
                <a:latin typeface="Arial" pitchFamily="34" charset="0"/>
                <a:ea typeface="BIZ UDPGothic" pitchFamily="34" charset="-122"/>
                <a:cs typeface="BIZ UDPGothic" pitchFamily="34" charset="-120"/>
              </a:rPr>
              <a:t>手取りが増える</a:t>
            </a:r>
            <a:endParaRPr lang="en-US" sz="1100" dirty="0"/>
          </a:p>
        </p:txBody>
      </p:sp>
      <p:sp>
        <p:nvSpPr>
          <p:cNvPr id="20" name="Text 18"/>
          <p:cNvSpPr/>
          <p:nvPr/>
        </p:nvSpPr>
        <p:spPr>
          <a:xfrm>
            <a:off x="457200" y="4965192"/>
            <a:ext cx="8229600" cy="457200"/>
          </a:xfrm>
          <a:prstGeom prst="rect">
            <a:avLst/>
          </a:prstGeom>
          <a:noFill/>
          <a:ln/>
        </p:spPr>
        <p:txBody>
          <a:bodyPr wrap="square" rtlCol="0" anchor="ctr"/>
          <a:lstStyle/>
          <a:p>
            <a:pPr indent="0" marL="0">
              <a:lnSpc>
                <a:spcPct val="135000"/>
              </a:lnSpc>
              <a:buNone/>
            </a:pPr>
            <a:r>
              <a:rPr lang="en-US" sz="1050" i="1" dirty="0">
                <a:solidFill>
                  <a:srgbClr val="4B515C"/>
                </a:solidFill>
                <a:latin typeface="Arial" pitchFamily="34" charset="0"/>
                <a:ea typeface="BIZ UDPGothic" pitchFamily="34" charset="-122"/>
                <a:cs typeface="BIZ UDPGothic" pitchFamily="34" charset="-120"/>
              </a:rPr>
              <a:t>①で企業の人件費は上がるが、③の社会保険料が下がることで相殺できる。労働者の手取りが増え、消費が増えると②の消費税収もさらに増える好循環が生まれる。</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rtlCol="0" anchor="ctr"/>
          <a:lstStyle/>
          <a:p>
            <a:pPr indent="0" marL="0">
              <a:buNone/>
            </a:pPr>
            <a:r>
              <a:rPr lang="en-US" sz="900" b="1" spc="300" kern="0" dirty="0">
                <a:solidFill>
                  <a:srgbClr val="C8161D"/>
                </a:solidFill>
                <a:latin typeface="Arial" pitchFamily="34" charset="0"/>
                <a:ea typeface="BIZ UDPGothic" pitchFamily="34" charset="-122"/>
                <a:cs typeface="BIZ UDPGothic" pitchFamily="34" charset="-120"/>
              </a:rPr>
              <a:t>数字でまとめ 04 / 04</a:t>
            </a:r>
            <a:endParaRPr lang="en-US" sz="900" dirty="0"/>
          </a:p>
        </p:txBody>
      </p:sp>
      <p:sp>
        <p:nvSpPr>
          <p:cNvPr id="3" name="Text 1"/>
          <p:cNvSpPr/>
          <p:nvPr/>
        </p:nvSpPr>
        <p:spPr>
          <a:xfrm>
            <a:off x="457200" y="502920"/>
            <a:ext cx="8229600" cy="685800"/>
          </a:xfrm>
          <a:prstGeom prst="rect">
            <a:avLst/>
          </a:prstGeom>
          <a:noFill/>
          <a:ln/>
        </p:spPr>
        <p:txBody>
          <a:bodyPr wrap="square" rtlCol="0" anchor="ctr"/>
          <a:lstStyle/>
          <a:p>
            <a:pPr indent="0" marL="0">
              <a:buNone/>
            </a:pPr>
            <a:r>
              <a:rPr lang="en-US" sz="3400" b="1" dirty="0">
                <a:solidFill>
                  <a:srgbClr val="16181D"/>
                </a:solidFill>
                <a:latin typeface="Arial" pitchFamily="34" charset="0"/>
                <a:ea typeface="BIZ UDPGothic" pitchFamily="34" charset="-122"/>
                <a:cs typeface="BIZ UDPGothic" pitchFamily="34" charset="-120"/>
              </a:rPr>
              <a:t>数字でまとめると、こうなる</a:t>
            </a:r>
            <a:endParaRPr lang="en-US" sz="3400" dirty="0"/>
          </a:p>
        </p:txBody>
      </p:sp>
      <p:sp>
        <p:nvSpPr>
          <p:cNvPr id="4" name="Shape 2"/>
          <p:cNvSpPr/>
          <p:nvPr/>
        </p:nvSpPr>
        <p:spPr>
          <a:xfrm>
            <a:off x="457200" y="1261872"/>
            <a:ext cx="8229600" cy="22860"/>
          </a:xfrm>
          <a:prstGeom prst="rect">
            <a:avLst/>
          </a:prstGeom>
          <a:solidFill>
            <a:srgbClr val="DDE0E6"/>
          </a:solidFill>
          <a:ln/>
        </p:spPr>
      </p:sp>
      <p:sp>
        <p:nvSpPr>
          <p:cNvPr id="5" name="Shape 3"/>
          <p:cNvSpPr/>
          <p:nvPr/>
        </p:nvSpPr>
        <p:spPr>
          <a:xfrm>
            <a:off x="457200" y="1508760"/>
            <a:ext cx="8229600" cy="457200"/>
          </a:xfrm>
          <a:prstGeom prst="rect">
            <a:avLst/>
          </a:prstGeom>
          <a:solidFill>
            <a:srgbClr val="FFFFFF"/>
          </a:solidFill>
          <a:ln/>
        </p:spPr>
      </p:sp>
      <p:sp>
        <p:nvSpPr>
          <p:cNvPr id="6" name="Text 4"/>
          <p:cNvSpPr/>
          <p:nvPr/>
        </p:nvSpPr>
        <p:spPr>
          <a:xfrm>
            <a:off x="640080" y="1591056"/>
            <a:ext cx="3200400" cy="292608"/>
          </a:xfrm>
          <a:prstGeom prst="rect">
            <a:avLst/>
          </a:prstGeom>
          <a:noFill/>
          <a:ln/>
        </p:spPr>
        <p:txBody>
          <a:bodyPr wrap="square" rtlCol="0" anchor="ctr"/>
          <a:lstStyle/>
          <a:p>
            <a:pPr indent="0" marL="0">
              <a:buNone/>
            </a:pPr>
            <a:r>
              <a:rPr lang="en-US" sz="1200" dirty="0">
                <a:solidFill>
                  <a:srgbClr val="16181D"/>
                </a:solidFill>
                <a:latin typeface="Arial" pitchFamily="34" charset="0"/>
                <a:ea typeface="BIZ UDPGothic" pitchFamily="34" charset="-122"/>
                <a:cs typeface="BIZ UDPGothic" pitchFamily="34" charset="-120"/>
              </a:rPr>
              <a:t>最低賃金</a:t>
            </a:r>
            <a:endParaRPr lang="en-US" sz="1200" dirty="0"/>
          </a:p>
        </p:txBody>
      </p:sp>
      <p:sp>
        <p:nvSpPr>
          <p:cNvPr id="7" name="Text 5"/>
          <p:cNvSpPr/>
          <p:nvPr/>
        </p:nvSpPr>
        <p:spPr>
          <a:xfrm>
            <a:off x="3931920" y="1591056"/>
            <a:ext cx="2011680" cy="292608"/>
          </a:xfrm>
          <a:prstGeom prst="rect">
            <a:avLst/>
          </a:prstGeom>
          <a:noFill/>
          <a:ln/>
        </p:spPr>
        <p:txBody>
          <a:bodyPr wrap="square" rtlCol="0" anchor="ctr"/>
          <a:lstStyle/>
          <a:p>
            <a:pPr indent="0" marL="0">
              <a:buNone/>
            </a:pPr>
            <a:r>
              <a:rPr lang="en-US" sz="1200" dirty="0">
                <a:solidFill>
                  <a:srgbClr val="4B515C"/>
                </a:solidFill>
                <a:latin typeface="Arial" pitchFamily="34" charset="0"/>
                <a:ea typeface="BIZ UDPGothic" pitchFamily="34" charset="-122"/>
                <a:cs typeface="BIZ UDPGothic" pitchFamily="34" charset="-120"/>
              </a:rPr>
              <a:t>約1,100円/時</a:t>
            </a:r>
            <a:endParaRPr lang="en-US" sz="1200" dirty="0"/>
          </a:p>
        </p:txBody>
      </p:sp>
      <p:sp>
        <p:nvSpPr>
          <p:cNvPr id="8" name="Text 6"/>
          <p:cNvSpPr/>
          <p:nvPr/>
        </p:nvSpPr>
        <p:spPr>
          <a:xfrm>
            <a:off x="5989320" y="1591056"/>
            <a:ext cx="365760" cy="292608"/>
          </a:xfrm>
          <a:prstGeom prst="rect">
            <a:avLst/>
          </a:prstGeom>
          <a:noFill/>
          <a:ln/>
        </p:spPr>
        <p:txBody>
          <a:bodyPr wrap="square" rtlCol="0" anchor="ctr"/>
          <a:lstStyle/>
          <a:p>
            <a:pPr algn="ctr" indent="0" marL="0">
              <a:buNone/>
            </a:pPr>
            <a:r>
              <a:rPr lang="en-US" sz="1200" b="1" dirty="0">
                <a:solidFill>
                  <a:srgbClr val="C8161D"/>
                </a:solidFill>
                <a:latin typeface="Arial" pitchFamily="34" charset="0"/>
                <a:ea typeface="BIZ UDPGothic" pitchFamily="34" charset="-122"/>
                <a:cs typeface="BIZ UDPGothic" pitchFamily="34" charset="-120"/>
              </a:rPr>
              <a:t>→</a:t>
            </a:r>
            <a:endParaRPr lang="en-US" sz="1200" dirty="0"/>
          </a:p>
        </p:txBody>
      </p:sp>
      <p:sp>
        <p:nvSpPr>
          <p:cNvPr id="9" name="Text 7"/>
          <p:cNvSpPr/>
          <p:nvPr/>
        </p:nvSpPr>
        <p:spPr>
          <a:xfrm>
            <a:off x="6400800" y="1591056"/>
            <a:ext cx="2103120" cy="292608"/>
          </a:xfrm>
          <a:prstGeom prst="rect">
            <a:avLst/>
          </a:prstGeom>
          <a:noFill/>
          <a:ln/>
        </p:spPr>
        <p:txBody>
          <a:bodyPr wrap="square" rtlCol="0" anchor="ctr"/>
          <a:lstStyle/>
          <a:p>
            <a:pPr indent="0" marL="0">
              <a:buNone/>
            </a:pPr>
            <a:r>
              <a:rPr lang="en-US" sz="1200" b="1" dirty="0">
                <a:solidFill>
                  <a:srgbClr val="1D4F91"/>
                </a:solidFill>
                <a:latin typeface="Arial" pitchFamily="34" charset="0"/>
                <a:ea typeface="BIZ UDPGothic" pitchFamily="34" charset="-122"/>
                <a:cs typeface="BIZ UDPGothic" pitchFamily="34" charset="-120"/>
              </a:rPr>
              <a:t>2,000円/時</a:t>
            </a:r>
            <a:endParaRPr lang="en-US" sz="1200" dirty="0"/>
          </a:p>
        </p:txBody>
      </p:sp>
      <p:sp>
        <p:nvSpPr>
          <p:cNvPr id="10" name="Shape 8"/>
          <p:cNvSpPr/>
          <p:nvPr/>
        </p:nvSpPr>
        <p:spPr>
          <a:xfrm>
            <a:off x="457200" y="2002536"/>
            <a:ext cx="8229600" cy="457200"/>
          </a:xfrm>
          <a:prstGeom prst="rect">
            <a:avLst/>
          </a:prstGeom>
          <a:solidFill>
            <a:srgbClr val="DDE0E6"/>
          </a:solidFill>
          <a:ln/>
        </p:spPr>
      </p:sp>
      <p:sp>
        <p:nvSpPr>
          <p:cNvPr id="11" name="Text 9"/>
          <p:cNvSpPr/>
          <p:nvPr/>
        </p:nvSpPr>
        <p:spPr>
          <a:xfrm>
            <a:off x="640080" y="2084832"/>
            <a:ext cx="3200400" cy="292608"/>
          </a:xfrm>
          <a:prstGeom prst="rect">
            <a:avLst/>
          </a:prstGeom>
          <a:noFill/>
          <a:ln/>
        </p:spPr>
        <p:txBody>
          <a:bodyPr wrap="square" rtlCol="0" anchor="ctr"/>
          <a:lstStyle/>
          <a:p>
            <a:pPr indent="0" marL="0">
              <a:buNone/>
            </a:pPr>
            <a:r>
              <a:rPr lang="en-US" sz="1200" dirty="0">
                <a:solidFill>
                  <a:srgbClr val="16181D"/>
                </a:solidFill>
                <a:latin typeface="Arial" pitchFamily="34" charset="0"/>
                <a:ea typeface="BIZ UDPGothic" pitchFamily="34" charset="-122"/>
                <a:cs typeface="BIZ UDPGothic" pitchFamily="34" charset="-120"/>
              </a:rPr>
              <a:t>年収の底上げ幅</a:t>
            </a:r>
            <a:endParaRPr lang="en-US" sz="1200" dirty="0"/>
          </a:p>
        </p:txBody>
      </p:sp>
      <p:sp>
        <p:nvSpPr>
          <p:cNvPr id="12" name="Text 10"/>
          <p:cNvSpPr/>
          <p:nvPr/>
        </p:nvSpPr>
        <p:spPr>
          <a:xfrm>
            <a:off x="3931920" y="2084832"/>
            <a:ext cx="2011680" cy="292608"/>
          </a:xfrm>
          <a:prstGeom prst="rect">
            <a:avLst/>
          </a:prstGeom>
          <a:noFill/>
          <a:ln/>
        </p:spPr>
        <p:txBody>
          <a:bodyPr wrap="square" rtlCol="0" anchor="ctr"/>
          <a:lstStyle/>
          <a:p>
            <a:pPr indent="0" marL="0">
              <a:buNone/>
            </a:pPr>
            <a:r>
              <a:rPr lang="en-US" sz="1200" dirty="0">
                <a:solidFill>
                  <a:srgbClr val="4B515C"/>
                </a:solidFill>
                <a:latin typeface="Arial" pitchFamily="34" charset="0"/>
                <a:ea typeface="BIZ UDPGothic" pitchFamily="34" charset="-122"/>
                <a:cs typeface="BIZ UDPGothic" pitchFamily="34" charset="-120"/>
              </a:rPr>
              <a:t>約230万円</a:t>
            </a:r>
            <a:endParaRPr lang="en-US" sz="1200" dirty="0"/>
          </a:p>
        </p:txBody>
      </p:sp>
      <p:sp>
        <p:nvSpPr>
          <p:cNvPr id="13" name="Text 11"/>
          <p:cNvSpPr/>
          <p:nvPr/>
        </p:nvSpPr>
        <p:spPr>
          <a:xfrm>
            <a:off x="5989320" y="2084832"/>
            <a:ext cx="365760" cy="292608"/>
          </a:xfrm>
          <a:prstGeom prst="rect">
            <a:avLst/>
          </a:prstGeom>
          <a:noFill/>
          <a:ln/>
        </p:spPr>
        <p:txBody>
          <a:bodyPr wrap="square" rtlCol="0" anchor="ctr"/>
          <a:lstStyle/>
          <a:p>
            <a:pPr algn="ctr" indent="0" marL="0">
              <a:buNone/>
            </a:pPr>
            <a:r>
              <a:rPr lang="en-US" sz="1200" b="1" dirty="0">
                <a:solidFill>
                  <a:srgbClr val="C8161D"/>
                </a:solidFill>
                <a:latin typeface="Arial" pitchFamily="34" charset="0"/>
                <a:ea typeface="BIZ UDPGothic" pitchFamily="34" charset="-122"/>
                <a:cs typeface="BIZ UDPGothic" pitchFamily="34" charset="-120"/>
              </a:rPr>
              <a:t>→</a:t>
            </a:r>
            <a:endParaRPr lang="en-US" sz="1200" dirty="0"/>
          </a:p>
        </p:txBody>
      </p:sp>
      <p:sp>
        <p:nvSpPr>
          <p:cNvPr id="14" name="Text 12"/>
          <p:cNvSpPr/>
          <p:nvPr/>
        </p:nvSpPr>
        <p:spPr>
          <a:xfrm>
            <a:off x="6400800" y="2084832"/>
            <a:ext cx="2103120" cy="292608"/>
          </a:xfrm>
          <a:prstGeom prst="rect">
            <a:avLst/>
          </a:prstGeom>
          <a:noFill/>
          <a:ln/>
        </p:spPr>
        <p:txBody>
          <a:bodyPr wrap="square" rtlCol="0" anchor="ctr"/>
          <a:lstStyle/>
          <a:p>
            <a:pPr indent="0" marL="0">
              <a:buNone/>
            </a:pPr>
            <a:r>
              <a:rPr lang="en-US" sz="1200" b="1" dirty="0">
                <a:solidFill>
                  <a:srgbClr val="1D4F91"/>
                </a:solidFill>
                <a:latin typeface="Arial" pitchFamily="34" charset="0"/>
                <a:ea typeface="BIZ UDPGothic" pitchFamily="34" charset="-122"/>
                <a:cs typeface="BIZ UDPGothic" pitchFamily="34" charset="-120"/>
              </a:rPr>
              <a:t>約384万円</a:t>
            </a:r>
            <a:endParaRPr lang="en-US" sz="1200" dirty="0"/>
          </a:p>
        </p:txBody>
      </p:sp>
      <p:sp>
        <p:nvSpPr>
          <p:cNvPr id="15" name="Shape 13"/>
          <p:cNvSpPr/>
          <p:nvPr/>
        </p:nvSpPr>
        <p:spPr>
          <a:xfrm>
            <a:off x="457200" y="2496312"/>
            <a:ext cx="8229600" cy="457200"/>
          </a:xfrm>
          <a:prstGeom prst="rect">
            <a:avLst/>
          </a:prstGeom>
          <a:solidFill>
            <a:srgbClr val="FFFFFF"/>
          </a:solidFill>
          <a:ln/>
        </p:spPr>
      </p:sp>
      <p:sp>
        <p:nvSpPr>
          <p:cNvPr id="16" name="Text 14"/>
          <p:cNvSpPr/>
          <p:nvPr/>
        </p:nvSpPr>
        <p:spPr>
          <a:xfrm>
            <a:off x="640080" y="2578608"/>
            <a:ext cx="3200400" cy="292608"/>
          </a:xfrm>
          <a:prstGeom prst="rect">
            <a:avLst/>
          </a:prstGeom>
          <a:noFill/>
          <a:ln/>
        </p:spPr>
        <p:txBody>
          <a:bodyPr wrap="square" rtlCol="0" anchor="ctr"/>
          <a:lstStyle/>
          <a:p>
            <a:pPr indent="0" marL="0">
              <a:buNone/>
            </a:pPr>
            <a:r>
              <a:rPr lang="en-US" sz="1200" dirty="0">
                <a:solidFill>
                  <a:srgbClr val="16181D"/>
                </a:solidFill>
                <a:latin typeface="Arial" pitchFamily="34" charset="0"/>
                <a:ea typeface="BIZ UDPGothic" pitchFamily="34" charset="-122"/>
                <a:cs typeface="BIZ UDPGothic" pitchFamily="34" charset="-120"/>
              </a:rPr>
              <a:t>消費税</a:t>
            </a:r>
            <a:endParaRPr lang="en-US" sz="1200" dirty="0"/>
          </a:p>
        </p:txBody>
      </p:sp>
      <p:sp>
        <p:nvSpPr>
          <p:cNvPr id="17" name="Text 15"/>
          <p:cNvSpPr/>
          <p:nvPr/>
        </p:nvSpPr>
        <p:spPr>
          <a:xfrm>
            <a:off x="3931920" y="2578608"/>
            <a:ext cx="2011680" cy="292608"/>
          </a:xfrm>
          <a:prstGeom prst="rect">
            <a:avLst/>
          </a:prstGeom>
          <a:noFill/>
          <a:ln/>
        </p:spPr>
        <p:txBody>
          <a:bodyPr wrap="square" rtlCol="0" anchor="ctr"/>
          <a:lstStyle/>
          <a:p>
            <a:pPr indent="0" marL="0">
              <a:buNone/>
            </a:pPr>
            <a:r>
              <a:rPr lang="en-US" sz="1200" dirty="0">
                <a:solidFill>
                  <a:srgbClr val="4B515C"/>
                </a:solidFill>
                <a:latin typeface="Arial" pitchFamily="34" charset="0"/>
                <a:ea typeface="BIZ UDPGothic" pitchFamily="34" charset="-122"/>
                <a:cs typeface="BIZ UDPGothic" pitchFamily="34" charset="-120"/>
              </a:rPr>
              <a:t>10%</a:t>
            </a:r>
            <a:endParaRPr lang="en-US" sz="1200" dirty="0"/>
          </a:p>
        </p:txBody>
      </p:sp>
      <p:sp>
        <p:nvSpPr>
          <p:cNvPr id="18" name="Text 16"/>
          <p:cNvSpPr/>
          <p:nvPr/>
        </p:nvSpPr>
        <p:spPr>
          <a:xfrm>
            <a:off x="5989320" y="2578608"/>
            <a:ext cx="365760" cy="292608"/>
          </a:xfrm>
          <a:prstGeom prst="rect">
            <a:avLst/>
          </a:prstGeom>
          <a:noFill/>
          <a:ln/>
        </p:spPr>
        <p:txBody>
          <a:bodyPr wrap="square" rtlCol="0" anchor="ctr"/>
          <a:lstStyle/>
          <a:p>
            <a:pPr algn="ctr" indent="0" marL="0">
              <a:buNone/>
            </a:pPr>
            <a:r>
              <a:rPr lang="en-US" sz="1200" b="1" dirty="0">
                <a:solidFill>
                  <a:srgbClr val="C8161D"/>
                </a:solidFill>
                <a:latin typeface="Arial" pitchFamily="34" charset="0"/>
                <a:ea typeface="BIZ UDPGothic" pitchFamily="34" charset="-122"/>
                <a:cs typeface="BIZ UDPGothic" pitchFamily="34" charset="-120"/>
              </a:rPr>
              <a:t>→</a:t>
            </a:r>
            <a:endParaRPr lang="en-US" sz="1200" dirty="0"/>
          </a:p>
        </p:txBody>
      </p:sp>
      <p:sp>
        <p:nvSpPr>
          <p:cNvPr id="19" name="Text 17"/>
          <p:cNvSpPr/>
          <p:nvPr/>
        </p:nvSpPr>
        <p:spPr>
          <a:xfrm>
            <a:off x="6400800" y="2578608"/>
            <a:ext cx="2103120" cy="292608"/>
          </a:xfrm>
          <a:prstGeom prst="rect">
            <a:avLst/>
          </a:prstGeom>
          <a:noFill/>
          <a:ln/>
        </p:spPr>
        <p:txBody>
          <a:bodyPr wrap="square" rtlCol="0" anchor="ctr"/>
          <a:lstStyle/>
          <a:p>
            <a:pPr indent="0" marL="0">
              <a:buNone/>
            </a:pPr>
            <a:r>
              <a:rPr lang="en-US" sz="1200" b="1" dirty="0">
                <a:solidFill>
                  <a:srgbClr val="9A6200"/>
                </a:solidFill>
                <a:latin typeface="Arial" pitchFamily="34" charset="0"/>
                <a:ea typeface="BIZ UDPGothic" pitchFamily="34" charset="-122"/>
                <a:cs typeface="BIZ UDPGothic" pitchFamily="34" charset="-120"/>
              </a:rPr>
              <a:t>15%</a:t>
            </a:r>
            <a:endParaRPr lang="en-US" sz="1200" dirty="0"/>
          </a:p>
        </p:txBody>
      </p:sp>
      <p:sp>
        <p:nvSpPr>
          <p:cNvPr id="20" name="Shape 18"/>
          <p:cNvSpPr/>
          <p:nvPr/>
        </p:nvSpPr>
        <p:spPr>
          <a:xfrm>
            <a:off x="457200" y="2990088"/>
            <a:ext cx="8229600" cy="457200"/>
          </a:xfrm>
          <a:prstGeom prst="rect">
            <a:avLst/>
          </a:prstGeom>
          <a:solidFill>
            <a:srgbClr val="DDE0E6"/>
          </a:solidFill>
          <a:ln/>
        </p:spPr>
      </p:sp>
      <p:sp>
        <p:nvSpPr>
          <p:cNvPr id="21" name="Text 19"/>
          <p:cNvSpPr/>
          <p:nvPr/>
        </p:nvSpPr>
        <p:spPr>
          <a:xfrm>
            <a:off x="640080" y="3072384"/>
            <a:ext cx="3200400" cy="292608"/>
          </a:xfrm>
          <a:prstGeom prst="rect">
            <a:avLst/>
          </a:prstGeom>
          <a:noFill/>
          <a:ln/>
        </p:spPr>
        <p:txBody>
          <a:bodyPr wrap="square" rtlCol="0" anchor="ctr"/>
          <a:lstStyle/>
          <a:p>
            <a:pPr indent="0" marL="0">
              <a:buNone/>
            </a:pPr>
            <a:r>
              <a:rPr lang="en-US" sz="1200" dirty="0">
                <a:solidFill>
                  <a:srgbClr val="16181D"/>
                </a:solidFill>
                <a:latin typeface="Arial" pitchFamily="34" charset="0"/>
                <a:ea typeface="BIZ UDPGothic" pitchFamily="34" charset="-122"/>
                <a:cs typeface="BIZ UDPGothic" pitchFamily="34" charset="-120"/>
              </a:rPr>
              <a:t>社会保険料（労使合計）</a:t>
            </a:r>
            <a:endParaRPr lang="en-US" sz="1200" dirty="0"/>
          </a:p>
        </p:txBody>
      </p:sp>
      <p:sp>
        <p:nvSpPr>
          <p:cNvPr id="22" name="Text 20"/>
          <p:cNvSpPr/>
          <p:nvPr/>
        </p:nvSpPr>
        <p:spPr>
          <a:xfrm>
            <a:off x="3931920" y="3072384"/>
            <a:ext cx="2011680" cy="292608"/>
          </a:xfrm>
          <a:prstGeom prst="rect">
            <a:avLst/>
          </a:prstGeom>
          <a:noFill/>
          <a:ln/>
        </p:spPr>
        <p:txBody>
          <a:bodyPr wrap="square" rtlCol="0" anchor="ctr"/>
          <a:lstStyle/>
          <a:p>
            <a:pPr indent="0" marL="0">
              <a:buNone/>
            </a:pPr>
            <a:r>
              <a:rPr lang="en-US" sz="1200" dirty="0">
                <a:solidFill>
                  <a:srgbClr val="4B515C"/>
                </a:solidFill>
                <a:latin typeface="Arial" pitchFamily="34" charset="0"/>
                <a:ea typeface="BIZ UDPGothic" pitchFamily="34" charset="-122"/>
                <a:cs typeface="BIZ UDPGothic" pitchFamily="34" charset="-120"/>
              </a:rPr>
              <a:t>約30%</a:t>
            </a:r>
            <a:endParaRPr lang="en-US" sz="1200" dirty="0"/>
          </a:p>
        </p:txBody>
      </p:sp>
      <p:sp>
        <p:nvSpPr>
          <p:cNvPr id="23" name="Text 21"/>
          <p:cNvSpPr/>
          <p:nvPr/>
        </p:nvSpPr>
        <p:spPr>
          <a:xfrm>
            <a:off x="5989320" y="3072384"/>
            <a:ext cx="365760" cy="292608"/>
          </a:xfrm>
          <a:prstGeom prst="rect">
            <a:avLst/>
          </a:prstGeom>
          <a:noFill/>
          <a:ln/>
        </p:spPr>
        <p:txBody>
          <a:bodyPr wrap="square" rtlCol="0" anchor="ctr"/>
          <a:lstStyle/>
          <a:p>
            <a:pPr algn="ctr" indent="0" marL="0">
              <a:buNone/>
            </a:pPr>
            <a:r>
              <a:rPr lang="en-US" sz="1200" b="1" dirty="0">
                <a:solidFill>
                  <a:srgbClr val="C8161D"/>
                </a:solidFill>
                <a:latin typeface="Arial" pitchFamily="34" charset="0"/>
                <a:ea typeface="BIZ UDPGothic" pitchFamily="34" charset="-122"/>
                <a:cs typeface="BIZ UDPGothic" pitchFamily="34" charset="-120"/>
              </a:rPr>
              <a:t>→</a:t>
            </a:r>
            <a:endParaRPr lang="en-US" sz="1200" dirty="0"/>
          </a:p>
        </p:txBody>
      </p:sp>
      <p:sp>
        <p:nvSpPr>
          <p:cNvPr id="24" name="Text 22"/>
          <p:cNvSpPr/>
          <p:nvPr/>
        </p:nvSpPr>
        <p:spPr>
          <a:xfrm>
            <a:off x="6400800" y="3072384"/>
            <a:ext cx="2103120" cy="292608"/>
          </a:xfrm>
          <a:prstGeom prst="rect">
            <a:avLst/>
          </a:prstGeom>
          <a:noFill/>
          <a:ln/>
        </p:spPr>
        <p:txBody>
          <a:bodyPr wrap="square" rtlCol="0" anchor="ctr"/>
          <a:lstStyle/>
          <a:p>
            <a:pPr indent="0" marL="0">
              <a:buNone/>
            </a:pPr>
            <a:r>
              <a:rPr lang="en-US" sz="1200" b="1" dirty="0">
                <a:solidFill>
                  <a:srgbClr val="1D4F91"/>
                </a:solidFill>
                <a:latin typeface="Arial" pitchFamily="34" charset="0"/>
                <a:ea typeface="BIZ UDPGothic" pitchFamily="34" charset="-122"/>
                <a:cs typeface="BIZ UDPGothic" pitchFamily="34" charset="-120"/>
              </a:rPr>
              <a:t>約22〜23%</a:t>
            </a:r>
            <a:endParaRPr lang="en-US" sz="1200" dirty="0"/>
          </a:p>
        </p:txBody>
      </p:sp>
      <p:sp>
        <p:nvSpPr>
          <p:cNvPr id="25" name="Shape 23"/>
          <p:cNvSpPr/>
          <p:nvPr/>
        </p:nvSpPr>
        <p:spPr>
          <a:xfrm>
            <a:off x="457200" y="3483864"/>
            <a:ext cx="8229600" cy="457200"/>
          </a:xfrm>
          <a:prstGeom prst="rect">
            <a:avLst/>
          </a:prstGeom>
          <a:solidFill>
            <a:srgbClr val="FFFFFF"/>
          </a:solidFill>
          <a:ln/>
        </p:spPr>
      </p:sp>
      <p:sp>
        <p:nvSpPr>
          <p:cNvPr id="26" name="Text 24"/>
          <p:cNvSpPr/>
          <p:nvPr/>
        </p:nvSpPr>
        <p:spPr>
          <a:xfrm>
            <a:off x="640080" y="3566160"/>
            <a:ext cx="3200400" cy="292608"/>
          </a:xfrm>
          <a:prstGeom prst="rect">
            <a:avLst/>
          </a:prstGeom>
          <a:noFill/>
          <a:ln/>
        </p:spPr>
        <p:txBody>
          <a:bodyPr wrap="square" rtlCol="0" anchor="ctr"/>
          <a:lstStyle/>
          <a:p>
            <a:pPr indent="0" marL="0">
              <a:buNone/>
            </a:pPr>
            <a:r>
              <a:rPr lang="en-US" sz="1200" dirty="0">
                <a:solidFill>
                  <a:srgbClr val="16181D"/>
                </a:solidFill>
                <a:latin typeface="Arial" pitchFamily="34" charset="0"/>
                <a:ea typeface="BIZ UDPGothic" pitchFamily="34" charset="-122"/>
                <a:cs typeface="BIZ UDPGothic" pitchFamily="34" charset="-120"/>
              </a:rPr>
              <a:t>失業給付の期間</a:t>
            </a:r>
            <a:endParaRPr lang="en-US" sz="1200" dirty="0"/>
          </a:p>
        </p:txBody>
      </p:sp>
      <p:sp>
        <p:nvSpPr>
          <p:cNvPr id="27" name="Text 25"/>
          <p:cNvSpPr/>
          <p:nvPr/>
        </p:nvSpPr>
        <p:spPr>
          <a:xfrm>
            <a:off x="3931920" y="3566160"/>
            <a:ext cx="2011680" cy="292608"/>
          </a:xfrm>
          <a:prstGeom prst="rect">
            <a:avLst/>
          </a:prstGeom>
          <a:noFill/>
          <a:ln/>
        </p:spPr>
        <p:txBody>
          <a:bodyPr wrap="square" rtlCol="0" anchor="ctr"/>
          <a:lstStyle/>
          <a:p>
            <a:pPr indent="0" marL="0">
              <a:buNone/>
            </a:pPr>
            <a:r>
              <a:rPr lang="en-US" sz="1200" dirty="0">
                <a:solidFill>
                  <a:srgbClr val="4B515C"/>
                </a:solidFill>
                <a:latin typeface="Arial" pitchFamily="34" charset="0"/>
                <a:ea typeface="BIZ UDPGothic" pitchFamily="34" charset="-122"/>
                <a:cs typeface="BIZ UDPGothic" pitchFamily="34" charset="-120"/>
              </a:rPr>
              <a:t>最長11ヶ月</a:t>
            </a:r>
            <a:endParaRPr lang="en-US" sz="1200" dirty="0"/>
          </a:p>
        </p:txBody>
      </p:sp>
      <p:sp>
        <p:nvSpPr>
          <p:cNvPr id="28" name="Text 26"/>
          <p:cNvSpPr/>
          <p:nvPr/>
        </p:nvSpPr>
        <p:spPr>
          <a:xfrm>
            <a:off x="5989320" y="3566160"/>
            <a:ext cx="365760" cy="292608"/>
          </a:xfrm>
          <a:prstGeom prst="rect">
            <a:avLst/>
          </a:prstGeom>
          <a:noFill/>
          <a:ln/>
        </p:spPr>
        <p:txBody>
          <a:bodyPr wrap="square" rtlCol="0" anchor="ctr"/>
          <a:lstStyle/>
          <a:p>
            <a:pPr algn="ctr" indent="0" marL="0">
              <a:buNone/>
            </a:pPr>
            <a:r>
              <a:rPr lang="en-US" sz="1200" b="1" dirty="0">
                <a:solidFill>
                  <a:srgbClr val="C8161D"/>
                </a:solidFill>
                <a:latin typeface="Arial" pitchFamily="34" charset="0"/>
                <a:ea typeface="BIZ UDPGothic" pitchFamily="34" charset="-122"/>
                <a:cs typeface="BIZ UDPGothic" pitchFamily="34" charset="-120"/>
              </a:rPr>
              <a:t>→</a:t>
            </a:r>
            <a:endParaRPr lang="en-US" sz="1200" dirty="0"/>
          </a:p>
        </p:txBody>
      </p:sp>
      <p:sp>
        <p:nvSpPr>
          <p:cNvPr id="29" name="Text 27"/>
          <p:cNvSpPr/>
          <p:nvPr/>
        </p:nvSpPr>
        <p:spPr>
          <a:xfrm>
            <a:off x="6400800" y="3566160"/>
            <a:ext cx="2103120" cy="292608"/>
          </a:xfrm>
          <a:prstGeom prst="rect">
            <a:avLst/>
          </a:prstGeom>
          <a:noFill/>
          <a:ln/>
        </p:spPr>
        <p:txBody>
          <a:bodyPr wrap="square" rtlCol="0" anchor="ctr"/>
          <a:lstStyle/>
          <a:p>
            <a:pPr indent="0" marL="0">
              <a:buNone/>
            </a:pPr>
            <a:r>
              <a:rPr lang="en-US" sz="1200" b="1" dirty="0">
                <a:solidFill>
                  <a:srgbClr val="1D4F91"/>
                </a:solidFill>
                <a:latin typeface="Arial" pitchFamily="34" charset="0"/>
                <a:ea typeface="BIZ UDPGothic" pitchFamily="34" charset="-122"/>
                <a:cs typeface="BIZ UDPGothic" pitchFamily="34" charset="-120"/>
              </a:rPr>
              <a:t>最低3年間</a:t>
            </a:r>
            <a:endParaRPr lang="en-US" sz="1200" dirty="0"/>
          </a:p>
        </p:txBody>
      </p:sp>
      <p:sp>
        <p:nvSpPr>
          <p:cNvPr id="30" name="Shape 28"/>
          <p:cNvSpPr/>
          <p:nvPr/>
        </p:nvSpPr>
        <p:spPr>
          <a:xfrm>
            <a:off x="457200" y="3977640"/>
            <a:ext cx="8229600" cy="457200"/>
          </a:xfrm>
          <a:prstGeom prst="rect">
            <a:avLst/>
          </a:prstGeom>
          <a:solidFill>
            <a:srgbClr val="DDE0E6"/>
          </a:solidFill>
          <a:ln/>
        </p:spPr>
      </p:sp>
      <p:sp>
        <p:nvSpPr>
          <p:cNvPr id="31" name="Text 29"/>
          <p:cNvSpPr/>
          <p:nvPr/>
        </p:nvSpPr>
        <p:spPr>
          <a:xfrm>
            <a:off x="640080" y="4059936"/>
            <a:ext cx="3200400" cy="292608"/>
          </a:xfrm>
          <a:prstGeom prst="rect">
            <a:avLst/>
          </a:prstGeom>
          <a:noFill/>
          <a:ln/>
        </p:spPr>
        <p:txBody>
          <a:bodyPr wrap="square" rtlCol="0" anchor="ctr"/>
          <a:lstStyle/>
          <a:p>
            <a:pPr indent="0" marL="0">
              <a:buNone/>
            </a:pPr>
            <a:r>
              <a:rPr lang="en-US" sz="1200" dirty="0">
                <a:solidFill>
                  <a:srgbClr val="16181D"/>
                </a:solidFill>
                <a:latin typeface="Arial" pitchFamily="34" charset="0"/>
                <a:ea typeface="BIZ UDPGothic" pitchFamily="34" charset="-122"/>
                <a:cs typeface="BIZ UDPGothic" pitchFamily="34" charset="-120"/>
              </a:rPr>
              <a:t>初年度の財政収支</a:t>
            </a:r>
            <a:endParaRPr lang="en-US" sz="1200" dirty="0"/>
          </a:p>
        </p:txBody>
      </p:sp>
      <p:sp>
        <p:nvSpPr>
          <p:cNvPr id="32" name="Text 30"/>
          <p:cNvSpPr/>
          <p:nvPr/>
        </p:nvSpPr>
        <p:spPr>
          <a:xfrm>
            <a:off x="3931920" y="4059936"/>
            <a:ext cx="2011680" cy="292608"/>
          </a:xfrm>
          <a:prstGeom prst="rect">
            <a:avLst/>
          </a:prstGeom>
          <a:noFill/>
          <a:ln/>
        </p:spPr>
        <p:txBody>
          <a:bodyPr wrap="square" rtlCol="0" anchor="ctr"/>
          <a:lstStyle/>
          <a:p>
            <a:pPr indent="0" marL="0">
              <a:buNone/>
            </a:pPr>
            <a:r>
              <a:rPr lang="en-US" sz="1200" dirty="0">
                <a:solidFill>
                  <a:srgbClr val="4B515C"/>
                </a:solidFill>
                <a:latin typeface="Arial" pitchFamily="34" charset="0"/>
                <a:ea typeface="BIZ UDPGothic" pitchFamily="34" charset="-122"/>
                <a:cs typeface="BIZ UDPGothic" pitchFamily="34" charset="-120"/>
              </a:rPr>
              <a:t>−</a:t>
            </a:r>
            <a:endParaRPr lang="en-US" sz="1200" dirty="0"/>
          </a:p>
        </p:txBody>
      </p:sp>
      <p:sp>
        <p:nvSpPr>
          <p:cNvPr id="33" name="Text 31"/>
          <p:cNvSpPr/>
          <p:nvPr/>
        </p:nvSpPr>
        <p:spPr>
          <a:xfrm>
            <a:off x="5989320" y="4059936"/>
            <a:ext cx="365760" cy="292608"/>
          </a:xfrm>
          <a:prstGeom prst="rect">
            <a:avLst/>
          </a:prstGeom>
          <a:noFill/>
          <a:ln/>
        </p:spPr>
        <p:txBody>
          <a:bodyPr wrap="square" rtlCol="0" anchor="ctr"/>
          <a:lstStyle/>
          <a:p>
            <a:pPr algn="ctr" indent="0" marL="0">
              <a:buNone/>
            </a:pPr>
            <a:r>
              <a:rPr lang="en-US" sz="1200" b="1" dirty="0">
                <a:solidFill>
                  <a:srgbClr val="C8161D"/>
                </a:solidFill>
                <a:latin typeface="Arial" pitchFamily="34" charset="0"/>
                <a:ea typeface="BIZ UDPGothic" pitchFamily="34" charset="-122"/>
                <a:cs typeface="BIZ UDPGothic" pitchFamily="34" charset="-120"/>
              </a:rPr>
              <a:t>→</a:t>
            </a:r>
            <a:endParaRPr lang="en-US" sz="1200" dirty="0"/>
          </a:p>
        </p:txBody>
      </p:sp>
      <p:sp>
        <p:nvSpPr>
          <p:cNvPr id="34" name="Text 32"/>
          <p:cNvSpPr/>
          <p:nvPr/>
        </p:nvSpPr>
        <p:spPr>
          <a:xfrm>
            <a:off x="6400800" y="4059936"/>
            <a:ext cx="2103120" cy="292608"/>
          </a:xfrm>
          <a:prstGeom prst="rect">
            <a:avLst/>
          </a:prstGeom>
          <a:noFill/>
          <a:ln/>
        </p:spPr>
        <p:txBody>
          <a:bodyPr wrap="square" rtlCol="0" anchor="ctr"/>
          <a:lstStyle/>
          <a:p>
            <a:pPr indent="0" marL="0">
              <a:buNone/>
            </a:pPr>
            <a:r>
              <a:rPr lang="en-US" sz="1200" b="1" dirty="0">
                <a:solidFill>
                  <a:srgbClr val="9A6200"/>
                </a:solidFill>
                <a:latin typeface="Arial" pitchFamily="34" charset="0"/>
                <a:ea typeface="BIZ UDPGothic" pitchFamily="34" charset="-122"/>
                <a:cs typeface="BIZ UDPGothic" pitchFamily="34" charset="-120"/>
              </a:rPr>
              <a:t>▲3兆円（赤字）</a:t>
            </a:r>
            <a:endParaRPr lang="en-US" sz="1200" dirty="0"/>
          </a:p>
        </p:txBody>
      </p:sp>
      <p:sp>
        <p:nvSpPr>
          <p:cNvPr id="35" name="Shape 33"/>
          <p:cNvSpPr/>
          <p:nvPr/>
        </p:nvSpPr>
        <p:spPr>
          <a:xfrm>
            <a:off x="457200" y="4471416"/>
            <a:ext cx="8229600" cy="457200"/>
          </a:xfrm>
          <a:prstGeom prst="rect">
            <a:avLst/>
          </a:prstGeom>
          <a:solidFill>
            <a:srgbClr val="FFFFFF"/>
          </a:solidFill>
          <a:ln/>
        </p:spPr>
      </p:sp>
      <p:sp>
        <p:nvSpPr>
          <p:cNvPr id="36" name="Text 34"/>
          <p:cNvSpPr/>
          <p:nvPr/>
        </p:nvSpPr>
        <p:spPr>
          <a:xfrm>
            <a:off x="640080" y="4553712"/>
            <a:ext cx="3200400" cy="292608"/>
          </a:xfrm>
          <a:prstGeom prst="rect">
            <a:avLst/>
          </a:prstGeom>
          <a:noFill/>
          <a:ln/>
        </p:spPr>
        <p:txBody>
          <a:bodyPr wrap="square" rtlCol="0" anchor="ctr"/>
          <a:lstStyle/>
          <a:p>
            <a:pPr indent="0" marL="0">
              <a:buNone/>
            </a:pPr>
            <a:r>
              <a:rPr lang="en-US" sz="1200" dirty="0">
                <a:solidFill>
                  <a:srgbClr val="16181D"/>
                </a:solidFill>
                <a:latin typeface="Arial" pitchFamily="34" charset="0"/>
                <a:ea typeface="BIZ UDPGothic" pitchFamily="34" charset="-122"/>
                <a:cs typeface="BIZ UDPGothic" pitchFamily="34" charset="-120"/>
              </a:rPr>
              <a:t>3年後の財政収支</a:t>
            </a:r>
            <a:endParaRPr lang="en-US" sz="1200" dirty="0"/>
          </a:p>
        </p:txBody>
      </p:sp>
      <p:sp>
        <p:nvSpPr>
          <p:cNvPr id="37" name="Text 35"/>
          <p:cNvSpPr/>
          <p:nvPr/>
        </p:nvSpPr>
        <p:spPr>
          <a:xfrm>
            <a:off x="3931920" y="4553712"/>
            <a:ext cx="2011680" cy="292608"/>
          </a:xfrm>
          <a:prstGeom prst="rect">
            <a:avLst/>
          </a:prstGeom>
          <a:noFill/>
          <a:ln/>
        </p:spPr>
        <p:txBody>
          <a:bodyPr wrap="square" rtlCol="0" anchor="ctr"/>
          <a:lstStyle/>
          <a:p>
            <a:pPr indent="0" marL="0">
              <a:buNone/>
            </a:pPr>
            <a:r>
              <a:rPr lang="en-US" sz="1200" dirty="0">
                <a:solidFill>
                  <a:srgbClr val="4B515C"/>
                </a:solidFill>
                <a:latin typeface="Arial" pitchFamily="34" charset="0"/>
                <a:ea typeface="BIZ UDPGothic" pitchFamily="34" charset="-122"/>
                <a:cs typeface="BIZ UDPGothic" pitchFamily="34" charset="-120"/>
              </a:rPr>
              <a:t>−</a:t>
            </a:r>
            <a:endParaRPr lang="en-US" sz="1200" dirty="0"/>
          </a:p>
        </p:txBody>
      </p:sp>
      <p:sp>
        <p:nvSpPr>
          <p:cNvPr id="38" name="Text 36"/>
          <p:cNvSpPr/>
          <p:nvPr/>
        </p:nvSpPr>
        <p:spPr>
          <a:xfrm>
            <a:off x="5989320" y="4553712"/>
            <a:ext cx="365760" cy="292608"/>
          </a:xfrm>
          <a:prstGeom prst="rect">
            <a:avLst/>
          </a:prstGeom>
          <a:noFill/>
          <a:ln/>
        </p:spPr>
        <p:txBody>
          <a:bodyPr wrap="square" rtlCol="0" anchor="ctr"/>
          <a:lstStyle/>
          <a:p>
            <a:pPr algn="ctr" indent="0" marL="0">
              <a:buNone/>
            </a:pPr>
            <a:r>
              <a:rPr lang="en-US" sz="1200" b="1" dirty="0">
                <a:solidFill>
                  <a:srgbClr val="C8161D"/>
                </a:solidFill>
                <a:latin typeface="Arial" pitchFamily="34" charset="0"/>
                <a:ea typeface="BIZ UDPGothic" pitchFamily="34" charset="-122"/>
                <a:cs typeface="BIZ UDPGothic" pitchFamily="34" charset="-120"/>
              </a:rPr>
              <a:t>→</a:t>
            </a:r>
            <a:endParaRPr lang="en-US" sz="1200" dirty="0"/>
          </a:p>
        </p:txBody>
      </p:sp>
      <p:sp>
        <p:nvSpPr>
          <p:cNvPr id="39" name="Text 37"/>
          <p:cNvSpPr/>
          <p:nvPr/>
        </p:nvSpPr>
        <p:spPr>
          <a:xfrm>
            <a:off x="6400800" y="4553712"/>
            <a:ext cx="2103120" cy="292608"/>
          </a:xfrm>
          <a:prstGeom prst="rect">
            <a:avLst/>
          </a:prstGeom>
          <a:noFill/>
          <a:ln/>
        </p:spPr>
        <p:txBody>
          <a:bodyPr wrap="square" rtlCol="0" anchor="ctr"/>
          <a:lstStyle/>
          <a:p>
            <a:pPr indent="0" marL="0">
              <a:buNone/>
            </a:pPr>
            <a:r>
              <a:rPr lang="en-US" sz="1200" b="1" dirty="0">
                <a:solidFill>
                  <a:srgbClr val="1D4F91"/>
                </a:solidFill>
                <a:latin typeface="Arial" pitchFamily="34" charset="0"/>
                <a:ea typeface="BIZ UDPGothic" pitchFamily="34" charset="-122"/>
                <a:cs typeface="BIZ UDPGothic" pitchFamily="34" charset="-120"/>
              </a:rPr>
              <a:t>+3〜5兆円（黒字）</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rtlCol="0" anchor="ctr"/>
          <a:lstStyle/>
          <a:p>
            <a:pPr indent="0" marL="0">
              <a:buNone/>
            </a:pPr>
            <a:r>
              <a:rPr lang="en-US" sz="900" b="1" spc="300" kern="0" dirty="0">
                <a:solidFill>
                  <a:srgbClr val="C8161D"/>
                </a:solidFill>
                <a:latin typeface="Arial" pitchFamily="34" charset="0"/>
                <a:ea typeface="BIZ UDPGothic" pitchFamily="34" charset="-122"/>
                <a:cs typeface="BIZ UDPGothic" pitchFamily="34" charset="-120"/>
              </a:rPr>
              <a:t>正直に伝える</a:t>
            </a:r>
            <a:endParaRPr lang="en-US" sz="900" dirty="0"/>
          </a:p>
        </p:txBody>
      </p:sp>
      <p:sp>
        <p:nvSpPr>
          <p:cNvPr id="3" name="Text 1"/>
          <p:cNvSpPr/>
          <p:nvPr/>
        </p:nvSpPr>
        <p:spPr>
          <a:xfrm>
            <a:off x="457200" y="502920"/>
            <a:ext cx="8229600" cy="685800"/>
          </a:xfrm>
          <a:prstGeom prst="rect">
            <a:avLst/>
          </a:prstGeom>
          <a:noFill/>
          <a:ln/>
        </p:spPr>
        <p:txBody>
          <a:bodyPr wrap="square" rtlCol="0" anchor="ctr"/>
          <a:lstStyle/>
          <a:p>
            <a:pPr indent="0" marL="0">
              <a:buNone/>
            </a:pPr>
            <a:r>
              <a:rPr lang="en-US" sz="3400" b="1" dirty="0">
                <a:solidFill>
                  <a:srgbClr val="16181D"/>
                </a:solidFill>
                <a:latin typeface="Arial" pitchFamily="34" charset="0"/>
                <a:ea typeface="BIZ UDPGothic" pitchFamily="34" charset="-122"/>
                <a:cs typeface="BIZ UDPGothic" pitchFamily="34" charset="-120"/>
              </a:rPr>
              <a:t>うまくいかないリスクも正直に伝える</a:t>
            </a:r>
            <a:endParaRPr lang="en-US" sz="3400" dirty="0"/>
          </a:p>
        </p:txBody>
      </p:sp>
      <p:sp>
        <p:nvSpPr>
          <p:cNvPr id="4" name="Shape 2"/>
          <p:cNvSpPr/>
          <p:nvPr/>
        </p:nvSpPr>
        <p:spPr>
          <a:xfrm>
            <a:off x="457200" y="1261872"/>
            <a:ext cx="8229600" cy="22860"/>
          </a:xfrm>
          <a:prstGeom prst="rect">
            <a:avLst/>
          </a:prstGeom>
          <a:solidFill>
            <a:srgbClr val="DDE0E6"/>
          </a:solidFill>
          <a:ln/>
        </p:spPr>
      </p:sp>
      <p:sp>
        <p:nvSpPr>
          <p:cNvPr id="5" name="Shape 3"/>
          <p:cNvSpPr/>
          <p:nvPr/>
        </p:nvSpPr>
        <p:spPr>
          <a:xfrm>
            <a:off x="457200" y="1417320"/>
            <a:ext cx="4114800" cy="1737360"/>
          </a:xfrm>
          <a:prstGeom prst="roundRect">
            <a:avLst>
              <a:gd name="adj" fmla="val 5263"/>
            </a:avLst>
          </a:prstGeom>
          <a:solidFill>
            <a:srgbClr val="FFFFFF"/>
          </a:solidFill>
          <a:ln/>
          <a:effectLst>
            <a:outerShdw sx="100000" sy="100000" kx="0" ky="0" algn="bl" rotWithShape="0" blurRad="127000" dist="38100" dir="2700000">
              <a:srgbClr val="000000">
                <a:alpha val="35000"/>
              </a:srgbClr>
            </a:outerShdw>
          </a:effectLst>
        </p:spPr>
      </p:sp>
      <p:sp>
        <p:nvSpPr>
          <p:cNvPr id="6" name="Shape 4"/>
          <p:cNvSpPr/>
          <p:nvPr/>
        </p:nvSpPr>
        <p:spPr>
          <a:xfrm>
            <a:off x="621792" y="1554480"/>
            <a:ext cx="658368" cy="274320"/>
          </a:xfrm>
          <a:prstGeom prst="roundRect">
            <a:avLst>
              <a:gd name="adj" fmla="val 13333"/>
            </a:avLst>
          </a:prstGeom>
          <a:solidFill>
            <a:srgbClr val="C8161D"/>
          </a:solidFill>
          <a:ln/>
        </p:spPr>
      </p:sp>
      <p:sp>
        <p:nvSpPr>
          <p:cNvPr id="7" name="Text 5"/>
          <p:cNvSpPr/>
          <p:nvPr/>
        </p:nvSpPr>
        <p:spPr>
          <a:xfrm>
            <a:off x="621792" y="1554480"/>
            <a:ext cx="658368" cy="274320"/>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BIZ UDPGothic" pitchFamily="34" charset="-122"/>
                <a:cs typeface="BIZ UDPGothic" pitchFamily="34" charset="-120"/>
              </a:rPr>
              <a:t>HIGH</a:t>
            </a:r>
            <a:endParaRPr lang="en-US" sz="800" dirty="0"/>
          </a:p>
        </p:txBody>
      </p:sp>
      <p:sp>
        <p:nvSpPr>
          <p:cNvPr id="8" name="Text 6"/>
          <p:cNvSpPr/>
          <p:nvPr/>
        </p:nvSpPr>
        <p:spPr>
          <a:xfrm>
            <a:off x="621792" y="1892808"/>
            <a:ext cx="3785616" cy="329184"/>
          </a:xfrm>
          <a:prstGeom prst="rect">
            <a:avLst/>
          </a:prstGeom>
          <a:noFill/>
          <a:ln/>
        </p:spPr>
        <p:txBody>
          <a:bodyPr wrap="square" rtlCol="0" anchor="ctr"/>
          <a:lstStyle/>
          <a:p>
            <a:pPr indent="0" marL="0">
              <a:buNone/>
            </a:pPr>
            <a:r>
              <a:rPr lang="en-US" sz="1300" b="1" dirty="0">
                <a:solidFill>
                  <a:srgbClr val="16181D"/>
                </a:solidFill>
                <a:latin typeface="Arial" pitchFamily="34" charset="0"/>
                <a:ea typeface="BIZ UDPGothic" pitchFamily="34" charset="-122"/>
                <a:cs typeface="BIZ UDPGothic" pitchFamily="34" charset="-120"/>
              </a:rPr>
              <a:t>失業者が一気に増えるリスク</a:t>
            </a:r>
            <a:endParaRPr lang="en-US" sz="1300" dirty="0"/>
          </a:p>
        </p:txBody>
      </p:sp>
      <p:sp>
        <p:nvSpPr>
          <p:cNvPr id="9" name="Text 7"/>
          <p:cNvSpPr/>
          <p:nvPr/>
        </p:nvSpPr>
        <p:spPr>
          <a:xfrm>
            <a:off x="621792" y="2258568"/>
            <a:ext cx="3785616" cy="804672"/>
          </a:xfrm>
          <a:prstGeom prst="rect">
            <a:avLst/>
          </a:prstGeom>
          <a:noFill/>
          <a:ln/>
        </p:spPr>
        <p:txBody>
          <a:bodyPr wrap="square" rtlCol="0" anchor="ctr"/>
          <a:lstStyle/>
          <a:p>
            <a:pPr indent="0" marL="0">
              <a:lnSpc>
                <a:spcPct val="135000"/>
              </a:lnSpc>
              <a:buNone/>
            </a:pPr>
            <a:r>
              <a:rPr lang="en-US" sz="1050" dirty="0">
                <a:solidFill>
                  <a:srgbClr val="16181D"/>
                </a:solidFill>
                <a:latin typeface="Arial" pitchFamily="34" charset="0"/>
                <a:ea typeface="BIZ UDPGothic" pitchFamily="34" charset="-122"/>
                <a:cs typeface="BIZ UDPGothic" pitchFamily="34" charset="-120"/>
              </a:rPr>
              <a:t>ゾンビ企業が一気に潰れると、初年度の赤字が10兆円超になる可能性がある。→ 5〜10年かけて段階的に導入することで緩和できる。</a:t>
            </a:r>
            <a:endParaRPr lang="en-US" sz="1050" dirty="0"/>
          </a:p>
        </p:txBody>
      </p:sp>
      <p:sp>
        <p:nvSpPr>
          <p:cNvPr id="10" name="Shape 8"/>
          <p:cNvSpPr/>
          <p:nvPr/>
        </p:nvSpPr>
        <p:spPr>
          <a:xfrm>
            <a:off x="4754880" y="1417320"/>
            <a:ext cx="4114800" cy="1737360"/>
          </a:xfrm>
          <a:prstGeom prst="roundRect">
            <a:avLst>
              <a:gd name="adj" fmla="val 5263"/>
            </a:avLst>
          </a:prstGeom>
          <a:solidFill>
            <a:srgbClr val="FFFFFF"/>
          </a:solidFill>
          <a:ln/>
          <a:effectLst>
            <a:outerShdw sx="100000" sy="100000" kx="0" ky="0" algn="bl" rotWithShape="0" blurRad="127000" dist="38100" dir="2700000">
              <a:srgbClr val="000000">
                <a:alpha val="35000"/>
              </a:srgbClr>
            </a:outerShdw>
          </a:effectLst>
        </p:spPr>
      </p:sp>
      <p:sp>
        <p:nvSpPr>
          <p:cNvPr id="11" name="Shape 9"/>
          <p:cNvSpPr/>
          <p:nvPr/>
        </p:nvSpPr>
        <p:spPr>
          <a:xfrm>
            <a:off x="4919472" y="1554480"/>
            <a:ext cx="658368" cy="274320"/>
          </a:xfrm>
          <a:prstGeom prst="roundRect">
            <a:avLst>
              <a:gd name="adj" fmla="val 13333"/>
            </a:avLst>
          </a:prstGeom>
          <a:solidFill>
            <a:srgbClr val="9AA0AA"/>
          </a:solidFill>
          <a:ln/>
        </p:spPr>
      </p:sp>
      <p:sp>
        <p:nvSpPr>
          <p:cNvPr id="12" name="Text 10"/>
          <p:cNvSpPr/>
          <p:nvPr/>
        </p:nvSpPr>
        <p:spPr>
          <a:xfrm>
            <a:off x="4919472" y="1554480"/>
            <a:ext cx="658368" cy="274320"/>
          </a:xfrm>
          <a:prstGeom prst="rect">
            <a:avLst/>
          </a:prstGeom>
          <a:noFill/>
          <a:ln/>
        </p:spPr>
        <p:txBody>
          <a:bodyPr wrap="square" rtlCol="0" anchor="ctr"/>
          <a:lstStyle/>
          <a:p>
            <a:pPr algn="ctr" indent="0" marL="0">
              <a:buNone/>
            </a:pPr>
            <a:r>
              <a:rPr lang="en-US" sz="800" b="1" dirty="0">
                <a:solidFill>
                  <a:srgbClr val="16181D"/>
                </a:solidFill>
                <a:latin typeface="Arial" pitchFamily="34" charset="0"/>
                <a:ea typeface="BIZ UDPGothic" pitchFamily="34" charset="-122"/>
                <a:cs typeface="BIZ UDPGothic" pitchFamily="34" charset="-120"/>
              </a:rPr>
              <a:t>MED</a:t>
            </a:r>
            <a:endParaRPr lang="en-US" sz="800" dirty="0"/>
          </a:p>
        </p:txBody>
      </p:sp>
      <p:sp>
        <p:nvSpPr>
          <p:cNvPr id="13" name="Text 11"/>
          <p:cNvSpPr/>
          <p:nvPr/>
        </p:nvSpPr>
        <p:spPr>
          <a:xfrm>
            <a:off x="4919472" y="1892808"/>
            <a:ext cx="3785616" cy="329184"/>
          </a:xfrm>
          <a:prstGeom prst="rect">
            <a:avLst/>
          </a:prstGeom>
          <a:noFill/>
          <a:ln/>
        </p:spPr>
        <p:txBody>
          <a:bodyPr wrap="square" rtlCol="0" anchor="ctr"/>
          <a:lstStyle/>
          <a:p>
            <a:pPr indent="0" marL="0">
              <a:buNone/>
            </a:pPr>
            <a:r>
              <a:rPr lang="en-US" sz="1300" b="1" dirty="0">
                <a:solidFill>
                  <a:srgbClr val="16181D"/>
                </a:solidFill>
                <a:latin typeface="Arial" pitchFamily="34" charset="0"/>
                <a:ea typeface="BIZ UDPGothic" pitchFamily="34" charset="-122"/>
                <a:cs typeface="BIZ UDPGothic" pitchFamily="34" charset="-120"/>
              </a:rPr>
              <a:t>再教育の質が低いと逆効果</a:t>
            </a:r>
            <a:endParaRPr lang="en-US" sz="1300" dirty="0"/>
          </a:p>
        </p:txBody>
      </p:sp>
      <p:sp>
        <p:nvSpPr>
          <p:cNvPr id="14" name="Text 12"/>
          <p:cNvSpPr/>
          <p:nvPr/>
        </p:nvSpPr>
        <p:spPr>
          <a:xfrm>
            <a:off x="4919472" y="2258568"/>
            <a:ext cx="3785616" cy="804672"/>
          </a:xfrm>
          <a:prstGeom prst="rect">
            <a:avLst/>
          </a:prstGeom>
          <a:noFill/>
          <a:ln/>
        </p:spPr>
        <p:txBody>
          <a:bodyPr wrap="square" rtlCol="0" anchor="ctr"/>
          <a:lstStyle/>
          <a:p>
            <a:pPr indent="0" marL="0">
              <a:lnSpc>
                <a:spcPct val="135000"/>
              </a:lnSpc>
              <a:buNone/>
            </a:pPr>
            <a:r>
              <a:rPr lang="en-US" sz="1050" dirty="0">
                <a:solidFill>
                  <a:srgbClr val="16181D"/>
                </a:solidFill>
                <a:latin typeface="Arial" pitchFamily="34" charset="0"/>
                <a:ea typeface="BIZ UDPGothic" pitchFamily="34" charset="-122"/>
                <a:cs typeface="BIZ UDPGothic" pitchFamily="34" charset="-120"/>
              </a:rPr>
              <a:t>職業訓練の質が低ければ、3年たっても就職できない人が増え、給付コストが膨らむ。→ 教育機関・企業との連携強化が必須。</a:t>
            </a:r>
            <a:endParaRPr lang="en-US" sz="1050" dirty="0"/>
          </a:p>
        </p:txBody>
      </p:sp>
      <p:sp>
        <p:nvSpPr>
          <p:cNvPr id="15" name="Shape 13"/>
          <p:cNvSpPr/>
          <p:nvPr/>
        </p:nvSpPr>
        <p:spPr>
          <a:xfrm>
            <a:off x="457200" y="3337560"/>
            <a:ext cx="4114800" cy="1737360"/>
          </a:xfrm>
          <a:prstGeom prst="roundRect">
            <a:avLst>
              <a:gd name="adj" fmla="val 5263"/>
            </a:avLst>
          </a:prstGeom>
          <a:solidFill>
            <a:srgbClr val="FFFFFF"/>
          </a:solidFill>
          <a:ln/>
          <a:effectLst>
            <a:outerShdw sx="100000" sy="100000" kx="0" ky="0" algn="bl" rotWithShape="0" blurRad="127000" dist="38100" dir="2700000">
              <a:srgbClr val="000000">
                <a:alpha val="35000"/>
              </a:srgbClr>
            </a:outerShdw>
          </a:effectLst>
        </p:spPr>
      </p:sp>
      <p:sp>
        <p:nvSpPr>
          <p:cNvPr id="16" name="Shape 14"/>
          <p:cNvSpPr/>
          <p:nvPr/>
        </p:nvSpPr>
        <p:spPr>
          <a:xfrm>
            <a:off x="621792" y="3474720"/>
            <a:ext cx="658368" cy="274320"/>
          </a:xfrm>
          <a:prstGeom prst="roundRect">
            <a:avLst>
              <a:gd name="adj" fmla="val 13333"/>
            </a:avLst>
          </a:prstGeom>
          <a:solidFill>
            <a:srgbClr val="9AA0AA"/>
          </a:solidFill>
          <a:ln/>
        </p:spPr>
      </p:sp>
      <p:sp>
        <p:nvSpPr>
          <p:cNvPr id="17" name="Text 15"/>
          <p:cNvSpPr/>
          <p:nvPr/>
        </p:nvSpPr>
        <p:spPr>
          <a:xfrm>
            <a:off x="621792" y="3474720"/>
            <a:ext cx="658368" cy="274320"/>
          </a:xfrm>
          <a:prstGeom prst="rect">
            <a:avLst/>
          </a:prstGeom>
          <a:noFill/>
          <a:ln/>
        </p:spPr>
        <p:txBody>
          <a:bodyPr wrap="square" rtlCol="0" anchor="ctr"/>
          <a:lstStyle/>
          <a:p>
            <a:pPr algn="ctr" indent="0" marL="0">
              <a:buNone/>
            </a:pPr>
            <a:r>
              <a:rPr lang="en-US" sz="800" b="1" dirty="0">
                <a:solidFill>
                  <a:srgbClr val="16181D"/>
                </a:solidFill>
                <a:latin typeface="Arial" pitchFamily="34" charset="0"/>
                <a:ea typeface="BIZ UDPGothic" pitchFamily="34" charset="-122"/>
                <a:cs typeface="BIZ UDPGothic" pitchFamily="34" charset="-120"/>
              </a:rPr>
              <a:t>MED</a:t>
            </a:r>
            <a:endParaRPr lang="en-US" sz="800" dirty="0"/>
          </a:p>
        </p:txBody>
      </p:sp>
      <p:sp>
        <p:nvSpPr>
          <p:cNvPr id="18" name="Text 16"/>
          <p:cNvSpPr/>
          <p:nvPr/>
        </p:nvSpPr>
        <p:spPr>
          <a:xfrm>
            <a:off x="621792" y="3813048"/>
            <a:ext cx="3785616" cy="329184"/>
          </a:xfrm>
          <a:prstGeom prst="rect">
            <a:avLst/>
          </a:prstGeom>
          <a:noFill/>
          <a:ln/>
        </p:spPr>
        <p:txBody>
          <a:bodyPr wrap="square" rtlCol="0" anchor="ctr"/>
          <a:lstStyle/>
          <a:p>
            <a:pPr indent="0" marL="0">
              <a:buNone/>
            </a:pPr>
            <a:r>
              <a:rPr lang="en-US" sz="1300" b="1" dirty="0">
                <a:solidFill>
                  <a:srgbClr val="16181D"/>
                </a:solidFill>
                <a:latin typeface="Arial" pitchFamily="34" charset="0"/>
                <a:ea typeface="BIZ UDPGothic" pitchFamily="34" charset="-122"/>
                <a:cs typeface="BIZ UDPGothic" pitchFamily="34" charset="-120"/>
              </a:rPr>
              <a:t>消費税が逆進性を強める</a:t>
            </a:r>
            <a:endParaRPr lang="en-US" sz="1300" dirty="0"/>
          </a:p>
        </p:txBody>
      </p:sp>
      <p:sp>
        <p:nvSpPr>
          <p:cNvPr id="19" name="Text 17"/>
          <p:cNvSpPr/>
          <p:nvPr/>
        </p:nvSpPr>
        <p:spPr>
          <a:xfrm>
            <a:off x="621792" y="4178808"/>
            <a:ext cx="3785616" cy="804672"/>
          </a:xfrm>
          <a:prstGeom prst="rect">
            <a:avLst/>
          </a:prstGeom>
          <a:noFill/>
          <a:ln/>
        </p:spPr>
        <p:txBody>
          <a:bodyPr wrap="square" rtlCol="0" anchor="ctr"/>
          <a:lstStyle/>
          <a:p>
            <a:pPr indent="0" marL="0">
              <a:lnSpc>
                <a:spcPct val="135000"/>
              </a:lnSpc>
              <a:buNone/>
            </a:pPr>
            <a:r>
              <a:rPr lang="en-US" sz="1050" dirty="0">
                <a:solidFill>
                  <a:srgbClr val="16181D"/>
                </a:solidFill>
                <a:latin typeface="Arial" pitchFamily="34" charset="0"/>
                <a:ea typeface="BIZ UDPGothic" pitchFamily="34" charset="-122"/>
                <a:cs typeface="BIZ UDPGothic" pitchFamily="34" charset="-120"/>
              </a:rPr>
              <a:t>消費税は収入が低い人ほど相対的に重い負担。→ 最低賃金の引き上げと生活保護の改革で、実質的な負担増を相殺する設計にしている。</a:t>
            </a:r>
            <a:endParaRPr lang="en-US" sz="1050" dirty="0"/>
          </a:p>
        </p:txBody>
      </p:sp>
      <p:sp>
        <p:nvSpPr>
          <p:cNvPr id="20" name="Shape 18"/>
          <p:cNvSpPr/>
          <p:nvPr/>
        </p:nvSpPr>
        <p:spPr>
          <a:xfrm>
            <a:off x="4754880" y="3337560"/>
            <a:ext cx="4114800" cy="1737360"/>
          </a:xfrm>
          <a:prstGeom prst="roundRect">
            <a:avLst>
              <a:gd name="adj" fmla="val 5263"/>
            </a:avLst>
          </a:prstGeom>
          <a:solidFill>
            <a:srgbClr val="FFFFFF"/>
          </a:solidFill>
          <a:ln/>
          <a:effectLst>
            <a:outerShdw sx="100000" sy="100000" kx="0" ky="0" algn="bl" rotWithShape="0" blurRad="127000" dist="38100" dir="2700000">
              <a:srgbClr val="000000">
                <a:alpha val="35000"/>
              </a:srgbClr>
            </a:outerShdw>
          </a:effectLst>
        </p:spPr>
      </p:sp>
      <p:sp>
        <p:nvSpPr>
          <p:cNvPr id="21" name="Shape 19"/>
          <p:cNvSpPr/>
          <p:nvPr/>
        </p:nvSpPr>
        <p:spPr>
          <a:xfrm>
            <a:off x="4919472" y="3474720"/>
            <a:ext cx="658368" cy="274320"/>
          </a:xfrm>
          <a:prstGeom prst="roundRect">
            <a:avLst>
              <a:gd name="adj" fmla="val 13333"/>
            </a:avLst>
          </a:prstGeom>
          <a:solidFill>
            <a:srgbClr val="C8161D"/>
          </a:solidFill>
          <a:ln/>
        </p:spPr>
      </p:sp>
      <p:sp>
        <p:nvSpPr>
          <p:cNvPr id="22" name="Text 20"/>
          <p:cNvSpPr/>
          <p:nvPr/>
        </p:nvSpPr>
        <p:spPr>
          <a:xfrm>
            <a:off x="4919472" y="3474720"/>
            <a:ext cx="658368" cy="274320"/>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BIZ UDPGothic" pitchFamily="34" charset="-122"/>
                <a:cs typeface="BIZ UDPGothic" pitchFamily="34" charset="-120"/>
              </a:rPr>
              <a:t>HIGH</a:t>
            </a:r>
            <a:endParaRPr lang="en-US" sz="800" dirty="0"/>
          </a:p>
        </p:txBody>
      </p:sp>
      <p:sp>
        <p:nvSpPr>
          <p:cNvPr id="23" name="Text 21"/>
          <p:cNvSpPr/>
          <p:nvPr/>
        </p:nvSpPr>
        <p:spPr>
          <a:xfrm>
            <a:off x="4919472" y="3813048"/>
            <a:ext cx="3785616" cy="329184"/>
          </a:xfrm>
          <a:prstGeom prst="rect">
            <a:avLst/>
          </a:prstGeom>
          <a:noFill/>
          <a:ln/>
        </p:spPr>
        <p:txBody>
          <a:bodyPr wrap="square" rtlCol="0" anchor="ctr"/>
          <a:lstStyle/>
          <a:p>
            <a:pPr indent="0" marL="0">
              <a:buNone/>
            </a:pPr>
            <a:r>
              <a:rPr lang="en-US" sz="1300" b="1" dirty="0">
                <a:solidFill>
                  <a:srgbClr val="16181D"/>
                </a:solidFill>
                <a:latin typeface="Arial" pitchFamily="34" charset="0"/>
                <a:ea typeface="BIZ UDPGothic" pitchFamily="34" charset="-122"/>
                <a:cs typeface="BIZ UDPGothic" pitchFamily="34" charset="-120"/>
              </a:rPr>
              <a:t>政治的な抵抗が強い</a:t>
            </a:r>
            <a:endParaRPr lang="en-US" sz="1300" dirty="0"/>
          </a:p>
        </p:txBody>
      </p:sp>
      <p:sp>
        <p:nvSpPr>
          <p:cNvPr id="24" name="Text 22"/>
          <p:cNvSpPr/>
          <p:nvPr/>
        </p:nvSpPr>
        <p:spPr>
          <a:xfrm>
            <a:off x="4919472" y="4178808"/>
            <a:ext cx="3785616" cy="804672"/>
          </a:xfrm>
          <a:prstGeom prst="rect">
            <a:avLst/>
          </a:prstGeom>
          <a:noFill/>
          <a:ln/>
        </p:spPr>
        <p:txBody>
          <a:bodyPr wrap="square" rtlCol="0" anchor="ctr"/>
          <a:lstStyle/>
          <a:p>
            <a:pPr indent="0" marL="0">
              <a:lnSpc>
                <a:spcPct val="135000"/>
              </a:lnSpc>
              <a:buNone/>
            </a:pPr>
            <a:r>
              <a:rPr lang="en-US" sz="1050" dirty="0">
                <a:solidFill>
                  <a:srgbClr val="16181D"/>
                </a:solidFill>
                <a:latin typeface="Arial" pitchFamily="34" charset="0"/>
                <a:ea typeface="BIZ UDPGothic" pitchFamily="34" charset="-122"/>
                <a:cs typeface="BIZ UDPGothic" pitchFamily="34" charset="-120"/>
              </a:rPr>
              <a:t>補助金をもらっているゾンビ企業や既得権益層からの強い反発が予想される。→ 段階的かつ透明な移行計画を公表し、社会的合意を形成していく必要がある。</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rtlCol="0" anchor="ctr"/>
          <a:lstStyle/>
          <a:p>
            <a:pPr indent="0" marL="0">
              <a:buNone/>
            </a:pPr>
            <a:r>
              <a:rPr lang="en-US" sz="900" b="1" spc="300" kern="0" dirty="0">
                <a:solidFill>
                  <a:srgbClr val="C8161D"/>
                </a:solidFill>
                <a:latin typeface="Arial" pitchFamily="34" charset="0"/>
                <a:ea typeface="BIZ UDPGothic" pitchFamily="34" charset="-122"/>
                <a:cs typeface="BIZ UDPGothic" pitchFamily="34" charset="-120"/>
              </a:rPr>
              <a:t>哲学</a:t>
            </a:r>
            <a:endParaRPr lang="en-US" sz="900" dirty="0"/>
          </a:p>
        </p:txBody>
      </p:sp>
      <p:sp>
        <p:nvSpPr>
          <p:cNvPr id="3" name="Text 1"/>
          <p:cNvSpPr/>
          <p:nvPr/>
        </p:nvSpPr>
        <p:spPr>
          <a:xfrm>
            <a:off x="457200" y="502920"/>
            <a:ext cx="8229600" cy="685800"/>
          </a:xfrm>
          <a:prstGeom prst="rect">
            <a:avLst/>
          </a:prstGeom>
          <a:noFill/>
          <a:ln/>
        </p:spPr>
        <p:txBody>
          <a:bodyPr wrap="square" rtlCol="0" anchor="ctr"/>
          <a:lstStyle/>
          <a:p>
            <a:pPr indent="0" marL="0">
              <a:buNone/>
            </a:pPr>
            <a:r>
              <a:rPr lang="en-US" sz="3400" b="1" dirty="0">
                <a:solidFill>
                  <a:srgbClr val="16181D"/>
                </a:solidFill>
                <a:latin typeface="Arial" pitchFamily="34" charset="0"/>
                <a:ea typeface="BIZ UDPGothic" pitchFamily="34" charset="-122"/>
                <a:cs typeface="BIZ UDPGothic" pitchFamily="34" charset="-120"/>
              </a:rPr>
              <a:t>このプランの考え方：4つの原則</a:t>
            </a:r>
            <a:endParaRPr lang="en-US" sz="3400" dirty="0"/>
          </a:p>
        </p:txBody>
      </p:sp>
      <p:sp>
        <p:nvSpPr>
          <p:cNvPr id="4" name="Shape 2"/>
          <p:cNvSpPr/>
          <p:nvPr/>
        </p:nvSpPr>
        <p:spPr>
          <a:xfrm>
            <a:off x="457200" y="1261872"/>
            <a:ext cx="8229600" cy="22860"/>
          </a:xfrm>
          <a:prstGeom prst="rect">
            <a:avLst/>
          </a:prstGeom>
          <a:solidFill>
            <a:srgbClr val="DDE0E6"/>
          </a:solidFill>
          <a:ln/>
        </p:spPr>
      </p:sp>
      <p:sp>
        <p:nvSpPr>
          <p:cNvPr id="5" name="Shape 3"/>
          <p:cNvSpPr/>
          <p:nvPr/>
        </p:nvSpPr>
        <p:spPr>
          <a:xfrm>
            <a:off x="457200" y="1417320"/>
            <a:ext cx="4114800" cy="1783080"/>
          </a:xfrm>
          <a:prstGeom prst="roundRect">
            <a:avLst>
              <a:gd name="adj" fmla="val 5128"/>
            </a:avLst>
          </a:prstGeom>
          <a:solidFill>
            <a:srgbClr val="FFFFFF"/>
          </a:solidFill>
          <a:ln/>
          <a:effectLst>
            <a:outerShdw sx="100000" sy="100000" kx="0" ky="0" algn="bl" rotWithShape="0" blurRad="127000" dist="38100" dir="2700000">
              <a:srgbClr val="000000">
                <a:alpha val="35000"/>
              </a:srgbClr>
            </a:outerShdw>
          </a:effectLst>
        </p:spPr>
      </p:sp>
      <p:sp>
        <p:nvSpPr>
          <p:cNvPr id="6" name="Text 4"/>
          <p:cNvSpPr/>
          <p:nvPr/>
        </p:nvSpPr>
        <p:spPr>
          <a:xfrm>
            <a:off x="640080" y="1545336"/>
            <a:ext cx="594360" cy="475488"/>
          </a:xfrm>
          <a:prstGeom prst="rect">
            <a:avLst/>
          </a:prstGeom>
          <a:noFill/>
          <a:ln/>
        </p:spPr>
        <p:txBody>
          <a:bodyPr wrap="square" rtlCol="0" anchor="ctr"/>
          <a:lstStyle/>
          <a:p>
            <a:pPr indent="0" marL="0">
              <a:buNone/>
            </a:pPr>
            <a:r>
              <a:rPr lang="en-US" sz="2600" b="1" dirty="0">
                <a:solidFill>
                  <a:srgbClr val="C8161D"/>
                </a:solidFill>
                <a:latin typeface="Arial" pitchFamily="34" charset="0"/>
                <a:ea typeface="BIZ UDPGothic" pitchFamily="34" charset="-122"/>
                <a:cs typeface="BIZ UDPGothic" pitchFamily="34" charset="-120"/>
              </a:rPr>
              <a:t>01</a:t>
            </a:r>
            <a:endParaRPr lang="en-US" sz="2600" dirty="0"/>
          </a:p>
        </p:txBody>
      </p:sp>
      <p:sp>
        <p:nvSpPr>
          <p:cNvPr id="7" name="Text 5"/>
          <p:cNvSpPr/>
          <p:nvPr/>
        </p:nvSpPr>
        <p:spPr>
          <a:xfrm>
            <a:off x="640080" y="1965960"/>
            <a:ext cx="3749040" cy="658368"/>
          </a:xfrm>
          <a:prstGeom prst="rect">
            <a:avLst/>
          </a:prstGeom>
          <a:noFill/>
          <a:ln/>
        </p:spPr>
        <p:txBody>
          <a:bodyPr wrap="square" rtlCol="0" anchor="ctr"/>
          <a:lstStyle/>
          <a:p>
            <a:pPr indent="0" marL="0">
              <a:lnSpc>
                <a:spcPct val="120000"/>
              </a:lnSpc>
              <a:buNone/>
            </a:pPr>
            <a:r>
              <a:rPr lang="en-US" sz="1600" b="1" dirty="0">
                <a:solidFill>
                  <a:srgbClr val="16181D"/>
                </a:solidFill>
                <a:latin typeface="Arial" pitchFamily="34" charset="0"/>
                <a:ea typeface="BIZ UDPGothic" pitchFamily="34" charset="-122"/>
                <a:cs typeface="BIZ UDPGothic" pitchFamily="34" charset="-120"/>
              </a:rPr>
              <a:t>頑張る人が</a:t>
            </a:r>
            <a:endParaRPr lang="en-US" sz="1600" dirty="0"/>
          </a:p>
          <a:p>
            <a:pPr indent="0" marL="0">
              <a:lnSpc>
                <a:spcPct val="120000"/>
              </a:lnSpc>
              <a:buNone/>
            </a:pPr>
            <a:r>
              <a:rPr lang="en-US" sz="1600" b="1" dirty="0">
                <a:solidFill>
                  <a:srgbClr val="16181D"/>
                </a:solidFill>
                <a:latin typeface="Arial" pitchFamily="34" charset="0"/>
                <a:ea typeface="BIZ UDPGothic" pitchFamily="34" charset="-122"/>
                <a:cs typeface="BIZ UDPGothic" pitchFamily="34" charset="-120"/>
              </a:rPr>
              <a:t>100%報われる社会</a:t>
            </a:r>
            <a:endParaRPr lang="en-US" sz="1600" dirty="0"/>
          </a:p>
        </p:txBody>
      </p:sp>
      <p:sp>
        <p:nvSpPr>
          <p:cNvPr id="8" name="Text 6"/>
          <p:cNvSpPr/>
          <p:nvPr/>
        </p:nvSpPr>
        <p:spPr>
          <a:xfrm>
            <a:off x="640080" y="2679192"/>
            <a:ext cx="3749040" cy="438912"/>
          </a:xfrm>
          <a:prstGeom prst="rect">
            <a:avLst/>
          </a:prstGeom>
          <a:noFill/>
          <a:ln/>
        </p:spPr>
        <p:txBody>
          <a:bodyPr wrap="square" rtlCol="0" anchor="ctr"/>
          <a:lstStyle/>
          <a:p>
            <a:pPr indent="0" marL="0">
              <a:lnSpc>
                <a:spcPct val="130000"/>
              </a:lnSpc>
              <a:buNone/>
            </a:pPr>
            <a:r>
              <a:rPr lang="en-US" sz="1050" dirty="0">
                <a:solidFill>
                  <a:srgbClr val="4B515C"/>
                </a:solidFill>
                <a:latin typeface="Arial" pitchFamily="34" charset="0"/>
                <a:ea typeface="BIZ UDPGothic" pitchFamily="34" charset="-122"/>
                <a:cs typeface="BIZ UDPGothic" pitchFamily="34" charset="-120"/>
              </a:rPr>
              <a:t>努力・才能・挑戦が税制や制度に邪魔されない仕組みを作る。</a:t>
            </a:r>
            <a:endParaRPr lang="en-US" sz="1050" dirty="0"/>
          </a:p>
        </p:txBody>
      </p:sp>
      <p:sp>
        <p:nvSpPr>
          <p:cNvPr id="9" name="Shape 7"/>
          <p:cNvSpPr/>
          <p:nvPr/>
        </p:nvSpPr>
        <p:spPr>
          <a:xfrm>
            <a:off x="4754880" y="1417320"/>
            <a:ext cx="4114800" cy="1783080"/>
          </a:xfrm>
          <a:prstGeom prst="roundRect">
            <a:avLst>
              <a:gd name="adj" fmla="val 5128"/>
            </a:avLst>
          </a:prstGeom>
          <a:solidFill>
            <a:srgbClr val="FFFFFF"/>
          </a:solidFill>
          <a:ln/>
          <a:effectLst>
            <a:outerShdw sx="100000" sy="100000" kx="0" ky="0" algn="bl" rotWithShape="0" blurRad="127000" dist="38100" dir="2700000">
              <a:srgbClr val="000000">
                <a:alpha val="35000"/>
              </a:srgbClr>
            </a:outerShdw>
          </a:effectLst>
        </p:spPr>
      </p:sp>
      <p:sp>
        <p:nvSpPr>
          <p:cNvPr id="10" name="Text 8"/>
          <p:cNvSpPr/>
          <p:nvPr/>
        </p:nvSpPr>
        <p:spPr>
          <a:xfrm>
            <a:off x="4937760" y="1545336"/>
            <a:ext cx="594360" cy="475488"/>
          </a:xfrm>
          <a:prstGeom prst="rect">
            <a:avLst/>
          </a:prstGeom>
          <a:noFill/>
          <a:ln/>
        </p:spPr>
        <p:txBody>
          <a:bodyPr wrap="square" rtlCol="0" anchor="ctr"/>
          <a:lstStyle/>
          <a:p>
            <a:pPr indent="0" marL="0">
              <a:buNone/>
            </a:pPr>
            <a:r>
              <a:rPr lang="en-US" sz="2600" b="1" dirty="0">
                <a:solidFill>
                  <a:srgbClr val="C8161D"/>
                </a:solidFill>
                <a:latin typeface="Arial" pitchFamily="34" charset="0"/>
                <a:ea typeface="BIZ UDPGothic" pitchFamily="34" charset="-122"/>
                <a:cs typeface="BIZ UDPGothic" pitchFamily="34" charset="-120"/>
              </a:rPr>
              <a:t>02</a:t>
            </a:r>
            <a:endParaRPr lang="en-US" sz="2600" dirty="0"/>
          </a:p>
        </p:txBody>
      </p:sp>
      <p:sp>
        <p:nvSpPr>
          <p:cNvPr id="11" name="Text 9"/>
          <p:cNvSpPr/>
          <p:nvPr/>
        </p:nvSpPr>
        <p:spPr>
          <a:xfrm>
            <a:off x="4937760" y="1965960"/>
            <a:ext cx="3749040" cy="658368"/>
          </a:xfrm>
          <a:prstGeom prst="rect">
            <a:avLst/>
          </a:prstGeom>
          <a:noFill/>
          <a:ln/>
        </p:spPr>
        <p:txBody>
          <a:bodyPr wrap="square" rtlCol="0" anchor="ctr"/>
          <a:lstStyle/>
          <a:p>
            <a:pPr indent="0" marL="0">
              <a:lnSpc>
                <a:spcPct val="120000"/>
              </a:lnSpc>
              <a:buNone/>
            </a:pPr>
            <a:r>
              <a:rPr lang="en-US" sz="1600" b="1" dirty="0">
                <a:solidFill>
                  <a:srgbClr val="16181D"/>
                </a:solidFill>
                <a:latin typeface="Arial" pitchFamily="34" charset="0"/>
                <a:ea typeface="BIZ UDPGothic" pitchFamily="34" charset="-122"/>
                <a:cs typeface="BIZ UDPGothic" pitchFamily="34" charset="-120"/>
              </a:rPr>
              <a:t>フェアな負担</a:t>
            </a:r>
            <a:endParaRPr lang="en-US" sz="1600" dirty="0"/>
          </a:p>
          <a:p>
            <a:pPr indent="0" marL="0">
              <a:lnSpc>
                <a:spcPct val="120000"/>
              </a:lnSpc>
              <a:buNone/>
            </a:pPr>
            <a:r>
              <a:rPr lang="en-US" sz="1600" b="1" dirty="0">
                <a:solidFill>
                  <a:srgbClr val="16181D"/>
                </a:solidFill>
                <a:latin typeface="Arial" pitchFamily="34" charset="0"/>
                <a:ea typeface="BIZ UDPGothic" pitchFamily="34" charset="-122"/>
                <a:cs typeface="BIZ UDPGothic" pitchFamily="34" charset="-120"/>
              </a:rPr>
              <a:t>フェアな給付</a:t>
            </a:r>
            <a:endParaRPr lang="en-US" sz="1600" dirty="0"/>
          </a:p>
        </p:txBody>
      </p:sp>
      <p:sp>
        <p:nvSpPr>
          <p:cNvPr id="12" name="Text 10"/>
          <p:cNvSpPr/>
          <p:nvPr/>
        </p:nvSpPr>
        <p:spPr>
          <a:xfrm>
            <a:off x="4937760" y="2679192"/>
            <a:ext cx="3749040" cy="438912"/>
          </a:xfrm>
          <a:prstGeom prst="rect">
            <a:avLst/>
          </a:prstGeom>
          <a:noFill/>
          <a:ln/>
        </p:spPr>
        <p:txBody>
          <a:bodyPr wrap="square" rtlCol="0" anchor="ctr"/>
          <a:lstStyle/>
          <a:p>
            <a:pPr indent="0" marL="0">
              <a:lnSpc>
                <a:spcPct val="130000"/>
              </a:lnSpc>
              <a:buNone/>
            </a:pPr>
            <a:r>
              <a:rPr lang="en-US" sz="1050" dirty="0">
                <a:solidFill>
                  <a:srgbClr val="4B515C"/>
                </a:solidFill>
                <a:latin typeface="Arial" pitchFamily="34" charset="0"/>
                <a:ea typeface="BIZ UDPGothic" pitchFamily="34" charset="-122"/>
                <a:cs typeface="BIZ UDPGothic" pitchFamily="34" charset="-120"/>
              </a:rPr>
              <a:t>同じルールで全員が負担し、本当に必要な人に給付が届く。</a:t>
            </a:r>
            <a:endParaRPr lang="en-US" sz="1050" dirty="0"/>
          </a:p>
        </p:txBody>
      </p:sp>
      <p:sp>
        <p:nvSpPr>
          <p:cNvPr id="13" name="Shape 11"/>
          <p:cNvSpPr/>
          <p:nvPr/>
        </p:nvSpPr>
        <p:spPr>
          <a:xfrm>
            <a:off x="457200" y="3337560"/>
            <a:ext cx="4114800" cy="1783080"/>
          </a:xfrm>
          <a:prstGeom prst="roundRect">
            <a:avLst>
              <a:gd name="adj" fmla="val 5128"/>
            </a:avLst>
          </a:prstGeom>
          <a:solidFill>
            <a:srgbClr val="FFFFFF"/>
          </a:solidFill>
          <a:ln/>
          <a:effectLst>
            <a:outerShdw sx="100000" sy="100000" kx="0" ky="0" algn="bl" rotWithShape="0" blurRad="127000" dist="38100" dir="2700000">
              <a:srgbClr val="000000">
                <a:alpha val="35000"/>
              </a:srgbClr>
            </a:outerShdw>
          </a:effectLst>
        </p:spPr>
      </p:sp>
      <p:sp>
        <p:nvSpPr>
          <p:cNvPr id="14" name="Text 12"/>
          <p:cNvSpPr/>
          <p:nvPr/>
        </p:nvSpPr>
        <p:spPr>
          <a:xfrm>
            <a:off x="640080" y="3465576"/>
            <a:ext cx="594360" cy="475488"/>
          </a:xfrm>
          <a:prstGeom prst="rect">
            <a:avLst/>
          </a:prstGeom>
          <a:noFill/>
          <a:ln/>
        </p:spPr>
        <p:txBody>
          <a:bodyPr wrap="square" rtlCol="0" anchor="ctr"/>
          <a:lstStyle/>
          <a:p>
            <a:pPr indent="0" marL="0">
              <a:buNone/>
            </a:pPr>
            <a:r>
              <a:rPr lang="en-US" sz="2600" b="1" dirty="0">
                <a:solidFill>
                  <a:srgbClr val="C8161D"/>
                </a:solidFill>
                <a:latin typeface="Arial" pitchFamily="34" charset="0"/>
                <a:ea typeface="BIZ UDPGothic" pitchFamily="34" charset="-122"/>
                <a:cs typeface="BIZ UDPGothic" pitchFamily="34" charset="-120"/>
              </a:rPr>
              <a:t>03</a:t>
            </a:r>
            <a:endParaRPr lang="en-US" sz="2600" dirty="0"/>
          </a:p>
        </p:txBody>
      </p:sp>
      <p:sp>
        <p:nvSpPr>
          <p:cNvPr id="15" name="Text 13"/>
          <p:cNvSpPr/>
          <p:nvPr/>
        </p:nvSpPr>
        <p:spPr>
          <a:xfrm>
            <a:off x="640080" y="3886200"/>
            <a:ext cx="3749040" cy="658368"/>
          </a:xfrm>
          <a:prstGeom prst="rect">
            <a:avLst/>
          </a:prstGeom>
          <a:noFill/>
          <a:ln/>
        </p:spPr>
        <p:txBody>
          <a:bodyPr wrap="square" rtlCol="0" anchor="ctr"/>
          <a:lstStyle/>
          <a:p>
            <a:pPr indent="0" marL="0">
              <a:lnSpc>
                <a:spcPct val="120000"/>
              </a:lnSpc>
              <a:buNone/>
            </a:pPr>
            <a:r>
              <a:rPr lang="en-US" sz="1600" b="1" dirty="0">
                <a:solidFill>
                  <a:srgbClr val="16181D"/>
                </a:solidFill>
                <a:latin typeface="Arial" pitchFamily="34" charset="0"/>
                <a:ea typeface="BIZ UDPGothic" pitchFamily="34" charset="-122"/>
                <a:cs typeface="BIZ UDPGothic" pitchFamily="34" charset="-120"/>
              </a:rPr>
              <a:t>市場に任せ</a:t>
            </a:r>
            <a:endParaRPr lang="en-US" sz="1600" dirty="0"/>
          </a:p>
          <a:p>
            <a:pPr indent="0" marL="0">
              <a:lnSpc>
                <a:spcPct val="120000"/>
              </a:lnSpc>
              <a:buNone/>
            </a:pPr>
            <a:r>
              <a:rPr lang="en-US" sz="1600" b="1" dirty="0">
                <a:solidFill>
                  <a:srgbClr val="16181D"/>
                </a:solidFill>
                <a:latin typeface="Arial" pitchFamily="34" charset="0"/>
                <a:ea typeface="BIZ UDPGothic" pitchFamily="34" charset="-122"/>
                <a:cs typeface="BIZ UDPGothic" pitchFamily="34" charset="-120"/>
              </a:rPr>
              <a:t>出口だけ政治がやる</a:t>
            </a:r>
            <a:endParaRPr lang="en-US" sz="1600" dirty="0"/>
          </a:p>
        </p:txBody>
      </p:sp>
      <p:sp>
        <p:nvSpPr>
          <p:cNvPr id="16" name="Text 14"/>
          <p:cNvSpPr/>
          <p:nvPr/>
        </p:nvSpPr>
        <p:spPr>
          <a:xfrm>
            <a:off x="640080" y="4599432"/>
            <a:ext cx="3749040" cy="438912"/>
          </a:xfrm>
          <a:prstGeom prst="rect">
            <a:avLst/>
          </a:prstGeom>
          <a:noFill/>
          <a:ln/>
        </p:spPr>
        <p:txBody>
          <a:bodyPr wrap="square" rtlCol="0" anchor="ctr"/>
          <a:lstStyle/>
          <a:p>
            <a:pPr indent="0" marL="0">
              <a:lnSpc>
                <a:spcPct val="130000"/>
              </a:lnSpc>
              <a:buNone/>
            </a:pPr>
            <a:r>
              <a:rPr lang="en-US" sz="1050" dirty="0">
                <a:solidFill>
                  <a:srgbClr val="4B515C"/>
                </a:solidFill>
                <a:latin typeface="Arial" pitchFamily="34" charset="0"/>
                <a:ea typeface="BIZ UDPGothic" pitchFamily="34" charset="-122"/>
                <a:cs typeface="BIZ UDPGothic" pitchFamily="34" charset="-120"/>
              </a:rPr>
              <a:t>企業の生死は市場が決める。政治は安全網の設計だけを担う。</a:t>
            </a:r>
            <a:endParaRPr lang="en-US" sz="1050" dirty="0"/>
          </a:p>
        </p:txBody>
      </p:sp>
      <p:sp>
        <p:nvSpPr>
          <p:cNvPr id="17" name="Shape 15"/>
          <p:cNvSpPr/>
          <p:nvPr/>
        </p:nvSpPr>
        <p:spPr>
          <a:xfrm>
            <a:off x="4754880" y="3337560"/>
            <a:ext cx="4114800" cy="1783080"/>
          </a:xfrm>
          <a:prstGeom prst="roundRect">
            <a:avLst>
              <a:gd name="adj" fmla="val 5128"/>
            </a:avLst>
          </a:prstGeom>
          <a:solidFill>
            <a:srgbClr val="FFFFFF"/>
          </a:solidFill>
          <a:ln/>
          <a:effectLst>
            <a:outerShdw sx="100000" sy="100000" kx="0" ky="0" algn="bl" rotWithShape="0" blurRad="127000" dist="38100" dir="2700000">
              <a:srgbClr val="000000">
                <a:alpha val="35000"/>
              </a:srgbClr>
            </a:outerShdw>
          </a:effectLst>
        </p:spPr>
      </p:sp>
      <p:sp>
        <p:nvSpPr>
          <p:cNvPr id="18" name="Text 16"/>
          <p:cNvSpPr/>
          <p:nvPr/>
        </p:nvSpPr>
        <p:spPr>
          <a:xfrm>
            <a:off x="4937760" y="3465576"/>
            <a:ext cx="594360" cy="475488"/>
          </a:xfrm>
          <a:prstGeom prst="rect">
            <a:avLst/>
          </a:prstGeom>
          <a:noFill/>
          <a:ln/>
        </p:spPr>
        <p:txBody>
          <a:bodyPr wrap="square" rtlCol="0" anchor="ctr"/>
          <a:lstStyle/>
          <a:p>
            <a:pPr indent="0" marL="0">
              <a:buNone/>
            </a:pPr>
            <a:r>
              <a:rPr lang="en-US" sz="2600" b="1" dirty="0">
                <a:solidFill>
                  <a:srgbClr val="C8161D"/>
                </a:solidFill>
                <a:latin typeface="Arial" pitchFamily="34" charset="0"/>
                <a:ea typeface="BIZ UDPGothic" pitchFamily="34" charset="-122"/>
                <a:cs typeface="BIZ UDPGothic" pitchFamily="34" charset="-120"/>
              </a:rPr>
              <a:t>04</a:t>
            </a:r>
            <a:endParaRPr lang="en-US" sz="2600" dirty="0"/>
          </a:p>
        </p:txBody>
      </p:sp>
      <p:sp>
        <p:nvSpPr>
          <p:cNvPr id="19" name="Text 17"/>
          <p:cNvSpPr/>
          <p:nvPr/>
        </p:nvSpPr>
        <p:spPr>
          <a:xfrm>
            <a:off x="4937760" y="3886200"/>
            <a:ext cx="3749040" cy="658368"/>
          </a:xfrm>
          <a:prstGeom prst="rect">
            <a:avLst/>
          </a:prstGeom>
          <a:noFill/>
          <a:ln/>
        </p:spPr>
        <p:txBody>
          <a:bodyPr wrap="square" rtlCol="0" anchor="ctr"/>
          <a:lstStyle/>
          <a:p>
            <a:pPr indent="0" marL="0">
              <a:lnSpc>
                <a:spcPct val="120000"/>
              </a:lnSpc>
              <a:buNone/>
            </a:pPr>
            <a:r>
              <a:rPr lang="en-US" sz="1600" b="1" dirty="0">
                <a:solidFill>
                  <a:srgbClr val="16181D"/>
                </a:solidFill>
                <a:latin typeface="Arial" pitchFamily="34" charset="0"/>
                <a:ea typeface="BIZ UDPGothic" pitchFamily="34" charset="-122"/>
                <a:cs typeface="BIZ UDPGothic" pitchFamily="34" charset="-120"/>
              </a:rPr>
              <a:t>税制が</a:t>
            </a:r>
            <a:endParaRPr lang="en-US" sz="1600" dirty="0"/>
          </a:p>
          <a:p>
            <a:pPr indent="0" marL="0">
              <a:lnSpc>
                <a:spcPct val="120000"/>
              </a:lnSpc>
              <a:buNone/>
            </a:pPr>
            <a:r>
              <a:rPr lang="en-US" sz="1600" b="1" dirty="0">
                <a:solidFill>
                  <a:srgbClr val="16181D"/>
                </a:solidFill>
                <a:latin typeface="Arial" pitchFamily="34" charset="0"/>
                <a:ea typeface="BIZ UDPGothic" pitchFamily="34" charset="-122"/>
                <a:cs typeface="BIZ UDPGothic" pitchFamily="34" charset="-120"/>
              </a:rPr>
              <a:t>社会を設計する</a:t>
            </a:r>
            <a:endParaRPr lang="en-US" sz="1600" dirty="0"/>
          </a:p>
        </p:txBody>
      </p:sp>
      <p:sp>
        <p:nvSpPr>
          <p:cNvPr id="20" name="Text 18"/>
          <p:cNvSpPr/>
          <p:nvPr/>
        </p:nvSpPr>
        <p:spPr>
          <a:xfrm>
            <a:off x="4937760" y="4599432"/>
            <a:ext cx="3749040" cy="438912"/>
          </a:xfrm>
          <a:prstGeom prst="rect">
            <a:avLst/>
          </a:prstGeom>
          <a:noFill/>
          <a:ln/>
        </p:spPr>
        <p:txBody>
          <a:bodyPr wrap="square" rtlCol="0" anchor="ctr"/>
          <a:lstStyle/>
          <a:p>
            <a:pPr indent="0" marL="0">
              <a:lnSpc>
                <a:spcPct val="130000"/>
              </a:lnSpc>
              <a:buNone/>
            </a:pPr>
            <a:r>
              <a:rPr lang="en-US" sz="1050" dirty="0">
                <a:solidFill>
                  <a:srgbClr val="4B515C"/>
                </a:solidFill>
                <a:latin typeface="Arial" pitchFamily="34" charset="0"/>
                <a:ea typeface="BIZ UDPGothic" pitchFamily="34" charset="-122"/>
                <a:cs typeface="BIZ UDPGothic" pitchFamily="34" charset="-120"/>
              </a:rPr>
              <a:t>税の仕組みそのものが、人々の行動のインセンティブを決める。</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548640"/>
            <a:ext cx="8229600" cy="1737360"/>
          </a:xfrm>
          <a:prstGeom prst="rect">
            <a:avLst/>
          </a:prstGeom>
          <a:noFill/>
          <a:ln/>
        </p:spPr>
        <p:txBody>
          <a:bodyPr wrap="square" rtlCol="0" anchor="ctr"/>
          <a:lstStyle/>
          <a:p>
            <a:pPr indent="0" marL="0">
              <a:lnSpc>
                <a:spcPct val="115000"/>
              </a:lnSpc>
              <a:buNone/>
            </a:pPr>
            <a:r>
              <a:rPr lang="en-US" sz="4000" b="1" dirty="0">
                <a:solidFill>
                  <a:srgbClr val="16181D"/>
                </a:solidFill>
                <a:latin typeface="Arial" pitchFamily="34" charset="0"/>
                <a:ea typeface="BIZ UDPGothic" pitchFamily="34" charset="-122"/>
                <a:cs typeface="BIZ UDPGothic" pitchFamily="34" charset="-120"/>
              </a:rPr>
              <a:t>このプランについて</a:t>
            </a:r>
            <a:endParaRPr lang="en-US" sz="4000" dirty="0"/>
          </a:p>
          <a:p>
            <a:pPr indent="0" marL="0">
              <a:lnSpc>
                <a:spcPct val="115000"/>
              </a:lnSpc>
              <a:buNone/>
            </a:pPr>
            <a:r>
              <a:rPr lang="en-US" sz="4000" b="1" dirty="0">
                <a:solidFill>
                  <a:srgbClr val="16181D"/>
                </a:solidFill>
                <a:latin typeface="Arial" pitchFamily="34" charset="0"/>
                <a:ea typeface="BIZ UDPGothic" pitchFamily="34" charset="-122"/>
                <a:cs typeface="BIZ UDPGothic" pitchFamily="34" charset="-120"/>
              </a:rPr>
              <a:t>どう思いますか？</a:t>
            </a:r>
            <a:endParaRPr lang="en-US" sz="4000" dirty="0"/>
          </a:p>
        </p:txBody>
      </p:sp>
      <p:sp>
        <p:nvSpPr>
          <p:cNvPr id="3" name="Shape 1"/>
          <p:cNvSpPr/>
          <p:nvPr/>
        </p:nvSpPr>
        <p:spPr>
          <a:xfrm>
            <a:off x="457200" y="2395728"/>
            <a:ext cx="8229600" cy="22860"/>
          </a:xfrm>
          <a:prstGeom prst="rect">
            <a:avLst/>
          </a:prstGeom>
          <a:solidFill>
            <a:srgbClr val="DDE0E6"/>
          </a:solidFill>
          <a:ln/>
        </p:spPr>
      </p:sp>
      <p:sp>
        <p:nvSpPr>
          <p:cNvPr id="4" name="Text 2"/>
          <p:cNvSpPr/>
          <p:nvPr/>
        </p:nvSpPr>
        <p:spPr>
          <a:xfrm>
            <a:off x="457200" y="2514600"/>
            <a:ext cx="8229600" cy="685800"/>
          </a:xfrm>
          <a:prstGeom prst="rect">
            <a:avLst/>
          </a:prstGeom>
          <a:noFill/>
          <a:ln/>
        </p:spPr>
        <p:txBody>
          <a:bodyPr wrap="square" rtlCol="0" anchor="ctr"/>
          <a:lstStyle/>
          <a:p>
            <a:pPr indent="0" marL="0">
              <a:lnSpc>
                <a:spcPct val="150000"/>
              </a:lnSpc>
              <a:buNone/>
            </a:pPr>
            <a:r>
              <a:rPr lang="en-US" sz="1400" dirty="0">
                <a:solidFill>
                  <a:srgbClr val="4B515C"/>
                </a:solidFill>
                <a:latin typeface="Arial" pitchFamily="34" charset="0"/>
                <a:ea typeface="BIZ UDPGothic" pitchFamily="34" charset="-122"/>
                <a:cs typeface="BIZ UDPGothic" pitchFamily="34" charset="-120"/>
              </a:rPr>
              <a:t>REBOOT JAPANは、市民が政策を議論するプラットフォームです。</a:t>
            </a:r>
            <a:endParaRPr lang="en-US" sz="1400" dirty="0"/>
          </a:p>
          <a:p>
            <a:pPr indent="0" marL="0">
              <a:lnSpc>
                <a:spcPct val="150000"/>
              </a:lnSpc>
              <a:buNone/>
            </a:pPr>
            <a:r>
              <a:rPr lang="en-US" sz="1400" dirty="0">
                <a:solidFill>
                  <a:srgbClr val="4B515C"/>
                </a:solidFill>
                <a:latin typeface="Arial" pitchFamily="34" charset="0"/>
                <a:ea typeface="BIZ UDPGothic" pitchFamily="34" charset="-122"/>
                <a:cs typeface="BIZ UDPGothic" pitchFamily="34" charset="-120"/>
              </a:rPr>
              <a:t>あなたの意見・反論・改善案をお待ちしています。</a:t>
            </a:r>
            <a:endParaRPr lang="en-US" sz="1400" dirty="0"/>
          </a:p>
        </p:txBody>
      </p:sp>
      <p:sp>
        <p:nvSpPr>
          <p:cNvPr id="5" name="Shape 3"/>
          <p:cNvSpPr/>
          <p:nvPr/>
        </p:nvSpPr>
        <p:spPr>
          <a:xfrm>
            <a:off x="457200" y="3291840"/>
            <a:ext cx="2715768" cy="1508760"/>
          </a:xfrm>
          <a:prstGeom prst="roundRect">
            <a:avLst>
              <a:gd name="adj" fmla="val 6061"/>
            </a:avLst>
          </a:prstGeom>
          <a:solidFill>
            <a:srgbClr val="FFFFFF"/>
          </a:solidFill>
          <a:ln/>
          <a:effectLst>
            <a:outerShdw sx="100000" sy="100000" kx="0" ky="0" algn="bl" rotWithShape="0" blurRad="127000" dist="38100" dir="2700000">
              <a:srgbClr val="000000">
                <a:alpha val="35000"/>
              </a:srgbClr>
            </a:outerShdw>
          </a:effectLst>
        </p:spPr>
      </p:sp>
      <p:sp>
        <p:nvSpPr>
          <p:cNvPr id="6" name="Text 4"/>
          <p:cNvSpPr/>
          <p:nvPr/>
        </p:nvSpPr>
        <p:spPr>
          <a:xfrm>
            <a:off x="621792" y="3410712"/>
            <a:ext cx="2395728" cy="384048"/>
          </a:xfrm>
          <a:prstGeom prst="rect">
            <a:avLst/>
          </a:prstGeom>
          <a:noFill/>
          <a:ln/>
        </p:spPr>
        <p:txBody>
          <a:bodyPr wrap="square" rtlCol="0" anchor="ctr"/>
          <a:lstStyle/>
          <a:p>
            <a:pPr indent="0" marL="0">
              <a:buNone/>
            </a:pPr>
            <a:r>
              <a:rPr lang="en-US" sz="1300" b="1" dirty="0">
                <a:solidFill>
                  <a:srgbClr val="16181D"/>
                </a:solidFill>
                <a:latin typeface="Arial" pitchFamily="34" charset="0"/>
                <a:ea typeface="BIZ UDPGothic" pitchFamily="34" charset="-122"/>
                <a:cs typeface="BIZ UDPGothic" pitchFamily="34" charset="-120"/>
              </a:rPr>
              <a:t>💬 コメントする</a:t>
            </a:r>
            <a:endParaRPr lang="en-US" sz="1300" dirty="0"/>
          </a:p>
        </p:txBody>
      </p:sp>
      <p:sp>
        <p:nvSpPr>
          <p:cNvPr id="7" name="Text 5"/>
          <p:cNvSpPr/>
          <p:nvPr/>
        </p:nvSpPr>
        <p:spPr>
          <a:xfrm>
            <a:off x="621792" y="3840480"/>
            <a:ext cx="2395728" cy="822960"/>
          </a:xfrm>
          <a:prstGeom prst="rect">
            <a:avLst/>
          </a:prstGeom>
          <a:noFill/>
          <a:ln/>
        </p:spPr>
        <p:txBody>
          <a:bodyPr wrap="square" rtlCol="0" anchor="ctr"/>
          <a:lstStyle/>
          <a:p>
            <a:pPr indent="0" marL="0">
              <a:lnSpc>
                <a:spcPct val="130000"/>
              </a:lnSpc>
              <a:buNone/>
            </a:pPr>
            <a:r>
              <a:rPr lang="en-US" sz="1050" dirty="0">
                <a:solidFill>
                  <a:srgbClr val="4B515C"/>
                </a:solidFill>
                <a:latin typeface="Arial" pitchFamily="34" charset="0"/>
                <a:ea typeface="BIZ UDPGothic" pitchFamily="34" charset="-122"/>
                <a:cs typeface="BIZ UDPGothic" pitchFamily="34" charset="-120"/>
              </a:rPr>
              <a:t>サイト右上のボタンから</a:t>
            </a:r>
            <a:endParaRPr lang="en-US" sz="1050" dirty="0"/>
          </a:p>
          <a:p>
            <a:pPr indent="0" marL="0">
              <a:lnSpc>
                <a:spcPct val="130000"/>
              </a:lnSpc>
              <a:buNone/>
            </a:pPr>
            <a:r>
              <a:rPr lang="en-US" sz="1050" dirty="0">
                <a:solidFill>
                  <a:srgbClr val="4B515C"/>
                </a:solidFill>
                <a:latin typeface="Arial" pitchFamily="34" charset="0"/>
                <a:ea typeface="BIZ UDPGothic" pitchFamily="34" charset="-122"/>
                <a:cs typeface="BIZ UDPGothic" pitchFamily="34" charset="-120"/>
              </a:rPr>
              <a:t>この提言への意見を投稿</a:t>
            </a:r>
            <a:endParaRPr lang="en-US" sz="1050" dirty="0"/>
          </a:p>
        </p:txBody>
      </p:sp>
      <p:sp>
        <p:nvSpPr>
          <p:cNvPr id="8" name="Shape 6"/>
          <p:cNvSpPr/>
          <p:nvPr/>
        </p:nvSpPr>
        <p:spPr>
          <a:xfrm>
            <a:off x="3355848" y="3291840"/>
            <a:ext cx="2715768" cy="1508760"/>
          </a:xfrm>
          <a:prstGeom prst="roundRect">
            <a:avLst>
              <a:gd name="adj" fmla="val 6061"/>
            </a:avLst>
          </a:prstGeom>
          <a:solidFill>
            <a:srgbClr val="C8161D"/>
          </a:solidFill>
          <a:ln/>
          <a:effectLst>
            <a:outerShdw sx="100000" sy="100000" kx="0" ky="0" algn="bl" rotWithShape="0" blurRad="127000" dist="38100" dir="2700000">
              <a:srgbClr val="000000">
                <a:alpha val="35000"/>
              </a:srgbClr>
            </a:outerShdw>
          </a:effectLst>
        </p:spPr>
      </p:sp>
      <p:sp>
        <p:nvSpPr>
          <p:cNvPr id="9" name="Text 7"/>
          <p:cNvSpPr/>
          <p:nvPr/>
        </p:nvSpPr>
        <p:spPr>
          <a:xfrm>
            <a:off x="3520440" y="3410712"/>
            <a:ext cx="2395728" cy="384048"/>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BIZ UDPGothic" pitchFamily="34" charset="-122"/>
                <a:cs typeface="BIZ UDPGothic" pitchFamily="34" charset="-120"/>
              </a:rPr>
              <a:t>📩 提言を投稿する</a:t>
            </a:r>
            <a:endParaRPr lang="en-US" sz="1300" dirty="0"/>
          </a:p>
        </p:txBody>
      </p:sp>
      <p:sp>
        <p:nvSpPr>
          <p:cNvPr id="10" name="Text 8"/>
          <p:cNvSpPr/>
          <p:nvPr/>
        </p:nvSpPr>
        <p:spPr>
          <a:xfrm>
            <a:off x="3520440" y="3840480"/>
            <a:ext cx="2395728" cy="822960"/>
          </a:xfrm>
          <a:prstGeom prst="rect">
            <a:avLst/>
          </a:prstGeom>
          <a:noFill/>
          <a:ln/>
        </p:spPr>
        <p:txBody>
          <a:bodyPr wrap="square" rtlCol="0" anchor="ctr"/>
          <a:lstStyle/>
          <a:p>
            <a:pPr indent="0" marL="0">
              <a:lnSpc>
                <a:spcPct val="130000"/>
              </a:lnSpc>
              <a:buNone/>
            </a:pPr>
            <a:r>
              <a:rPr lang="en-US" sz="1050" dirty="0">
                <a:solidFill>
                  <a:srgbClr val="FFFFFF"/>
                </a:solidFill>
                <a:latin typeface="Arial" pitchFamily="34" charset="0"/>
                <a:ea typeface="BIZ UDPGothic" pitchFamily="34" charset="-122"/>
                <a:cs typeface="BIZ UDPGothic" pitchFamily="34" charset="-120"/>
              </a:rPr>
              <a:t>あなた自身の政策提言を</a:t>
            </a:r>
            <a:endParaRPr lang="en-US" sz="1050" dirty="0"/>
          </a:p>
          <a:p>
            <a:pPr indent="0" marL="0">
              <a:lnSpc>
                <a:spcPct val="130000"/>
              </a:lnSpc>
              <a:buNone/>
            </a:pPr>
            <a:r>
              <a:rPr lang="en-US" sz="1050" dirty="0">
                <a:solidFill>
                  <a:srgbClr val="FFFFFF"/>
                </a:solidFill>
                <a:latin typeface="Arial" pitchFamily="34" charset="0"/>
                <a:ea typeface="BIZ UDPGothic" pitchFamily="34" charset="-122"/>
                <a:cs typeface="BIZ UDPGothic" pitchFamily="34" charset="-120"/>
              </a:rPr>
              <a:t>Googleフォームで送る</a:t>
            </a:r>
            <a:endParaRPr lang="en-US" sz="1050" dirty="0"/>
          </a:p>
        </p:txBody>
      </p:sp>
      <p:sp>
        <p:nvSpPr>
          <p:cNvPr id="11" name="Shape 9"/>
          <p:cNvSpPr/>
          <p:nvPr/>
        </p:nvSpPr>
        <p:spPr>
          <a:xfrm>
            <a:off x="6254496" y="3291840"/>
            <a:ext cx="2715768" cy="1508760"/>
          </a:xfrm>
          <a:prstGeom prst="roundRect">
            <a:avLst>
              <a:gd name="adj" fmla="val 6061"/>
            </a:avLst>
          </a:prstGeom>
          <a:solidFill>
            <a:srgbClr val="FFFFFF"/>
          </a:solidFill>
          <a:ln/>
          <a:effectLst>
            <a:outerShdw sx="100000" sy="100000" kx="0" ky="0" algn="bl" rotWithShape="0" blurRad="127000" dist="38100" dir="2700000">
              <a:srgbClr val="000000">
                <a:alpha val="35000"/>
              </a:srgbClr>
            </a:outerShdw>
          </a:effectLst>
        </p:spPr>
      </p:sp>
      <p:sp>
        <p:nvSpPr>
          <p:cNvPr id="12" name="Text 10"/>
          <p:cNvSpPr/>
          <p:nvPr/>
        </p:nvSpPr>
        <p:spPr>
          <a:xfrm>
            <a:off x="6419088" y="3410712"/>
            <a:ext cx="2395728" cy="384048"/>
          </a:xfrm>
          <a:prstGeom prst="rect">
            <a:avLst/>
          </a:prstGeom>
          <a:noFill/>
          <a:ln/>
        </p:spPr>
        <p:txBody>
          <a:bodyPr wrap="square" rtlCol="0" anchor="ctr"/>
          <a:lstStyle/>
          <a:p>
            <a:pPr indent="0" marL="0">
              <a:buNone/>
            </a:pPr>
            <a:r>
              <a:rPr lang="en-US" sz="1300" b="1" dirty="0">
                <a:solidFill>
                  <a:srgbClr val="16181D"/>
                </a:solidFill>
                <a:latin typeface="Arial" pitchFamily="34" charset="0"/>
                <a:ea typeface="BIZ UDPGothic" pitchFamily="34" charset="-122"/>
                <a:cs typeface="BIZ UDPGothic" pitchFamily="34" charset="-120"/>
              </a:rPr>
              <a:t>🔗 シェアする</a:t>
            </a:r>
            <a:endParaRPr lang="en-US" sz="1300" dirty="0"/>
          </a:p>
        </p:txBody>
      </p:sp>
      <p:sp>
        <p:nvSpPr>
          <p:cNvPr id="13" name="Text 11"/>
          <p:cNvSpPr/>
          <p:nvPr/>
        </p:nvSpPr>
        <p:spPr>
          <a:xfrm>
            <a:off x="6419088" y="3840480"/>
            <a:ext cx="2395728" cy="822960"/>
          </a:xfrm>
          <a:prstGeom prst="rect">
            <a:avLst/>
          </a:prstGeom>
          <a:noFill/>
          <a:ln/>
        </p:spPr>
        <p:txBody>
          <a:bodyPr wrap="square" rtlCol="0" anchor="ctr"/>
          <a:lstStyle/>
          <a:p>
            <a:pPr indent="0" marL="0">
              <a:lnSpc>
                <a:spcPct val="130000"/>
              </a:lnSpc>
              <a:buNone/>
            </a:pPr>
            <a:r>
              <a:rPr lang="en-US" sz="1050" dirty="0">
                <a:solidFill>
                  <a:srgbClr val="4B515C"/>
                </a:solidFill>
                <a:latin typeface="Arial" pitchFamily="34" charset="0"/>
                <a:ea typeface="BIZ UDPGothic" pitchFamily="34" charset="-122"/>
                <a:cs typeface="BIZ UDPGothic" pitchFamily="34" charset="-120"/>
              </a:rPr>
              <a:t>このプランをSNSや</a:t>
            </a:r>
            <a:endParaRPr lang="en-US" sz="1050" dirty="0"/>
          </a:p>
          <a:p>
            <a:pPr indent="0" marL="0">
              <a:lnSpc>
                <a:spcPct val="130000"/>
              </a:lnSpc>
              <a:buNone/>
            </a:pPr>
            <a:r>
              <a:rPr lang="en-US" sz="1050" dirty="0">
                <a:solidFill>
                  <a:srgbClr val="4B515C"/>
                </a:solidFill>
                <a:latin typeface="Arial" pitchFamily="34" charset="0"/>
                <a:ea typeface="BIZ UDPGothic" pitchFamily="34" charset="-122"/>
                <a:cs typeface="BIZ UDPGothic" pitchFamily="34" charset="-120"/>
              </a:rPr>
              <a:t>友人・知人にシェア</a:t>
            </a:r>
            <a:endParaRPr lang="en-US" sz="1050" dirty="0"/>
          </a:p>
        </p:txBody>
      </p:sp>
      <p:sp>
        <p:nvSpPr>
          <p:cNvPr id="14" name="Text 12"/>
          <p:cNvSpPr/>
          <p:nvPr/>
        </p:nvSpPr>
        <p:spPr>
          <a:xfrm>
            <a:off x="457200" y="4892040"/>
            <a:ext cx="8229600" cy="228600"/>
          </a:xfrm>
          <a:prstGeom prst="rect">
            <a:avLst/>
          </a:prstGeom>
          <a:noFill/>
          <a:ln/>
        </p:spPr>
        <p:txBody>
          <a:bodyPr wrap="square" rtlCol="0" anchor="ctr"/>
          <a:lstStyle/>
          <a:p>
            <a:pPr algn="ctr" indent="0" marL="0">
              <a:buNone/>
            </a:pPr>
            <a:r>
              <a:rPr lang="en-US" sz="1000" dirty="0">
                <a:solidFill>
                  <a:srgbClr val="9AA0AA"/>
                </a:solidFill>
                <a:latin typeface="Arial" pitchFamily="34" charset="0"/>
                <a:ea typeface="BIZ UDPGothic" pitchFamily="34" charset="-122"/>
                <a:cs typeface="BIZ UDPGothic" pitchFamily="34" charset="-120"/>
              </a:rPr>
              <a:t>penny-wise-rgb.github.io/reboot-japan</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提言001：日本再起動プラン（わかりやすい版）</dc:title>
  <dc:subject>PptxGenJS Presentation</dc:subject>
  <dc:creator>PptxGenJS</dc:creator>
  <cp:lastModifiedBy>PptxGenJS</cp:lastModifiedBy>
  <cp:revision>1</cp:revision>
  <dcterms:created xsi:type="dcterms:W3CDTF">2026-06-18T11:45:46Z</dcterms:created>
  <dcterms:modified xsi:type="dcterms:W3CDTF">2026-06-18T11:45:46Z</dcterms:modified>
</cp:coreProperties>
</file>