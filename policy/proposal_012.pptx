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1371600"/>
            <a:ext cx="7863840" cy="365760"/>
          </a:xfrm>
          <a:prstGeom prst="rect">
            <a:avLst/>
          </a:prstGeom>
          <a:noFill/>
          <a:ln/>
        </p:spPr>
        <p:txBody>
          <a:bodyPr wrap="square" lIns="0" tIns="0" rIns="0" bIns="0" rtlCol="0" anchor="ctr"/>
          <a:lstStyle/>
          <a:p>
            <a:pPr indent="0" marL="0">
              <a:buNone/>
            </a:pPr>
            <a:r>
              <a:rPr lang="en-US" sz="1300" b="1" spc="200" kern="0" dirty="0">
                <a:solidFill>
                  <a:srgbClr val="C8161D"/>
                </a:solidFill>
                <a:latin typeface="BIZ UDPGothic" pitchFamily="34" charset="0"/>
                <a:ea typeface="BIZ UDPGothic" pitchFamily="34" charset="-122"/>
                <a:cs typeface="BIZ UDPGothic" pitchFamily="34" charset="-120"/>
              </a:rPr>
              <a:t>政策提言プラットフォーム ── 提言012</a:t>
            </a:r>
            <a:endParaRPr lang="en-US" sz="1300" dirty="0"/>
          </a:p>
        </p:txBody>
      </p:sp>
      <p:sp>
        <p:nvSpPr>
          <p:cNvPr id="3" name="Text 1"/>
          <p:cNvSpPr/>
          <p:nvPr/>
        </p:nvSpPr>
        <p:spPr>
          <a:xfrm>
            <a:off x="640080" y="1783080"/>
            <a:ext cx="7863840" cy="1554480"/>
          </a:xfrm>
          <a:prstGeom prst="rect">
            <a:avLst/>
          </a:prstGeom>
          <a:noFill/>
          <a:ln/>
        </p:spPr>
        <p:txBody>
          <a:bodyPr wrap="square" lIns="0" tIns="0" rIns="0" bIns="0" rtlCol="0" anchor="ctr"/>
          <a:lstStyle/>
          <a:p>
            <a:pPr indent="0" marL="0">
              <a:lnSpc>
                <a:spcPct val="115000"/>
              </a:lnSpc>
              <a:buNone/>
            </a:pPr>
            <a:r>
              <a:rPr lang="en-US" sz="3200" b="1" dirty="0">
                <a:solidFill>
                  <a:srgbClr val="16181D"/>
                </a:solidFill>
                <a:latin typeface="BIZ UDPGothic" pitchFamily="34" charset="0"/>
                <a:ea typeface="BIZ UDPGothic" pitchFamily="34" charset="-122"/>
                <a:cs typeface="BIZ UDPGothic" pitchFamily="34" charset="-120"/>
              </a:rPr>
              <a:t>官公庁AI・DX特区による</a:t>
            </a:r>
            <a:endParaRPr lang="en-US" sz="3200" dirty="0"/>
          </a:p>
          <a:p>
            <a:pPr indent="0" marL="0">
              <a:lnSpc>
                <a:spcPct val="115000"/>
              </a:lnSpc>
              <a:buNone/>
            </a:pPr>
            <a:r>
              <a:rPr lang="en-US" sz="3200" b="1" dirty="0">
                <a:solidFill>
                  <a:srgbClr val="16181D"/>
                </a:solidFill>
                <a:latin typeface="BIZ UDPGothic" pitchFamily="34" charset="0"/>
                <a:ea typeface="BIZ UDPGothic" pitchFamily="34" charset="-122"/>
                <a:cs typeface="BIZ UDPGothic" pitchFamily="34" charset="-120"/>
              </a:rPr>
              <a:t>行政自動化と不正排除戦略</a:t>
            </a:r>
            <a:endParaRPr lang="en-US" sz="3200" dirty="0"/>
          </a:p>
        </p:txBody>
      </p:sp>
      <p:sp>
        <p:nvSpPr>
          <p:cNvPr id="4" name="Text 2"/>
          <p:cNvSpPr/>
          <p:nvPr/>
        </p:nvSpPr>
        <p:spPr>
          <a:xfrm>
            <a:off x="640080" y="3429000"/>
            <a:ext cx="7589520" cy="640080"/>
          </a:xfrm>
          <a:prstGeom prst="rect">
            <a:avLst/>
          </a:prstGeom>
          <a:noFill/>
          <a:ln/>
        </p:spPr>
        <p:txBody>
          <a:bodyPr wrap="square" lIns="0" tIns="0" rIns="0" bIns="0" rtlCol="0" anchor="ctr"/>
          <a:lstStyle/>
          <a:p>
            <a:pPr indent="0" marL="0">
              <a:buNone/>
            </a:pPr>
            <a:r>
              <a:rPr lang="en-US" sz="1250" dirty="0">
                <a:solidFill>
                  <a:srgbClr val="16181D">
                    <a:alpha val="85000"/>
                  </a:srgbClr>
                </a:solidFill>
                <a:latin typeface="BIZ UDPGothic" pitchFamily="34" charset="0"/>
                <a:ea typeface="BIZ UDPGothic" pitchFamily="34" charset="-122"/>
                <a:cs typeface="BIZ UDPGothic" pitchFamily="34" charset="-120"/>
              </a:rPr>
              <a:t>～マイナンバー基盤の徹底活用、公共工事の多重下請け撲滅、住民満足度向上による人口流入を断行せよ～</a:t>
            </a:r>
            <a:endParaRPr lang="en-US" sz="1250" dirty="0"/>
          </a:p>
        </p:txBody>
      </p:sp>
      <p:sp>
        <p:nvSpPr>
          <p:cNvPr id="5"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6"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PROBLEM</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なぜ今、この問題なのか？</a:t>
            </a:r>
            <a:endParaRPr lang="en-US" sz="2600" dirty="0"/>
          </a:p>
        </p:txBody>
      </p:sp>
      <p:sp>
        <p:nvSpPr>
          <p:cNvPr id="4" name="Text 2"/>
          <p:cNvSpPr/>
          <p:nvPr/>
        </p:nvSpPr>
        <p:spPr>
          <a:xfrm>
            <a:off x="548640" y="1234440"/>
            <a:ext cx="8046720" cy="365760"/>
          </a:xfrm>
          <a:prstGeom prst="rect">
            <a:avLst/>
          </a:prstGeom>
          <a:noFill/>
          <a:ln/>
        </p:spPr>
        <p:txBody>
          <a:bodyPr wrap="square" lIns="0" tIns="0" rIns="0" bIns="0" rtlCol="0" anchor="ctr"/>
          <a:lstStyle/>
          <a:p>
            <a:pPr indent="0" marL="0">
              <a:buNone/>
            </a:pPr>
            <a:r>
              <a:rPr lang="en-US" sz="1350" dirty="0">
                <a:solidFill>
                  <a:srgbClr val="16181D">
                    <a:alpha val="90000"/>
                  </a:srgbClr>
                </a:solidFill>
                <a:latin typeface="BIZ UDPGothic" pitchFamily="34" charset="0"/>
                <a:ea typeface="BIZ UDPGothic" pitchFamily="34" charset="-122"/>
                <a:cs typeface="BIZ UDPGothic" pitchFamily="34" charset="-120"/>
              </a:rPr>
              <a:t>行政DXは「形だけ」で止まっており、コスト削減にも不正の根絶にもつながっていない。</a:t>
            </a:r>
            <a:endParaRPr lang="en-US" sz="1350" dirty="0"/>
          </a:p>
        </p:txBody>
      </p:sp>
      <p:sp>
        <p:nvSpPr>
          <p:cNvPr id="5" name="Text 3"/>
          <p:cNvSpPr/>
          <p:nvPr/>
        </p:nvSpPr>
        <p:spPr>
          <a:xfrm>
            <a:off x="548640" y="169164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01</a:t>
            </a:r>
            <a:endParaRPr lang="en-US" sz="2600" dirty="0"/>
          </a:p>
        </p:txBody>
      </p:sp>
      <p:sp>
        <p:nvSpPr>
          <p:cNvPr id="6" name="Text 4"/>
          <p:cNvSpPr/>
          <p:nvPr/>
        </p:nvSpPr>
        <p:spPr>
          <a:xfrm>
            <a:off x="1371600" y="169164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「形だけのデジタル化」</a:t>
            </a:r>
            <a:endParaRPr lang="en-US" sz="1500" dirty="0"/>
          </a:p>
        </p:txBody>
      </p:sp>
      <p:sp>
        <p:nvSpPr>
          <p:cNvPr id="7" name="Text 5"/>
          <p:cNvSpPr/>
          <p:nvPr/>
        </p:nvSpPr>
        <p:spPr>
          <a:xfrm>
            <a:off x="1371600" y="203911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紙をPDFに変えるだけ、大手ITベンダーへの丸投げに終始し、行政コストが下がらない</a:t>
            </a:r>
            <a:endParaRPr lang="en-US" sz="1250" dirty="0"/>
          </a:p>
        </p:txBody>
      </p:sp>
      <p:sp>
        <p:nvSpPr>
          <p:cNvPr id="8" name="Text 6"/>
          <p:cNvSpPr/>
          <p:nvPr/>
        </p:nvSpPr>
        <p:spPr>
          <a:xfrm>
            <a:off x="548640" y="278892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02</a:t>
            </a:r>
            <a:endParaRPr lang="en-US" sz="2600" dirty="0"/>
          </a:p>
        </p:txBody>
      </p:sp>
      <p:sp>
        <p:nvSpPr>
          <p:cNvPr id="9" name="Text 7"/>
          <p:cNvSpPr/>
          <p:nvPr/>
        </p:nvSpPr>
        <p:spPr>
          <a:xfrm>
            <a:off x="1371600" y="278892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公共工事の多重下請け利権</a:t>
            </a:r>
            <a:endParaRPr lang="en-US" sz="1500" dirty="0"/>
          </a:p>
        </p:txBody>
      </p:sp>
      <p:sp>
        <p:nvSpPr>
          <p:cNvPr id="10" name="Text 8"/>
          <p:cNvSpPr/>
          <p:nvPr/>
        </p:nvSpPr>
        <p:spPr>
          <a:xfrm>
            <a:off x="1371600" y="313639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元請けから末端への中間搾取（ピンハネ）が構造化し、税金が現場に届いていない</a:t>
            </a:r>
            <a:endParaRPr lang="en-US" sz="1250" dirty="0"/>
          </a:p>
        </p:txBody>
      </p:sp>
      <p:sp>
        <p:nvSpPr>
          <p:cNvPr id="11" name="Text 9"/>
          <p:cNvSpPr/>
          <p:nvPr/>
        </p:nvSpPr>
        <p:spPr>
          <a:xfrm>
            <a:off x="548640" y="388620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03</a:t>
            </a:r>
            <a:endParaRPr lang="en-US" sz="2600" dirty="0"/>
          </a:p>
        </p:txBody>
      </p:sp>
      <p:sp>
        <p:nvSpPr>
          <p:cNvPr id="12" name="Text 10"/>
          <p:cNvSpPr/>
          <p:nvPr/>
        </p:nvSpPr>
        <p:spPr>
          <a:xfrm>
            <a:off x="1371600" y="388620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生活保護窓口の処理遅延</a:t>
            </a:r>
            <a:endParaRPr lang="en-US" sz="1500" dirty="0"/>
          </a:p>
        </p:txBody>
      </p:sp>
      <p:sp>
        <p:nvSpPr>
          <p:cNvPr id="13" name="Text 11"/>
          <p:cNvSpPr/>
          <p:nvPr/>
        </p:nvSpPr>
        <p:spPr>
          <a:xfrm>
            <a:off x="1371600" y="423367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水際作戦や審査の遅さが、本当に困っている住民を追い詰めている</a:t>
            </a:r>
            <a:endParaRPr lang="en-US" sz="125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OVERVIEW</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この提言の全体像：5つの柱</a:t>
            </a:r>
            <a:endParaRPr lang="en-US" sz="2500" dirty="0"/>
          </a:p>
        </p:txBody>
      </p:sp>
      <p:sp>
        <p:nvSpPr>
          <p:cNvPr id="4" name="Shape 2"/>
          <p:cNvSpPr/>
          <p:nvPr/>
        </p:nvSpPr>
        <p:spPr>
          <a:xfrm>
            <a:off x="548640" y="1600200"/>
            <a:ext cx="1771650" cy="292608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78308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37744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① オープンエントリー制</a:t>
            </a:r>
            <a:endParaRPr lang="en-US" sz="1250" dirty="0"/>
          </a:p>
        </p:txBody>
      </p:sp>
      <p:sp>
        <p:nvSpPr>
          <p:cNvPr id="7" name="Text 5"/>
          <p:cNvSpPr/>
          <p:nvPr/>
        </p:nvSpPr>
        <p:spPr>
          <a:xfrm>
            <a:off x="749808" y="3017520"/>
            <a:ext cx="1369314" cy="132588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客観的基準で即日認定される特区選定</a:t>
            </a:r>
            <a:endParaRPr lang="en-US" sz="1050" dirty="0"/>
          </a:p>
        </p:txBody>
      </p:sp>
      <p:sp>
        <p:nvSpPr>
          <p:cNvPr id="8" name="Shape 6"/>
          <p:cNvSpPr/>
          <p:nvPr/>
        </p:nvSpPr>
        <p:spPr>
          <a:xfrm>
            <a:off x="2640330" y="1600200"/>
            <a:ext cx="1771650" cy="292608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823210" y="178308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2841498" y="237744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② 4大自動化システム</a:t>
            </a:r>
            <a:endParaRPr lang="en-US" sz="1250" dirty="0"/>
          </a:p>
        </p:txBody>
      </p:sp>
      <p:sp>
        <p:nvSpPr>
          <p:cNvPr id="11" name="Text 9"/>
          <p:cNvSpPr/>
          <p:nvPr/>
        </p:nvSpPr>
        <p:spPr>
          <a:xfrm>
            <a:off x="2841498" y="3017520"/>
            <a:ext cx="1369314" cy="132588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公共工事・生活保護・都市計画・行政窓口</a:t>
            </a:r>
            <a:endParaRPr lang="en-US" sz="1050" dirty="0"/>
          </a:p>
        </p:txBody>
      </p:sp>
      <p:sp>
        <p:nvSpPr>
          <p:cNvPr id="12" name="Shape 10"/>
          <p:cNvSpPr/>
          <p:nvPr/>
        </p:nvSpPr>
        <p:spPr>
          <a:xfrm>
            <a:off x="4732020" y="1600200"/>
            <a:ext cx="1771650" cy="292608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914900" y="178308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4" name="Text 12"/>
          <p:cNvSpPr/>
          <p:nvPr/>
        </p:nvSpPr>
        <p:spPr>
          <a:xfrm>
            <a:off x="4933188" y="237744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③ 3大インセンティブ</a:t>
            </a:r>
            <a:endParaRPr lang="en-US" sz="1250" dirty="0"/>
          </a:p>
        </p:txBody>
      </p:sp>
      <p:sp>
        <p:nvSpPr>
          <p:cNvPr id="15" name="Text 13"/>
          <p:cNvSpPr/>
          <p:nvPr/>
        </p:nvSpPr>
        <p:spPr>
          <a:xfrm>
            <a:off x="4933188" y="3017520"/>
            <a:ext cx="1369314" cy="132588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コスト還流・減税自由化・雇用保証つき転換</a:t>
            </a:r>
            <a:endParaRPr lang="en-US" sz="1050" dirty="0"/>
          </a:p>
        </p:txBody>
      </p:sp>
      <p:sp>
        <p:nvSpPr>
          <p:cNvPr id="16" name="Shape 14"/>
          <p:cNvSpPr/>
          <p:nvPr/>
        </p:nvSpPr>
        <p:spPr>
          <a:xfrm>
            <a:off x="6823710" y="1600200"/>
            <a:ext cx="1771650" cy="292608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7006590" y="178308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8" name="Text 16"/>
          <p:cNvSpPr/>
          <p:nvPr/>
        </p:nvSpPr>
        <p:spPr>
          <a:xfrm>
            <a:off x="7024878" y="237744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④ ベンダー利権排除</a:t>
            </a:r>
            <a:endParaRPr lang="en-US" sz="1250" dirty="0"/>
          </a:p>
        </p:txBody>
      </p:sp>
      <p:sp>
        <p:nvSpPr>
          <p:cNvPr id="19" name="Text 17"/>
          <p:cNvSpPr/>
          <p:nvPr/>
        </p:nvSpPr>
        <p:spPr>
          <a:xfrm>
            <a:off x="7024878" y="3017520"/>
            <a:ext cx="1369314" cy="132588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ロックイン禁止・OSS化・原価公開</a:t>
            </a:r>
            <a:endParaRPr lang="en-US" sz="1050" dirty="0"/>
          </a:p>
        </p:txBody>
      </p:sp>
      <p:sp>
        <p:nvSpPr>
          <p:cNvPr id="20" name="Text 18"/>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21" name="Text 19"/>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01</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「退路を断つ」条例が特区の申請条件</a:t>
            </a:r>
            <a:endParaRPr lang="en-US" sz="2400" dirty="0"/>
          </a:p>
        </p:txBody>
      </p:sp>
      <p:sp>
        <p:nvSpPr>
          <p:cNvPr id="4" name="Text 2"/>
          <p:cNvSpPr/>
          <p:nvPr/>
        </p:nvSpPr>
        <p:spPr>
          <a:xfrm>
            <a:off x="548640" y="1600200"/>
            <a:ext cx="822960" cy="640080"/>
          </a:xfrm>
          <a:prstGeom prst="rect">
            <a:avLst/>
          </a:prstGeom>
          <a:noFill/>
          <a:ln/>
        </p:spPr>
        <p:txBody>
          <a:bodyPr wrap="square" lIns="0" tIns="0" rIns="0" bIns="0" rtlCol="0" anchor="ctr"/>
          <a:lstStyle/>
          <a:p>
            <a:pPr indent="0" marL="0">
              <a:buNone/>
            </a:pPr>
            <a:r>
              <a:rPr lang="en-US" sz="4000" dirty="0">
                <a:solidFill>
                  <a:srgbClr val="000000"/>
                </a:solidFill>
                <a:latin typeface="Arial" pitchFamily="34" charset="0"/>
                <a:ea typeface="BIZ UDPGothic" pitchFamily="34" charset="-122"/>
                <a:cs typeface="BIZ UDPGothic" pitchFamily="34" charset="-120"/>
              </a:rPr>
              <a:t>📜</a:t>
            </a:r>
            <a:endParaRPr lang="en-US" sz="4000" dirty="0"/>
          </a:p>
        </p:txBody>
      </p:sp>
      <p:sp>
        <p:nvSpPr>
          <p:cNvPr id="5" name="Text 3"/>
          <p:cNvSpPr/>
          <p:nvPr/>
        </p:nvSpPr>
        <p:spPr>
          <a:xfrm>
            <a:off x="1371600" y="1645920"/>
            <a:ext cx="7223760" cy="914400"/>
          </a:xfrm>
          <a:prstGeom prst="rect">
            <a:avLst/>
          </a:prstGeom>
          <a:noFill/>
          <a:ln/>
        </p:spPr>
        <p:txBody>
          <a:bodyPr wrap="square" lIns="0" tIns="0" rIns="0" bIns="0" rtlCol="0" anchor="t"/>
          <a:lstStyle/>
          <a:p>
            <a:pPr indent="0" marL="0">
              <a:buNone/>
            </a:pPr>
            <a:r>
              <a:rPr lang="en-US" sz="1600" b="1" dirty="0">
                <a:solidFill>
                  <a:srgbClr val="16181D"/>
                </a:solidFill>
                <a:latin typeface="BIZ UDPGothic" pitchFamily="34" charset="0"/>
                <a:ea typeface="BIZ UDPGothic" pitchFamily="34" charset="-122"/>
                <a:cs typeface="BIZ UDPGothic" pitchFamily="34" charset="-120"/>
              </a:rPr>
              <a:t>特区の申請には、自治体議会での「既得権益全廃・業態転換条例」の同時可決を必須とする</a:t>
            </a:r>
            <a:endParaRPr lang="en-US" sz="1600" dirty="0"/>
          </a:p>
        </p:txBody>
      </p:sp>
      <p:sp>
        <p:nvSpPr>
          <p:cNvPr id="6" name="Shape 4"/>
          <p:cNvSpPr/>
          <p:nvPr/>
        </p:nvSpPr>
        <p:spPr>
          <a:xfrm>
            <a:off x="548640" y="2743200"/>
            <a:ext cx="804672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22960" y="2926080"/>
            <a:ext cx="7498080" cy="1463040"/>
          </a:xfrm>
          <a:prstGeom prst="rect">
            <a:avLst/>
          </a:prstGeom>
          <a:noFill/>
          <a:ln/>
        </p:spPr>
        <p:txBody>
          <a:bodyPr wrap="square" lIns="0" tIns="0" rIns="0" bIns="0" rtlCol="0" anchor="t"/>
          <a:lstStyle/>
          <a:p>
            <a:pPr indent="0" marL="0">
              <a:lnSpc>
                <a:spcPct val="130000"/>
              </a:lnSpc>
              <a:buNone/>
            </a:pPr>
            <a:r>
              <a:rPr lang="en-US" sz="1300" b="1" dirty="0">
                <a:solidFill>
                  <a:srgbClr val="C8161D"/>
                </a:solidFill>
                <a:latin typeface="BIZ UDPGothic" pitchFamily="34" charset="0"/>
                <a:ea typeface="BIZ UDPGothic" pitchFamily="34" charset="-122"/>
                <a:cs typeface="BIZ UDPGothic" pitchFamily="34" charset="-120"/>
              </a:rPr>
              <a:t>条例には何を書くか</a:t>
            </a:r>
            <a:endParaRPr lang="en-US" sz="13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認定から一定期間以内に、公共工事の多重下請けを全面禁止し、</a:t>
            </a:r>
            <a:endParaRPr lang="en-US" sz="1300" dirty="0"/>
          </a:p>
          <a:p>
            <a:pPr indent="0" marL="0">
              <a:lnSpc>
                <a:spcPct val="130000"/>
              </a:lnSpc>
              <a:buNone/>
            </a:pPr>
            <a:r>
              <a:rPr lang="en-US" sz="1400" b="1" dirty="0">
                <a:solidFill>
                  <a:srgbClr val="C8161D"/>
                </a:solidFill>
                <a:latin typeface="BIZ UDPGothic" pitchFamily="34" charset="0"/>
                <a:ea typeface="BIZ UDPGothic" pitchFamily="34" charset="-122"/>
                <a:cs typeface="BIZ UDPGothic" pitchFamily="34" charset="-120"/>
              </a:rPr>
              <a:t>違反した業者は営業停止処分とすることを明記する</a:t>
            </a:r>
            <a:endParaRPr lang="en-US" sz="130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01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深刻な自治体ほど最優先で認定する</a:t>
            </a:r>
            <a:endParaRPr lang="en-US" sz="2400" dirty="0"/>
          </a:p>
        </p:txBody>
      </p:sp>
      <p:sp>
        <p:nvSpPr>
          <p:cNvPr id="4" name="Text 2"/>
          <p:cNvSpPr/>
          <p:nvPr/>
        </p:nvSpPr>
        <p:spPr>
          <a:xfrm>
            <a:off x="548640" y="1371600"/>
            <a:ext cx="8046720" cy="457200"/>
          </a:xfrm>
          <a:prstGeom prst="rect">
            <a:avLst/>
          </a:prstGeom>
          <a:noFill/>
          <a:ln/>
        </p:spPr>
        <p:txBody>
          <a:bodyPr wrap="square" lIns="0" tIns="0" rIns="0" bIns="0" rtlCol="0" anchor="ctr"/>
          <a:lstStyle/>
          <a:p>
            <a:pPr indent="0" marL="0">
              <a:buNone/>
            </a:pPr>
            <a:r>
              <a:rPr lang="en-US" sz="1600" b="1" dirty="0">
                <a:solidFill>
                  <a:srgbClr val="16181D"/>
                </a:solidFill>
                <a:latin typeface="BIZ UDPGothic" pitchFamily="34" charset="0"/>
                <a:ea typeface="BIZ UDPGothic" pitchFamily="34" charset="-122"/>
                <a:cs typeface="BIZ UDPGothic" pitchFamily="34" charset="-120"/>
              </a:rPr>
              <a:t>🧠 客観的な統計データからAIが自動でスコア算出</a:t>
            </a:r>
            <a:endParaRPr lang="en-US" sz="1600" dirty="0"/>
          </a:p>
        </p:txBody>
      </p:sp>
      <p:sp>
        <p:nvSpPr>
          <p:cNvPr id="5" name="Text 3"/>
          <p:cNvSpPr/>
          <p:nvPr/>
        </p:nvSpPr>
        <p:spPr>
          <a:xfrm>
            <a:off x="548640" y="1965960"/>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01</a:t>
            </a:r>
            <a:endParaRPr lang="en-US" sz="2600" dirty="0"/>
          </a:p>
        </p:txBody>
      </p:sp>
      <p:sp>
        <p:nvSpPr>
          <p:cNvPr id="6" name="Text 4"/>
          <p:cNvSpPr/>
          <p:nvPr/>
        </p:nvSpPr>
        <p:spPr>
          <a:xfrm>
            <a:off x="1371600" y="196596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生産年齢人口の減少率</a:t>
            </a:r>
            <a:endParaRPr lang="en-US" sz="1500" dirty="0"/>
          </a:p>
        </p:txBody>
      </p:sp>
      <p:sp>
        <p:nvSpPr>
          <p:cNvPr id="7" name="Text 5"/>
          <p:cNvSpPr/>
          <p:nvPr/>
        </p:nvSpPr>
        <p:spPr>
          <a:xfrm>
            <a:off x="1371600" y="2313432"/>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8" name="Text 6"/>
          <p:cNvSpPr/>
          <p:nvPr/>
        </p:nvSpPr>
        <p:spPr>
          <a:xfrm>
            <a:off x="548640" y="2724912"/>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02</a:t>
            </a:r>
            <a:endParaRPr lang="en-US" sz="2600" dirty="0"/>
          </a:p>
        </p:txBody>
      </p:sp>
      <p:sp>
        <p:nvSpPr>
          <p:cNvPr id="9" name="Text 7"/>
          <p:cNvSpPr/>
          <p:nvPr/>
        </p:nvSpPr>
        <p:spPr>
          <a:xfrm>
            <a:off x="1371600" y="2724912"/>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自治体の財政力指数（低いほど優先）</a:t>
            </a:r>
            <a:endParaRPr lang="en-US" sz="1500" dirty="0"/>
          </a:p>
        </p:txBody>
      </p:sp>
      <p:sp>
        <p:nvSpPr>
          <p:cNvPr id="10" name="Text 8"/>
          <p:cNvSpPr/>
          <p:nvPr/>
        </p:nvSpPr>
        <p:spPr>
          <a:xfrm>
            <a:off x="1371600" y="3072384"/>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11" name="Text 9"/>
          <p:cNvSpPr/>
          <p:nvPr/>
        </p:nvSpPr>
        <p:spPr>
          <a:xfrm>
            <a:off x="548640" y="3483864"/>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03</a:t>
            </a:r>
            <a:endParaRPr lang="en-US" sz="2600" dirty="0"/>
          </a:p>
        </p:txBody>
      </p:sp>
      <p:sp>
        <p:nvSpPr>
          <p:cNvPr id="12" name="Text 10"/>
          <p:cNvSpPr/>
          <p:nvPr/>
        </p:nvSpPr>
        <p:spPr>
          <a:xfrm>
            <a:off x="1371600" y="3483864"/>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生活保護受給者の窓口処理の遅延日数</a:t>
            </a:r>
            <a:endParaRPr lang="en-US" sz="1500" dirty="0"/>
          </a:p>
        </p:txBody>
      </p:sp>
      <p:sp>
        <p:nvSpPr>
          <p:cNvPr id="13" name="Text 11"/>
          <p:cNvSpPr/>
          <p:nvPr/>
        </p:nvSpPr>
        <p:spPr>
          <a:xfrm>
            <a:off x="1371600" y="3831336"/>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14" name="Text 12"/>
          <p:cNvSpPr/>
          <p:nvPr/>
        </p:nvSpPr>
        <p:spPr>
          <a:xfrm>
            <a:off x="548640" y="4434840"/>
            <a:ext cx="8046720" cy="365760"/>
          </a:xfrm>
          <a:prstGeom prst="rect">
            <a:avLst/>
          </a:prstGeom>
          <a:noFill/>
          <a:ln/>
        </p:spPr>
        <p:txBody>
          <a:bodyPr wrap="square" lIns="0" tIns="0" rIns="0" bIns="0" rtlCol="0" anchor="ctr"/>
          <a:lstStyle/>
          <a:p>
            <a:pPr indent="0" marL="0">
              <a:buNone/>
            </a:pPr>
            <a:r>
              <a:rPr lang="en-US" sz="1200" dirty="0">
                <a:solidFill>
                  <a:srgbClr val="16181D">
                    <a:alpha val="80000"/>
                  </a:srgbClr>
                </a:solidFill>
                <a:latin typeface="BIZ UDPGothic" pitchFamily="34" charset="0"/>
                <a:ea typeface="BIZ UDPGothic" pitchFamily="34" charset="-122"/>
                <a:cs typeface="BIZ UDPGothic" pitchFamily="34" charset="-120"/>
              </a:rPr>
              <a:t>認定期間は一律3年間の有期限。目標未達・不正発覚時は自動剥奪する。</a:t>
            </a:r>
            <a:endParaRPr lang="en-US" sz="1200" dirty="0"/>
          </a:p>
        </p:txBody>
      </p:sp>
      <p:sp>
        <p:nvSpPr>
          <p:cNvPr id="15" name="Text 1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6" name="Text 1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SYSTEM 01</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多重下請け防止・AI予算正当性評価</a:t>
            </a:r>
            <a:endParaRPr lang="en-US" sz="24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64008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6" name="Text 4"/>
          <p:cNvSpPr/>
          <p:nvPr/>
        </p:nvSpPr>
        <p:spPr>
          <a:xfrm>
            <a:off x="822960" y="2560320"/>
            <a:ext cx="7498080" cy="1828800"/>
          </a:xfrm>
          <a:prstGeom prst="rect">
            <a:avLst/>
          </a:prstGeom>
          <a:noFill/>
          <a:ln/>
        </p:spPr>
        <p:txBody>
          <a:bodyPr wrap="square" lIns="0" tIns="0" rIns="0" bIns="0" rtlCol="0" anchor="t"/>
          <a:lstStyle/>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全作業員の稼働データ・資材調達の領収書をシステムに直接登録</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「実体のない多重下請け」が発生した時点で支払いを自動凍結</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入札予算もAIが過去データから適正価格を自動算出し、見積もりの正当性を厳格に評価</a:t>
            </a:r>
            <a:endParaRPr lang="en-US" sz="140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SYSTEM 02</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生活保護の「即時判定・自動支給」</a:t>
            </a:r>
            <a:endParaRPr lang="en-US" sz="24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64008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6" name="Text 4"/>
          <p:cNvSpPr/>
          <p:nvPr/>
        </p:nvSpPr>
        <p:spPr>
          <a:xfrm>
            <a:off x="822960" y="2560320"/>
            <a:ext cx="7498080" cy="1828800"/>
          </a:xfrm>
          <a:prstGeom prst="rect">
            <a:avLst/>
          </a:prstGeom>
          <a:noFill/>
          <a:ln/>
        </p:spPr>
        <p:txBody>
          <a:bodyPr wrap="square" lIns="0" tIns="0" rIns="0" bIns="0" rtlCol="0" anchor="t"/>
          <a:lstStyle/>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マイナンバーを基盤に、口座・不動産・就労・税データを本人同意のもとAIが照合</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要件を満たせば窓口の裁量を挟まず、最短24時間以内に自動口座振込</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浮いたケースワーカーの人手は、受給者の精神的ケア・就労支援へ100%集中させる</a:t>
            </a:r>
            <a:endParaRPr lang="en-US" sz="1400" dirty="0"/>
          </a:p>
        </p:txBody>
      </p:sp>
      <p:sp>
        <p:nvSpPr>
          <p:cNvPr id="7" name="Text 5"/>
          <p:cNvSpPr/>
          <p:nvPr/>
        </p:nvSpPr>
        <p:spPr>
          <a:xfrm>
            <a:off x="548640" y="4617720"/>
            <a:ext cx="8046720" cy="274320"/>
          </a:xfrm>
          <a:prstGeom prst="rect">
            <a:avLst/>
          </a:prstGeom>
          <a:noFill/>
          <a:ln/>
        </p:spPr>
        <p:txBody>
          <a:bodyPr wrap="square" lIns="0" tIns="0" rIns="0" bIns="0" rtlCol="0" anchor="ctr"/>
          <a:lstStyle/>
          <a:p>
            <a:pPr indent="0" marL="0">
              <a:buNone/>
            </a:pPr>
            <a:r>
              <a:rPr lang="en-US" sz="1150" dirty="0">
                <a:solidFill>
                  <a:srgbClr val="16181D">
                    <a:alpha val="75000"/>
                  </a:srgbClr>
                </a:solidFill>
                <a:latin typeface="BIZ UDPGothic" pitchFamily="34" charset="0"/>
                <a:ea typeface="BIZ UDPGothic" pitchFamily="34" charset="-122"/>
                <a:cs typeface="BIZ UDPGothic" pitchFamily="34" charset="-120"/>
              </a:rPr>
              <a:t>誤判定・救済フローの詳細設計は第16〜17章で詳述する。</a:t>
            </a:r>
            <a:endParaRPr lang="en-US" sz="11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SYSTEM 03</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300" b="1" dirty="0">
                <a:solidFill>
                  <a:srgbClr val="16181D"/>
                </a:solidFill>
                <a:latin typeface="BIZ UDPGothic" pitchFamily="34" charset="0"/>
                <a:ea typeface="BIZ UDPGothic" pitchFamily="34" charset="-122"/>
                <a:cs typeface="BIZ UDPGothic" pitchFamily="34" charset="-120"/>
              </a:rPr>
              <a:t>インフラ維持・修繕予算の自動最適化</a:t>
            </a:r>
            <a:endParaRPr lang="en-US" sz="23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64008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6" name="Text 4"/>
          <p:cNvSpPr/>
          <p:nvPr/>
        </p:nvSpPr>
        <p:spPr>
          <a:xfrm>
            <a:off x="822960" y="2560320"/>
            <a:ext cx="7498080" cy="1828800"/>
          </a:xfrm>
          <a:prstGeom prst="rect">
            <a:avLst/>
          </a:prstGeom>
          <a:noFill/>
          <a:ln/>
        </p:spPr>
        <p:txBody>
          <a:bodyPr wrap="square" lIns="0" tIns="0" rIns="0" bIns="0" rtlCol="0" anchor="t"/>
          <a:lstStyle/>
          <a:p>
            <a:pPr indent="0" marL="0">
              <a:lnSpc>
                <a:spcPct val="140000"/>
              </a:lnSpc>
              <a:buNone/>
            </a:pPr>
            <a:r>
              <a:rPr lang="en-US" sz="1400" dirty="0">
                <a:solidFill>
                  <a:srgbClr val="16181D"/>
                </a:solidFill>
                <a:latin typeface="BIZ UDPGothic" pitchFamily="34" charset="0"/>
                <a:ea typeface="BIZ UDPGothic" pitchFamily="34" charset="-122"/>
                <a:cs typeface="BIZ UDPGothic" pitchFamily="34" charset="-120"/>
              </a:rPr>
              <a:t>水道管・道路・橋などの老朽化対策において、政治家や役人の声の大きさではなく、利用頻度・人口予測・損耗データのAI解析によって「最もコストパフォーマンスが高い修繕計画」を自動作成・予算化し、利権的な公共事業を根絶する。</a:t>
            </a:r>
            <a:endParaRPr lang="en-US" sz="140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SYSTEM 04</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300" b="1" dirty="0">
                <a:solidFill>
                  <a:srgbClr val="16181D"/>
                </a:solidFill>
                <a:latin typeface="BIZ UDPGothic" pitchFamily="34" charset="0"/>
                <a:ea typeface="BIZ UDPGothic" pitchFamily="34" charset="-122"/>
                <a:cs typeface="BIZ UDPGothic" pitchFamily="34" charset="-120"/>
              </a:rPr>
              <a:t>役所の「リアルタイム無人化・AI決裁」</a:t>
            </a:r>
            <a:endParaRPr lang="en-US" sz="23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64008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6" name="Text 4"/>
          <p:cNvSpPr/>
          <p:nvPr/>
        </p:nvSpPr>
        <p:spPr>
          <a:xfrm>
            <a:off x="822960" y="2560320"/>
            <a:ext cx="7498080" cy="1828800"/>
          </a:xfrm>
          <a:prstGeom prst="rect">
            <a:avLst/>
          </a:prstGeom>
          <a:noFill/>
          <a:ln/>
        </p:spPr>
        <p:txBody>
          <a:bodyPr wrap="square" lIns="0" tIns="0" rIns="0" bIns="0" rtlCol="0" anchor="t"/>
          <a:lstStyle/>
          <a:p>
            <a:pPr indent="0" marL="0">
              <a:lnSpc>
                <a:spcPct val="140000"/>
              </a:lnSpc>
              <a:buNone/>
            </a:pPr>
            <a:r>
              <a:rPr lang="en-US" sz="1400" dirty="0">
                <a:solidFill>
                  <a:srgbClr val="16181D"/>
                </a:solidFill>
                <a:latin typeface="BIZ UDPGothic" pitchFamily="34" charset="0"/>
                <a:ea typeface="BIZ UDPGothic" pitchFamily="34" charset="-122"/>
                <a:cs typeface="BIZ UDPGothic" pitchFamily="34" charset="-120"/>
              </a:rPr>
              <a:t>建築許可・営業許可など、明確な基準がある申請はAIが書類を審査し自動で許可を出してよいものとする（公務員の押印・決裁義務の撤廃）。申請から許可までの時間を数週間から数分に短縮し、役所の管理職ポスト（人件費）を大幅に削減する。</a:t>
            </a:r>
            <a:endParaRPr lang="en-US" sz="140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INCENTIVE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自治体の参入を後押しする3大インセンティブ</a:t>
            </a:r>
            <a:endParaRPr lang="en-US" sz="2200" dirty="0"/>
          </a:p>
        </p:txBody>
      </p:sp>
      <p:sp>
        <p:nvSpPr>
          <p:cNvPr id="4" name="Shape 2"/>
          <p:cNvSpPr/>
          <p:nvPr/>
        </p:nvSpPr>
        <p:spPr>
          <a:xfrm>
            <a:off x="54864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① コスト削減100%還流＋2割ボーナス</a:t>
            </a:r>
            <a:endParaRPr lang="en-US" sz="1400" dirty="0"/>
          </a:p>
        </p:txBody>
      </p:sp>
      <p:sp>
        <p:nvSpPr>
          <p:cNvPr id="7" name="Text 5"/>
          <p:cNvSpPr/>
          <p:nvPr/>
        </p:nvSpPr>
        <p:spPr>
          <a:xfrm>
            <a:off x="74980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浮いた予算は全額自由に。交付税も上乗せ</a:t>
            </a:r>
            <a:endParaRPr lang="en-US" sz="1150" dirty="0"/>
          </a:p>
        </p:txBody>
      </p:sp>
      <p:sp>
        <p:nvSpPr>
          <p:cNvPr id="8" name="Shape 6"/>
          <p:cNvSpPr/>
          <p:nvPr/>
        </p:nvSpPr>
        <p:spPr>
          <a:xfrm>
            <a:off x="333756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2044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353872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② 地方税率の完全自由化</a:t>
            </a:r>
            <a:endParaRPr lang="en-US" sz="1400" dirty="0"/>
          </a:p>
        </p:txBody>
      </p:sp>
      <p:sp>
        <p:nvSpPr>
          <p:cNvPr id="11" name="Text 9"/>
          <p:cNvSpPr/>
          <p:nvPr/>
        </p:nvSpPr>
        <p:spPr>
          <a:xfrm>
            <a:off x="353872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法人住民税・固定資産税を最大ゼロまで</a:t>
            </a:r>
            <a:endParaRPr lang="en-US" sz="1150" dirty="0"/>
          </a:p>
        </p:txBody>
      </p:sp>
      <p:sp>
        <p:nvSpPr>
          <p:cNvPr id="12" name="Shape 10"/>
          <p:cNvSpPr/>
          <p:nvPr/>
        </p:nvSpPr>
        <p:spPr>
          <a:xfrm>
            <a:off x="612648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30936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4" name="Text 12"/>
          <p:cNvSpPr/>
          <p:nvPr/>
        </p:nvSpPr>
        <p:spPr>
          <a:xfrm>
            <a:off x="632764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③ 職員の伴走コンサルタント転換</a:t>
            </a:r>
            <a:endParaRPr lang="en-US" sz="1400" dirty="0"/>
          </a:p>
        </p:txBody>
      </p:sp>
      <p:sp>
        <p:nvSpPr>
          <p:cNvPr id="15" name="Text 13"/>
          <p:cNvSpPr/>
          <p:nvPr/>
        </p:nvSpPr>
        <p:spPr>
          <a:xfrm>
            <a:off x="632764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雇用・給与を保証したまま職務転換</a:t>
            </a:r>
            <a:endParaRPr lang="en-US" sz="1150" dirty="0"/>
          </a:p>
        </p:txBody>
      </p:sp>
      <p:sp>
        <p:nvSpPr>
          <p:cNvPr id="16" name="Text 14"/>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7" name="Text 15"/>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INCENTIVE 01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行政コスト削減ぶんの100%還流＋2割ボーナス</a:t>
            </a:r>
            <a:endParaRPr lang="en-US" sz="21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920240"/>
            <a:ext cx="7498080" cy="1463040"/>
          </a:xfrm>
          <a:prstGeom prst="rect">
            <a:avLst/>
          </a:prstGeom>
          <a:noFill/>
          <a:ln/>
        </p:spPr>
        <p:txBody>
          <a:bodyPr wrap="square" lIns="0" tIns="0" rIns="0" bIns="0" rtlCol="0" anchor="t"/>
          <a:lstStyle/>
          <a:p>
            <a:pPr marL="342900" indent="-342900">
              <a:lnSpc>
                <a:spcPct val="140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AI化で削減された人件費・公共事業費は、国に返還させず全額を自治体の「未来投資予算」として自由に使わせる</a:t>
            </a:r>
            <a:endParaRPr lang="en-US" sz="1400" dirty="0"/>
          </a:p>
          <a:p>
            <a:pPr marL="342900" indent="-342900">
              <a:lnSpc>
                <a:spcPct val="140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特区期間中、地方交付税交付金を2割上乗せし、住民への直接還元（減税・子育て支援）の原資とする</a:t>
            </a:r>
            <a:endParaRPr lang="en-US" sz="1400" dirty="0"/>
          </a:p>
        </p:txBody>
      </p:sp>
      <p:sp>
        <p:nvSpPr>
          <p:cNvPr id="6" name="Text 4"/>
          <p:cNvSpPr/>
          <p:nvPr/>
        </p:nvSpPr>
        <p:spPr>
          <a:xfrm>
            <a:off x="822960" y="4023360"/>
            <a:ext cx="7498080" cy="365760"/>
          </a:xfrm>
          <a:prstGeom prst="rect">
            <a:avLst/>
          </a:prstGeom>
          <a:noFill/>
          <a:ln/>
        </p:spPr>
        <p:txBody>
          <a:bodyPr wrap="square" lIns="0" tIns="0" rIns="0" bIns="0" rtlCol="0" anchor="ctr"/>
          <a:lstStyle/>
          <a:p>
            <a:pPr indent="0" marL="0">
              <a:buNone/>
            </a:pPr>
            <a:r>
              <a:rPr lang="en-US" sz="1150" dirty="0">
                <a:solidFill>
                  <a:srgbClr val="16181D">
                    <a:alpha val="75000"/>
                  </a:srgbClr>
                </a:solidFill>
                <a:latin typeface="BIZ UDPGothic" pitchFamily="34" charset="0"/>
                <a:ea typeface="BIZ UDPGothic" pitchFamily="34" charset="-122"/>
                <a:cs typeface="BIZ UDPGothic" pitchFamily="34" charset="-120"/>
              </a:rPr>
              <a:t>交付税上乗せの財政的な位置づけ（モラルハザード対策）は第18章で詳述する。</a:t>
            </a:r>
            <a:endParaRPr lang="en-US" sz="115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INCENTIVE 02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地方税率、最大ゼロまでの完全自由化</a:t>
            </a:r>
            <a:endParaRPr lang="en-US" sz="22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6" name="Text 4"/>
          <p:cNvSpPr/>
          <p:nvPr/>
        </p:nvSpPr>
        <p:spPr>
          <a:xfrm>
            <a:off x="1463040" y="1874520"/>
            <a:ext cx="6949440" cy="8229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特区自治体には、法人住民税・固定資産税の税率を自治体の裁量で最大ゼロまで引き下げてよい権限を与える</a:t>
            </a:r>
            <a:endParaRPr lang="en-US" sz="1500" dirty="0"/>
          </a:p>
        </p:txBody>
      </p:sp>
      <p:sp>
        <p:nvSpPr>
          <p:cNvPr id="7" name="Text 5"/>
          <p:cNvSpPr/>
          <p:nvPr/>
        </p:nvSpPr>
        <p:spPr>
          <a:xfrm>
            <a:off x="822960" y="2880360"/>
            <a:ext cx="7498080" cy="1463040"/>
          </a:xfrm>
          <a:prstGeom prst="rect">
            <a:avLst/>
          </a:prstGeom>
          <a:noFill/>
          <a:ln/>
        </p:spPr>
        <p:txBody>
          <a:bodyPr wrap="square" lIns="0" tIns="0" rIns="0" bIns="0" rtlCol="0" anchor="t"/>
          <a:lstStyle/>
          <a:p>
            <a:pPr indent="0" marL="0">
              <a:lnSpc>
                <a:spcPct val="135000"/>
              </a:lnSpc>
              <a:buNone/>
            </a:pPr>
            <a:r>
              <a:rPr lang="en-US" sz="1300" dirty="0">
                <a:solidFill>
                  <a:srgbClr val="16181D"/>
                </a:solidFill>
                <a:latin typeface="BIZ UDPGothic" pitchFamily="34" charset="0"/>
                <a:ea typeface="BIZ UDPGothic" pitchFamily="34" charset="-122"/>
                <a:cs typeface="BIZ UDPGothic" pitchFamily="34" charset="-120"/>
              </a:rPr>
              <a:t>AI化による最小の行政コストと大減税を掛け合わせ、企業・若年人口を惹きつける狙い。ただし「減税してるのに交付税も増える」という抜け穴を防ぐ設計が必要（第18章）。</a:t>
            </a:r>
            <a:endParaRPr lang="en-US" sz="130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INCENTIVE 03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余剰職員は「地域伴走コンサルタント」へ</a:t>
            </a:r>
            <a:endParaRPr lang="en-US" sz="22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6" name="Text 4"/>
          <p:cNvSpPr/>
          <p:nvPr/>
        </p:nvSpPr>
        <p:spPr>
          <a:xfrm>
            <a:off x="1463040" y="1874520"/>
            <a:ext cx="6949440" cy="1097280"/>
          </a:xfrm>
          <a:prstGeom prst="rect">
            <a:avLst/>
          </a:prstGeom>
          <a:noFill/>
          <a:ln/>
        </p:spPr>
        <p:txBody>
          <a:bodyPr wrap="square" lIns="0" tIns="0" rIns="0" bIns="0" rtlCol="0" anchor="t"/>
          <a:lstStyle/>
          <a:p>
            <a:pPr indent="0" marL="0">
              <a:lnSpc>
                <a:spcPct val="130000"/>
              </a:lnSpc>
              <a:buNone/>
            </a:pPr>
            <a:r>
              <a:rPr lang="en-US" sz="1400" b="1" dirty="0">
                <a:solidFill>
                  <a:srgbClr val="16181D"/>
                </a:solidFill>
                <a:latin typeface="BIZ UDPGothic" pitchFamily="34" charset="0"/>
                <a:ea typeface="BIZ UDPGothic" pitchFamily="34" charset="-122"/>
                <a:cs typeface="BIZ UDPGothic" pitchFamily="34" charset="-120"/>
              </a:rPr>
              <a:t>事務自動化で余剰となった職員の雇用・給与を特区予算で完全保証しつつ、地元の民間企業や農業・福祉現場のDXを支援する「地域伴走型コンサルタント」へ配置転換する</a:t>
            </a:r>
            <a:endParaRPr lang="en-US" sz="1400" dirty="0"/>
          </a:p>
        </p:txBody>
      </p:sp>
      <p:sp>
        <p:nvSpPr>
          <p:cNvPr id="7" name="Text 5"/>
          <p:cNvSpPr/>
          <p:nvPr/>
        </p:nvSpPr>
        <p:spPr>
          <a:xfrm>
            <a:off x="822960" y="4023360"/>
            <a:ext cx="7498080" cy="365760"/>
          </a:xfrm>
          <a:prstGeom prst="rect">
            <a:avLst/>
          </a:prstGeom>
          <a:noFill/>
          <a:ln/>
        </p:spPr>
        <p:txBody>
          <a:bodyPr wrap="square" lIns="0" tIns="0" rIns="0" bIns="0" rtlCol="0" anchor="ctr"/>
          <a:lstStyle/>
          <a:p>
            <a:pPr indent="0" marL="0">
              <a:buNone/>
            </a:pPr>
            <a:r>
              <a:rPr lang="en-US" sz="1150" dirty="0">
                <a:solidFill>
                  <a:srgbClr val="16181D">
                    <a:alpha val="75000"/>
                  </a:srgbClr>
                </a:solidFill>
                <a:latin typeface="BIZ UDPGothic" pitchFamily="34" charset="0"/>
                <a:ea typeface="BIZ UDPGothic" pitchFamily="34" charset="-122"/>
                <a:cs typeface="BIZ UDPGothic" pitchFamily="34" charset="-120"/>
              </a:rPr>
              <a:t>この配置転換の法的な位置づけ（分限処分）は第19章で詳述する。</a:t>
            </a:r>
            <a:endParaRPr lang="en-US" sz="11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GOVERNANCE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ITベンダー利権を排除する厳格な制約</a:t>
            </a:r>
            <a:endParaRPr lang="en-US" sz="2400" dirty="0"/>
          </a:p>
        </p:txBody>
      </p:sp>
      <p:sp>
        <p:nvSpPr>
          <p:cNvPr id="4" name="Shape 2"/>
          <p:cNvSpPr/>
          <p:nvPr/>
        </p:nvSpPr>
        <p:spPr>
          <a:xfrm>
            <a:off x="548640" y="1691640"/>
            <a:ext cx="3863340" cy="2834640"/>
          </a:xfrm>
          <a:prstGeom prst="roundRect">
            <a:avLst>
              <a:gd name="adj" fmla="val 258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ベンダーロックインの禁止</a:t>
            </a:r>
            <a:endParaRPr lang="en-US" sz="1400" dirty="0"/>
          </a:p>
        </p:txBody>
      </p:sp>
      <p:sp>
        <p:nvSpPr>
          <p:cNvPr id="7" name="Text 5"/>
          <p:cNvSpPr/>
          <p:nvPr/>
        </p:nvSpPr>
        <p:spPr>
          <a:xfrm>
            <a:off x="749808" y="3108960"/>
            <a:ext cx="346100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特定の巨大ITベンダーに数十年間の維持費を人質に取られる契約を一律禁止</a:t>
            </a:r>
            <a:endParaRPr lang="en-US" sz="1150" dirty="0"/>
          </a:p>
        </p:txBody>
      </p:sp>
      <p:sp>
        <p:nvSpPr>
          <p:cNvPr id="8" name="Shape 6"/>
          <p:cNvSpPr/>
          <p:nvPr/>
        </p:nvSpPr>
        <p:spPr>
          <a:xfrm>
            <a:off x="4732020" y="1691640"/>
            <a:ext cx="3863340" cy="2834640"/>
          </a:xfrm>
          <a:prstGeom prst="roundRect">
            <a:avLst>
              <a:gd name="adj" fmla="val 258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91490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493318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ソースコードと原価の公開</a:t>
            </a:r>
            <a:endParaRPr lang="en-US" sz="1400" dirty="0"/>
          </a:p>
        </p:txBody>
      </p:sp>
      <p:sp>
        <p:nvSpPr>
          <p:cNvPr id="11" name="Text 9"/>
          <p:cNvSpPr/>
          <p:nvPr/>
        </p:nvSpPr>
        <p:spPr>
          <a:xfrm>
            <a:off x="4933188" y="3108960"/>
            <a:ext cx="346100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OSS化し、開発原価・支払履歴を1円単位までオンライン完全公開</a:t>
            </a:r>
            <a:endParaRPr lang="en-US" sz="1150" dirty="0"/>
          </a:p>
        </p:txBody>
      </p:sp>
      <p:sp>
        <p:nvSpPr>
          <p:cNvPr id="12" name="Text 10"/>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3" name="Text 11"/>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WELFARE AI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確信度に応じたハイブリッド判定</a:t>
            </a:r>
            <a:endParaRPr lang="en-US" sz="2400" dirty="0"/>
          </a:p>
        </p:txBody>
      </p:sp>
      <p:sp>
        <p:nvSpPr>
          <p:cNvPr id="4" name="Text 2"/>
          <p:cNvSpPr/>
          <p:nvPr/>
        </p:nvSpPr>
        <p:spPr>
          <a:xfrm>
            <a:off x="548640" y="1463040"/>
            <a:ext cx="8046720" cy="365760"/>
          </a:xfrm>
          <a:prstGeom prst="rect">
            <a:avLst/>
          </a:prstGeom>
          <a:noFill/>
          <a:ln/>
        </p:spPr>
        <p:txBody>
          <a:bodyPr wrap="square" lIns="0" tIns="0" rIns="0" bIns="0" rtlCol="0" anchor="ctr"/>
          <a:lstStyle/>
          <a:p>
            <a:pPr indent="0" marL="0">
              <a:buNone/>
            </a:pPr>
            <a:r>
              <a:rPr lang="en-US" sz="1450" b="1" dirty="0">
                <a:solidFill>
                  <a:srgbClr val="16181D"/>
                </a:solidFill>
                <a:latin typeface="BIZ UDPGothic" pitchFamily="34" charset="0"/>
                <a:ea typeface="BIZ UDPGothic" pitchFamily="34" charset="-122"/>
                <a:cs typeface="BIZ UDPGothic" pitchFamily="34" charset="-120"/>
              </a:rPr>
              <a:t>「水際作戦の排除」と「誤判定への備え」を両立させる</a:t>
            </a:r>
            <a:endParaRPr lang="en-US" sz="1450" dirty="0"/>
          </a:p>
        </p:txBody>
      </p:sp>
      <p:sp>
        <p:nvSpPr>
          <p:cNvPr id="5" name="Shape 3"/>
          <p:cNvSpPr/>
          <p:nvPr/>
        </p:nvSpPr>
        <p:spPr>
          <a:xfrm>
            <a:off x="548640" y="2103120"/>
            <a:ext cx="8046720" cy="868680"/>
          </a:xfrm>
          <a:prstGeom prst="roundRect">
            <a:avLst>
              <a:gd name="adj" fmla="val 6316"/>
            </a:avLst>
          </a:prstGeom>
          <a:solidFill>
            <a:srgbClr val="FFFFFF"/>
          </a:solidFill>
          <a:ln/>
          <a:effectLst>
            <a:outerShdw sx="100000" sy="100000" kx="0" ky="0" algn="bl" rotWithShape="0" blurRad="101600" dist="38100" dir="2700000">
              <a:srgbClr val="000000">
                <a:alpha val="35000"/>
              </a:srgbClr>
            </a:outerShdw>
          </a:effectLst>
        </p:spPr>
      </p:sp>
      <p:sp>
        <p:nvSpPr>
          <p:cNvPr id="6" name="Text 4"/>
          <p:cNvSpPr/>
          <p:nvPr/>
        </p:nvSpPr>
        <p:spPr>
          <a:xfrm>
            <a:off x="777240" y="2103120"/>
            <a:ext cx="548640" cy="86868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7" name="Text 5"/>
          <p:cNvSpPr/>
          <p:nvPr/>
        </p:nvSpPr>
        <p:spPr>
          <a:xfrm>
            <a:off x="1463040" y="2103120"/>
            <a:ext cx="3474720" cy="868680"/>
          </a:xfrm>
          <a:prstGeom prst="rect">
            <a:avLst/>
          </a:prstGeom>
          <a:noFill/>
          <a:ln/>
        </p:spPr>
        <p:txBody>
          <a:bodyPr wrap="square" lIns="0" tIns="0" rIns="0" bIns="0" rtlCol="0" anchor="ctr"/>
          <a:lstStyle/>
          <a:p>
            <a:pPr indent="0" marL="0">
              <a:buNone/>
            </a:pPr>
            <a:r>
              <a:rPr lang="en-US" sz="1450" b="1" dirty="0">
                <a:solidFill>
                  <a:srgbClr val="16181D"/>
                </a:solidFill>
                <a:latin typeface="BIZ UDPGothic" pitchFamily="34" charset="0"/>
                <a:ea typeface="BIZ UDPGothic" pitchFamily="34" charset="-122"/>
                <a:cs typeface="BIZ UDPGothic" pitchFamily="34" charset="-120"/>
              </a:rPr>
              <a:t>高確信度のケース</a:t>
            </a:r>
            <a:endParaRPr lang="en-US" sz="1450" dirty="0"/>
          </a:p>
        </p:txBody>
      </p:sp>
      <p:sp>
        <p:nvSpPr>
          <p:cNvPr id="8" name="Text 6"/>
          <p:cNvSpPr/>
          <p:nvPr/>
        </p:nvSpPr>
        <p:spPr>
          <a:xfrm>
            <a:off x="5029200" y="2103120"/>
            <a:ext cx="3383280" cy="86868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最短24時間以内に自動決定</a:t>
            </a:r>
            <a:endParaRPr lang="en-US" sz="1400" dirty="0"/>
          </a:p>
        </p:txBody>
      </p:sp>
      <p:sp>
        <p:nvSpPr>
          <p:cNvPr id="9" name="Shape 7"/>
          <p:cNvSpPr/>
          <p:nvPr/>
        </p:nvSpPr>
        <p:spPr>
          <a:xfrm>
            <a:off x="548640" y="3154680"/>
            <a:ext cx="8046720" cy="868680"/>
          </a:xfrm>
          <a:prstGeom prst="roundRect">
            <a:avLst>
              <a:gd name="adj" fmla="val 6316"/>
            </a:avLst>
          </a:prstGeom>
          <a:solidFill>
            <a:srgbClr val="FFFFFF"/>
          </a:solidFill>
          <a:ln/>
          <a:effectLst>
            <a:outerShdw sx="100000" sy="100000" kx="0" ky="0" algn="bl" rotWithShape="0" blurRad="101600" dist="38100" dir="2700000">
              <a:srgbClr val="000000">
                <a:alpha val="35000"/>
              </a:srgbClr>
            </a:outerShdw>
          </a:effectLst>
        </p:spPr>
      </p:sp>
      <p:sp>
        <p:nvSpPr>
          <p:cNvPr id="10" name="Text 8"/>
          <p:cNvSpPr/>
          <p:nvPr/>
        </p:nvSpPr>
        <p:spPr>
          <a:xfrm>
            <a:off x="777240" y="3154680"/>
            <a:ext cx="548640" cy="86868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11" name="Text 9"/>
          <p:cNvSpPr/>
          <p:nvPr/>
        </p:nvSpPr>
        <p:spPr>
          <a:xfrm>
            <a:off x="1463040" y="3154680"/>
            <a:ext cx="3474720" cy="868680"/>
          </a:xfrm>
          <a:prstGeom prst="rect">
            <a:avLst/>
          </a:prstGeom>
          <a:noFill/>
          <a:ln/>
        </p:spPr>
        <p:txBody>
          <a:bodyPr wrap="square" lIns="0" tIns="0" rIns="0" bIns="0" rtlCol="0" anchor="ctr"/>
          <a:lstStyle/>
          <a:p>
            <a:pPr indent="0" marL="0">
              <a:buNone/>
            </a:pPr>
            <a:r>
              <a:rPr lang="en-US" sz="1450" b="1" dirty="0">
                <a:solidFill>
                  <a:srgbClr val="16181D"/>
                </a:solidFill>
                <a:latin typeface="BIZ UDPGothic" pitchFamily="34" charset="0"/>
                <a:ea typeface="BIZ UDPGothic" pitchFamily="34" charset="-122"/>
                <a:cs typeface="BIZ UDPGothic" pitchFamily="34" charset="-120"/>
              </a:rPr>
              <a:t>低確信度のグレーゾーン</a:t>
            </a:r>
            <a:endParaRPr lang="en-US" sz="1450" dirty="0"/>
          </a:p>
        </p:txBody>
      </p:sp>
      <p:sp>
        <p:nvSpPr>
          <p:cNvPr id="12" name="Text 10"/>
          <p:cNvSpPr/>
          <p:nvPr/>
        </p:nvSpPr>
        <p:spPr>
          <a:xfrm>
            <a:off x="5029200" y="3154680"/>
            <a:ext cx="3383280" cy="86868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人間審査へ。72時間以内に完了</a:t>
            </a:r>
            <a:endParaRPr lang="en-US" sz="1400" dirty="0"/>
          </a:p>
        </p:txBody>
      </p:sp>
      <p:sp>
        <p:nvSpPr>
          <p:cNvPr id="13" name="Text 11"/>
          <p:cNvSpPr/>
          <p:nvPr/>
        </p:nvSpPr>
        <p:spPr>
          <a:xfrm>
            <a:off x="548640" y="4343400"/>
            <a:ext cx="8046720" cy="548640"/>
          </a:xfrm>
          <a:prstGeom prst="rect">
            <a:avLst/>
          </a:prstGeom>
          <a:noFill/>
          <a:ln/>
        </p:spPr>
        <p:txBody>
          <a:bodyPr wrap="square" lIns="0" tIns="0" rIns="0" bIns="0" rtlCol="0" anchor="ctr"/>
          <a:lstStyle/>
          <a:p>
            <a:pPr indent="0" marL="0">
              <a:lnSpc>
                <a:spcPct val="130000"/>
              </a:lnSpc>
              <a:buNone/>
            </a:pPr>
            <a:r>
              <a:rPr lang="en-US" sz="1200" dirty="0">
                <a:solidFill>
                  <a:srgbClr val="16181D">
                    <a:alpha val="85000"/>
                  </a:srgbClr>
                </a:solidFill>
                <a:latin typeface="BIZ UDPGothic" pitchFamily="34" charset="0"/>
                <a:ea typeface="BIZ UDPGothic" pitchFamily="34" charset="-122"/>
                <a:cs typeface="BIZ UDPGothic" pitchFamily="34" charset="-120"/>
              </a:rPr>
              <a:t>明確なケースは自動化でスピードを追求し、判断が難しいケースだけを人間が見ることで、水際作戦を実質的に排除しながら誤判定リスクを抑える。</a:t>
            </a:r>
            <a:endParaRPr lang="en-US" sz="120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WELFARE AI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誤判定への救済：異議申立ては常に残す</a:t>
            </a:r>
            <a:endParaRPr lang="en-US" sz="2200" dirty="0"/>
          </a:p>
        </p:txBody>
      </p:sp>
      <p:sp>
        <p:nvSpPr>
          <p:cNvPr id="4" name="Shape 2"/>
          <p:cNvSpPr/>
          <p:nvPr/>
        </p:nvSpPr>
        <p:spPr>
          <a:xfrm>
            <a:off x="548640" y="1691640"/>
            <a:ext cx="8046720" cy="2697480"/>
          </a:xfrm>
          <a:prstGeom prst="roundRect">
            <a:avLst>
              <a:gd name="adj" fmla="val 2712"/>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914400" y="196596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6" name="Text 4"/>
          <p:cNvSpPr/>
          <p:nvPr/>
        </p:nvSpPr>
        <p:spPr>
          <a:xfrm>
            <a:off x="1554480" y="1965960"/>
            <a:ext cx="6766560" cy="822960"/>
          </a:xfrm>
          <a:prstGeom prst="rect">
            <a:avLst/>
          </a:prstGeom>
          <a:noFill/>
          <a:ln/>
        </p:spPr>
        <p:txBody>
          <a:bodyPr wrap="square" lIns="0" tIns="0" rIns="0" bIns="0" rtlCol="0" anchor="t"/>
          <a:lstStyle/>
          <a:p>
            <a:pPr indent="0" marL="0">
              <a:buNone/>
            </a:pPr>
            <a:r>
              <a:rPr lang="en-US" sz="1500" b="1" dirty="0">
                <a:solidFill>
                  <a:srgbClr val="C8161D"/>
                </a:solidFill>
                <a:latin typeface="BIZ UDPGothic" pitchFamily="34" charset="0"/>
                <a:ea typeface="BIZ UDPGothic" pitchFamily="34" charset="-122"/>
                <a:cs typeface="BIZ UDPGothic" pitchFamily="34" charset="-120"/>
              </a:rPr>
              <a:t>高確信度で自動決定されたケースでも、本人からの異議申立てがあれば、常に人間が再審査する</a:t>
            </a:r>
            <a:endParaRPr lang="en-US" sz="1500" dirty="0"/>
          </a:p>
        </p:txBody>
      </p:sp>
      <p:sp>
        <p:nvSpPr>
          <p:cNvPr id="7" name="Text 5"/>
          <p:cNvSpPr/>
          <p:nvPr/>
        </p:nvSpPr>
        <p:spPr>
          <a:xfrm>
            <a:off x="914400" y="3063240"/>
            <a:ext cx="7315200" cy="1097280"/>
          </a:xfrm>
          <a:prstGeom prst="rect">
            <a:avLst/>
          </a:prstGeom>
          <a:noFill/>
          <a:ln/>
        </p:spPr>
        <p:txBody>
          <a:bodyPr wrap="square" lIns="0" tIns="0" rIns="0" bIns="0" rtlCol="0" anchor="t"/>
          <a:lstStyle/>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「自動決定は基本的に覆らない」という設計は採らない。自動化のスピードと、誤りを正す権利を両立させることを優先する。</a:t>
            </a:r>
            <a:endParaRPr lang="en-US" sz="13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TAX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地方税ゼロ×交付税：モラルハザード対策</a:t>
            </a:r>
            <a:endParaRPr lang="en-US" sz="2100" dirty="0"/>
          </a:p>
        </p:txBody>
      </p:sp>
      <p:sp>
        <p:nvSpPr>
          <p:cNvPr id="4" name="Text 2"/>
          <p:cNvSpPr/>
          <p:nvPr/>
        </p:nvSpPr>
        <p:spPr>
          <a:xfrm>
            <a:off x="548640" y="1417320"/>
            <a:ext cx="8046720" cy="365760"/>
          </a:xfrm>
          <a:prstGeom prst="rect">
            <a:avLst/>
          </a:prstGeom>
          <a:noFill/>
          <a:ln/>
        </p:spPr>
        <p:txBody>
          <a:bodyPr wrap="square" lIns="0" tIns="0" rIns="0" bIns="0" rtlCol="0" anchor="ctr"/>
          <a:lstStyle/>
          <a:p>
            <a:pPr indent="0" marL="0">
              <a:buNone/>
            </a:pPr>
            <a:r>
              <a:rPr lang="en-US" sz="1350" b="1" dirty="0">
                <a:solidFill>
                  <a:srgbClr val="16181D"/>
                </a:solidFill>
                <a:latin typeface="BIZ UDPGothic" pitchFamily="34" charset="0"/>
                <a:ea typeface="BIZ UDPGothic" pitchFamily="34" charset="-122"/>
                <a:cs typeface="BIZ UDPGothic" pitchFamily="34" charset="-120"/>
              </a:rPr>
              <a:t>問題：減税してるのに交付税も増える抜け穴になっていないか</a:t>
            </a:r>
            <a:endParaRPr lang="en-US" sz="1350" dirty="0"/>
          </a:p>
        </p:txBody>
      </p:sp>
      <p:sp>
        <p:nvSpPr>
          <p:cNvPr id="5" name="Shape 3"/>
          <p:cNvSpPr/>
          <p:nvPr/>
        </p:nvSpPr>
        <p:spPr>
          <a:xfrm>
            <a:off x="548640" y="1965960"/>
            <a:ext cx="8046720" cy="2606040"/>
          </a:xfrm>
          <a:prstGeom prst="roundRect">
            <a:avLst>
              <a:gd name="adj" fmla="val 2807"/>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868680" y="2194560"/>
            <a:ext cx="7406640" cy="457200"/>
          </a:xfrm>
          <a:prstGeom prst="rect">
            <a:avLst/>
          </a:prstGeom>
          <a:noFill/>
          <a:ln/>
        </p:spPr>
        <p:txBody>
          <a:bodyPr wrap="square" lIns="0" tIns="0" rIns="0" bIns="0" rtlCol="0" anchor="ctr"/>
          <a:lstStyle/>
          <a:p>
            <a:pPr indent="0" marL="0">
              <a:buNone/>
            </a:pPr>
            <a:r>
              <a:rPr lang="en-US" sz="1550" b="1" dirty="0">
                <a:solidFill>
                  <a:srgbClr val="C8161D"/>
                </a:solidFill>
                <a:latin typeface="BIZ UDPGothic" pitchFamily="34" charset="0"/>
                <a:ea typeface="BIZ UDPGothic" pitchFamily="34" charset="-122"/>
                <a:cs typeface="BIZ UDPGothic" pitchFamily="34" charset="-120"/>
              </a:rPr>
              <a:t>✅ 対策：交付税算定は「標準税率ベース」を維持</a:t>
            </a:r>
            <a:endParaRPr lang="en-US" sz="1550" dirty="0"/>
          </a:p>
        </p:txBody>
      </p:sp>
      <p:sp>
        <p:nvSpPr>
          <p:cNvPr id="7" name="Text 5"/>
          <p:cNvSpPr/>
          <p:nvPr/>
        </p:nvSpPr>
        <p:spPr>
          <a:xfrm>
            <a:off x="868680" y="2697480"/>
            <a:ext cx="7406640" cy="1737360"/>
          </a:xfrm>
          <a:prstGeom prst="rect">
            <a:avLst/>
          </a:prstGeom>
          <a:noFill/>
          <a:ln/>
        </p:spPr>
        <p:txBody>
          <a:bodyPr wrap="square" lIns="0" tIns="0" rIns="0" bIns="0" rtlCol="0" anchor="t"/>
          <a:lstStyle/>
          <a:p>
            <a:pPr indent="0" marL="0">
              <a:lnSpc>
                <a:spcPct val="135000"/>
              </a:lnSpc>
              <a:buNone/>
            </a:pPr>
            <a:r>
              <a:rPr lang="en-US" sz="1300" dirty="0">
                <a:solidFill>
                  <a:srgbClr val="16181D"/>
                </a:solidFill>
                <a:latin typeface="BIZ UDPGothic" pitchFamily="34" charset="0"/>
                <a:ea typeface="BIZ UDPGothic" pitchFamily="34" charset="-122"/>
                <a:cs typeface="BIZ UDPGothic" pitchFamily="34" charset="-120"/>
              </a:rPr>
              <a:t>交付税の算定基礎（基準財政収入額）は、実際の税収ではなく標準税率でのみなし収入を用いる現行方式を維持する。特区自治体が税率をゼロにしても、みなし収入は変わらないため、税率ゼロ自体では交付税は増えない。「2割上乗せボーナス」はこれとは別枠の独立したインセンティブとして扱う。</a:t>
            </a:r>
            <a:endParaRPr lang="en-US" sz="130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STAFFING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余剰職員の配置転換は「分限処分」として</a:t>
            </a:r>
            <a:endParaRPr lang="en-US" sz="2100" dirty="0"/>
          </a:p>
        </p:txBody>
      </p:sp>
      <p:sp>
        <p:nvSpPr>
          <p:cNvPr id="4" name="Shape 2"/>
          <p:cNvSpPr/>
          <p:nvPr/>
        </p:nvSpPr>
        <p:spPr>
          <a:xfrm>
            <a:off x="548640" y="1645920"/>
            <a:ext cx="8046720" cy="2880360"/>
          </a:xfrm>
          <a:prstGeom prst="roundRect">
            <a:avLst>
              <a:gd name="adj" fmla="val 2540"/>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920240"/>
            <a:ext cx="7498080" cy="2468880"/>
          </a:xfrm>
          <a:prstGeom prst="rect">
            <a:avLst/>
          </a:prstGeom>
          <a:noFill/>
          <a:ln/>
        </p:spPr>
        <p:txBody>
          <a:bodyPr wrap="square" lIns="0" tIns="0" rIns="0" bIns="0" rtlCol="0" anchor="t"/>
          <a:lstStyle/>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AI化で事務作業そのものが消滅する職種は、地方公務員法上の「職制廃止に伴う分限処分」として、本人同意なくても配置転換する</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強制されるのは職務内容の変更のみ。雇用・給与は特区予算で完全保証したまま維持する</a:t>
            </a:r>
            <a:endParaRPr lang="en-US" sz="1400" dirty="0"/>
          </a:p>
          <a:p>
            <a:pPr marL="342900" indent="-342900">
              <a:lnSpc>
                <a:spcPct val="135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身分（雇用）を守りながら、抵抗勢力になりうる余剰人員を「地域伴走型コンサルタント」へ転換する</a:t>
            </a:r>
            <a:endParaRPr lang="en-US" sz="1400" dirty="0"/>
          </a:p>
        </p:txBody>
      </p:sp>
      <p:sp>
        <p:nvSpPr>
          <p:cNvPr id="6" name="Text 4"/>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7" name="Text 5"/>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現状の関連予算規模</a:t>
            </a:r>
            <a:endParaRPr lang="en-US" sz="2500" dirty="0"/>
          </a:p>
        </p:txBody>
      </p:sp>
      <p:sp>
        <p:nvSpPr>
          <p:cNvPr id="4" name="Shape 2"/>
          <p:cNvSpPr/>
          <p:nvPr/>
        </p:nvSpPr>
        <p:spPr>
          <a:xfrm>
            <a:off x="54864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2103120" cy="7315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6,512億円</a:t>
            </a:r>
            <a:endParaRPr lang="en-US" sz="2600" dirty="0"/>
          </a:p>
        </p:txBody>
      </p:sp>
      <p:sp>
        <p:nvSpPr>
          <p:cNvPr id="6" name="Text 4"/>
          <p:cNvSpPr/>
          <p:nvPr/>
        </p:nvSpPr>
        <p:spPr>
          <a:xfrm>
            <a:off x="731520" y="2606040"/>
            <a:ext cx="2103120" cy="502920"/>
          </a:xfrm>
          <a:prstGeom prst="rect">
            <a:avLst/>
          </a:prstGeom>
          <a:noFill/>
          <a:ln/>
        </p:spPr>
        <p:txBody>
          <a:bodyPr wrap="square" lIns="0" tIns="0" rIns="0" bIns="0" rtlCol="0" anchor="t"/>
          <a:lstStyle/>
          <a:p>
            <a:pPr indent="0" marL="0">
              <a:lnSpc>
                <a:spcPct val="115000"/>
              </a:lnSpc>
              <a:buNone/>
            </a:pPr>
            <a:r>
              <a:rPr lang="en-US" sz="1200" b="1" dirty="0">
                <a:solidFill>
                  <a:srgbClr val="16181D"/>
                </a:solidFill>
                <a:latin typeface="BIZ UDPGothic" pitchFamily="34" charset="0"/>
                <a:ea typeface="BIZ UDPGothic" pitchFamily="34" charset="-122"/>
                <a:cs typeface="BIZ UDPGothic" pitchFamily="34" charset="-120"/>
              </a:rPr>
              <a:t>デジタル庁予算（令和7年度補正、全体）</a:t>
            </a:r>
            <a:endParaRPr lang="en-US" sz="1200" dirty="0"/>
          </a:p>
        </p:txBody>
      </p:sp>
      <p:sp>
        <p:nvSpPr>
          <p:cNvPr id="7" name="Text 5"/>
          <p:cNvSpPr/>
          <p:nvPr/>
        </p:nvSpPr>
        <p:spPr>
          <a:xfrm>
            <a:off x="73152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うちシステム整備448億円。デジタル庁</a:t>
            </a:r>
            <a:endParaRPr lang="en-US" sz="950" dirty="0"/>
          </a:p>
        </p:txBody>
      </p:sp>
      <p:sp>
        <p:nvSpPr>
          <p:cNvPr id="8" name="Shape 6"/>
          <p:cNvSpPr/>
          <p:nvPr/>
        </p:nvSpPr>
        <p:spPr>
          <a:xfrm>
            <a:off x="333756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20440" y="1874520"/>
            <a:ext cx="2103120" cy="7315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317億円</a:t>
            </a:r>
            <a:endParaRPr lang="en-US" sz="2600" dirty="0"/>
          </a:p>
        </p:txBody>
      </p:sp>
      <p:sp>
        <p:nvSpPr>
          <p:cNvPr id="10" name="Text 8"/>
          <p:cNvSpPr/>
          <p:nvPr/>
        </p:nvSpPr>
        <p:spPr>
          <a:xfrm>
            <a:off x="3520440" y="2606040"/>
            <a:ext cx="2103120" cy="502920"/>
          </a:xfrm>
          <a:prstGeom prst="rect">
            <a:avLst/>
          </a:prstGeom>
          <a:noFill/>
          <a:ln/>
        </p:spPr>
        <p:txBody>
          <a:bodyPr wrap="square" lIns="0" tIns="0" rIns="0" bIns="0" rtlCol="0" anchor="t"/>
          <a:lstStyle/>
          <a:p>
            <a:pPr indent="0" marL="0">
              <a:lnSpc>
                <a:spcPct val="115000"/>
              </a:lnSpc>
              <a:buNone/>
            </a:pPr>
            <a:r>
              <a:rPr lang="en-US" sz="1200" b="1" dirty="0">
                <a:solidFill>
                  <a:srgbClr val="16181D"/>
                </a:solidFill>
                <a:latin typeface="BIZ UDPGothic" pitchFamily="34" charset="0"/>
                <a:ea typeface="BIZ UDPGothic" pitchFamily="34" charset="-122"/>
                <a:cs typeface="BIZ UDPGothic" pitchFamily="34" charset="-120"/>
              </a:rPr>
              <a:t>自治体システム標準化・ガバクラ推進事業</a:t>
            </a:r>
            <a:endParaRPr lang="en-US" sz="1200" dirty="0"/>
          </a:p>
        </p:txBody>
      </p:sp>
      <p:sp>
        <p:nvSpPr>
          <p:cNvPr id="11" name="Text 9"/>
          <p:cNvSpPr/>
          <p:nvPr/>
        </p:nvSpPr>
        <p:spPr>
          <a:xfrm>
            <a:off x="352044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デジタル庁 令和7年度補正</a:t>
            </a:r>
            <a:endParaRPr lang="en-US" sz="950" dirty="0"/>
          </a:p>
        </p:txBody>
      </p:sp>
      <p:sp>
        <p:nvSpPr>
          <p:cNvPr id="12" name="Shape 10"/>
          <p:cNvSpPr/>
          <p:nvPr/>
        </p:nvSpPr>
        <p:spPr>
          <a:xfrm>
            <a:off x="612648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309360" y="1874520"/>
            <a:ext cx="2103120" cy="7315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19.3兆円</a:t>
            </a:r>
            <a:endParaRPr lang="en-US" sz="2600" dirty="0"/>
          </a:p>
        </p:txBody>
      </p:sp>
      <p:sp>
        <p:nvSpPr>
          <p:cNvPr id="14" name="Text 12"/>
          <p:cNvSpPr/>
          <p:nvPr/>
        </p:nvSpPr>
        <p:spPr>
          <a:xfrm>
            <a:off x="6309360" y="2606040"/>
            <a:ext cx="2103120" cy="502920"/>
          </a:xfrm>
          <a:prstGeom prst="rect">
            <a:avLst/>
          </a:prstGeom>
          <a:noFill/>
          <a:ln/>
        </p:spPr>
        <p:txBody>
          <a:bodyPr wrap="square" lIns="0" tIns="0" rIns="0" bIns="0" rtlCol="0" anchor="t"/>
          <a:lstStyle/>
          <a:p>
            <a:pPr indent="0" marL="0">
              <a:lnSpc>
                <a:spcPct val="115000"/>
              </a:lnSpc>
              <a:buNone/>
            </a:pPr>
            <a:r>
              <a:rPr lang="en-US" sz="1200" b="1" dirty="0">
                <a:solidFill>
                  <a:srgbClr val="16181D"/>
                </a:solidFill>
                <a:latin typeface="BIZ UDPGothic" pitchFamily="34" charset="0"/>
                <a:ea typeface="BIZ UDPGothic" pitchFamily="34" charset="-122"/>
                <a:cs typeface="BIZ UDPGothic" pitchFamily="34" charset="-120"/>
              </a:rPr>
              <a:t>地方交付税 総額（令和7年度）</a:t>
            </a:r>
            <a:endParaRPr lang="en-US" sz="1200" dirty="0"/>
          </a:p>
        </p:txBody>
      </p:sp>
      <p:sp>
        <p:nvSpPr>
          <p:cNvPr id="15" name="Text 13"/>
          <p:cNvSpPr/>
          <p:nvPr/>
        </p:nvSpPr>
        <p:spPr>
          <a:xfrm>
            <a:off x="630936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総務省・財務省</a:t>
            </a:r>
            <a:endParaRPr lang="en-US" sz="950" dirty="0"/>
          </a:p>
        </p:txBody>
      </p:sp>
      <p:sp>
        <p:nvSpPr>
          <p:cNvPr id="16" name="Text 14"/>
          <p:cNvSpPr/>
          <p:nvPr/>
        </p:nvSpPr>
        <p:spPr>
          <a:xfrm>
            <a:off x="548640" y="3931920"/>
            <a:ext cx="8046720" cy="82296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全国のケースワーカー人件費規模は約1,500億円/年と推計される（配置人数19,195人×平均給与約800万円。総務省・厚労省データから試算）。AI化で直ちに全額削減される意味ではなく、規模感の参考値である。</a:t>
            </a:r>
            <a:endParaRPr lang="en-US" sz="1150" dirty="0"/>
          </a:p>
        </p:txBody>
      </p:sp>
      <p:sp>
        <p:nvSpPr>
          <p:cNvPr id="17" name="Text 1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8" name="Text 1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初年度：小規模パイロットの積み上げ試算</a:t>
            </a:r>
            <a:endParaRPr lang="en-US" sz="2100" dirty="0"/>
          </a:p>
        </p:txBody>
      </p:sp>
      <p:sp>
        <p:nvSpPr>
          <p:cNvPr id="4" name="Text 2"/>
          <p:cNvSpPr/>
          <p:nvPr/>
        </p:nvSpPr>
        <p:spPr>
          <a:xfrm>
            <a:off x="548640" y="1508760"/>
            <a:ext cx="8046720" cy="502920"/>
          </a:xfrm>
          <a:prstGeom prst="rect">
            <a:avLst/>
          </a:prstGeom>
          <a:noFill/>
          <a:ln/>
        </p:spPr>
        <p:txBody>
          <a:bodyPr wrap="square" lIns="0" tIns="0" rIns="0" bIns="0" rtlCol="0" anchor="ctr"/>
          <a:lstStyle/>
          <a:p>
            <a:pPr indent="0" marL="0">
              <a:lnSpc>
                <a:spcPct val="130000"/>
              </a:lnSpc>
              <a:buNone/>
            </a:pPr>
            <a:r>
              <a:rPr lang="en-US" sz="1250" b="1" dirty="0">
                <a:solidFill>
                  <a:srgbClr val="C8161D"/>
                </a:solidFill>
                <a:latin typeface="BIZ UDPGothic" pitchFamily="34" charset="0"/>
                <a:ea typeface="BIZ UDPGothic" pitchFamily="34" charset="-122"/>
                <a:cs typeface="BIZ UDPGothic" pitchFamily="34" charset="-120"/>
              </a:rPr>
              <a:t>前提：5自治体パイロット。4大AIシステムは国が共通基盤として1回構築し、参加自治体が乗り入れる「シェア型」</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8046720" cy="914400"/>
        </p:xfrm>
        <a:graphic>
          <a:graphicData uri="http://schemas.openxmlformats.org/drawingml/2006/table">
            <a:tbl>
              <a:tblPr/>
              <a:tblGrid>
                <a:gridCol w="3474720"/>
                <a:gridCol w="2743200"/>
                <a:gridCol w="1828800"/>
              </a:tblGrid>
              <a:tr h="548640">
                <a:tc>
                  <a:txBody>
                    <a:bodyP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項目</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c>
                  <a:txBody>
                    <a:bodyP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内容</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c>
                  <a:txBody>
                    <a:bodyP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金額</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r>
              <a:tr h="548640">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4大AIシステム共通基盤構築費（初回のみ）</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4システム、各10億円前後</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約40億円</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パイロット自治体への導入・カスタマイズ費</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5自治体×2億円</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00" dirty="0">
                          <a:solidFill>
                            <a:srgbClr val="16181D"/>
                          </a:solidFill>
                          <a:latin typeface="BIZ UDPGothic" pitchFamily="34" charset="0"/>
                          <a:ea typeface="BIZ UDPGothic" pitchFamily="34" charset="-122"/>
                          <a:cs typeface="BIZ UDPGothic" pitchFamily="34" charset="-120"/>
                        </a:rPr>
                        <a:t>約10億円</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C8161D"/>
                          </a:solidFill>
                          <a:latin typeface="BIZ UDPGothic" pitchFamily="34" charset="0"/>
                          <a:ea typeface="BIZ UDPGothic" pitchFamily="34" charset="-122"/>
                          <a:cs typeface="BIZ UDPGothic" pitchFamily="34" charset="-120"/>
                        </a:rPr>
                        <a:t>初年度合計</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00" b="1" dirty="0">
                          <a:solidFill>
                            <a:srgbClr val="C8161D"/>
                          </a:solidFill>
                          <a:latin typeface="BIZ UDPGothic" pitchFamily="34" charset="0"/>
                          <a:ea typeface="BIZ UDPGothic" pitchFamily="34" charset="-122"/>
                          <a:cs typeface="BIZ UDPGothic" pitchFamily="34" charset="-120"/>
                        </a:rPr>
                        <a:t>約50億円</a:t>
                      </a:r>
                      <a:endParaRPr lang="en-US" sz="120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7"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BALANCE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既存予算との整合性チェック（逆算）</a:t>
            </a:r>
            <a:endParaRPr lang="en-US" sz="2100" dirty="0"/>
          </a:p>
        </p:txBody>
      </p:sp>
      <p:sp>
        <p:nvSpPr>
          <p:cNvPr id="4" name="Shape 2"/>
          <p:cNvSpPr/>
          <p:nvPr/>
        </p:nvSpPr>
        <p:spPr>
          <a:xfrm>
            <a:off x="548640" y="1691640"/>
            <a:ext cx="8046720" cy="2697480"/>
          </a:xfrm>
          <a:prstGeom prst="roundRect">
            <a:avLst>
              <a:gd name="adj" fmla="val 2712"/>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914400" y="1965960"/>
            <a:ext cx="7315200" cy="1005840"/>
          </a:xfrm>
          <a:prstGeom prst="rect">
            <a:avLst/>
          </a:prstGeom>
          <a:noFill/>
          <a:ln/>
        </p:spPr>
        <p:txBody>
          <a:bodyPr wrap="square" lIns="0" tIns="0" rIns="0" bIns="0" rtlCol="0" anchor="t"/>
          <a:lstStyle/>
          <a:p>
            <a:pPr indent="0" marL="0">
              <a:lnSpc>
                <a:spcPct val="140000"/>
              </a:lnSpc>
              <a:buNone/>
            </a:pPr>
            <a:r>
              <a:rPr lang="en-US" sz="1600" b="1" dirty="0">
                <a:solidFill>
                  <a:srgbClr val="16181D"/>
                </a:solidFill>
                <a:latin typeface="BIZ UDPGothic" pitchFamily="34" charset="0"/>
                <a:ea typeface="BIZ UDPGothic" pitchFamily="34" charset="-122"/>
                <a:cs typeface="BIZ UDPGothic" pitchFamily="34" charset="-120"/>
              </a:rPr>
              <a:t>初年度想定コスト　約50億円</a:t>
            </a:r>
            <a:endParaRPr lang="en-US" sz="1600" dirty="0"/>
          </a:p>
          <a:p>
            <a:pPr indent="0" marL="0">
              <a:lnSpc>
                <a:spcPct val="140000"/>
              </a:lnSpc>
              <a:buNone/>
            </a:pPr>
            <a:r>
              <a:rPr lang="en-US" sz="1450" b="1" dirty="0">
                <a:solidFill>
                  <a:srgbClr val="C8161D"/>
                </a:solidFill>
                <a:latin typeface="BIZ UDPGothic" pitchFamily="34" charset="0"/>
                <a:ea typeface="BIZ UDPGothic" pitchFamily="34" charset="-122"/>
                <a:cs typeface="BIZ UDPGothic" pitchFamily="34" charset="-120"/>
              </a:rPr>
              <a:t>デジタル庁システム整備費（448億円）の1割強に収まる規模</a:t>
            </a:r>
            <a:endParaRPr lang="en-US" sz="1600" dirty="0"/>
          </a:p>
        </p:txBody>
      </p:sp>
      <p:sp>
        <p:nvSpPr>
          <p:cNvPr id="6" name="Text 4"/>
          <p:cNvSpPr/>
          <p:nvPr/>
        </p:nvSpPr>
        <p:spPr>
          <a:xfrm>
            <a:off x="914400" y="3063240"/>
            <a:ext cx="7315200" cy="822960"/>
          </a:xfrm>
          <a:prstGeom prst="rect">
            <a:avLst/>
          </a:prstGeom>
          <a:noFill/>
          <a:ln/>
        </p:spPr>
        <p:txBody>
          <a:bodyPr wrap="square" lIns="0" tIns="0" rIns="0" bIns="0" rtlCol="0" anchor="t"/>
          <a:lstStyle/>
          <a:p>
            <a:pPr indent="0" marL="0">
              <a:lnSpc>
                <a:spcPct val="130000"/>
              </a:lnSpc>
              <a:buNone/>
            </a:pPr>
            <a:r>
              <a:rPr lang="en-US" sz="1300" dirty="0">
                <a:solidFill>
                  <a:srgbClr val="16181D"/>
                </a:solidFill>
                <a:latin typeface="BIZ UDPGothic" pitchFamily="34" charset="0"/>
                <a:ea typeface="BIZ UDPGothic" pitchFamily="34" charset="-122"/>
                <a:cs typeface="BIZ UDPGothic" pitchFamily="34" charset="-120"/>
              </a:rPr>
              <a:t>自治体システム標準化予算（317億円）の1〜2割程度にも収まり、既存のDX関連予算の枠内で立ち上げ可能な規模と考えられる。</a:t>
            </a:r>
            <a:endParaRPr lang="en-US" sz="130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000" b="1" dirty="0">
                <a:solidFill>
                  <a:srgbClr val="16181D"/>
                </a:solidFill>
                <a:latin typeface="BIZ UDPGothic" pitchFamily="34" charset="0"/>
                <a:ea typeface="BIZ UDPGothic" pitchFamily="34" charset="-122"/>
                <a:cs typeface="BIZ UDPGothic" pitchFamily="34" charset="-120"/>
              </a:rPr>
              <a:t>交付税2割ボーナスの財政インパクト（別枠）</a:t>
            </a:r>
            <a:endParaRPr lang="en-US" sz="2000" dirty="0"/>
          </a:p>
        </p:txBody>
      </p:sp>
      <p:sp>
        <p:nvSpPr>
          <p:cNvPr id="4" name="Shape 2"/>
          <p:cNvSpPr/>
          <p:nvPr/>
        </p:nvSpPr>
        <p:spPr>
          <a:xfrm>
            <a:off x="548640" y="1645920"/>
            <a:ext cx="8046720" cy="2880360"/>
          </a:xfrm>
          <a:prstGeom prst="roundRect">
            <a:avLst>
              <a:gd name="adj" fmla="val 2540"/>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68680" y="1874520"/>
            <a:ext cx="7406640" cy="457200"/>
          </a:xfrm>
          <a:prstGeom prst="rect">
            <a:avLst/>
          </a:prstGeom>
          <a:noFill/>
          <a:ln/>
        </p:spPr>
        <p:txBody>
          <a:bodyPr wrap="square" lIns="0" tIns="0" rIns="0" bIns="0" rtlCol="0" anchor="ctr"/>
          <a:lstStyle/>
          <a:p>
            <a:pPr indent="0" marL="0">
              <a:buNone/>
            </a:pPr>
            <a:r>
              <a:rPr lang="en-US" sz="1500" b="1" dirty="0">
                <a:solidFill>
                  <a:srgbClr val="C8161D"/>
                </a:solidFill>
                <a:latin typeface="BIZ UDPGothic" pitchFamily="34" charset="0"/>
                <a:ea typeface="BIZ UDPGothic" pitchFamily="34" charset="-122"/>
                <a:cs typeface="BIZ UDPGothic" pitchFamily="34" charset="-120"/>
              </a:rPr>
              <a:t>⚠️ 既存予算の振り替えではなく、純粋な追加コスト</a:t>
            </a:r>
            <a:endParaRPr lang="en-US" sz="1500" dirty="0"/>
          </a:p>
        </p:txBody>
      </p:sp>
      <p:sp>
        <p:nvSpPr>
          <p:cNvPr id="6" name="Text 4"/>
          <p:cNvSpPr/>
          <p:nvPr/>
        </p:nvSpPr>
        <p:spPr>
          <a:xfrm>
            <a:off x="868680" y="2423160"/>
            <a:ext cx="7406640" cy="1920240"/>
          </a:xfrm>
          <a:prstGeom prst="rect">
            <a:avLst/>
          </a:prstGeom>
          <a:noFill/>
          <a:ln/>
        </p:spPr>
        <p:txBody>
          <a:bodyPr wrap="square" lIns="0" tIns="0" rIns="0" bIns="0" rtlCol="0" anchor="t"/>
          <a:lstStyle/>
          <a:p>
            <a:pPr indent="0" marL="0">
              <a:lnSpc>
                <a:spcPct val="140000"/>
              </a:lnSpc>
              <a:buNone/>
            </a:pPr>
            <a:r>
              <a:rPr lang="en-US" sz="1300" dirty="0">
                <a:solidFill>
                  <a:srgbClr val="16181D"/>
                </a:solidFill>
                <a:latin typeface="BIZ UDPGothic" pitchFamily="34" charset="0"/>
                <a:ea typeface="BIZ UDPGothic" pitchFamily="34" charset="-122"/>
                <a:cs typeface="BIZ UDPGothic" pitchFamily="34" charset="-120"/>
              </a:rPr>
              <a:t>地方交付税総額19.3兆円 ÷ 全国約1,718市区町村 ＝ 単純平均で1自治体あたり約110億円/年。ただし自治体規模による差が非常に大きいため、中規模自治体5団体が参加した場合の保守的な参考値として、年間約50〜100億円規模と見積もる。参加自治体の顔ぶれが決まり次第、精緻化が必要。</a:t>
            </a:r>
            <a:endParaRPr lang="en-US" sz="130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OUTCOME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この提言で何が変わるか：3つの効果</a:t>
            </a:r>
            <a:endParaRPr lang="en-US" sz="2400" dirty="0"/>
          </a:p>
        </p:txBody>
      </p:sp>
      <p:sp>
        <p:nvSpPr>
          <p:cNvPr id="4" name="Text 2"/>
          <p:cNvSpPr/>
          <p:nvPr/>
        </p:nvSpPr>
        <p:spPr>
          <a:xfrm>
            <a:off x="548640" y="1737360"/>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①</a:t>
            </a:r>
            <a:endParaRPr lang="en-US" sz="1500" dirty="0"/>
          </a:p>
        </p:txBody>
      </p:sp>
      <p:sp>
        <p:nvSpPr>
          <p:cNvPr id="5" name="Text 3"/>
          <p:cNvSpPr/>
          <p:nvPr/>
        </p:nvSpPr>
        <p:spPr>
          <a:xfrm>
            <a:off x="1005840" y="1737360"/>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行政コストの劇的な削減と待ち時間ゼロ　── ルーティン業務から人間を排除し、手続きを24時間以内で完結させる</a:t>
            </a:r>
            <a:endParaRPr lang="en-US" sz="1400" dirty="0"/>
          </a:p>
        </p:txBody>
      </p:sp>
      <p:sp>
        <p:nvSpPr>
          <p:cNvPr id="6" name="Text 4"/>
          <p:cNvSpPr/>
          <p:nvPr/>
        </p:nvSpPr>
        <p:spPr>
          <a:xfrm>
            <a:off x="548640" y="2121408"/>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②</a:t>
            </a:r>
            <a:endParaRPr lang="en-US" sz="1500" dirty="0"/>
          </a:p>
        </p:txBody>
      </p:sp>
      <p:sp>
        <p:nvSpPr>
          <p:cNvPr id="7" name="Text 5"/>
          <p:cNvSpPr/>
          <p:nvPr/>
        </p:nvSpPr>
        <p:spPr>
          <a:xfrm>
            <a:off x="1005840" y="2121408"/>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不正と搾取の根絶　── 公共工事の多重下請けと生活保護の不正・不当な追い返しをシステム的に不可能にする</a:t>
            </a:r>
            <a:endParaRPr lang="en-US" sz="1400" dirty="0"/>
          </a:p>
        </p:txBody>
      </p:sp>
      <p:sp>
        <p:nvSpPr>
          <p:cNvPr id="8" name="Text 6"/>
          <p:cNvSpPr/>
          <p:nvPr/>
        </p:nvSpPr>
        <p:spPr>
          <a:xfrm>
            <a:off x="548640" y="2505456"/>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③</a:t>
            </a:r>
            <a:endParaRPr lang="en-US" sz="1500" dirty="0"/>
          </a:p>
        </p:txBody>
      </p:sp>
      <p:sp>
        <p:nvSpPr>
          <p:cNvPr id="9" name="Text 7"/>
          <p:cNvSpPr/>
          <p:nvPr/>
        </p:nvSpPr>
        <p:spPr>
          <a:xfrm>
            <a:off x="1005840" y="2505456"/>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地方自治の生存競争の勃発　── 財政ボーナスと大減税の権限で、意欲ある自治体がイノベーションを競い合う</a:t>
            </a:r>
            <a:endParaRPr lang="en-US" sz="1400" dirty="0"/>
          </a:p>
        </p:txBody>
      </p:sp>
      <p:sp>
        <p:nvSpPr>
          <p:cNvPr id="10" name="Text 8"/>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1" name="Text 9"/>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REMAINING ISSUES</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これから詰めるべき課題</a:t>
            </a:r>
            <a:endParaRPr lang="en-US" sz="2400" dirty="0"/>
          </a:p>
        </p:txBody>
      </p:sp>
      <p:sp>
        <p:nvSpPr>
          <p:cNvPr id="4" name="Text 2"/>
          <p:cNvSpPr/>
          <p:nvPr/>
        </p:nvSpPr>
        <p:spPr>
          <a:xfrm>
            <a:off x="548640" y="1554480"/>
            <a:ext cx="8046720" cy="3246120"/>
          </a:xfrm>
          <a:prstGeom prst="rect">
            <a:avLst/>
          </a:prstGeom>
          <a:noFill/>
          <a:ln/>
        </p:spPr>
        <p:txBody>
          <a:bodyPr wrap="square" lIns="0" tIns="0" rIns="0" bIns="0" rtlCol="0" anchor="ctr"/>
          <a:lstStyle/>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4大AIシステムそれぞれの具体的な開発規模・調達方式（内製か外部委託か）の精査</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生活保護AI判定の「確信度」の具体的な算出ロジックと、誤判定率の事前検証方法</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公共工事の多重下請け全面禁止が、建設業界の既存の重層構造に与える移行影響の検証</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都市計画AIの修繕優先順位付けに対する住民・議会からの異議申立て制度の要否</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交付税2割ボーナスの参加自治体規模別シミュレーション</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ITベンダーのOSS義務化が入札参加意欲・品質に与える影響の検証</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分限処分による配置転換に対する職員団体（労働組合）との協議プロセスの設計</a:t>
            </a:r>
            <a:endParaRPr lang="en-US" sz="1350" dirty="0"/>
          </a:p>
        </p:txBody>
      </p:sp>
      <p:sp>
        <p:nvSpPr>
          <p:cNvPr id="5"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6"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REBOOT JAPAN ── 提言012　まとめ</a:t>
            </a:r>
            <a:endParaRPr lang="en-US" sz="1200" dirty="0"/>
          </a:p>
        </p:txBody>
      </p:sp>
      <p:sp>
        <p:nvSpPr>
          <p:cNvPr id="3" name="Text 1"/>
          <p:cNvSpPr/>
          <p:nvPr/>
        </p:nvSpPr>
        <p:spPr>
          <a:xfrm>
            <a:off x="548640" y="868680"/>
            <a:ext cx="8046720" cy="1737360"/>
          </a:xfrm>
          <a:prstGeom prst="rect">
            <a:avLst/>
          </a:prstGeom>
          <a:noFill/>
          <a:ln/>
        </p:spPr>
        <p:txBody>
          <a:bodyPr wrap="square" lIns="0" tIns="0" rIns="0" bIns="0" rtlCol="0" anchor="ctr"/>
          <a:lstStyle/>
          <a:p>
            <a:pPr indent="0" marL="0">
              <a:lnSpc>
                <a:spcPct val="120000"/>
              </a:lnSpc>
              <a:buNone/>
            </a:pPr>
            <a:r>
              <a:rPr lang="en-US" sz="2800" b="1" dirty="0">
                <a:solidFill>
                  <a:srgbClr val="16181D"/>
                </a:solidFill>
                <a:latin typeface="BIZ UDPGothic" pitchFamily="34" charset="0"/>
                <a:ea typeface="BIZ UDPGothic" pitchFamily="34" charset="-122"/>
                <a:cs typeface="BIZ UDPGothic" pitchFamily="34" charset="-120"/>
              </a:rPr>
              <a:t>判断そのものを、</a:t>
            </a:r>
            <a:endParaRPr lang="en-US" sz="2800" dirty="0"/>
          </a:p>
          <a:p>
            <a:pPr indent="0" marL="0">
              <a:lnSpc>
                <a:spcPct val="120000"/>
              </a:lnSpc>
              <a:buNone/>
            </a:pPr>
            <a:r>
              <a:rPr lang="en-US" sz="2800" b="1" dirty="0">
                <a:solidFill>
                  <a:srgbClr val="16181D"/>
                </a:solidFill>
                <a:latin typeface="BIZ UDPGothic" pitchFamily="34" charset="0"/>
                <a:ea typeface="BIZ UDPGothic" pitchFamily="34" charset="-122"/>
                <a:cs typeface="BIZ UDPGothic" pitchFamily="34" charset="-120"/>
              </a:rPr>
              <a:t>AIに委ねる。</a:t>
            </a:r>
            <a:endParaRPr lang="en-US" sz="2800" dirty="0"/>
          </a:p>
          <a:p>
            <a:pPr indent="0" marL="0">
              <a:lnSpc>
                <a:spcPct val="120000"/>
              </a:lnSpc>
              <a:buNone/>
            </a:pPr>
            <a:r>
              <a:rPr lang="en-US" sz="2800" b="1" dirty="0">
                <a:solidFill>
                  <a:srgbClr val="16181D"/>
                </a:solidFill>
                <a:latin typeface="BIZ UDPGothic" pitchFamily="34" charset="0"/>
                <a:ea typeface="BIZ UDPGothic" pitchFamily="34" charset="-122"/>
                <a:cs typeface="BIZ UDPGothic" pitchFamily="34" charset="-120"/>
              </a:rPr>
              <a:t>速さと救済を両立させる。</a:t>
            </a:r>
            <a:endParaRPr lang="en-US" sz="2800" dirty="0"/>
          </a:p>
        </p:txBody>
      </p:sp>
      <p:sp>
        <p:nvSpPr>
          <p:cNvPr id="4" name="Text 2"/>
          <p:cNvSpPr/>
          <p:nvPr/>
        </p:nvSpPr>
        <p:spPr>
          <a:xfrm>
            <a:off x="548640" y="2743200"/>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①</a:t>
            </a:r>
            <a:endParaRPr lang="en-US" sz="1400" dirty="0"/>
          </a:p>
        </p:txBody>
      </p:sp>
      <p:sp>
        <p:nvSpPr>
          <p:cNvPr id="5" name="Text 3"/>
          <p:cNvSpPr/>
          <p:nvPr/>
        </p:nvSpPr>
        <p:spPr>
          <a:xfrm>
            <a:off x="1005840" y="2743200"/>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特区認定は客観的基準による即日認定。退路を断つ条例の同時可決を必須とする</a:t>
            </a:r>
            <a:endParaRPr lang="en-US" sz="1300" dirty="0"/>
          </a:p>
        </p:txBody>
      </p:sp>
      <p:sp>
        <p:nvSpPr>
          <p:cNvPr id="6" name="Text 4"/>
          <p:cNvSpPr/>
          <p:nvPr/>
        </p:nvSpPr>
        <p:spPr>
          <a:xfrm>
            <a:off x="548640" y="3127248"/>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②</a:t>
            </a:r>
            <a:endParaRPr lang="en-US" sz="1400" dirty="0"/>
          </a:p>
        </p:txBody>
      </p:sp>
      <p:sp>
        <p:nvSpPr>
          <p:cNvPr id="7" name="Text 5"/>
          <p:cNvSpPr/>
          <p:nvPr/>
        </p:nvSpPr>
        <p:spPr>
          <a:xfrm>
            <a:off x="1005840" y="3127248"/>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公共工事・生活保護・都市計画・行政窓口の4領域をAIで自動化する</a:t>
            </a:r>
            <a:endParaRPr lang="en-US" sz="1300" dirty="0"/>
          </a:p>
        </p:txBody>
      </p:sp>
      <p:sp>
        <p:nvSpPr>
          <p:cNvPr id="8" name="Text 6"/>
          <p:cNvSpPr/>
          <p:nvPr/>
        </p:nvSpPr>
        <p:spPr>
          <a:xfrm>
            <a:off x="548640" y="3511296"/>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③</a:t>
            </a:r>
            <a:endParaRPr lang="en-US" sz="1400" dirty="0"/>
          </a:p>
        </p:txBody>
      </p:sp>
      <p:sp>
        <p:nvSpPr>
          <p:cNvPr id="9" name="Text 7"/>
          <p:cNvSpPr/>
          <p:nvPr/>
        </p:nvSpPr>
        <p:spPr>
          <a:xfrm>
            <a:off x="1005840" y="3511296"/>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生活保護AIは確信度別のハイブリッド判定。異議申立ての経路は常に残す</a:t>
            </a:r>
            <a:endParaRPr lang="en-US" sz="1300" dirty="0"/>
          </a:p>
        </p:txBody>
      </p:sp>
      <p:sp>
        <p:nvSpPr>
          <p:cNvPr id="10" name="Text 8"/>
          <p:cNvSpPr/>
          <p:nvPr/>
        </p:nvSpPr>
        <p:spPr>
          <a:xfrm>
            <a:off x="548640" y="3895344"/>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④</a:t>
            </a:r>
            <a:endParaRPr lang="en-US" sz="1400" dirty="0"/>
          </a:p>
        </p:txBody>
      </p:sp>
      <p:sp>
        <p:nvSpPr>
          <p:cNvPr id="11" name="Text 9"/>
          <p:cNvSpPr/>
          <p:nvPr/>
        </p:nvSpPr>
        <p:spPr>
          <a:xfrm>
            <a:off x="1005840" y="3895344"/>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地方税ゼロにしても交付税は増えない設計で、減税と財源保障を両立させる</a:t>
            </a:r>
            <a:endParaRPr lang="en-US" sz="1300" dirty="0"/>
          </a:p>
        </p:txBody>
      </p:sp>
      <p:sp>
        <p:nvSpPr>
          <p:cNvPr id="12" name="Text 10"/>
          <p:cNvSpPr/>
          <p:nvPr/>
        </p:nvSpPr>
        <p:spPr>
          <a:xfrm>
            <a:off x="548640" y="4279392"/>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⑤</a:t>
            </a:r>
            <a:endParaRPr lang="en-US" sz="1400" dirty="0"/>
          </a:p>
        </p:txBody>
      </p:sp>
      <p:sp>
        <p:nvSpPr>
          <p:cNvPr id="13" name="Text 11"/>
          <p:cNvSpPr/>
          <p:nvPr/>
        </p:nvSpPr>
        <p:spPr>
          <a:xfrm>
            <a:off x="1005840" y="4279392"/>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余剰職員は分限処分で配置転換。雇用・給与は保証したまま職務内容のみ変更する</a:t>
            </a:r>
            <a:endParaRPr lang="en-US" sz="130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自動運転・無人物流特区による地域インフラ変革戦略</dc:title>
  <dc:subject>PptxGenJS Presentation</dc:subject>
  <dc:creator>REBOOT JAPAN</dc:creator>
  <cp:lastModifiedBy>REBOOT JAPAN</cp:lastModifiedBy>
  <cp:revision>1</cp:revision>
  <dcterms:created xsi:type="dcterms:W3CDTF">2026-07-16T11:19:18Z</dcterms:created>
  <dcterms:modified xsi:type="dcterms:W3CDTF">2026-07-16T11:19:18Z</dcterms:modified>
</cp:coreProperties>
</file>