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REBOOT JAPAN  ──  提言 #003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BtoB下請け産業の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構造再編と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D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成長ドライブ施策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零細企業を減らし、強い中堅企業を育てるための産業大手術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36118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提言001「日本再起動プラン」と車の両輪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提言003（産業側）：企業の新陳代謝を強制的に促す　／　提言001（労働者側）：退場した労働者を守り再教育する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46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REBOOT JAPAN ── 市民による政策提言プラットフォーム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問題の構造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なぜ30年間、賃金が上がらなかったのか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804672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8412480" cy="3474720"/>
          </a:xfrm>
          <a:prstGeom prst="roundRect">
            <a:avLst>
              <a:gd name="adj" fmla="val 2105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4592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3B0000"/>
          </a:solidFill>
          <a:ln w="12700">
            <a:solidFill>
              <a:srgbClr val="D6282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69164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無条件の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優遇税制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205740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43200" y="164592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88920" y="169164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ゾンビ企業・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中抜き業者の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延命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205740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92040" y="164592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69164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市場の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新陳代謝が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止まる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0" y="205740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040880" y="164592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3B0000"/>
          </a:solidFill>
          <a:ln w="12700">
            <a:solidFill>
              <a:srgbClr val="D6282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86600" y="169164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賃金が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上がらない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246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日本の労働者の約7割は中小・零細企業に勤めている。その賃金が上がらない根本原因は「企業の構造」にある。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794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本提言は、この「負のループ」を強制的に断ち切る。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315968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3B0000"/>
          </a:solidFill>
          <a:ln w="12700">
            <a:solidFill>
              <a:srgbClr val="D6282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さらに：</a:t>
            </a:r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赤字法人（全法人の61%・過去10年平均63〜64%）への補助金投入が、ゾンビ企業をさらに延命させている。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現状データ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日本企業の構造的欠陥　──　3つの数字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804672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17320"/>
            <a:ext cx="2788920" cy="3566160"/>
          </a:xfrm>
          <a:prstGeom prst="roundRect">
            <a:avLst>
              <a:gd name="adj" fmla="val 2623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55448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20040" y="25328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赤字法人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944368"/>
            <a:ext cx="233172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301752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令和5年度・国税庁会社標本調査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327355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過去10年平均：63〜64%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352958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コロナ補助金込みでこの水準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378561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「作られた赤字」が常態化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18688" y="1417320"/>
            <a:ext cx="2788920" cy="3566160"/>
          </a:xfrm>
          <a:prstGeom prst="roundRect">
            <a:avLst>
              <a:gd name="adj" fmla="val 2623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64408" y="155448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41%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3264408" y="25328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零細・小規模事業者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47288" y="2944368"/>
            <a:ext cx="233172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28416" y="301752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自然状態では縮小が加速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28416" y="327355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5年間の変化：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28416" y="352958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成長　3.8万社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28416" y="378561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縮小　6.5万社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63056" y="1417320"/>
            <a:ext cx="2788920" cy="3566160"/>
          </a:xfrm>
          <a:prstGeom prst="roundRect">
            <a:avLst>
              <a:gd name="adj" fmla="val 2623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08776" y="155448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0.7%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6208776" y="25328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中堅企業（9,229社）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91656" y="2944368"/>
            <a:ext cx="233172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301752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30年間でほぼ増えていない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72784" y="327355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大企業0.3% ＋ 中堅0.7%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72784" y="352958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＝ 合計でも全体の1%未満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72784" y="378561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零細・中小が99%を占める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5074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無条件の優遇税制と延命補助金が、この構造を30年間固定してきた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深掘り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赤字法人61%　──　「作られた赤字」が常態化している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804672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3B0000"/>
          </a:solidFill>
          <a:ln w="12700">
            <a:solidFill>
              <a:srgbClr val="D6282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5087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502920" y="2523744"/>
            <a:ext cx="1600200" cy="0"/>
          </a:xfrm>
          <a:prstGeom prst="line">
            <a:avLst/>
          </a:prstGeom>
          <a:noFill/>
          <a:ln w="6350">
            <a:solidFill>
              <a:srgbClr val="D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57860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リーマン後の最悪水準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31720" y="233172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468880" y="141732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2E2E2E"/>
          </a:solidFill>
          <a:ln w="12700">
            <a:solidFill>
              <a:srgbClr val="F5F5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14600" y="15087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182880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63%</a:t>
            </a:r>
            <a:endParaRPr lang="en-US" sz="3800" dirty="0"/>
          </a:p>
        </p:txBody>
      </p:sp>
      <p:sp>
        <p:nvSpPr>
          <p:cNvPr id="15" name="Shape 13"/>
          <p:cNvSpPr/>
          <p:nvPr/>
        </p:nvSpPr>
        <p:spPr>
          <a:xfrm>
            <a:off x="2651760" y="2523744"/>
            <a:ext cx="160020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257860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「9年連続改善」とメディアが報道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233172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17720" y="141732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2E2E2E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15087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182880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CD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3800" dirty="0"/>
          </a:p>
        </p:txBody>
      </p:sp>
      <p:sp>
        <p:nvSpPr>
          <p:cNvPr id="21" name="Shape 19"/>
          <p:cNvSpPr/>
          <p:nvPr/>
        </p:nvSpPr>
        <p:spPr>
          <a:xfrm>
            <a:off x="4800600" y="2523744"/>
            <a:ext cx="160020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57860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コロナ給付金が企業利益をかさ上げ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29400" y="233172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66560" y="141732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3B0000"/>
          </a:solidFill>
          <a:ln w="12700">
            <a:solidFill>
              <a:srgbClr val="D6282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12280" y="15087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2023年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12280" y="182880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61%</a:t>
            </a:r>
            <a:endParaRPr lang="en-US" sz="3800" dirty="0"/>
          </a:p>
        </p:txBody>
      </p:sp>
      <p:sp>
        <p:nvSpPr>
          <p:cNvPr id="27" name="Shape 25"/>
          <p:cNvSpPr/>
          <p:nvPr/>
        </p:nvSpPr>
        <p:spPr>
          <a:xfrm>
            <a:off x="6949440" y="2523744"/>
            <a:ext cx="1600200" cy="0"/>
          </a:xfrm>
          <a:prstGeom prst="line">
            <a:avLst/>
          </a:prstGeom>
          <a:noFill/>
          <a:ln w="6350">
            <a:solidFill>
              <a:srgbClr val="D62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257860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これが過去10年の「最良値」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840480"/>
            <a:ext cx="8503920" cy="777240"/>
          </a:xfrm>
          <a:prstGeom prst="roundRect">
            <a:avLst>
              <a:gd name="adj" fmla="val 9412"/>
            </a:avLst>
          </a:prstGeom>
          <a:solidFill>
            <a:srgbClr val="1A1A1A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3931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なぜ「作られた数字」か：</a:t>
            </a:r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2020〜2021年のコロナ禍では、給付型補助金・助成金が企業利益を押し上げた結果として61〜62%台に見えているに過ぎない。補助金を剥がせば63〜64%に戻るのが実態。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結論：</a:t>
            </a:r>
            <a:pPr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これが過去10年で「最も良い数字」。赤字法人61%（10年平均63〜64%）を放置し、補助金を投じ続けることが問題の本質。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対象の定義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対象企業と業種を明確に絞る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804672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361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対象企業規模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356616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93392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対象：</a:t>
            </a:r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中小・零細企業（大企業除く）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大企業はすでに市場原理の中で競争しており、本提言の対象外。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創業3年以内：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現行水準の優遇を無条件で継続（新規創業の保護）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4年目以降：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成長条件の達成が必須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206240" cy="3566160"/>
          </a:xfrm>
          <a:prstGeom prst="roundRect">
            <a:avLst>
              <a:gd name="adj" fmla="val 2051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5361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対象業種（3業種限定）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920240"/>
            <a:ext cx="374904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2130552"/>
            <a:ext cx="228600" cy="228600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1305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02352" y="20574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建設・土木・建築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02352" y="235915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ペーパーカンパニー排除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職人を自社雇用する中堅建設会社へ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3182112"/>
            <a:ext cx="228600" cy="228600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1821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02352" y="31089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IT・システム開発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02352" y="341071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SES多重中抜き屋を全滅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開発力のあるSIerへ集約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4233672"/>
            <a:ext cx="228600" cy="228600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42336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02352" y="4160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製造業（部品加工）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02352" y="446227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単独延命を諦めさせ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強いサプライヤーへ合併進化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5102352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3B0000"/>
          </a:solidFill>
          <a:ln w="12700">
            <a:solidFill>
              <a:srgbClr val="D6282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51480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【完全除外】</a:t>
            </a:r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飲食・美容・アパレル・エンタメなどBtoC業種 ── 日本文化の多様性を守る「盾」として現行優遇で保護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現行制度の廃止 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法人税フラット化　──　規模ではなく成長で優遇を決める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804672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36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現行制度（廃止）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892808"/>
            <a:ext cx="365760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中小企業（所得800万円以下）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約21%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26883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軽減税率15% + 地方税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中小企業（所得800万円超）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約30%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36941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大企業と同率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大企業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297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約30%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8640" y="47000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2026年〜防衛税で30.64%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26280" y="27432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5029200" y="1417320"/>
            <a:ext cx="3794760" cy="3703320"/>
          </a:xfrm>
          <a:prstGeom prst="roundRect">
            <a:avLst>
              <a:gd name="adj" fmla="val 1975"/>
            </a:avLst>
          </a:prstGeom>
          <a:solidFill>
            <a:srgbClr val="1A1A1A"/>
          </a:solidFill>
          <a:ln w="12700">
            <a:solidFill>
              <a:srgbClr val="D6282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93792" y="1536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新制度（フラット）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193792" y="1892808"/>
            <a:ext cx="3401568" cy="0"/>
          </a:xfrm>
          <a:prstGeom prst="line">
            <a:avLst/>
          </a:prstGeom>
          <a:noFill/>
          <a:ln w="6350">
            <a:solidFill>
              <a:srgbClr val="D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93792" y="1993392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全企業（規模問わず）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93792" y="22494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193792" y="26060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フラット（大企業は現行どおり）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93792" y="2816352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維持条件を達成した企業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93792" y="30723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193792" y="34290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5ptの優遇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93792" y="3639312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拡大条件を達成した企業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93792" y="38953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193792" y="4251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10ptの優遇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93792" y="4462272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条件を未達成の企業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93792" y="47183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193792" y="50749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優遇なし（即時全廃）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5193792"/>
            <a:ext cx="8412480" cy="384048"/>
          </a:xfrm>
          <a:prstGeom prst="roundRect">
            <a:avLst>
              <a:gd name="adj" fmla="val 19048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48640" y="52486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創業3年間のみ：無条件で現行水準を適用（新規創業の保護）　／　大企業の税率は変更なし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現行制度の廃止 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補助金の抜本見直し　──　「穴埋め」から「成長の燃料」へ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804672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3B0000"/>
          </a:solidFill>
          <a:ln w="12700">
            <a:solidFill>
              <a:srgbClr val="D6282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490472"/>
            <a:ext cx="80467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現状：</a:t>
            </a:r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中小企業向け補助金が年間推定1〜2兆円規模。しかし全法人の61%が赤字法人であり、その多くが補助金で延命されている。補助金は「事業の次の一手を打つ資金」ではなく「赤字の穴埋め装置」と化している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578608"/>
            <a:ext cx="4023360" cy="2560320"/>
          </a:xfrm>
          <a:prstGeom prst="roundRect">
            <a:avLst>
              <a:gd name="adj" fmla="val 2857"/>
            </a:avLst>
          </a:prstGeom>
          <a:solidFill>
            <a:srgbClr val="3B0000"/>
          </a:solidFill>
          <a:ln w="12700">
            <a:solidFill>
              <a:srgbClr val="D6282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697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廃止する補助金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1272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小規模事業者持続化補助金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5844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事業再構築補助金（現行スキーム）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40416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その他、成長に紐づかない補助金全般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44988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赤字法人への補助金（原則廃止）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578608"/>
            <a:ext cx="4023360" cy="2560320"/>
          </a:xfrm>
          <a:prstGeom prst="roundRect">
            <a:avLst>
              <a:gd name="adj" fmla="val 2857"/>
            </a:avLst>
          </a:prstGeom>
          <a:solidFill>
            <a:srgbClr val="1A1A1A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2697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存続・拡充する補助金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31272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M&amp;A・合併支援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35844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設備投資（雇用拡大に紐づくもの）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40416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再教育・リスキリング支援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44988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　（提言001と連動）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5257800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5303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補助金は「赤字の穴埋め」ではなく「次の一手を打つための資金」である。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施策パッケージ　柱①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成長判定システム（恒久）　──　維持条件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804672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判定方法：厚生年金被保険者ベースの年間平均在籍数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8412480" cy="2103120"/>
          </a:xfrm>
          <a:prstGeom prst="roundRect">
            <a:avLst>
              <a:gd name="adj" fmla="val 3478"/>
            </a:avLst>
          </a:prstGeom>
          <a:solidFill>
            <a:srgbClr val="1A1A1A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556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【維持条件】　→　法人税 20%（5pt優遇）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176272"/>
            <a:ext cx="804672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条件A　</a:t>
            </a:r>
            <a:pPr indent="0" marL="0">
              <a:buNone/>
            </a:pPr>
            <a:r>
              <a:rPr lang="en-US" sz="1300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一人当たり賃金の増加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インフレ率×120%以上の賃金増加（手取りベース）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例：インフレ3%の年 → 手取りで3.6%以上の賃金増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条件B　</a:t>
            </a:r>
            <a:pPr indent="0" marL="0">
              <a:buNone/>
            </a:pPr>
            <a:r>
              <a:rPr lang="en-US" sz="1300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正規雇用者数の維持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26517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正規雇用者数が前年比マイナスにならない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（1人でも減らすと未達成扱い）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858768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3B0000"/>
          </a:solidFill>
          <a:ln w="12700">
            <a:solidFill>
              <a:srgbClr val="D6282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【未達成の場合】　→　優遇を即時全廃（法人税25%に戻る）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・1年でも条件を下回った場合、翌年から優遇を全廃（段階的縮小なし・猶予なし）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・翌年以降に条件を再達成した場合、優遇を再適用（ペナルティなし、再チャレンジ可）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施策パッケージ　柱①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成長判定システム（恒久）　──　拡大条件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804672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8412480" cy="2194560"/>
          </a:xfrm>
          <a:prstGeom prst="roundRect">
            <a:avLst>
              <a:gd name="adj" fmla="val 3333"/>
            </a:avLst>
          </a:prstGeom>
          <a:solidFill>
            <a:srgbClr val="1A1A1A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3619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【拡大条件】　→　法人税 15%（10pt優遇）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956816"/>
            <a:ext cx="804672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665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条件C　</a:t>
            </a:r>
            <a:pPr indent="0" marL="0">
              <a:buNone/>
            </a:pPr>
            <a:r>
              <a:rPr lang="en-US" sz="1300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正規雇用者数を3%以上増加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前年比3%以上の正規雇用者数増加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（例：100人企業 → 103人以上に）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20665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条件D　</a:t>
            </a:r>
            <a:pPr indent="0" marL="0">
              <a:buNone/>
            </a:pPr>
            <a:r>
              <a:rPr lang="en-US" sz="1300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賃金総額を5%以上増加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24231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前年比5%以上の賃金総額増加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（人数を増やし、かつ賃金も上げることを要求）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840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設計の意図：「人を切って賃金だけ上げる」も「人数だけ増やして賃金を上げない」も両方ブロック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1879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条件A（賃金増）＋条件B（雇用維持）で前者を防ぎ、条件C（雇用増）＋条件D（賃金総額増）で後者を防ぐ二重構造。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681728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12700">
            <a:solidFill>
              <a:srgbClr val="D6282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4754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10年目標との連動：</a:t>
            </a:r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目標達成（中堅27,000社）なら優遇幅を縮小または新目標へ。未達成なら優遇幅を拡大してさらに促進。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施策パッケージ　柱②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M&amp;A（合併）の完全無税化　──　恒久制度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804672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2743200" cy="2743200"/>
          </a:xfrm>
          <a:prstGeom prst="roundRect">
            <a:avLst>
              <a:gd name="adj" fmla="val 2667"/>
            </a:avLst>
          </a:prstGeom>
          <a:solidFill>
            <a:srgbClr val="1A1A1A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53619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合併した年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237744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01168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両社とも「拡大条件達成」とみなす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法人税15%優遇を適用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3154680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合併するだけで最大優遇が得られる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強力な「アメ」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2743200" cy="2743200"/>
          </a:xfrm>
          <a:prstGeom prst="roundRect">
            <a:avLst>
              <a:gd name="adj" fmla="val 2667"/>
            </a:avLst>
          </a:prstGeom>
          <a:solidFill>
            <a:srgbClr val="1A1A1A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01568" y="153619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関連税をゼロに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74720" y="1920240"/>
            <a:ext cx="237744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201168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登録免許税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不動産取得税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仲介手数料への課税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01568" y="3154680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合併コストを徹底的に下げる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M&amp;Aの心理的・金銭的ハードルを除去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2743200" cy="2743200"/>
          </a:xfrm>
          <a:prstGeom prst="roundRect">
            <a:avLst>
              <a:gd name="adj" fmla="val 2667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27648" y="153619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合併翌年以降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1920240"/>
            <a:ext cx="237744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201168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合算ベースで通常の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維持・拡大条件を適用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27648" y="3154680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「合併ゾンビ」は維持条件Aの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賃金増要件で自然淘汰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315968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4389120"/>
            <a:ext cx="8046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なぜ恒久制度か：</a:t>
            </a:r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「合併して強くなる」ことは、特定期間だけ奨励すべき行動ではなく、日本産業構造の恒久的な方向性だから。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5047488"/>
            <a:ext cx="8412480" cy="384048"/>
          </a:xfrm>
          <a:prstGeom prst="roundRect">
            <a:avLst>
              <a:gd name="adj" fmla="val 19048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51023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合併後の人員整理：日本の解雇規制（整理解雇の4要件）により強制的な大量解雇は法的に困難。早期退職優遇・自然減が現実的。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施策パッケージ　柱③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経費ホワイト化 ＋ 元請け連座制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804672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4114800" cy="3794760"/>
          </a:xfrm>
          <a:prstGeom prst="roundRect">
            <a:avLst>
              <a:gd name="adj" fmla="val 1928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361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経費の完全ホワイト化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374904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29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対象：生産性に寄与しない経費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3500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高級外車の購入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個人的な飲食の付け回し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0449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役員向け保養施設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3924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その他 公私混同経費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794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上記を「脱税」とみなして厳罰化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出た利益は「設備投資」か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「雇用・賃金増の原資」に充てることを義務化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7365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61%に及ぶ「作られた赤字」を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 正面から潰す直接手段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4173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153619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元請け連座制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920240"/>
            <a:ext cx="379476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02996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下請けの違反を放置した元請け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（ゼネコン・大手SIer）にも責任を問う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69748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2752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通常違反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044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法人税の加重課税（抑止力）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56616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3621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重大・反復違反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39136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官公庁入札資格の停止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（最終手段）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443484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92040" y="4489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災害・緊急時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47823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入札停止を自動解除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（社会インフラを守る例外規定）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制度移行の設計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2年間の告知期間　──　崖を作らない移行設計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804672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81328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1A1A1A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727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Y-2年　告知開始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制度の全内容を2年前から公表　／　各企業がM&amp;A・採用・賃金設計を前倒しで検討可能　／　告知期間中は現行制度をそのまま継続（連続性の確保）　／　現行の優遇と新制度の優遇の間に「崖」を作らない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1A1A1A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834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Y年　制度開始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新制度本格スタート・補助金廃止も同時実施　／　制度開始年のM&amp;A集中発生は許容・むしろ歓迎　／　初年度は現行どおり移行（軽減税率の連続性を確保）　／　告知から移行完了（3年後）に黒字転換を見込む設計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4005072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1A1A1A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40965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Y+10年　数値目標の評価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46227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中堅企業27,000社達成 → 優遇幅を縮小・新目標へ　／　未達成 → 優遇幅を拡大して延長　／　「27,000社」の達成を制度縮小の条件とする　／　本制度自体は恒久制度として継続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10年数値目標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何をもって成功とするか　──　2つの数値目標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804672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4114800" cy="3337560"/>
          </a:xfrm>
          <a:prstGeom prst="roundRect">
            <a:avLst>
              <a:gd name="adj" fmla="val 2192"/>
            </a:avLst>
          </a:prstGeom>
          <a:solidFill>
            <a:srgbClr val="1A1A1A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361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目標①　中堅企業数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374904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9,229社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（現在　0.7%）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27,000社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（目標　2.1%　＝　3倍増）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251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年間約1,800社ペースで中堅化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4160520" cy="3337560"/>
          </a:xfrm>
          <a:prstGeom prst="roundRect">
            <a:avLst>
              <a:gd name="adj" fmla="val 2192"/>
            </a:avLst>
          </a:prstGeom>
          <a:solidFill>
            <a:srgbClr val="1A1A1A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153619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目標②　赤字法人比率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92040" y="1920240"/>
            <a:ext cx="374904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0116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61〜64%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663440" y="26517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（現在・過去10年平均）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29718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63440" y="333756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10〜20%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663440" y="3931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（10年平均での目標）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42519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「作られた赤字」を正常化し課税ベースを拡大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800600"/>
            <a:ext cx="8412480" cy="475488"/>
          </a:xfrm>
          <a:prstGeom prst="roundRect">
            <a:avLst>
              <a:gd name="adj" fmla="val 15385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48646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目標達成：</a:t>
            </a:r>
            <a:pPr indent="0" marL="0">
              <a:buNone/>
            </a:pPr>
            <a:r>
              <a:rPr lang="en-US" sz="10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優遇幅を縮小・新目標設定　</a:t>
            </a:r>
            <a:pPr indent="0" marL="0">
              <a:buNone/>
            </a:pPr>
            <a:r>
              <a:rPr lang="en-US" sz="105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目標未達成：</a:t>
            </a:r>
            <a:pPr indent="0" marL="0">
              <a:buNone/>
            </a:pPr>
            <a:r>
              <a:rPr lang="en-US" sz="10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優遇幅を拡大して延長（「27,000社」の達成が制度縮小の条件）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税収変化の試算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条件達成率40%・インフレ3%・現行税率ベース（保守的試算）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804672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49047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前提条件：  対象3業種の中小零細企業 約100万社　／　黒字法人 約39万社（39%）　／　条件達成率 40%（約16万社）　／　従業員 約700万人　／　平均年収 380万円　／　所得税は現行税率ベース（提言001フラット税は含まず）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04288"/>
          <a:ext cx="8412480" cy="2606040"/>
        </p:xfrm>
        <a:graphic>
          <a:graphicData uri="http://schemas.openxmlformats.org/drawingml/2006/table">
            <a:tbl>
              <a:tblPr/>
              <a:tblGrid>
                <a:gridCol w="6492240"/>
                <a:gridCol w="19202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5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項目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5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増減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5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法人税フラット化＋条件優遇による増収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5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+約2,500億円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5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所得税増収（賃金3.6%増・280万人・現行税率）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5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+約3,800億円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5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社会保険料増収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5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+約1.1兆円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5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消費税増収（手取り増加分の消費転換）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5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+約3,400億円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5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補助金廃止による歳出削減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5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+約1〜2兆円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5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赤字法人の黒字化（61%→20%）による法人税増収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F5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+約1.5兆円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5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合計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+約4.6〜5.6兆円 / 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5010912"/>
            <a:ext cx="8412480" cy="320040"/>
          </a:xfrm>
          <a:prstGeom prst="roundRect">
            <a:avLst>
              <a:gd name="adj" fmla="val 22857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" y="50566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提言001のフラット税を適用すると所得税収の変化が別途生じる（本試算には含まない）。初年度は現行制度どおり維持。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本提言の哲学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強さと優しさは、</a:t>
            </a:r>
            <a:pPr indent="0" marL="0">
              <a:buNone/>
            </a:pPr>
            <a:r>
              <a:rPr lang="en-US" sz="3800" b="1" dirty="0">
                <a:solidFill>
                  <a:srgbClr val="D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矛盾しない。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1536192"/>
            <a:ext cx="4251960" cy="1572768"/>
          </a:xfrm>
          <a:prstGeom prst="roundRect">
            <a:avLst>
              <a:gd name="adj" fmla="val 4651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642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 </a:t>
            </a:r>
            <a:pPr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ゾンビ経営者の自然淘汰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066544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成長を拒む経営者は市場から退場。引退するか、成長企業へ会社を売却。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536192"/>
            <a:ext cx="4251960" cy="1572768"/>
          </a:xfrm>
          <a:prstGeom prst="roundRect">
            <a:avLst>
              <a:gd name="adj" fmla="val 4651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6642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 </a:t>
            </a:r>
            <a:pPr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強い中堅企業の誕生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2066544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元請けと対等な交渉権を持つ筋肉質な企業だけが生き残り、国際競争力が復活。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4251960" cy="1572768"/>
          </a:xfrm>
          <a:prstGeom prst="roundRect">
            <a:avLst>
              <a:gd name="adj" fmla="val 4651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4198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 </a:t>
            </a:r>
            <a:pPr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労働者（雇用7割）の賃金上昇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822192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中抜き構造が消滅。提言001の最低賃金2,000円と連動し「真の労働者救済」が達成。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3291840"/>
            <a:ext cx="4251960" cy="1572768"/>
          </a:xfrm>
          <a:prstGeom prst="roundRect">
            <a:avLst>
              <a:gd name="adj" fmla="val 4651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34198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 </a:t>
            </a:r>
            <a:pPr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財政の健全化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822192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補助金削減＋赤字法人正常化＋賃金上昇で年間4.6〜5.6兆円の財政改善効果。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901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大義名分：</a:t>
            </a:r>
            <a:pPr indent="0" marL="0">
              <a:buNone/>
            </a:pPr>
            <a:r>
              <a:rPr lang="en-US" sz="8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「雇用を増やし賃金を上げた企業を優遇する」── 正論のもと成長しない企業・ズルをする企業を退場させる。退場した労働者は提言001が受け止める。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提言003 BtoB下請け産業の構造再編</dc:title>
  <dc:subject>PptxGenJS Presentation</dc:subject>
  <dc:creator>PptxGenJS</dc:creator>
  <cp:lastModifiedBy>PptxGenJS</cp:lastModifiedBy>
  <cp:revision>1</cp:revision>
  <dcterms:created xsi:type="dcterms:W3CDTF">2026-06-17T07:29:13Z</dcterms:created>
  <dcterms:modified xsi:type="dcterms:W3CDTF">2026-06-17T07:29:13Z</dcterms:modified>
</cp:coreProperties>
</file>